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1" r:id="rId7"/>
    <p:sldId id="272" r:id="rId8"/>
    <p:sldId id="264" r:id="rId9"/>
    <p:sldId id="262" r:id="rId10"/>
    <p:sldId id="263" r:id="rId11"/>
    <p:sldId id="268" r:id="rId12"/>
    <p:sldId id="265" r:id="rId13"/>
    <p:sldId id="267" r:id="rId14"/>
    <p:sldId id="266" r:id="rId15"/>
    <p:sldId id="269" r:id="rId16"/>
    <p:sldId id="270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Nunito" panose="020B0604020202020204" charset="-52"/>
      <p:regular r:id="rId23"/>
    </p:embeddedFont>
    <p:embeddedFont>
      <p:font typeface="Nunito Bold" panose="020B0604020202020204" charset="-52"/>
      <p:regular r:id="rId24"/>
    </p:embeddedFont>
    <p:embeddedFont>
      <p:font typeface="Nunito Heavy" panose="020B0604020202020204" charset="-52"/>
      <p:regular r:id="rId25"/>
    </p:embeddedFont>
    <p:embeddedFont>
      <p:font typeface="Nunito Semi-Bold" panose="020B0604020202020204" charset="-52"/>
      <p:regular r:id="rId26"/>
    </p:embeddedFont>
    <p:embeddedFont>
      <p:font typeface="Nunito Ultra-Bold" panose="020B0604020202020204" charset="-52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BF8BA-146F-47A9-B564-EF16060715E9}" type="datetimeFigureOut">
              <a:rPr lang="ru-RU" smtClean="0"/>
              <a:t>27.04.2025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A4EE6-47D0-4BDA-AB92-CCC564721E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12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A4EE6-47D0-4BDA-AB92-CCC564721EF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302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A4EE6-47D0-4BDA-AB92-CCC564721EF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999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25.jpeg"/><Relationship Id="rId4" Type="http://schemas.openxmlformats.org/officeDocument/2006/relationships/image" Target="../media/image2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26.png"/><Relationship Id="rId9" Type="http://schemas.openxmlformats.org/officeDocument/2006/relationships/image" Target="../media/image5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4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6.jpe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12" Type="http://schemas.openxmlformats.org/officeDocument/2006/relationships/image" Target="../media/image3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3.png"/><Relationship Id="rId5" Type="http://schemas.openxmlformats.org/officeDocument/2006/relationships/image" Target="../media/image7.png"/><Relationship Id="rId10" Type="http://schemas.openxmlformats.org/officeDocument/2006/relationships/image" Target="../media/image33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9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1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3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9.png"/><Relationship Id="rId10" Type="http://schemas.openxmlformats.org/officeDocument/2006/relationships/image" Target="../media/image48.png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88296" y="4385191"/>
            <a:ext cx="19345450" cy="10290340"/>
            <a:chOff x="0" y="0"/>
            <a:chExt cx="25793934" cy="13720453"/>
          </a:xfrm>
        </p:grpSpPr>
        <p:sp>
          <p:nvSpPr>
            <p:cNvPr id="4" name="Freeform 4"/>
            <p:cNvSpPr/>
            <p:nvPr/>
          </p:nvSpPr>
          <p:spPr>
            <a:xfrm>
              <a:off x="7731799" y="2094750"/>
              <a:ext cx="9707462" cy="11625703"/>
            </a:xfrm>
            <a:custGeom>
              <a:avLst/>
              <a:gdLst/>
              <a:ahLst/>
              <a:cxnLst/>
              <a:rect l="l" t="t" r="r" b="b"/>
              <a:pathLst>
                <a:path w="9707462" h="11625703">
                  <a:moveTo>
                    <a:pt x="0" y="0"/>
                  </a:moveTo>
                  <a:lnTo>
                    <a:pt x="9707462" y="0"/>
                  </a:lnTo>
                  <a:lnTo>
                    <a:pt x="9707462" y="11625703"/>
                  </a:lnTo>
                  <a:lnTo>
                    <a:pt x="0" y="11625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1100670">
              <a:off x="2534027" y="6577071"/>
              <a:ext cx="2802372" cy="2697283"/>
            </a:xfrm>
            <a:custGeom>
              <a:avLst/>
              <a:gdLst/>
              <a:ahLst/>
              <a:cxnLst/>
              <a:rect l="l" t="t" r="r" b="b"/>
              <a:pathLst>
                <a:path w="2802372" h="2697283">
                  <a:moveTo>
                    <a:pt x="0" y="0"/>
                  </a:moveTo>
                  <a:lnTo>
                    <a:pt x="2802372" y="0"/>
                  </a:lnTo>
                  <a:lnTo>
                    <a:pt x="2802372" y="2697283"/>
                  </a:lnTo>
                  <a:lnTo>
                    <a:pt x="0" y="269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58872"/>
              <a:ext cx="2712589" cy="2743453"/>
            </a:xfrm>
            <a:custGeom>
              <a:avLst/>
              <a:gdLst/>
              <a:ahLst/>
              <a:cxnLst/>
              <a:rect l="l" t="t" r="r" b="b"/>
              <a:pathLst>
                <a:path w="2712589" h="2743453">
                  <a:moveTo>
                    <a:pt x="0" y="0"/>
                  </a:moveTo>
                  <a:lnTo>
                    <a:pt x="2712589" y="0"/>
                  </a:lnTo>
                  <a:lnTo>
                    <a:pt x="2712589" y="2743452"/>
                  </a:lnTo>
                  <a:lnTo>
                    <a:pt x="0" y="2743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2301051">
              <a:off x="5193474" y="1454955"/>
              <a:ext cx="2242585" cy="3169731"/>
            </a:xfrm>
            <a:custGeom>
              <a:avLst/>
              <a:gdLst/>
              <a:ahLst/>
              <a:cxnLst/>
              <a:rect l="l" t="t" r="r" b="b"/>
              <a:pathLst>
                <a:path w="2242585" h="3169731">
                  <a:moveTo>
                    <a:pt x="0" y="0"/>
                  </a:moveTo>
                  <a:lnTo>
                    <a:pt x="2242585" y="0"/>
                  </a:lnTo>
                  <a:lnTo>
                    <a:pt x="2242585" y="3169731"/>
                  </a:lnTo>
                  <a:lnTo>
                    <a:pt x="0" y="3169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1347" y="4940821"/>
              <a:ext cx="1631053" cy="1631053"/>
            </a:xfrm>
            <a:custGeom>
              <a:avLst/>
              <a:gdLst/>
              <a:ahLst/>
              <a:cxnLst/>
              <a:rect l="l" t="t" r="r" b="b"/>
              <a:pathLst>
                <a:path w="1631053" h="1631053">
                  <a:moveTo>
                    <a:pt x="0" y="0"/>
                  </a:moveTo>
                  <a:lnTo>
                    <a:pt x="1631053" y="0"/>
                  </a:lnTo>
                  <a:lnTo>
                    <a:pt x="1631053" y="1631053"/>
                  </a:lnTo>
                  <a:lnTo>
                    <a:pt x="0" y="1631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>
              <a:off x="3935213" y="1618148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6" y="0"/>
                  </a:lnTo>
                  <a:lnTo>
                    <a:pt x="483006" y="482403"/>
                  </a:lnTo>
                  <a:lnTo>
                    <a:pt x="0" y="482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6350033" y="6348750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7" y="0"/>
                  </a:lnTo>
                  <a:lnTo>
                    <a:pt x="483007" y="482402"/>
                  </a:lnTo>
                  <a:lnTo>
                    <a:pt x="0" y="482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71864" y="4778538"/>
              <a:ext cx="324973" cy="324567"/>
            </a:xfrm>
            <a:custGeom>
              <a:avLst/>
              <a:gdLst/>
              <a:ahLst/>
              <a:cxnLst/>
              <a:rect l="l" t="t" r="r" b="b"/>
              <a:pathLst>
                <a:path w="324973" h="324567">
                  <a:moveTo>
                    <a:pt x="0" y="0"/>
                  </a:moveTo>
                  <a:lnTo>
                    <a:pt x="324973" y="0"/>
                  </a:lnTo>
                  <a:lnTo>
                    <a:pt x="324973" y="324567"/>
                  </a:lnTo>
                  <a:lnTo>
                    <a:pt x="0" y="32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3599469">
              <a:off x="8097774" y="3707377"/>
              <a:ext cx="776436" cy="803556"/>
            </a:xfrm>
            <a:custGeom>
              <a:avLst/>
              <a:gdLst/>
              <a:ahLst/>
              <a:cxnLst/>
              <a:rect l="l" t="t" r="r" b="b"/>
              <a:pathLst>
                <a:path w="776436" h="803556">
                  <a:moveTo>
                    <a:pt x="0" y="0"/>
                  </a:moveTo>
                  <a:lnTo>
                    <a:pt x="776435" y="0"/>
                  </a:lnTo>
                  <a:lnTo>
                    <a:pt x="776435" y="803556"/>
                  </a:lnTo>
                  <a:lnTo>
                    <a:pt x="0" y="80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3097605" y="0"/>
              <a:ext cx="2359323" cy="2356374"/>
            </a:xfrm>
            <a:custGeom>
              <a:avLst/>
              <a:gdLst/>
              <a:ahLst/>
              <a:cxnLst/>
              <a:rect l="l" t="t" r="r" b="b"/>
              <a:pathLst>
                <a:path w="2359323" h="2356374">
                  <a:moveTo>
                    <a:pt x="0" y="0"/>
                  </a:moveTo>
                  <a:lnTo>
                    <a:pt x="2359323" y="0"/>
                  </a:lnTo>
                  <a:lnTo>
                    <a:pt x="2359323" y="2356374"/>
                  </a:lnTo>
                  <a:lnTo>
                    <a:pt x="0" y="2356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721812" y="6204612"/>
              <a:ext cx="3088955" cy="3015592"/>
            </a:xfrm>
            <a:custGeom>
              <a:avLst/>
              <a:gdLst/>
              <a:ahLst/>
              <a:cxnLst/>
              <a:rect l="l" t="t" r="r" b="b"/>
              <a:pathLst>
                <a:path w="3088955" h="3015592">
                  <a:moveTo>
                    <a:pt x="0" y="0"/>
                  </a:moveTo>
                  <a:lnTo>
                    <a:pt x="3088955" y="0"/>
                  </a:lnTo>
                  <a:lnTo>
                    <a:pt x="3088955" y="3015593"/>
                  </a:lnTo>
                  <a:lnTo>
                    <a:pt x="0" y="3015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3722613">
              <a:off x="19407983" y="1680084"/>
              <a:ext cx="2136753" cy="2613765"/>
            </a:xfrm>
            <a:custGeom>
              <a:avLst/>
              <a:gdLst/>
              <a:ahLst/>
              <a:cxnLst/>
              <a:rect l="l" t="t" r="r" b="b"/>
              <a:pathLst>
                <a:path w="2136753" h="2613765">
                  <a:moveTo>
                    <a:pt x="0" y="0"/>
                  </a:moveTo>
                  <a:lnTo>
                    <a:pt x="2136753" y="0"/>
                  </a:lnTo>
                  <a:lnTo>
                    <a:pt x="2136753" y="2613764"/>
                  </a:lnTo>
                  <a:lnTo>
                    <a:pt x="0" y="261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10223540">
              <a:off x="23382148" y="4529285"/>
              <a:ext cx="2236535" cy="2288016"/>
            </a:xfrm>
            <a:custGeom>
              <a:avLst/>
              <a:gdLst/>
              <a:ahLst/>
              <a:cxnLst/>
              <a:rect l="l" t="t" r="r" b="b"/>
              <a:pathLst>
                <a:path w="2236535" h="2288016">
                  <a:moveTo>
                    <a:pt x="0" y="0"/>
                  </a:moveTo>
                  <a:lnTo>
                    <a:pt x="2236536" y="0"/>
                  </a:lnTo>
                  <a:lnTo>
                    <a:pt x="2236536" y="2288016"/>
                  </a:lnTo>
                  <a:lnTo>
                    <a:pt x="0" y="228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7955830" y="7070949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7" y="0"/>
                  </a:lnTo>
                  <a:lnTo>
                    <a:pt x="483007" y="482403"/>
                  </a:lnTo>
                  <a:lnTo>
                    <a:pt x="0" y="482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6630280" y="3538401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7" y="0"/>
                  </a:lnTo>
                  <a:lnTo>
                    <a:pt x="483007" y="482402"/>
                  </a:lnTo>
                  <a:lnTo>
                    <a:pt x="0" y="482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2707199" y="3538401"/>
              <a:ext cx="499699" cy="499075"/>
            </a:xfrm>
            <a:custGeom>
              <a:avLst/>
              <a:gdLst/>
              <a:ahLst/>
              <a:cxnLst/>
              <a:rect l="l" t="t" r="r" b="b"/>
              <a:pathLst>
                <a:path w="499699" h="499075">
                  <a:moveTo>
                    <a:pt x="0" y="0"/>
                  </a:moveTo>
                  <a:lnTo>
                    <a:pt x="499699" y="0"/>
                  </a:lnTo>
                  <a:lnTo>
                    <a:pt x="499699" y="499074"/>
                  </a:lnTo>
                  <a:lnTo>
                    <a:pt x="0" y="49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7752068" y="4917104"/>
              <a:ext cx="1216538" cy="976272"/>
            </a:xfrm>
            <a:custGeom>
              <a:avLst/>
              <a:gdLst/>
              <a:ahLst/>
              <a:cxnLst/>
              <a:rect l="l" t="t" r="r" b="b"/>
              <a:pathLst>
                <a:path w="1216538" h="976272">
                  <a:moveTo>
                    <a:pt x="0" y="0"/>
                  </a:moveTo>
                  <a:lnTo>
                    <a:pt x="1216539" y="0"/>
                  </a:lnTo>
                  <a:lnTo>
                    <a:pt x="1216539" y="976272"/>
                  </a:lnTo>
                  <a:lnTo>
                    <a:pt x="0" y="97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800436" y="557594"/>
            <a:ext cx="4750412" cy="1211355"/>
          </a:xfrm>
          <a:custGeom>
            <a:avLst/>
            <a:gdLst/>
            <a:ahLst/>
            <a:cxnLst/>
            <a:rect l="l" t="t" r="r" b="b"/>
            <a:pathLst>
              <a:path w="4750412" h="1211355">
                <a:moveTo>
                  <a:pt x="0" y="0"/>
                </a:moveTo>
                <a:lnTo>
                  <a:pt x="4750412" y="0"/>
                </a:lnTo>
                <a:lnTo>
                  <a:pt x="4750412" y="1211355"/>
                </a:lnTo>
                <a:lnTo>
                  <a:pt x="0" y="121135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742317" y="161191"/>
            <a:ext cx="3215515" cy="3215515"/>
          </a:xfrm>
          <a:custGeom>
            <a:avLst/>
            <a:gdLst/>
            <a:ahLst/>
            <a:cxnLst/>
            <a:rect l="l" t="t" r="r" b="b"/>
            <a:pathLst>
              <a:path w="3215515" h="3215515">
                <a:moveTo>
                  <a:pt x="0" y="0"/>
                </a:moveTo>
                <a:lnTo>
                  <a:pt x="3215515" y="0"/>
                </a:lnTo>
                <a:lnTo>
                  <a:pt x="3215515" y="3215515"/>
                </a:lnTo>
                <a:lnTo>
                  <a:pt x="0" y="32155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469466" y="2236419"/>
            <a:ext cx="10636860" cy="3679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20"/>
              </a:lnSpc>
            </a:pP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Raqamli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transformatsiyaning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muvaffaqiyatli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amalga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oshirilishi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uchun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talablar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: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imkoniyat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,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investitsiya</a:t>
            </a:r>
            <a:r>
              <a:rPr lang="en-US" sz="44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, </a:t>
            </a:r>
            <a:r>
              <a:rPr lang="en-US" sz="44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madaniyat</a:t>
            </a:r>
            <a:endParaRPr lang="en-US" sz="4400" b="1" dirty="0">
              <a:solidFill>
                <a:srgbClr val="3E3E3E"/>
              </a:solidFill>
              <a:latin typeface="Nunito Heavy"/>
              <a:ea typeface="Nunito Heavy"/>
              <a:cs typeface="Nunito Heavy"/>
              <a:sym typeface="Nunito Heavy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48947" y="2078962"/>
            <a:ext cx="5101901" cy="9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200" b="1">
                <a:solidFill>
                  <a:srgbClr val="127C1C"/>
                </a:solidFill>
                <a:latin typeface="Nunito Bold"/>
                <a:ea typeface="Nunito Bold"/>
                <a:cs typeface="Nunito Bold"/>
                <a:sym typeface="Nunito Bold"/>
              </a:rPr>
              <a:t>Lecturer: </a:t>
            </a:r>
          </a:p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b="1">
                <a:solidFill>
                  <a:srgbClr val="202020"/>
                </a:solidFill>
                <a:latin typeface="Nunito Bold"/>
                <a:ea typeface="Nunito Bold"/>
                <a:cs typeface="Nunito Bold"/>
                <a:sym typeface="Nunito Bold"/>
              </a:rPr>
              <a:t>Nozima Raximova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02048" y="-492374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530565" y="2028099"/>
              <a:ext cx="9314004" cy="11153407"/>
            </a:xfrm>
            <a:custGeom>
              <a:avLst/>
              <a:gdLst/>
              <a:ahLst/>
              <a:cxnLst/>
              <a:rect l="l" t="t" r="r" b="b"/>
              <a:pathLst>
                <a:path w="9314004" h="11153407">
                  <a:moveTo>
                    <a:pt x="9314004" y="0"/>
                  </a:moveTo>
                  <a:lnTo>
                    <a:pt x="0" y="0"/>
                  </a:lnTo>
                  <a:lnTo>
                    <a:pt x="0" y="11153408"/>
                  </a:lnTo>
                  <a:lnTo>
                    <a:pt x="9314004" y="11153408"/>
                  </a:lnTo>
                  <a:lnTo>
                    <a:pt x="9314004" y="0"/>
                  </a:lnTo>
                  <a:close/>
                </a:path>
              </a:pathLst>
            </a:custGeom>
            <a:blipFill>
              <a:blip r:embed="rId4"/>
              <a:stretch>
                <a:fillRect b="-9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" name="Freeform 10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2372073"/>
            <a:ext cx="1255120" cy="1145198"/>
            <a:chOff x="0" y="0"/>
            <a:chExt cx="1584663" cy="14458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4663" cy="1445879"/>
            </a:xfrm>
            <a:custGeom>
              <a:avLst/>
              <a:gdLst/>
              <a:ahLst/>
              <a:cxnLst/>
              <a:rect l="l" t="t" r="r" b="b"/>
              <a:pathLst>
                <a:path w="1584663" h="1445879">
                  <a:moveTo>
                    <a:pt x="0" y="0"/>
                  </a:moveTo>
                  <a:lnTo>
                    <a:pt x="1584663" y="0"/>
                  </a:lnTo>
                  <a:lnTo>
                    <a:pt x="1584663" y="1445879"/>
                  </a:lnTo>
                  <a:lnTo>
                    <a:pt x="0" y="1445879"/>
                  </a:lnTo>
                  <a:close/>
                </a:path>
              </a:pathLst>
            </a:custGeom>
            <a:solidFill>
              <a:srgbClr val="ABAF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584663" cy="1455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6270" y="6155568"/>
            <a:ext cx="1255120" cy="1145198"/>
            <a:chOff x="0" y="0"/>
            <a:chExt cx="1584663" cy="1445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663" cy="1445879"/>
            </a:xfrm>
            <a:custGeom>
              <a:avLst/>
              <a:gdLst/>
              <a:ahLst/>
              <a:cxnLst/>
              <a:rect l="l" t="t" r="r" b="b"/>
              <a:pathLst>
                <a:path w="1584663" h="1445879">
                  <a:moveTo>
                    <a:pt x="0" y="0"/>
                  </a:moveTo>
                  <a:lnTo>
                    <a:pt x="1584663" y="0"/>
                  </a:lnTo>
                  <a:lnTo>
                    <a:pt x="1584663" y="1445879"/>
                  </a:lnTo>
                  <a:lnTo>
                    <a:pt x="0" y="1445879"/>
                  </a:lnTo>
                  <a:close/>
                </a:path>
              </a:pathLst>
            </a:custGeom>
            <a:solidFill>
              <a:srgbClr val="ABAFF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584663" cy="1455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89262" y="2346204"/>
            <a:ext cx="1254251" cy="1101813"/>
          </a:xfrm>
          <a:custGeom>
            <a:avLst/>
            <a:gdLst/>
            <a:ahLst/>
            <a:cxnLst/>
            <a:rect l="l" t="t" r="r" b="b"/>
            <a:pathLst>
              <a:path w="1254251" h="1101813">
                <a:moveTo>
                  <a:pt x="0" y="0"/>
                </a:moveTo>
                <a:lnTo>
                  <a:pt x="1254250" y="0"/>
                </a:lnTo>
                <a:lnTo>
                  <a:pt x="1254250" y="1101813"/>
                </a:lnTo>
                <a:lnTo>
                  <a:pt x="0" y="1101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3835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89262" y="5999712"/>
            <a:ext cx="1456909" cy="1456909"/>
          </a:xfrm>
          <a:custGeom>
            <a:avLst/>
            <a:gdLst/>
            <a:ahLst/>
            <a:cxnLst/>
            <a:rect l="l" t="t" r="r" b="b"/>
            <a:pathLst>
              <a:path w="1456909" h="1456909">
                <a:moveTo>
                  <a:pt x="0" y="0"/>
                </a:moveTo>
                <a:lnTo>
                  <a:pt x="1456908" y="0"/>
                </a:lnTo>
                <a:lnTo>
                  <a:pt x="1456908" y="1456909"/>
                </a:lnTo>
                <a:lnTo>
                  <a:pt x="0" y="14569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067245" y="2381598"/>
            <a:ext cx="7507248" cy="10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 dirty="0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Homework: VRIO </a:t>
            </a:r>
            <a:r>
              <a:rPr lang="en-US" sz="3600" b="1" dirty="0" err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tahlili</a:t>
            </a:r>
            <a:r>
              <a:rPr lang="en-US" sz="3600" b="1" dirty="0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, 3 </a:t>
            </a:r>
            <a:r>
              <a:rPr lang="en-US" sz="3600" b="1" dirty="0" err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dona</a:t>
            </a:r>
            <a:r>
              <a:rPr lang="en-US" sz="3600" b="1" dirty="0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slayd</a:t>
            </a:r>
            <a:endParaRPr lang="en-US" sz="3600" b="1" dirty="0">
              <a:solidFill>
                <a:srgbClr val="000000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004945" y="5727725"/>
            <a:ext cx="4837747" cy="54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“</a:t>
            </a:r>
            <a:r>
              <a:rPr lang="en-US" sz="3600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Innovatsion</a:t>
            </a:r>
            <a:r>
              <a:rPr lang="en-US" sz="36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debat</a:t>
            </a:r>
            <a:r>
              <a:rPr lang="en-US" sz="3600" b="1" dirty="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59616" y="6724395"/>
            <a:ext cx="5143847" cy="146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Maqsad</a:t>
            </a:r>
            <a:r>
              <a:rPr lang="en-US" sz="32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-US" sz="3200" dirty="0" err="1">
                <a:latin typeface="Nunito" panose="020B0604020202020204" charset="-52"/>
              </a:rPr>
              <a:t>Sun’iy</a:t>
            </a:r>
            <a:r>
              <a:rPr lang="en-US" sz="3200" dirty="0">
                <a:latin typeface="Nunito" panose="020B0604020202020204" charset="-52"/>
              </a:rPr>
              <a:t> </a:t>
            </a:r>
            <a:r>
              <a:rPr lang="en-US" sz="3200" dirty="0" err="1">
                <a:latin typeface="Nunito" panose="020B0604020202020204" charset="-52"/>
              </a:rPr>
              <a:t>intellekt</a:t>
            </a:r>
            <a:r>
              <a:rPr lang="en-US" sz="3200" dirty="0">
                <a:latin typeface="Nunito" panose="020B0604020202020204" charset="-52"/>
              </a:rPr>
              <a:t> </a:t>
            </a:r>
            <a:r>
              <a:rPr lang="en-US" sz="3200" dirty="0" err="1">
                <a:latin typeface="Nunito" panose="020B0604020202020204" charset="-52"/>
              </a:rPr>
              <a:t>inson</a:t>
            </a:r>
            <a:r>
              <a:rPr lang="en-US" sz="3200" dirty="0">
                <a:latin typeface="Nunito" panose="020B0604020202020204" charset="-52"/>
              </a:rPr>
              <a:t> </a:t>
            </a:r>
            <a:r>
              <a:rPr lang="en-US" sz="3200" dirty="0" err="1">
                <a:latin typeface="Nunito" panose="020B0604020202020204" charset="-52"/>
              </a:rPr>
              <a:t>ish</a:t>
            </a:r>
            <a:r>
              <a:rPr lang="en-US" sz="3200" dirty="0">
                <a:latin typeface="Nunito" panose="020B0604020202020204" charset="-52"/>
              </a:rPr>
              <a:t> </a:t>
            </a:r>
            <a:r>
              <a:rPr lang="en-US" sz="3200" dirty="0" err="1">
                <a:latin typeface="Nunito" panose="020B0604020202020204" charset="-52"/>
              </a:rPr>
              <a:t>o‘rnini</a:t>
            </a:r>
            <a:r>
              <a:rPr lang="en-US" sz="3200" dirty="0">
                <a:latin typeface="Nunito" panose="020B0604020202020204" charset="-52"/>
              </a:rPr>
              <a:t> </a:t>
            </a:r>
            <a:r>
              <a:rPr lang="en-US" sz="3200" dirty="0" err="1">
                <a:latin typeface="Nunito" panose="020B0604020202020204" charset="-52"/>
              </a:rPr>
              <a:t>egallashi</a:t>
            </a:r>
            <a:r>
              <a:rPr lang="en-US" sz="3200" dirty="0">
                <a:latin typeface="Nunito" panose="020B0604020202020204" charset="-52"/>
              </a:rPr>
              <a:t> </a:t>
            </a:r>
            <a:r>
              <a:rPr lang="en-US" sz="3200" dirty="0" err="1">
                <a:latin typeface="Nunito" panose="020B0604020202020204" charset="-52"/>
              </a:rPr>
              <a:t>kerakmi</a:t>
            </a:r>
            <a:r>
              <a:rPr lang="en-US" sz="3200" dirty="0">
                <a:latin typeface="Nunito" panose="020B0604020202020204" charset="-52"/>
              </a:rPr>
              <a:t>?</a:t>
            </a:r>
            <a:endParaRPr lang="en-US" sz="3200" dirty="0">
              <a:solidFill>
                <a:srgbClr val="000000"/>
              </a:solidFill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91294" y="-744449"/>
            <a:ext cx="11204796" cy="4847324"/>
            <a:chOff x="0" y="0"/>
            <a:chExt cx="14939728" cy="6463098"/>
          </a:xfrm>
        </p:grpSpPr>
        <p:sp>
          <p:nvSpPr>
            <p:cNvPr id="4" name="Freeform 4"/>
            <p:cNvSpPr/>
            <p:nvPr/>
          </p:nvSpPr>
          <p:spPr>
            <a:xfrm>
              <a:off x="3436578" y="0"/>
              <a:ext cx="8006401" cy="4803840"/>
            </a:xfrm>
            <a:custGeom>
              <a:avLst/>
              <a:gdLst/>
              <a:ahLst/>
              <a:cxnLst/>
              <a:rect l="l" t="t" r="r" b="b"/>
              <a:pathLst>
                <a:path w="8006401" h="4803840">
                  <a:moveTo>
                    <a:pt x="0" y="0"/>
                  </a:moveTo>
                  <a:lnTo>
                    <a:pt x="8006401" y="0"/>
                  </a:lnTo>
                  <a:lnTo>
                    <a:pt x="8006401" y="4803840"/>
                  </a:lnTo>
                  <a:lnTo>
                    <a:pt x="0" y="48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11442979" y="4160411"/>
              <a:ext cx="2443170" cy="2302687"/>
            </a:xfrm>
            <a:custGeom>
              <a:avLst/>
              <a:gdLst/>
              <a:ahLst/>
              <a:cxnLst/>
              <a:rect l="l" t="t" r="r" b="b"/>
              <a:pathLst>
                <a:path w="2443170" h="2302687">
                  <a:moveTo>
                    <a:pt x="0" y="0"/>
                  </a:moveTo>
                  <a:lnTo>
                    <a:pt x="2443169" y="0"/>
                  </a:lnTo>
                  <a:lnTo>
                    <a:pt x="2443169" y="2302687"/>
                  </a:lnTo>
                  <a:lnTo>
                    <a:pt x="0" y="2302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562492" y="3314937"/>
              <a:ext cx="1488904" cy="1488904"/>
            </a:xfrm>
            <a:custGeom>
              <a:avLst/>
              <a:gdLst/>
              <a:ahLst/>
              <a:cxnLst/>
              <a:rect l="l" t="t" r="r" b="b"/>
              <a:pathLst>
                <a:path w="1488904" h="1488904">
                  <a:moveTo>
                    <a:pt x="0" y="0"/>
                  </a:moveTo>
                  <a:lnTo>
                    <a:pt x="1488904" y="0"/>
                  </a:lnTo>
                  <a:lnTo>
                    <a:pt x="1488904" y="1488903"/>
                  </a:lnTo>
                  <a:lnTo>
                    <a:pt x="0" y="148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193649" y="2829685"/>
              <a:ext cx="485859" cy="485251"/>
            </a:xfrm>
            <a:custGeom>
              <a:avLst/>
              <a:gdLst/>
              <a:ahLst/>
              <a:cxnLst/>
              <a:rect l="l" t="t" r="r" b="b"/>
              <a:pathLst>
                <a:path w="485859" h="485251">
                  <a:moveTo>
                    <a:pt x="0" y="0"/>
                  </a:moveTo>
                  <a:lnTo>
                    <a:pt x="485858" y="0"/>
                  </a:lnTo>
                  <a:lnTo>
                    <a:pt x="485858" y="485252"/>
                  </a:lnTo>
                  <a:lnTo>
                    <a:pt x="0" y="48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646648" y="5081880"/>
              <a:ext cx="586499" cy="585766"/>
            </a:xfrm>
            <a:custGeom>
              <a:avLst/>
              <a:gdLst/>
              <a:ahLst/>
              <a:cxnLst/>
              <a:rect l="l" t="t" r="r" b="b"/>
              <a:pathLst>
                <a:path w="586499" h="585766">
                  <a:moveTo>
                    <a:pt x="0" y="0"/>
                  </a:moveTo>
                  <a:lnTo>
                    <a:pt x="586499" y="0"/>
                  </a:lnTo>
                  <a:lnTo>
                    <a:pt x="586499" y="585765"/>
                  </a:lnTo>
                  <a:lnTo>
                    <a:pt x="0" y="58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9382171">
              <a:off x="12374612" y="507121"/>
              <a:ext cx="2156579" cy="2489557"/>
            </a:xfrm>
            <a:custGeom>
              <a:avLst/>
              <a:gdLst/>
              <a:ahLst/>
              <a:cxnLst/>
              <a:rect l="l" t="t" r="r" b="b"/>
              <a:pathLst>
                <a:path w="2156579" h="2489557">
                  <a:moveTo>
                    <a:pt x="0" y="0"/>
                  </a:moveTo>
                  <a:lnTo>
                    <a:pt x="2156578" y="0"/>
                  </a:lnTo>
                  <a:lnTo>
                    <a:pt x="2156578" y="2489557"/>
                  </a:lnTo>
                  <a:lnTo>
                    <a:pt x="0" y="2489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826302"/>
              <a:ext cx="926756" cy="925597"/>
            </a:xfrm>
            <a:custGeom>
              <a:avLst/>
              <a:gdLst/>
              <a:ahLst/>
              <a:cxnLst/>
              <a:rect l="l" t="t" r="r" b="b"/>
              <a:pathLst>
                <a:path w="926756" h="925597">
                  <a:moveTo>
                    <a:pt x="0" y="0"/>
                  </a:moveTo>
                  <a:lnTo>
                    <a:pt x="926756" y="0"/>
                  </a:lnTo>
                  <a:lnTo>
                    <a:pt x="926756" y="925598"/>
                  </a:lnTo>
                  <a:lnTo>
                    <a:pt x="0" y="925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7238620" y="4030709"/>
            <a:ext cx="4574468" cy="3269233"/>
          </a:xfrm>
          <a:custGeom>
            <a:avLst/>
            <a:gdLst/>
            <a:ahLst/>
            <a:cxnLst/>
            <a:rect l="l" t="t" r="r" b="b"/>
            <a:pathLst>
              <a:path w="3810759" h="2872360">
                <a:moveTo>
                  <a:pt x="0" y="0"/>
                </a:moveTo>
                <a:lnTo>
                  <a:pt x="3810760" y="0"/>
                </a:lnTo>
                <a:lnTo>
                  <a:pt x="3810760" y="2872360"/>
                </a:lnTo>
                <a:lnTo>
                  <a:pt x="0" y="28723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3" name="TextBox 13"/>
          <p:cNvSpPr txBox="1"/>
          <p:nvPr/>
        </p:nvSpPr>
        <p:spPr>
          <a:xfrm>
            <a:off x="-378203" y="3700946"/>
            <a:ext cx="9368135" cy="10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 dirty="0" err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Raqamli</a:t>
            </a:r>
            <a:r>
              <a:rPr lang="en-US" sz="3600" b="1" dirty="0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transformatsiya</a:t>
            </a:r>
            <a:br>
              <a:rPr lang="en-US" sz="3600" b="1" dirty="0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</a:br>
            <a:r>
              <a:rPr lang="en-US" sz="3600" b="1" dirty="0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nima</a:t>
            </a:r>
            <a:r>
              <a:rPr lang="en-US" sz="3600" b="1" dirty="0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309467"/>
            <a:ext cx="5815757" cy="10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 dirty="0" err="1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Transformatsiya</a:t>
            </a:r>
            <a:r>
              <a:rPr lang="en-US" sz="3600" b="1" dirty="0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uchun</a:t>
            </a:r>
            <a:r>
              <a:rPr lang="en-US" sz="3600" b="1" dirty="0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3 </a:t>
            </a:r>
            <a:r>
              <a:rPr lang="en-US" sz="3600" b="1" dirty="0" err="1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asosiy</a:t>
            </a:r>
            <a:r>
              <a:rPr lang="en-US" sz="3600" b="1" dirty="0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omil</a:t>
            </a:r>
            <a:endParaRPr lang="en-US" sz="3600" b="1" dirty="0">
              <a:solidFill>
                <a:srgbClr val="5E17EB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30994" y="5323229"/>
            <a:ext cx="5034855" cy="10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 dirty="0" err="1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Madaniyat</a:t>
            </a:r>
            <a:r>
              <a:rPr lang="en-US" sz="3600" b="1" dirty="0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, </a:t>
            </a:r>
            <a:r>
              <a:rPr lang="en-US" sz="3600" b="1" dirty="0" err="1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investitsiya</a:t>
            </a:r>
            <a:r>
              <a:rPr lang="en-US" sz="3600" b="1" dirty="0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, </a:t>
            </a:r>
            <a:r>
              <a:rPr lang="en-US" sz="3600" b="1" dirty="0" err="1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imkoniyat</a:t>
            </a:r>
            <a:endParaRPr lang="en-US" sz="3600" b="1" dirty="0">
              <a:solidFill>
                <a:srgbClr val="FF914D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98940" y="5972951"/>
            <a:ext cx="6597082" cy="187237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91294" y="-744449"/>
            <a:ext cx="11204796" cy="4847324"/>
            <a:chOff x="0" y="0"/>
            <a:chExt cx="14939728" cy="6463098"/>
          </a:xfrm>
        </p:grpSpPr>
        <p:sp>
          <p:nvSpPr>
            <p:cNvPr id="4" name="Freeform 4"/>
            <p:cNvSpPr/>
            <p:nvPr/>
          </p:nvSpPr>
          <p:spPr>
            <a:xfrm>
              <a:off x="3436578" y="0"/>
              <a:ext cx="8006401" cy="4803840"/>
            </a:xfrm>
            <a:custGeom>
              <a:avLst/>
              <a:gdLst/>
              <a:ahLst/>
              <a:cxnLst/>
              <a:rect l="l" t="t" r="r" b="b"/>
              <a:pathLst>
                <a:path w="8006401" h="4803840">
                  <a:moveTo>
                    <a:pt x="0" y="0"/>
                  </a:moveTo>
                  <a:lnTo>
                    <a:pt x="8006401" y="0"/>
                  </a:lnTo>
                  <a:lnTo>
                    <a:pt x="8006401" y="4803840"/>
                  </a:lnTo>
                  <a:lnTo>
                    <a:pt x="0" y="48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11442979" y="4160411"/>
              <a:ext cx="2443170" cy="2302687"/>
            </a:xfrm>
            <a:custGeom>
              <a:avLst/>
              <a:gdLst/>
              <a:ahLst/>
              <a:cxnLst/>
              <a:rect l="l" t="t" r="r" b="b"/>
              <a:pathLst>
                <a:path w="2443170" h="2302687">
                  <a:moveTo>
                    <a:pt x="0" y="0"/>
                  </a:moveTo>
                  <a:lnTo>
                    <a:pt x="2443169" y="0"/>
                  </a:lnTo>
                  <a:lnTo>
                    <a:pt x="2443169" y="2302687"/>
                  </a:lnTo>
                  <a:lnTo>
                    <a:pt x="0" y="2302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562492" y="3314937"/>
              <a:ext cx="1488904" cy="1488904"/>
            </a:xfrm>
            <a:custGeom>
              <a:avLst/>
              <a:gdLst/>
              <a:ahLst/>
              <a:cxnLst/>
              <a:rect l="l" t="t" r="r" b="b"/>
              <a:pathLst>
                <a:path w="1488904" h="1488904">
                  <a:moveTo>
                    <a:pt x="0" y="0"/>
                  </a:moveTo>
                  <a:lnTo>
                    <a:pt x="1488904" y="0"/>
                  </a:lnTo>
                  <a:lnTo>
                    <a:pt x="1488904" y="1488903"/>
                  </a:lnTo>
                  <a:lnTo>
                    <a:pt x="0" y="148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193649" y="2829685"/>
              <a:ext cx="485859" cy="485251"/>
            </a:xfrm>
            <a:custGeom>
              <a:avLst/>
              <a:gdLst/>
              <a:ahLst/>
              <a:cxnLst/>
              <a:rect l="l" t="t" r="r" b="b"/>
              <a:pathLst>
                <a:path w="485859" h="485251">
                  <a:moveTo>
                    <a:pt x="0" y="0"/>
                  </a:moveTo>
                  <a:lnTo>
                    <a:pt x="485858" y="0"/>
                  </a:lnTo>
                  <a:lnTo>
                    <a:pt x="485858" y="485252"/>
                  </a:lnTo>
                  <a:lnTo>
                    <a:pt x="0" y="48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646648" y="5081880"/>
              <a:ext cx="586499" cy="585766"/>
            </a:xfrm>
            <a:custGeom>
              <a:avLst/>
              <a:gdLst/>
              <a:ahLst/>
              <a:cxnLst/>
              <a:rect l="l" t="t" r="r" b="b"/>
              <a:pathLst>
                <a:path w="586499" h="585766">
                  <a:moveTo>
                    <a:pt x="0" y="0"/>
                  </a:moveTo>
                  <a:lnTo>
                    <a:pt x="586499" y="0"/>
                  </a:lnTo>
                  <a:lnTo>
                    <a:pt x="586499" y="585765"/>
                  </a:lnTo>
                  <a:lnTo>
                    <a:pt x="0" y="58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9382171">
              <a:off x="12374612" y="507121"/>
              <a:ext cx="2156579" cy="2489557"/>
            </a:xfrm>
            <a:custGeom>
              <a:avLst/>
              <a:gdLst/>
              <a:ahLst/>
              <a:cxnLst/>
              <a:rect l="l" t="t" r="r" b="b"/>
              <a:pathLst>
                <a:path w="2156579" h="2489557">
                  <a:moveTo>
                    <a:pt x="0" y="0"/>
                  </a:moveTo>
                  <a:lnTo>
                    <a:pt x="2156578" y="0"/>
                  </a:lnTo>
                  <a:lnTo>
                    <a:pt x="2156578" y="2489557"/>
                  </a:lnTo>
                  <a:lnTo>
                    <a:pt x="0" y="2489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826302"/>
              <a:ext cx="926756" cy="925597"/>
            </a:xfrm>
            <a:custGeom>
              <a:avLst/>
              <a:gdLst/>
              <a:ahLst/>
              <a:cxnLst/>
              <a:rect l="l" t="t" r="r" b="b"/>
              <a:pathLst>
                <a:path w="926756" h="925597">
                  <a:moveTo>
                    <a:pt x="0" y="0"/>
                  </a:moveTo>
                  <a:lnTo>
                    <a:pt x="926756" y="0"/>
                  </a:lnTo>
                  <a:lnTo>
                    <a:pt x="926756" y="925598"/>
                  </a:lnTo>
                  <a:lnTo>
                    <a:pt x="0" y="925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-747490" y="1985896"/>
            <a:ext cx="9368135" cy="10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Raqamli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transformatsiya</a:t>
            </a:r>
            <a:b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</a:b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nega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kerak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?</a:t>
            </a:r>
          </a:p>
        </p:txBody>
      </p:sp>
      <p:pic>
        <p:nvPicPr>
          <p:cNvPr id="2050" name="Picture 2" descr="Raqamli transformatsiya statistikasi">
            <a:extLst>
              <a:ext uri="{FF2B5EF4-FFF2-40B4-BE49-F238E27FC236}">
                <a16:creationId xmlns:a16="http://schemas.microsoft.com/office/drawing/2014/main" id="{7F0CE617-E6F9-4643-A6E2-65571085F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864017"/>
            <a:ext cx="8173409" cy="48981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88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88420" y="-1154206"/>
            <a:ext cx="7543989" cy="11199157"/>
            <a:chOff x="0" y="0"/>
            <a:chExt cx="10058652" cy="14932209"/>
          </a:xfrm>
        </p:grpSpPr>
        <p:sp>
          <p:nvSpPr>
            <p:cNvPr id="4" name="Freeform 4"/>
            <p:cNvSpPr/>
            <p:nvPr/>
          </p:nvSpPr>
          <p:spPr>
            <a:xfrm rot="-1100670">
              <a:off x="5571982" y="1357890"/>
              <a:ext cx="1915805" cy="1843962"/>
            </a:xfrm>
            <a:custGeom>
              <a:avLst/>
              <a:gdLst/>
              <a:ahLst/>
              <a:cxnLst/>
              <a:rect l="l" t="t" r="r" b="b"/>
              <a:pathLst>
                <a:path w="1915805" h="1843962">
                  <a:moveTo>
                    <a:pt x="0" y="0"/>
                  </a:moveTo>
                  <a:lnTo>
                    <a:pt x="1915804" y="0"/>
                  </a:lnTo>
                  <a:lnTo>
                    <a:pt x="1915804" y="1843962"/>
                  </a:lnTo>
                  <a:lnTo>
                    <a:pt x="0" y="1843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92221">
              <a:off x="1074066" y="4368682"/>
              <a:ext cx="8512841" cy="6239069"/>
            </a:xfrm>
            <a:custGeom>
              <a:avLst/>
              <a:gdLst/>
              <a:ahLst/>
              <a:cxnLst/>
              <a:rect l="l" t="t" r="r" b="b"/>
              <a:pathLst>
                <a:path w="8512841" h="6239069">
                  <a:moveTo>
                    <a:pt x="0" y="0"/>
                  </a:moveTo>
                  <a:lnTo>
                    <a:pt x="8512840" y="0"/>
                  </a:lnTo>
                  <a:lnTo>
                    <a:pt x="8512840" y="6239069"/>
                  </a:lnTo>
                  <a:lnTo>
                    <a:pt x="0" y="623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5051375" y="11706407"/>
              <a:ext cx="558222" cy="557524"/>
            </a:xfrm>
            <a:custGeom>
              <a:avLst/>
              <a:gdLst/>
              <a:ahLst/>
              <a:cxnLst/>
              <a:rect l="l" t="t" r="r" b="b"/>
              <a:pathLst>
                <a:path w="558222" h="557524">
                  <a:moveTo>
                    <a:pt x="0" y="0"/>
                  </a:moveTo>
                  <a:lnTo>
                    <a:pt x="558222" y="0"/>
                  </a:lnTo>
                  <a:lnTo>
                    <a:pt x="558222" y="557524"/>
                  </a:lnTo>
                  <a:lnTo>
                    <a:pt x="0" y="55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1363057" y="4735195"/>
              <a:ext cx="450420" cy="449857"/>
            </a:xfrm>
            <a:custGeom>
              <a:avLst/>
              <a:gdLst/>
              <a:ahLst/>
              <a:cxnLst/>
              <a:rect l="l" t="t" r="r" b="b"/>
              <a:pathLst>
                <a:path w="450420" h="449857">
                  <a:moveTo>
                    <a:pt x="0" y="0"/>
                  </a:moveTo>
                  <a:lnTo>
                    <a:pt x="450420" y="0"/>
                  </a:lnTo>
                  <a:lnTo>
                    <a:pt x="450420" y="449857"/>
                  </a:lnTo>
                  <a:lnTo>
                    <a:pt x="0" y="449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1777721">
              <a:off x="917072" y="454604"/>
              <a:ext cx="2339515" cy="1892083"/>
            </a:xfrm>
            <a:custGeom>
              <a:avLst/>
              <a:gdLst/>
              <a:ahLst/>
              <a:cxnLst/>
              <a:rect l="l" t="t" r="r" b="b"/>
              <a:pathLst>
                <a:path w="2339515" h="1892083">
                  <a:moveTo>
                    <a:pt x="0" y="0"/>
                  </a:moveTo>
                  <a:lnTo>
                    <a:pt x="2339515" y="0"/>
                  </a:lnTo>
                  <a:lnTo>
                    <a:pt x="2339515" y="1892083"/>
                  </a:lnTo>
                  <a:lnTo>
                    <a:pt x="0" y="189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4239088">
              <a:off x="2622803" y="6672145"/>
              <a:ext cx="1310417" cy="2186241"/>
            </a:xfrm>
            <a:custGeom>
              <a:avLst/>
              <a:gdLst/>
              <a:ahLst/>
              <a:cxnLst/>
              <a:rect l="l" t="t" r="r" b="b"/>
              <a:pathLst>
                <a:path w="1310417" h="2186241">
                  <a:moveTo>
                    <a:pt x="0" y="0"/>
                  </a:moveTo>
                  <a:lnTo>
                    <a:pt x="1310417" y="0"/>
                  </a:lnTo>
                  <a:lnTo>
                    <a:pt x="1310417" y="2186241"/>
                  </a:lnTo>
                  <a:lnTo>
                    <a:pt x="0" y="2186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2633171">
              <a:off x="741300" y="11625057"/>
              <a:ext cx="2116348" cy="2991304"/>
            </a:xfrm>
            <a:custGeom>
              <a:avLst/>
              <a:gdLst/>
              <a:ahLst/>
              <a:cxnLst/>
              <a:rect l="l" t="t" r="r" b="b"/>
              <a:pathLst>
                <a:path w="2116348" h="2991304">
                  <a:moveTo>
                    <a:pt x="0" y="0"/>
                  </a:moveTo>
                  <a:lnTo>
                    <a:pt x="2116347" y="0"/>
                  </a:lnTo>
                  <a:lnTo>
                    <a:pt x="2116347" y="2991304"/>
                  </a:lnTo>
                  <a:lnTo>
                    <a:pt x="0" y="299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2456265">
              <a:off x="7351366" y="11238926"/>
              <a:ext cx="1899285" cy="2192537"/>
            </a:xfrm>
            <a:custGeom>
              <a:avLst/>
              <a:gdLst/>
              <a:ahLst/>
              <a:cxnLst/>
              <a:rect l="l" t="t" r="r" b="b"/>
              <a:pathLst>
                <a:path w="1899285" h="2192537">
                  <a:moveTo>
                    <a:pt x="0" y="0"/>
                  </a:moveTo>
                  <a:lnTo>
                    <a:pt x="1899285" y="0"/>
                  </a:lnTo>
                  <a:lnTo>
                    <a:pt x="1899285" y="2192537"/>
                  </a:lnTo>
                  <a:lnTo>
                    <a:pt x="0" y="219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560000" y="3805870"/>
            <a:ext cx="1957595" cy="2040919"/>
          </a:xfrm>
          <a:custGeom>
            <a:avLst/>
            <a:gdLst/>
            <a:ahLst/>
            <a:cxnLst/>
            <a:rect l="l" t="t" r="r" b="b"/>
            <a:pathLst>
              <a:path w="1183868" h="1183868">
                <a:moveTo>
                  <a:pt x="0" y="0"/>
                </a:moveTo>
                <a:lnTo>
                  <a:pt x="1183868" y="0"/>
                </a:lnTo>
                <a:lnTo>
                  <a:pt x="1183868" y="1183868"/>
                </a:lnTo>
                <a:lnTo>
                  <a:pt x="0" y="11838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4999" y="409949"/>
            <a:ext cx="1547567" cy="1547567"/>
          </a:xfrm>
          <a:custGeom>
            <a:avLst/>
            <a:gdLst/>
            <a:ahLst/>
            <a:cxnLst/>
            <a:rect l="l" t="t" r="r" b="b"/>
            <a:pathLst>
              <a:path w="1547567" h="1547567">
                <a:moveTo>
                  <a:pt x="0" y="0"/>
                </a:moveTo>
                <a:lnTo>
                  <a:pt x="1547567" y="0"/>
                </a:lnTo>
                <a:lnTo>
                  <a:pt x="1547567" y="1547567"/>
                </a:lnTo>
                <a:lnTo>
                  <a:pt x="0" y="15475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20943" y="716853"/>
            <a:ext cx="7916265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err="1">
                <a:solidFill>
                  <a:srgbClr val="00B050"/>
                </a:solidFill>
              </a:rPr>
              <a:t>Raqamli</a:t>
            </a:r>
            <a:r>
              <a:rPr lang="en-US" sz="3200" b="1" dirty="0">
                <a:solidFill>
                  <a:srgbClr val="00B050"/>
                </a:solidFill>
              </a:rPr>
              <a:t> </a:t>
            </a:r>
            <a:r>
              <a:rPr lang="en-US" sz="3200" b="1" dirty="0" err="1">
                <a:solidFill>
                  <a:srgbClr val="00B050"/>
                </a:solidFill>
              </a:rPr>
              <a:t>transformatsiya</a:t>
            </a:r>
            <a:r>
              <a:rPr lang="en-US" sz="3200" b="1" dirty="0">
                <a:solidFill>
                  <a:srgbClr val="00B050"/>
                </a:solidFill>
              </a:rPr>
              <a:t> </a:t>
            </a:r>
            <a:r>
              <a:rPr lang="en-US" sz="3200" dirty="0"/>
              <a:t>- </a:t>
            </a:r>
            <a:r>
              <a:rPr lang="en-US" sz="3200" dirty="0" err="1"/>
              <a:t>bu</a:t>
            </a:r>
            <a:r>
              <a:rPr lang="en-US" sz="3200" dirty="0"/>
              <a:t> </a:t>
            </a:r>
            <a:r>
              <a:rPr lang="en-US" sz="3200" dirty="0" err="1"/>
              <a:t>tashkilotlarning</a:t>
            </a:r>
            <a:r>
              <a:rPr lang="en-US" sz="3200" dirty="0"/>
              <a:t> </a:t>
            </a:r>
            <a:r>
              <a:rPr lang="en-US" sz="3200" dirty="0" err="1"/>
              <a:t>texnologiyalar</a:t>
            </a:r>
            <a:r>
              <a:rPr lang="en-US" sz="3200" dirty="0"/>
              <a:t> </a:t>
            </a:r>
            <a:r>
              <a:rPr lang="en-US" sz="3200" dirty="0" err="1"/>
              <a:t>yordamida</a:t>
            </a:r>
            <a:r>
              <a:rPr lang="en-US" sz="3200" dirty="0"/>
              <a:t> </a:t>
            </a:r>
            <a:r>
              <a:rPr lang="en-US" sz="3200" dirty="0" err="1"/>
              <a:t>o'z</a:t>
            </a:r>
            <a:r>
              <a:rPr lang="en-US" sz="3200" dirty="0"/>
              <a:t> </a:t>
            </a:r>
            <a:r>
              <a:rPr lang="en-US" sz="3200" dirty="0" err="1"/>
              <a:t>biznes</a:t>
            </a:r>
            <a:r>
              <a:rPr lang="en-US" sz="3200" dirty="0"/>
              <a:t> </a:t>
            </a:r>
            <a:r>
              <a:rPr lang="en-US" sz="3200" dirty="0" err="1"/>
              <a:t>jarayonlarini</a:t>
            </a:r>
            <a:r>
              <a:rPr lang="en-US" sz="3200" dirty="0"/>
              <a:t>, </a:t>
            </a:r>
            <a:r>
              <a:rPr lang="en-US" sz="3200" dirty="0" err="1"/>
              <a:t>madaniyatini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mijozlar</a:t>
            </a:r>
            <a:r>
              <a:rPr lang="en-US" sz="3200" dirty="0"/>
              <a:t> </a:t>
            </a:r>
            <a:r>
              <a:rPr lang="en-US" sz="3200" dirty="0" err="1"/>
              <a:t>tajribasini</a:t>
            </a:r>
            <a:r>
              <a:rPr lang="en-US" sz="3200" dirty="0"/>
              <a:t> </a:t>
            </a:r>
            <a:r>
              <a:rPr lang="en-US" sz="3200" dirty="0" err="1"/>
              <a:t>tubdan</a:t>
            </a:r>
            <a:r>
              <a:rPr lang="en-US" sz="3200" dirty="0"/>
              <a:t> </a:t>
            </a:r>
            <a:r>
              <a:rPr lang="en-US" sz="3200" dirty="0" err="1"/>
              <a:t>o'zgartirish</a:t>
            </a:r>
            <a:r>
              <a:rPr lang="en-US" sz="3200" dirty="0"/>
              <a:t> </a:t>
            </a:r>
            <a:r>
              <a:rPr lang="en-US" sz="3200" dirty="0" err="1"/>
              <a:t>jarayonidir</a:t>
            </a:r>
            <a:r>
              <a:rPr lang="en-US" sz="3200" dirty="0"/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38783" y="2843591"/>
            <a:ext cx="11268670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ES" sz="4400" b="1" dirty="0">
                <a:solidFill>
                  <a:srgbClr val="C00000"/>
                </a:solidFill>
              </a:rPr>
              <a:t>Transformatsiya uchun 3 asosiy talab</a:t>
            </a:r>
            <a:endParaRPr lang="es-ES" sz="4400" dirty="0">
              <a:solidFill>
                <a:srgbClr val="C00000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349939" y="4607313"/>
            <a:ext cx="3084314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 dirty="0" err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Imkoniyat</a:t>
            </a:r>
            <a:endParaRPr lang="en-US" sz="2699" b="1" dirty="0">
              <a:solidFill>
                <a:srgbClr val="000000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67812" y="6287831"/>
            <a:ext cx="3055441" cy="41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 dirty="0" err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Madaniyat</a:t>
            </a:r>
            <a:endParaRPr lang="en-US" sz="2699" b="1" dirty="0">
              <a:solidFill>
                <a:srgbClr val="000000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83949" y="7794730"/>
            <a:ext cx="3463826" cy="41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 dirty="0" err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Investitsiya</a:t>
            </a:r>
            <a:endParaRPr lang="en-US" sz="2699" b="1" dirty="0">
              <a:solidFill>
                <a:srgbClr val="000000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pic>
        <p:nvPicPr>
          <p:cNvPr id="3074" name="Picture 2" descr="Investment - Free business and finance icons">
            <a:extLst>
              <a:ext uri="{FF2B5EF4-FFF2-40B4-BE49-F238E27FC236}">
                <a16:creationId xmlns:a16="http://schemas.microsoft.com/office/drawing/2014/main" id="{A96482A6-2D09-4F35-BBE5-64E013A4D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46" y="6855641"/>
            <a:ext cx="2258249" cy="225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ulture - Free people icons">
            <a:extLst>
              <a:ext uri="{FF2B5EF4-FFF2-40B4-BE49-F238E27FC236}">
                <a16:creationId xmlns:a16="http://schemas.microsoft.com/office/drawing/2014/main" id="{23AC4AF5-4E47-4876-B00B-1A42D91CC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941" y="5052238"/>
            <a:ext cx="2827322" cy="282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11224" y="158898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81737" y="1028700"/>
            <a:ext cx="6794014" cy="9847598"/>
            <a:chOff x="0" y="0"/>
            <a:chExt cx="9058685" cy="13130131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2372931"/>
              <a:ext cx="9058685" cy="9793173"/>
            </a:xfrm>
            <a:custGeom>
              <a:avLst/>
              <a:gdLst/>
              <a:ahLst/>
              <a:cxnLst/>
              <a:rect l="l" t="t" r="r" b="b"/>
              <a:pathLst>
                <a:path w="9058685" h="9793173">
                  <a:moveTo>
                    <a:pt x="9058685" y="0"/>
                  </a:moveTo>
                  <a:lnTo>
                    <a:pt x="0" y="0"/>
                  </a:lnTo>
                  <a:lnTo>
                    <a:pt x="0" y="9793173"/>
                  </a:lnTo>
                  <a:lnTo>
                    <a:pt x="9058685" y="9793173"/>
                  </a:lnTo>
                  <a:lnTo>
                    <a:pt x="9058685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Freeform 12"/>
            <p:cNvSpPr/>
            <p:nvPr/>
          </p:nvSpPr>
          <p:spPr>
            <a:xfrm>
              <a:off x="2527934" y="1472836"/>
              <a:ext cx="621340" cy="620564"/>
            </a:xfrm>
            <a:custGeom>
              <a:avLst/>
              <a:gdLst/>
              <a:ahLst/>
              <a:cxnLst/>
              <a:rect l="l" t="t" r="r" b="b"/>
              <a:pathLst>
                <a:path w="621340" h="620564">
                  <a:moveTo>
                    <a:pt x="0" y="0"/>
                  </a:moveTo>
                  <a:lnTo>
                    <a:pt x="621340" y="0"/>
                  </a:lnTo>
                  <a:lnTo>
                    <a:pt x="621340" y="620563"/>
                  </a:lnTo>
                  <a:lnTo>
                    <a:pt x="0" y="62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8537936" y="6388935"/>
              <a:ext cx="520749" cy="520098"/>
            </a:xfrm>
            <a:custGeom>
              <a:avLst/>
              <a:gdLst/>
              <a:ahLst/>
              <a:cxnLst/>
              <a:rect l="l" t="t" r="r" b="b"/>
              <a:pathLst>
                <a:path w="520749" h="520098">
                  <a:moveTo>
                    <a:pt x="0" y="0"/>
                  </a:moveTo>
                  <a:lnTo>
                    <a:pt x="520749" y="0"/>
                  </a:lnTo>
                  <a:lnTo>
                    <a:pt x="520749" y="520098"/>
                  </a:lnTo>
                  <a:lnTo>
                    <a:pt x="0" y="52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77968" y="12559539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7165084" y="0"/>
              <a:ext cx="1893601" cy="2185976"/>
            </a:xfrm>
            <a:custGeom>
              <a:avLst/>
              <a:gdLst/>
              <a:ahLst/>
              <a:cxnLst/>
              <a:rect l="l" t="t" r="r" b="b"/>
              <a:pathLst>
                <a:path w="1893601" h="2185976">
                  <a:moveTo>
                    <a:pt x="0" y="0"/>
                  </a:moveTo>
                  <a:lnTo>
                    <a:pt x="1893601" y="0"/>
                  </a:lnTo>
                  <a:lnTo>
                    <a:pt x="1893601" y="2185976"/>
                  </a:lnTo>
                  <a:lnTo>
                    <a:pt x="0" y="218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7366770" y="4762843"/>
            <a:ext cx="4576785" cy="1381385"/>
          </a:xfrm>
          <a:custGeom>
            <a:avLst/>
            <a:gdLst/>
            <a:ahLst/>
            <a:cxnLst/>
            <a:rect l="l" t="t" r="r" b="b"/>
            <a:pathLst>
              <a:path w="4576785" h="1381385">
                <a:moveTo>
                  <a:pt x="0" y="0"/>
                </a:moveTo>
                <a:lnTo>
                  <a:pt x="4576785" y="0"/>
                </a:lnTo>
                <a:lnTo>
                  <a:pt x="4576785" y="1381384"/>
                </a:lnTo>
                <a:lnTo>
                  <a:pt x="0" y="1381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1028700"/>
            <a:ext cx="9634718" cy="244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600" b="1" dirty="0" err="1"/>
              <a:t>Imkoniyatlar</a:t>
            </a:r>
            <a:r>
              <a:rPr lang="en-US" sz="3600" b="1" dirty="0"/>
              <a:t> - </a:t>
            </a:r>
            <a:r>
              <a:rPr lang="en-US" sz="3600" b="1" dirty="0" err="1"/>
              <a:t>Texnologik</a:t>
            </a:r>
            <a:r>
              <a:rPr lang="en-US" sz="3600" b="1" dirty="0"/>
              <a:t> </a:t>
            </a:r>
            <a:r>
              <a:rPr lang="en-US" sz="3600" b="1" dirty="0" err="1"/>
              <a:t>bilimlar</a:t>
            </a:r>
            <a:br>
              <a:rPr lang="en-US" sz="2800" b="1" dirty="0"/>
            </a:br>
            <a:r>
              <a:rPr lang="en-US" sz="2800" dirty="0" err="1"/>
              <a:t>Bulutli</a:t>
            </a:r>
            <a:r>
              <a:rPr lang="en-US" sz="2800" dirty="0"/>
              <a:t> </a:t>
            </a:r>
            <a:r>
              <a:rPr lang="en-US" sz="2800" dirty="0" err="1"/>
              <a:t>hisoblash</a:t>
            </a:r>
            <a:r>
              <a:rPr lang="en-US" sz="2800" dirty="0"/>
              <a:t>, </a:t>
            </a:r>
            <a:r>
              <a:rPr lang="en-US" sz="2800" dirty="0" err="1"/>
              <a:t>sun'iy</a:t>
            </a:r>
            <a:r>
              <a:rPr lang="en-US" sz="2800" dirty="0"/>
              <a:t> </a:t>
            </a:r>
            <a:r>
              <a:rPr lang="en-US" sz="2800" dirty="0" err="1"/>
              <a:t>intellekt</a:t>
            </a:r>
            <a:r>
              <a:rPr lang="en-US" sz="2800" dirty="0"/>
              <a:t> (AI), </a:t>
            </a:r>
            <a:r>
              <a:rPr lang="en-US" sz="2800" dirty="0" err="1"/>
              <a:t>katta</a:t>
            </a:r>
            <a:r>
              <a:rPr lang="en-US" sz="2800" dirty="0"/>
              <a:t> </a:t>
            </a:r>
            <a:r>
              <a:rPr lang="en-US" sz="2800" dirty="0" err="1"/>
              <a:t>ma'lumotlar</a:t>
            </a:r>
            <a:r>
              <a:rPr lang="en-US" sz="2800" dirty="0"/>
              <a:t> (Big Data) </a:t>
            </a:r>
            <a:r>
              <a:rPr lang="en-US" sz="2800" dirty="0" err="1"/>
              <a:t>kabi</a:t>
            </a:r>
            <a:r>
              <a:rPr lang="en-US" sz="2800" dirty="0"/>
              <a:t> </a:t>
            </a:r>
            <a:r>
              <a:rPr lang="en-US" sz="2800" dirty="0" err="1"/>
              <a:t>texnologiyalar</a:t>
            </a:r>
            <a:r>
              <a:rPr lang="en-US" sz="2800" dirty="0"/>
              <a:t> </a:t>
            </a:r>
            <a:r>
              <a:rPr lang="en-US" sz="2800" dirty="0" err="1"/>
              <a:t>biznesning</a:t>
            </a:r>
            <a:r>
              <a:rPr lang="en-US" sz="2800" dirty="0"/>
              <a:t> </a:t>
            </a:r>
            <a:r>
              <a:rPr lang="en-US" sz="2800" dirty="0" err="1"/>
              <a:t>yangi</a:t>
            </a:r>
            <a:r>
              <a:rPr lang="en-US" sz="2800" dirty="0"/>
              <a:t> </a:t>
            </a:r>
            <a:r>
              <a:rPr lang="en-US" sz="2800" dirty="0" err="1"/>
              <a:t>bosqichga</a:t>
            </a:r>
            <a:r>
              <a:rPr lang="en-US" sz="2800" dirty="0"/>
              <a:t> </a:t>
            </a:r>
            <a:r>
              <a:rPr lang="en-US" sz="2800" dirty="0" err="1"/>
              <a:t>chiqishini</a:t>
            </a:r>
            <a:r>
              <a:rPr lang="en-US" sz="2800" dirty="0"/>
              <a:t> </a:t>
            </a:r>
            <a:r>
              <a:rPr lang="en-US" sz="2800" dirty="0" err="1"/>
              <a:t>ta'minlaydi</a:t>
            </a:r>
            <a:r>
              <a:rPr lang="en-US" sz="2800" dirty="0"/>
              <a:t>. 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endParaRPr lang="en-US" sz="3099" b="1" dirty="0">
              <a:solidFill>
                <a:srgbClr val="000000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81710" y="6210474"/>
            <a:ext cx="4724554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sun'iy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intellekt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yordamida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mijozlarga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shaxsiy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tavsiyalar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beradi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va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avtomatlashtirish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orqali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jarayonlarni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</a:rPr>
              <a:t>tezlashtiradi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-10357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11224" y="158898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81737" y="1028700"/>
            <a:ext cx="6794014" cy="9847598"/>
            <a:chOff x="0" y="0"/>
            <a:chExt cx="9058685" cy="13130131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2372931"/>
              <a:ext cx="9058685" cy="9793173"/>
            </a:xfrm>
            <a:custGeom>
              <a:avLst/>
              <a:gdLst/>
              <a:ahLst/>
              <a:cxnLst/>
              <a:rect l="l" t="t" r="r" b="b"/>
              <a:pathLst>
                <a:path w="9058685" h="9793173">
                  <a:moveTo>
                    <a:pt x="9058685" y="0"/>
                  </a:moveTo>
                  <a:lnTo>
                    <a:pt x="0" y="0"/>
                  </a:lnTo>
                  <a:lnTo>
                    <a:pt x="0" y="9793173"/>
                  </a:lnTo>
                  <a:lnTo>
                    <a:pt x="9058685" y="9793173"/>
                  </a:lnTo>
                  <a:lnTo>
                    <a:pt x="9058685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Freeform 12"/>
            <p:cNvSpPr/>
            <p:nvPr/>
          </p:nvSpPr>
          <p:spPr>
            <a:xfrm>
              <a:off x="2527934" y="1472836"/>
              <a:ext cx="621340" cy="620564"/>
            </a:xfrm>
            <a:custGeom>
              <a:avLst/>
              <a:gdLst/>
              <a:ahLst/>
              <a:cxnLst/>
              <a:rect l="l" t="t" r="r" b="b"/>
              <a:pathLst>
                <a:path w="621340" h="620564">
                  <a:moveTo>
                    <a:pt x="0" y="0"/>
                  </a:moveTo>
                  <a:lnTo>
                    <a:pt x="621340" y="0"/>
                  </a:lnTo>
                  <a:lnTo>
                    <a:pt x="621340" y="620563"/>
                  </a:lnTo>
                  <a:lnTo>
                    <a:pt x="0" y="62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8537936" y="6388935"/>
              <a:ext cx="520749" cy="520098"/>
            </a:xfrm>
            <a:custGeom>
              <a:avLst/>
              <a:gdLst/>
              <a:ahLst/>
              <a:cxnLst/>
              <a:rect l="l" t="t" r="r" b="b"/>
              <a:pathLst>
                <a:path w="520749" h="520098">
                  <a:moveTo>
                    <a:pt x="0" y="0"/>
                  </a:moveTo>
                  <a:lnTo>
                    <a:pt x="520749" y="0"/>
                  </a:lnTo>
                  <a:lnTo>
                    <a:pt x="520749" y="520098"/>
                  </a:lnTo>
                  <a:lnTo>
                    <a:pt x="0" y="52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77968" y="12559539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7165084" y="0"/>
              <a:ext cx="1893601" cy="2185976"/>
            </a:xfrm>
            <a:custGeom>
              <a:avLst/>
              <a:gdLst/>
              <a:ahLst/>
              <a:cxnLst/>
              <a:rect l="l" t="t" r="r" b="b"/>
              <a:pathLst>
                <a:path w="1893601" h="2185976">
                  <a:moveTo>
                    <a:pt x="0" y="0"/>
                  </a:moveTo>
                  <a:lnTo>
                    <a:pt x="1893601" y="0"/>
                  </a:lnTo>
                  <a:lnTo>
                    <a:pt x="1893601" y="2185976"/>
                  </a:lnTo>
                  <a:lnTo>
                    <a:pt x="0" y="218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28700" y="1028700"/>
            <a:ext cx="9634718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</a:rPr>
              <a:t>Imkoniyatlar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</a:rPr>
              <a:t>Liderlik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</a:rPr>
              <a:t>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</a:rPr>
              <a:t>strategiya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31985" y="4432554"/>
            <a:ext cx="7591278" cy="425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endParaRPr lang="en-US" sz="2799" b="1" dirty="0">
              <a:solidFill>
                <a:srgbClr val="F6950E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1738" y="7033300"/>
            <a:ext cx="5733918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800" b="1" dirty="0" err="1"/>
              <a:t>Moslashuvchanlik</a:t>
            </a:r>
            <a:r>
              <a:rPr lang="en-US" sz="2800" b="1" dirty="0"/>
              <a:t> – </a:t>
            </a:r>
            <a:r>
              <a:rPr lang="en-US" sz="2800" b="1" dirty="0" err="1"/>
              <a:t>bu</a:t>
            </a:r>
            <a:r>
              <a:rPr lang="en-US" sz="2800" b="1" dirty="0"/>
              <a:t> </a:t>
            </a:r>
            <a:r>
              <a:rPr lang="en-US" sz="2800" b="1" dirty="0" err="1"/>
              <a:t>o‘zgarishga</a:t>
            </a:r>
            <a:r>
              <a:rPr lang="en-US" sz="2800" b="1" dirty="0"/>
              <a:t> </a:t>
            </a:r>
            <a:r>
              <a:rPr lang="en-US" sz="2800" b="1" dirty="0" err="1"/>
              <a:t>ochiqlik</a:t>
            </a:r>
            <a:r>
              <a:rPr lang="en-US" sz="2800" b="1" dirty="0"/>
              <a:t>.</a:t>
            </a:r>
            <a:br>
              <a:rPr lang="en-US" sz="2800" b="1" dirty="0"/>
            </a:br>
            <a:r>
              <a:rPr lang="en-US" sz="2800" dirty="0" err="1"/>
              <a:t>Transformatsiya</a:t>
            </a:r>
            <a:r>
              <a:rPr lang="en-US" sz="2800" dirty="0"/>
              <a:t> </a:t>
            </a:r>
            <a:r>
              <a:rPr lang="en-US" sz="2800" dirty="0" err="1"/>
              <a:t>rejalashtirilganidek</a:t>
            </a:r>
            <a:r>
              <a:rPr lang="en-US" sz="2800" dirty="0"/>
              <a:t> </a:t>
            </a:r>
            <a:r>
              <a:rPr lang="en-US" sz="2800" dirty="0" err="1"/>
              <a:t>kechmaydi</a:t>
            </a:r>
            <a:r>
              <a:rPr lang="en-US" sz="2800" dirty="0"/>
              <a:t>. </a:t>
            </a:r>
            <a:r>
              <a:rPr lang="en-US" sz="2800" dirty="0" err="1"/>
              <a:t>Moslashuvchanlik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o‘rganishga</a:t>
            </a:r>
            <a:r>
              <a:rPr lang="en-US" sz="2800" dirty="0"/>
              <a:t> </a:t>
            </a:r>
            <a:r>
              <a:rPr lang="en-US" sz="2800" dirty="0" err="1"/>
              <a:t>tayyorlik</a:t>
            </a:r>
            <a:r>
              <a:rPr lang="en-US" sz="2800" dirty="0"/>
              <a:t> </a:t>
            </a:r>
            <a:r>
              <a:rPr lang="en-US" sz="2800" dirty="0" err="1"/>
              <a:t>bilan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to‘siqlarni</a:t>
            </a:r>
            <a:r>
              <a:rPr lang="en-US" sz="2800" dirty="0"/>
              <a:t> </a:t>
            </a:r>
            <a:r>
              <a:rPr lang="en-US" sz="2800" b="1" dirty="0" err="1"/>
              <a:t>muammo</a:t>
            </a:r>
            <a:r>
              <a:rPr lang="en-US" sz="2800" b="1" dirty="0"/>
              <a:t> </a:t>
            </a:r>
            <a:r>
              <a:rPr lang="en-US" sz="2800" b="1" dirty="0" err="1"/>
              <a:t>emas</a:t>
            </a:r>
            <a:r>
              <a:rPr lang="en-US" sz="2800" b="1" dirty="0"/>
              <a:t>, </a:t>
            </a:r>
            <a:r>
              <a:rPr lang="en-US" sz="2800" b="1" dirty="0" err="1"/>
              <a:t>imkoniyat</a:t>
            </a:r>
            <a:r>
              <a:rPr lang="en-US" sz="2800" dirty="0"/>
              <a:t> </a:t>
            </a:r>
            <a:r>
              <a:rPr lang="en-US" sz="2800" dirty="0" err="1"/>
              <a:t>sifatida</a:t>
            </a:r>
            <a:r>
              <a:rPr lang="en-US" sz="2800" dirty="0"/>
              <a:t> </a:t>
            </a:r>
            <a:r>
              <a:rPr lang="en-US" sz="2800" dirty="0" err="1"/>
              <a:t>ko‘rish</a:t>
            </a:r>
            <a:r>
              <a:rPr lang="en-US" sz="2800" dirty="0"/>
              <a:t> </a:t>
            </a:r>
            <a:r>
              <a:rPr lang="en-US" sz="2800" dirty="0" err="1"/>
              <a:t>mumkin</a:t>
            </a:r>
            <a:r>
              <a:rPr lang="en-US" sz="2800" dirty="0"/>
              <a:t>.</a:t>
            </a:r>
            <a:endParaRPr lang="ru-RU" sz="2800" dirty="0"/>
          </a:p>
          <a:p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532EDA-F529-40A7-BC37-6104AB631DAC}"/>
              </a:ext>
            </a:extLst>
          </p:cNvPr>
          <p:cNvSpPr txBox="1"/>
          <p:nvPr/>
        </p:nvSpPr>
        <p:spPr>
          <a:xfrm>
            <a:off x="4870392" y="2192018"/>
            <a:ext cx="7392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</a:rPr>
              <a:t>Imkoniyatlar</a:t>
            </a:r>
            <a:r>
              <a:rPr lang="en-US" sz="3200" b="1" dirty="0">
                <a:solidFill>
                  <a:srgbClr val="C00000"/>
                </a:solidFill>
              </a:rPr>
              <a:t> - </a:t>
            </a:r>
            <a:r>
              <a:rPr lang="en-US" sz="3200" b="1" dirty="0" err="1">
                <a:solidFill>
                  <a:srgbClr val="C00000"/>
                </a:solidFill>
              </a:rPr>
              <a:t>Moslashuvchanlik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 err="1">
                <a:solidFill>
                  <a:srgbClr val="C00000"/>
                </a:solidFill>
              </a:rPr>
              <a:t>va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 err="1">
                <a:solidFill>
                  <a:srgbClr val="C00000"/>
                </a:solidFill>
              </a:rPr>
              <a:t>o'rganish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 err="1">
                <a:solidFill>
                  <a:srgbClr val="C00000"/>
                </a:solidFill>
              </a:rPr>
              <a:t>qobiliyati</a:t>
            </a:r>
            <a:endParaRPr lang="en-US" sz="3200" dirty="0">
              <a:solidFill>
                <a:srgbClr val="C00000"/>
              </a:solidFill>
            </a:endParaRPr>
          </a:p>
          <a:p>
            <a:endParaRPr lang="ru-RU" sz="3200" dirty="0">
              <a:solidFill>
                <a:srgbClr val="C00000"/>
              </a:solidFill>
            </a:endParaRPr>
          </a:p>
        </p:txBody>
      </p:sp>
      <p:pic>
        <p:nvPicPr>
          <p:cNvPr id="5122" name="Picture 2" descr="Easy Ways to Nurture Leadership in Your Organization">
            <a:extLst>
              <a:ext uri="{FF2B5EF4-FFF2-40B4-BE49-F238E27FC236}">
                <a16:creationId xmlns:a16="http://schemas.microsoft.com/office/drawing/2014/main" id="{596C23F4-CAEC-4B51-A0FA-7C6B6ABD7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15" y="3888041"/>
            <a:ext cx="5162860" cy="282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3E56C73-0840-473D-B0AC-5926865ABE30}"/>
              </a:ext>
            </a:extLst>
          </p:cNvPr>
          <p:cNvSpPr txBox="1"/>
          <p:nvPr/>
        </p:nvSpPr>
        <p:spPr>
          <a:xfrm>
            <a:off x="6762618" y="3532809"/>
            <a:ext cx="5444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 err="1"/>
              <a:t>Lider</a:t>
            </a:r>
            <a:r>
              <a:rPr lang="en-US" sz="2400" b="1" dirty="0"/>
              <a:t> </a:t>
            </a:r>
            <a:r>
              <a:rPr lang="en-US" sz="2400" b="1" dirty="0" err="1"/>
              <a:t>transformatsiyaning</a:t>
            </a:r>
            <a:r>
              <a:rPr lang="en-US" sz="2400" b="1" dirty="0"/>
              <a:t> "</a:t>
            </a:r>
            <a:r>
              <a:rPr lang="en-US" sz="2400" b="1" dirty="0" err="1"/>
              <a:t>ruhiy</a:t>
            </a:r>
            <a:r>
              <a:rPr lang="en-US" sz="2400" b="1" dirty="0"/>
              <a:t> </a:t>
            </a:r>
            <a:r>
              <a:rPr lang="en-US" sz="2400" b="1" dirty="0" err="1"/>
              <a:t>motori</a:t>
            </a:r>
            <a:r>
              <a:rPr lang="en-US" sz="2400" b="1" dirty="0"/>
              <a:t>" </a:t>
            </a:r>
            <a:r>
              <a:rPr lang="en-US" sz="2400" b="1" dirty="0" err="1"/>
              <a:t>bo'lishi</a:t>
            </a:r>
            <a:r>
              <a:rPr lang="en-US" sz="2400" b="1" dirty="0"/>
              <a:t> </a:t>
            </a:r>
            <a:r>
              <a:rPr lang="en-US" sz="2400" b="1" dirty="0" err="1"/>
              <a:t>kerak</a:t>
            </a:r>
            <a:endParaRPr lang="ru-RU" sz="24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 err="1"/>
              <a:t>Yaxshi</a:t>
            </a:r>
            <a:r>
              <a:rPr lang="en-US" sz="2400" dirty="0"/>
              <a:t> </a:t>
            </a:r>
            <a:r>
              <a:rPr lang="en-US" sz="2400" dirty="0" err="1"/>
              <a:t>lider</a:t>
            </a:r>
            <a:r>
              <a:rPr lang="en-US" sz="2400" dirty="0"/>
              <a:t> </a:t>
            </a:r>
            <a:r>
              <a:rPr lang="en-US" sz="2400" dirty="0" err="1"/>
              <a:t>faqat</a:t>
            </a:r>
            <a:r>
              <a:rPr lang="en-US" sz="2400" dirty="0"/>
              <a:t> </a:t>
            </a:r>
            <a:r>
              <a:rPr lang="en-US" sz="2400" dirty="0" err="1"/>
              <a:t>buyruq</a:t>
            </a:r>
            <a:r>
              <a:rPr lang="en-US" sz="2400" dirty="0"/>
              <a:t> </a:t>
            </a:r>
            <a:r>
              <a:rPr lang="en-US" sz="2400" dirty="0" err="1"/>
              <a:t>bermaydi</a:t>
            </a:r>
            <a:r>
              <a:rPr lang="en-US" sz="2400" dirty="0"/>
              <a:t>. U </a:t>
            </a:r>
            <a:r>
              <a:rPr lang="en-US" sz="2400" dirty="0" err="1"/>
              <a:t>o'zi</a:t>
            </a:r>
            <a:r>
              <a:rPr lang="en-US" sz="2400" dirty="0"/>
              <a:t> </a:t>
            </a:r>
            <a:r>
              <a:rPr lang="en-US" sz="2400" dirty="0" err="1"/>
              <a:t>shaxsan</a:t>
            </a:r>
            <a:r>
              <a:rPr lang="en-US" sz="2400" dirty="0"/>
              <a:t> </a:t>
            </a:r>
            <a:r>
              <a:rPr lang="en-US" sz="2400" dirty="0" err="1"/>
              <a:t>raqamli</a:t>
            </a:r>
            <a:r>
              <a:rPr lang="en-US" sz="2400" dirty="0"/>
              <a:t> </a:t>
            </a:r>
            <a:r>
              <a:rPr lang="en-US" sz="2400" dirty="0" err="1"/>
              <a:t>texnologiyalarga</a:t>
            </a:r>
            <a:r>
              <a:rPr lang="en-US" sz="2400" dirty="0"/>
              <a:t> </a:t>
            </a:r>
            <a:r>
              <a:rPr lang="en-US" sz="2400" dirty="0" err="1"/>
              <a:t>ishonishini</a:t>
            </a:r>
            <a:r>
              <a:rPr lang="en-US" sz="2400" dirty="0"/>
              <a:t> </a:t>
            </a:r>
            <a:r>
              <a:rPr lang="en-US" sz="2400" dirty="0" err="1"/>
              <a:t>ko‘rsatadi</a:t>
            </a:r>
            <a:r>
              <a:rPr lang="en-US" sz="2400" dirty="0"/>
              <a:t>.</a:t>
            </a:r>
            <a:endParaRPr lang="ru-RU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Har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qadamda</a:t>
            </a:r>
            <a:r>
              <a:rPr lang="en-US" sz="2400" dirty="0"/>
              <a:t> </a:t>
            </a:r>
            <a:r>
              <a:rPr lang="en-US" sz="2400" dirty="0" err="1"/>
              <a:t>odamlarni</a:t>
            </a:r>
            <a:r>
              <a:rPr lang="en-US" sz="2400" dirty="0"/>
              <a:t> </a:t>
            </a:r>
            <a:r>
              <a:rPr lang="en-US" sz="2400" dirty="0" err="1"/>
              <a:t>ilhomlantirish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maqsadni</a:t>
            </a:r>
            <a:r>
              <a:rPr lang="en-US" sz="2400" dirty="0"/>
              <a:t> </a:t>
            </a:r>
            <a:r>
              <a:rPr lang="en-US" sz="2400" dirty="0" err="1"/>
              <a:t>eslatib</a:t>
            </a:r>
            <a:r>
              <a:rPr lang="en-US" sz="2400" dirty="0"/>
              <a:t> </a:t>
            </a:r>
            <a:r>
              <a:rPr lang="en-US" sz="2400" dirty="0" err="1"/>
              <a:t>turish</a:t>
            </a:r>
            <a:r>
              <a:rPr lang="en-US" sz="2400" dirty="0"/>
              <a:t> </a:t>
            </a:r>
            <a:r>
              <a:rPr lang="en-US" sz="2400" dirty="0" err="1"/>
              <a:t>kerak</a:t>
            </a:r>
            <a:r>
              <a:rPr lang="en-US" sz="2400" dirty="0"/>
              <a:t>.</a:t>
            </a:r>
            <a:endParaRPr lang="ru-RU" sz="2400" dirty="0"/>
          </a:p>
          <a:p>
            <a:endParaRPr lang="ru-RU" sz="2400" dirty="0"/>
          </a:p>
        </p:txBody>
      </p:sp>
      <p:pic>
        <p:nvPicPr>
          <p:cNvPr id="5124" name="Picture 4" descr="Learning to Change: Worker Resilience and Adaptability - Public Policy Forum">
            <a:extLst>
              <a:ext uri="{FF2B5EF4-FFF2-40B4-BE49-F238E27FC236}">
                <a16:creationId xmlns:a16="http://schemas.microsoft.com/office/drawing/2014/main" id="{73D3DBAE-FCC9-484F-AA92-ACD76D51E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14245" flipV="1">
            <a:off x="6967245" y="7297254"/>
            <a:ext cx="40005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04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19192" y="-961530"/>
            <a:ext cx="9773136" cy="10412979"/>
            <a:chOff x="0" y="0"/>
            <a:chExt cx="13030848" cy="13883972"/>
          </a:xfrm>
        </p:grpSpPr>
        <p:sp>
          <p:nvSpPr>
            <p:cNvPr id="4" name="Freeform 4"/>
            <p:cNvSpPr/>
            <p:nvPr/>
          </p:nvSpPr>
          <p:spPr>
            <a:xfrm>
              <a:off x="3054280" y="0"/>
              <a:ext cx="9976568" cy="10557215"/>
            </a:xfrm>
            <a:custGeom>
              <a:avLst/>
              <a:gdLst/>
              <a:ahLst/>
              <a:cxnLst/>
              <a:rect l="l" t="t" r="r" b="b"/>
              <a:pathLst>
                <a:path w="9976568" h="10557215">
                  <a:moveTo>
                    <a:pt x="0" y="0"/>
                  </a:moveTo>
                  <a:lnTo>
                    <a:pt x="9976568" y="0"/>
                  </a:lnTo>
                  <a:lnTo>
                    <a:pt x="9976568" y="10557215"/>
                  </a:lnTo>
                  <a:lnTo>
                    <a:pt x="0" y="10557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587546" y="7655228"/>
              <a:ext cx="1583495" cy="1738274"/>
            </a:xfrm>
            <a:custGeom>
              <a:avLst/>
              <a:gdLst/>
              <a:ahLst/>
              <a:cxnLst/>
              <a:rect l="l" t="t" r="r" b="b"/>
              <a:pathLst>
                <a:path w="1583495" h="1738274">
                  <a:moveTo>
                    <a:pt x="0" y="0"/>
                  </a:moveTo>
                  <a:lnTo>
                    <a:pt x="1583495" y="0"/>
                  </a:lnTo>
                  <a:lnTo>
                    <a:pt x="1583495" y="1738274"/>
                  </a:lnTo>
                  <a:lnTo>
                    <a:pt x="0" y="1738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0034" t="-133257" b="-3740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8552701" y="12413005"/>
              <a:ext cx="1458845" cy="1470967"/>
            </a:xfrm>
            <a:custGeom>
              <a:avLst/>
              <a:gdLst/>
              <a:ahLst/>
              <a:cxnLst/>
              <a:rect l="l" t="t" r="r" b="b"/>
              <a:pathLst>
                <a:path w="1458845" h="1470967">
                  <a:moveTo>
                    <a:pt x="0" y="0"/>
                  </a:moveTo>
                  <a:lnTo>
                    <a:pt x="1458846" y="0"/>
                  </a:lnTo>
                  <a:lnTo>
                    <a:pt x="1458846" y="1470967"/>
                  </a:lnTo>
                  <a:lnTo>
                    <a:pt x="0" y="1470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512" r="-583867" b="-480192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5976021"/>
              <a:ext cx="396633" cy="396137"/>
            </a:xfrm>
            <a:custGeom>
              <a:avLst/>
              <a:gdLst/>
              <a:ahLst/>
              <a:cxnLst/>
              <a:rect l="l" t="t" r="r" b="b"/>
              <a:pathLst>
                <a:path w="396633" h="396137">
                  <a:moveTo>
                    <a:pt x="0" y="0"/>
                  </a:moveTo>
                  <a:lnTo>
                    <a:pt x="396633" y="0"/>
                  </a:lnTo>
                  <a:lnTo>
                    <a:pt x="396633" y="396136"/>
                  </a:lnTo>
                  <a:lnTo>
                    <a:pt x="0" y="39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657647" y="6853230"/>
              <a:ext cx="396633" cy="396137"/>
            </a:xfrm>
            <a:custGeom>
              <a:avLst/>
              <a:gdLst/>
              <a:ahLst/>
              <a:cxnLst/>
              <a:rect l="l" t="t" r="r" b="b"/>
              <a:pathLst>
                <a:path w="396633" h="396137">
                  <a:moveTo>
                    <a:pt x="0" y="0"/>
                  </a:moveTo>
                  <a:lnTo>
                    <a:pt x="396633" y="0"/>
                  </a:lnTo>
                  <a:lnTo>
                    <a:pt x="396633" y="396137"/>
                  </a:lnTo>
                  <a:lnTo>
                    <a:pt x="0" y="396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766257" y="11242007"/>
              <a:ext cx="266860" cy="266526"/>
            </a:xfrm>
            <a:custGeom>
              <a:avLst/>
              <a:gdLst/>
              <a:ahLst/>
              <a:cxnLst/>
              <a:rect l="l" t="t" r="r" b="b"/>
              <a:pathLst>
                <a:path w="266860" h="266526">
                  <a:moveTo>
                    <a:pt x="0" y="0"/>
                  </a:moveTo>
                  <a:lnTo>
                    <a:pt x="266860" y="0"/>
                  </a:lnTo>
                  <a:lnTo>
                    <a:pt x="266860" y="266526"/>
                  </a:lnTo>
                  <a:lnTo>
                    <a:pt x="0" y="266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0251619" y="11393586"/>
              <a:ext cx="485741" cy="485133"/>
            </a:xfrm>
            <a:custGeom>
              <a:avLst/>
              <a:gdLst/>
              <a:ahLst/>
              <a:cxnLst/>
              <a:rect l="l" t="t" r="r" b="b"/>
              <a:pathLst>
                <a:path w="485741" h="485133">
                  <a:moveTo>
                    <a:pt x="0" y="0"/>
                  </a:moveTo>
                  <a:lnTo>
                    <a:pt x="485740" y="0"/>
                  </a:lnTo>
                  <a:lnTo>
                    <a:pt x="485740" y="485134"/>
                  </a:lnTo>
                  <a:lnTo>
                    <a:pt x="0" y="485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11748382" y="-270537"/>
            <a:ext cx="1357377" cy="1299237"/>
          </a:xfrm>
          <a:custGeom>
            <a:avLst/>
            <a:gdLst/>
            <a:ahLst/>
            <a:cxnLst/>
            <a:rect l="l" t="t" r="r" b="b"/>
            <a:pathLst>
              <a:path w="1357377" h="1299237">
                <a:moveTo>
                  <a:pt x="0" y="0"/>
                </a:moveTo>
                <a:lnTo>
                  <a:pt x="1357378" y="0"/>
                </a:lnTo>
                <a:lnTo>
                  <a:pt x="1357378" y="1299237"/>
                </a:lnTo>
                <a:lnTo>
                  <a:pt x="0" y="1299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2046" r="-282218" b="-645437"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081976" y="7200900"/>
            <a:ext cx="1856344" cy="1856344"/>
          </a:xfrm>
          <a:custGeom>
            <a:avLst/>
            <a:gdLst/>
            <a:ahLst/>
            <a:cxnLst/>
            <a:rect l="l" t="t" r="r" b="b"/>
            <a:pathLst>
              <a:path w="1856344" h="1856344">
                <a:moveTo>
                  <a:pt x="0" y="0"/>
                </a:moveTo>
                <a:lnTo>
                  <a:pt x="1856344" y="0"/>
                </a:lnTo>
                <a:lnTo>
                  <a:pt x="1856344" y="1856344"/>
                </a:lnTo>
                <a:lnTo>
                  <a:pt x="0" y="1856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49278" y="698815"/>
            <a:ext cx="876627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b="1" dirty="0" err="1"/>
              <a:t>Investitsiyalar</a:t>
            </a:r>
            <a:r>
              <a:rPr lang="en-US" sz="4800" b="1" dirty="0"/>
              <a:t> - </a:t>
            </a:r>
            <a:r>
              <a:rPr lang="en-US" sz="4800" b="1" dirty="0" err="1"/>
              <a:t>Moliyaviy</a:t>
            </a:r>
            <a:r>
              <a:rPr lang="en-US" sz="4800" b="1" dirty="0"/>
              <a:t> </a:t>
            </a:r>
            <a:r>
              <a:rPr lang="en-US" sz="4800" b="1" dirty="0" err="1"/>
              <a:t>sarmoya</a:t>
            </a:r>
            <a:endParaRPr lang="en-US" sz="4800" dirty="0"/>
          </a:p>
        </p:txBody>
      </p:sp>
      <p:sp>
        <p:nvSpPr>
          <p:cNvPr id="15" name="TextBox 15"/>
          <p:cNvSpPr txBox="1"/>
          <p:nvPr/>
        </p:nvSpPr>
        <p:spPr>
          <a:xfrm>
            <a:off x="1219200" y="1922103"/>
            <a:ext cx="1036293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Moliyaviy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sarmoya</a:t>
            </a:r>
            <a:r>
              <a:rPr lang="en-US" sz="3200" b="1" dirty="0">
                <a:solidFill>
                  <a:srgbClr val="FF0000"/>
                </a:solidFill>
              </a:rPr>
              <a:t> — </a:t>
            </a:r>
            <a:r>
              <a:rPr lang="en-US" sz="3200" b="1" dirty="0" err="1">
                <a:solidFill>
                  <a:srgbClr val="FF0000"/>
                </a:solidFill>
              </a:rPr>
              <a:t>transformatsiyaning</a:t>
            </a:r>
            <a:r>
              <a:rPr lang="en-US" sz="3200" b="1" dirty="0">
                <a:solidFill>
                  <a:srgbClr val="FF0000"/>
                </a:solidFill>
              </a:rPr>
              <a:t> "</a:t>
            </a:r>
            <a:r>
              <a:rPr lang="en-US" sz="3200" b="1" dirty="0" err="1">
                <a:solidFill>
                  <a:srgbClr val="FF0000"/>
                </a:solidFill>
              </a:rPr>
              <a:t>yoqilg‘isi</a:t>
            </a:r>
            <a:r>
              <a:rPr lang="en-US" sz="3200" b="1" dirty="0">
                <a:solidFill>
                  <a:srgbClr val="FF0000"/>
                </a:solidFill>
              </a:rPr>
              <a:t>"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56872" y="2680320"/>
            <a:ext cx="6934091" cy="2798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br>
              <a:rPr lang="en-US" sz="2400" dirty="0"/>
            </a:br>
            <a:r>
              <a:rPr lang="en-US" sz="2400" dirty="0"/>
              <a:t>➔ IT </a:t>
            </a:r>
            <a:r>
              <a:rPr lang="en-US" sz="2400" dirty="0" err="1"/>
              <a:t>infratuzilmasini</a:t>
            </a:r>
            <a:r>
              <a:rPr lang="en-US" sz="2400" dirty="0"/>
              <a:t> </a:t>
            </a:r>
            <a:r>
              <a:rPr lang="en-US" sz="2400" dirty="0" err="1"/>
              <a:t>modernizatsiya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br>
              <a:rPr lang="en-US" sz="2400" dirty="0"/>
            </a:br>
            <a:r>
              <a:rPr lang="en-US" sz="2400" dirty="0"/>
              <a:t>➔ </a:t>
            </a:r>
            <a:r>
              <a:rPr lang="en-US" sz="2400" dirty="0" err="1"/>
              <a:t>Maxsus</a:t>
            </a:r>
            <a:r>
              <a:rPr lang="en-US" sz="2400" dirty="0"/>
              <a:t> </a:t>
            </a:r>
            <a:r>
              <a:rPr lang="en-US" sz="2400" dirty="0" err="1"/>
              <a:t>dasturiy</a:t>
            </a:r>
            <a:r>
              <a:rPr lang="en-US" sz="2400" dirty="0"/>
              <a:t> </a:t>
            </a:r>
            <a:r>
              <a:rPr lang="en-US" sz="2400" dirty="0" err="1"/>
              <a:t>ta'minot</a:t>
            </a:r>
            <a:r>
              <a:rPr lang="en-US" sz="2400" dirty="0"/>
              <a:t> </a:t>
            </a:r>
            <a:r>
              <a:rPr lang="en-US" sz="2400" dirty="0" err="1"/>
              <a:t>yaratish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</a:t>
            </a:r>
            <a:r>
              <a:rPr lang="en-US" sz="2400" dirty="0" err="1"/>
              <a:t>xarid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br>
              <a:rPr lang="en-US" sz="2400" dirty="0"/>
            </a:br>
            <a:r>
              <a:rPr lang="en-US" sz="2400" dirty="0"/>
              <a:t>➔ </a:t>
            </a:r>
            <a:r>
              <a:rPr lang="en-US" sz="2400" dirty="0" err="1"/>
              <a:t>Xodimlarni</a:t>
            </a:r>
            <a:r>
              <a:rPr lang="en-US" sz="2400" dirty="0"/>
              <a:t> </a:t>
            </a:r>
            <a:r>
              <a:rPr lang="en-US" sz="2400" dirty="0" err="1"/>
              <a:t>yangi</a:t>
            </a:r>
            <a:r>
              <a:rPr lang="en-US" sz="2400" dirty="0"/>
              <a:t> </a:t>
            </a:r>
            <a:r>
              <a:rPr lang="en-US" sz="2400" dirty="0" err="1"/>
              <a:t>ko‘nikmalar</a:t>
            </a:r>
            <a:r>
              <a:rPr lang="en-US" sz="2400" dirty="0"/>
              <a:t> </a:t>
            </a:r>
            <a:r>
              <a:rPr lang="en-US" sz="2400" dirty="0" err="1"/>
              <a:t>bo‘yicha</a:t>
            </a:r>
            <a:r>
              <a:rPr lang="en-US" sz="2400" dirty="0"/>
              <a:t> </a:t>
            </a:r>
            <a:r>
              <a:rPr lang="en-US" sz="2400" dirty="0" err="1"/>
              <a:t>o‘qitish</a:t>
            </a:r>
            <a:br>
              <a:rPr lang="en-US" sz="2400" dirty="0"/>
            </a:br>
            <a:r>
              <a:rPr lang="en-US" sz="2400" dirty="0"/>
              <a:t>➔ </a:t>
            </a:r>
            <a:r>
              <a:rPr lang="en-US" sz="2400" dirty="0" err="1"/>
              <a:t>Jarayonlarni</a:t>
            </a:r>
            <a:r>
              <a:rPr lang="en-US" sz="2400" dirty="0"/>
              <a:t> </a:t>
            </a:r>
            <a:r>
              <a:rPr lang="en-US" sz="2400" dirty="0" err="1"/>
              <a:t>avtomatlashtirish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tizimlarga</a:t>
            </a:r>
            <a:r>
              <a:rPr lang="en-US" sz="2400" dirty="0"/>
              <a:t> </a:t>
            </a:r>
            <a:r>
              <a:rPr lang="en-US" sz="2400" dirty="0" err="1"/>
              <a:t>sarmoya</a:t>
            </a:r>
            <a:r>
              <a:rPr lang="en-US" sz="2400" dirty="0"/>
              <a:t> </a:t>
            </a:r>
            <a:r>
              <a:rPr lang="en-US" sz="2400" dirty="0" err="1"/>
              <a:t>kiritishni</a:t>
            </a:r>
            <a:r>
              <a:rPr lang="en-US" sz="2400" dirty="0"/>
              <a:t> ham </a:t>
            </a:r>
            <a:r>
              <a:rPr lang="en-US" sz="2400" dirty="0" err="1"/>
              <a:t>o‘z</a:t>
            </a:r>
            <a:r>
              <a:rPr lang="en-US" sz="2400" dirty="0"/>
              <a:t> </a:t>
            </a:r>
            <a:r>
              <a:rPr lang="en-US" sz="2400" dirty="0" err="1"/>
              <a:t>ichiga</a:t>
            </a:r>
            <a:r>
              <a:rPr lang="en-US" sz="2400" dirty="0"/>
              <a:t> </a:t>
            </a:r>
            <a:r>
              <a:rPr lang="en-US" sz="2400" dirty="0" err="1"/>
              <a:t>oladi</a:t>
            </a:r>
            <a:r>
              <a:rPr lang="en-US" sz="2400" dirty="0"/>
              <a:t>.</a:t>
            </a:r>
            <a:endParaRPr lang="ru-RU" sz="2400" dirty="0"/>
          </a:p>
          <a:p>
            <a:pPr algn="ctr">
              <a:lnSpc>
                <a:spcPts val="5098"/>
              </a:lnSpc>
              <a:spcBef>
                <a:spcPct val="0"/>
              </a:spcBef>
            </a:pPr>
            <a:endParaRPr lang="en-US" sz="2400" b="1" dirty="0">
              <a:solidFill>
                <a:srgbClr val="202020"/>
              </a:solidFill>
              <a:latin typeface="Nunito Semi-Bold"/>
              <a:ea typeface="Nunito Semi-Bold"/>
              <a:cs typeface="Nunito Semi-Bold"/>
              <a:sym typeface="Nunito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75646" y="7267297"/>
            <a:ext cx="748242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Netflix</a:t>
            </a:r>
            <a:r>
              <a:rPr lang="en-US" sz="2800" dirty="0"/>
              <a:t> </a:t>
            </a:r>
            <a:r>
              <a:rPr lang="en-US" sz="2800" dirty="0" err="1"/>
              <a:t>onlayn</a:t>
            </a:r>
            <a:r>
              <a:rPr lang="en-US" sz="2800" dirty="0"/>
              <a:t> </a:t>
            </a:r>
            <a:r>
              <a:rPr lang="en-US" sz="2800" dirty="0" err="1"/>
              <a:t>striming</a:t>
            </a:r>
            <a:r>
              <a:rPr lang="en-US" sz="2800" dirty="0"/>
              <a:t> </a:t>
            </a:r>
            <a:r>
              <a:rPr lang="en-US" sz="2800" dirty="0" err="1"/>
              <a:t>xizmatini</a:t>
            </a:r>
            <a:r>
              <a:rPr lang="en-US" sz="2800" dirty="0"/>
              <a:t> </a:t>
            </a:r>
            <a:r>
              <a:rPr lang="en-US" sz="2800" dirty="0" err="1"/>
              <a:t>rivojlantirish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</a:t>
            </a:r>
            <a:r>
              <a:rPr lang="en-US" sz="2800" dirty="0" err="1"/>
              <a:t>katta</a:t>
            </a:r>
            <a:r>
              <a:rPr lang="en-US" sz="2800" dirty="0"/>
              <a:t> </a:t>
            </a:r>
            <a:r>
              <a:rPr lang="en-US" sz="2800" dirty="0" err="1"/>
              <a:t>mablag</a:t>
            </a:r>
            <a:r>
              <a:rPr lang="en-US" sz="2800" dirty="0"/>
              <a:t>' </a:t>
            </a:r>
            <a:r>
              <a:rPr lang="en-US" sz="2800" dirty="0" err="1"/>
              <a:t>sarflagan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ularning</a:t>
            </a:r>
            <a:r>
              <a:rPr lang="en-US" sz="2800" dirty="0"/>
              <a:t> </a:t>
            </a:r>
            <a:r>
              <a:rPr lang="en-US" sz="2800" dirty="0" err="1"/>
              <a:t>dunyodagi</a:t>
            </a:r>
            <a:r>
              <a:rPr lang="en-US" sz="2800" dirty="0"/>
              <a:t> </a:t>
            </a:r>
            <a:r>
              <a:rPr lang="en-US" sz="2800" dirty="0" err="1"/>
              <a:t>yetakchi</a:t>
            </a:r>
            <a:r>
              <a:rPr lang="en-US" sz="2800" dirty="0"/>
              <a:t> </a:t>
            </a:r>
            <a:r>
              <a:rPr lang="en-US" sz="2800" dirty="0" err="1"/>
              <a:t>kompaniyaga</a:t>
            </a:r>
            <a:r>
              <a:rPr lang="en-US" sz="2800" dirty="0"/>
              <a:t> </a:t>
            </a:r>
            <a:r>
              <a:rPr lang="en-US" sz="2800" dirty="0" err="1"/>
              <a:t>aylanishiga</a:t>
            </a:r>
            <a:r>
              <a:rPr lang="en-US" sz="2800" dirty="0"/>
              <a:t> </a:t>
            </a:r>
            <a:r>
              <a:rPr lang="en-US" sz="2800" dirty="0" err="1"/>
              <a:t>sabab</a:t>
            </a:r>
            <a:r>
              <a:rPr lang="en-US" sz="2800" dirty="0"/>
              <a:t> </a:t>
            </a:r>
            <a:r>
              <a:rPr lang="en-US" sz="2800" dirty="0" err="1"/>
              <a:t>bo'lgan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138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08661" y="-390734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81737" y="1028700"/>
            <a:ext cx="6794014" cy="9847598"/>
            <a:chOff x="0" y="0"/>
            <a:chExt cx="9058685" cy="13130131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2372931"/>
              <a:ext cx="9058685" cy="9793173"/>
            </a:xfrm>
            <a:custGeom>
              <a:avLst/>
              <a:gdLst/>
              <a:ahLst/>
              <a:cxnLst/>
              <a:rect l="l" t="t" r="r" b="b"/>
              <a:pathLst>
                <a:path w="9058685" h="9793173">
                  <a:moveTo>
                    <a:pt x="9058685" y="0"/>
                  </a:moveTo>
                  <a:lnTo>
                    <a:pt x="0" y="0"/>
                  </a:lnTo>
                  <a:lnTo>
                    <a:pt x="0" y="9793173"/>
                  </a:lnTo>
                  <a:lnTo>
                    <a:pt x="9058685" y="9793173"/>
                  </a:lnTo>
                  <a:lnTo>
                    <a:pt x="9058685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Freeform 12"/>
            <p:cNvSpPr/>
            <p:nvPr/>
          </p:nvSpPr>
          <p:spPr>
            <a:xfrm>
              <a:off x="2527934" y="1472836"/>
              <a:ext cx="621340" cy="620564"/>
            </a:xfrm>
            <a:custGeom>
              <a:avLst/>
              <a:gdLst/>
              <a:ahLst/>
              <a:cxnLst/>
              <a:rect l="l" t="t" r="r" b="b"/>
              <a:pathLst>
                <a:path w="621340" h="620564">
                  <a:moveTo>
                    <a:pt x="0" y="0"/>
                  </a:moveTo>
                  <a:lnTo>
                    <a:pt x="621340" y="0"/>
                  </a:lnTo>
                  <a:lnTo>
                    <a:pt x="621340" y="620563"/>
                  </a:lnTo>
                  <a:lnTo>
                    <a:pt x="0" y="62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8537936" y="6388935"/>
              <a:ext cx="520749" cy="520098"/>
            </a:xfrm>
            <a:custGeom>
              <a:avLst/>
              <a:gdLst/>
              <a:ahLst/>
              <a:cxnLst/>
              <a:rect l="l" t="t" r="r" b="b"/>
              <a:pathLst>
                <a:path w="520749" h="520098">
                  <a:moveTo>
                    <a:pt x="0" y="0"/>
                  </a:moveTo>
                  <a:lnTo>
                    <a:pt x="520749" y="0"/>
                  </a:lnTo>
                  <a:lnTo>
                    <a:pt x="520749" y="520098"/>
                  </a:lnTo>
                  <a:lnTo>
                    <a:pt x="0" y="52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77968" y="12559539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7165084" y="0"/>
              <a:ext cx="1893601" cy="2185976"/>
            </a:xfrm>
            <a:custGeom>
              <a:avLst/>
              <a:gdLst/>
              <a:ahLst/>
              <a:cxnLst/>
              <a:rect l="l" t="t" r="r" b="b"/>
              <a:pathLst>
                <a:path w="1893601" h="2185976">
                  <a:moveTo>
                    <a:pt x="0" y="0"/>
                  </a:moveTo>
                  <a:lnTo>
                    <a:pt x="1893601" y="0"/>
                  </a:lnTo>
                  <a:lnTo>
                    <a:pt x="1893601" y="2185976"/>
                  </a:lnTo>
                  <a:lnTo>
                    <a:pt x="0" y="218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741266" y="1038225"/>
            <a:ext cx="9634718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5400" b="1" dirty="0" err="1">
                <a:solidFill>
                  <a:srgbClr val="FF0000"/>
                </a:solidFill>
              </a:rPr>
              <a:t>Sarmoya</a:t>
            </a:r>
            <a:r>
              <a:rPr lang="ru-RU" sz="5400" b="1" dirty="0"/>
              <a:t> – </a:t>
            </a:r>
            <a:r>
              <a:rPr lang="ru-RU" sz="5400" b="1" dirty="0" err="1"/>
              <a:t>risk</a:t>
            </a:r>
            <a:r>
              <a:rPr lang="ru-RU" sz="5400" b="1" dirty="0"/>
              <a:t>, </a:t>
            </a:r>
            <a:r>
              <a:rPr lang="ru-RU" sz="5400" b="1" dirty="0" err="1"/>
              <a:t>lekin</a:t>
            </a:r>
            <a:r>
              <a:rPr lang="ru-RU" sz="5400" b="1" dirty="0"/>
              <a:t> </a:t>
            </a:r>
            <a:r>
              <a:rPr lang="ru-RU" sz="5400" b="1" dirty="0" err="1"/>
              <a:t>zarur</a:t>
            </a:r>
            <a:r>
              <a:rPr lang="ru-RU" sz="5400" b="1" dirty="0"/>
              <a:t> </a:t>
            </a:r>
            <a:r>
              <a:rPr lang="ru-RU" sz="5400" b="1" dirty="0" err="1"/>
              <a:t>risk</a:t>
            </a:r>
            <a:endParaRPr lang="ru-RU" sz="5400" dirty="0"/>
          </a:p>
        </p:txBody>
      </p:sp>
      <p:sp>
        <p:nvSpPr>
          <p:cNvPr id="19" name="TextBox 19"/>
          <p:cNvSpPr txBox="1"/>
          <p:nvPr/>
        </p:nvSpPr>
        <p:spPr>
          <a:xfrm>
            <a:off x="3107033" y="3018564"/>
            <a:ext cx="890599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ru-RU" sz="3600" dirty="0"/>
              <a:t>➔ </a:t>
            </a:r>
            <a:r>
              <a:rPr lang="ru-RU" sz="3600" dirty="0" err="1"/>
              <a:t>xarajatlarni</a:t>
            </a:r>
            <a:r>
              <a:rPr lang="ru-RU" sz="3600" dirty="0"/>
              <a:t> </a:t>
            </a:r>
            <a:r>
              <a:rPr lang="ru-RU" sz="3600" dirty="0" err="1"/>
              <a:t>kamaytiradi</a:t>
            </a:r>
            <a:r>
              <a:rPr lang="ru-RU" sz="3600" dirty="0"/>
              <a:t>,</a:t>
            </a:r>
            <a:br>
              <a:rPr lang="ru-RU" sz="3600" dirty="0"/>
            </a:br>
            <a:r>
              <a:rPr lang="ru-RU" sz="3600" dirty="0"/>
              <a:t>➔ </a:t>
            </a:r>
            <a:r>
              <a:rPr lang="ru-RU" sz="3600" dirty="0" err="1"/>
              <a:t>mijozlar</a:t>
            </a:r>
            <a:r>
              <a:rPr lang="ru-RU" sz="3600" dirty="0"/>
              <a:t> </a:t>
            </a:r>
            <a:r>
              <a:rPr lang="ru-RU" sz="3600" dirty="0" err="1"/>
              <a:t>tajribasini</a:t>
            </a:r>
            <a:r>
              <a:rPr lang="ru-RU" sz="3600" dirty="0"/>
              <a:t> </a:t>
            </a:r>
            <a:r>
              <a:rPr lang="ru-RU" sz="3600" dirty="0" err="1"/>
              <a:t>yaxshilaydi</a:t>
            </a:r>
            <a:r>
              <a:rPr lang="ru-RU" sz="3600" dirty="0"/>
              <a:t>,</a:t>
            </a:r>
            <a:br>
              <a:rPr lang="ru-RU" sz="3600" dirty="0"/>
            </a:br>
            <a:r>
              <a:rPr lang="ru-RU" sz="3600" dirty="0"/>
              <a:t>➔ </a:t>
            </a:r>
            <a:r>
              <a:rPr lang="ru-RU" sz="3600" dirty="0" err="1"/>
              <a:t>va</a:t>
            </a:r>
            <a:r>
              <a:rPr lang="ru-RU" sz="3600" dirty="0"/>
              <a:t> </a:t>
            </a:r>
            <a:r>
              <a:rPr lang="ru-RU" sz="3600" dirty="0" err="1"/>
              <a:t>kompaniyani</a:t>
            </a:r>
            <a:r>
              <a:rPr lang="ru-RU" sz="3600" dirty="0"/>
              <a:t> </a:t>
            </a:r>
            <a:r>
              <a:rPr lang="ru-RU" sz="3600" dirty="0" err="1"/>
              <a:t>raqobatchilardan</a:t>
            </a:r>
            <a:r>
              <a:rPr lang="ru-RU" sz="3600" dirty="0"/>
              <a:t> </a:t>
            </a:r>
            <a:r>
              <a:rPr lang="ru-RU" sz="3600" dirty="0" err="1"/>
              <a:t>oldinga</a:t>
            </a:r>
            <a:r>
              <a:rPr lang="ru-RU" sz="3600" dirty="0"/>
              <a:t> </a:t>
            </a:r>
            <a:r>
              <a:rPr lang="ru-RU" sz="3600" dirty="0" err="1"/>
              <a:t>olib</a:t>
            </a:r>
            <a:r>
              <a:rPr lang="ru-RU" sz="3600" dirty="0"/>
              <a:t> </a:t>
            </a:r>
            <a:r>
              <a:rPr lang="ru-RU" sz="3600" dirty="0" err="1"/>
              <a:t>chiqadi</a:t>
            </a:r>
            <a:r>
              <a:rPr lang="ru-RU" sz="3600" dirty="0"/>
              <a:t>.</a:t>
            </a:r>
          </a:p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D4BC386A-5E70-42E2-81D5-D8C7D5AEC992}"/>
              </a:ext>
            </a:extLst>
          </p:cNvPr>
          <p:cNvSpPr/>
          <p:nvPr/>
        </p:nvSpPr>
        <p:spPr>
          <a:xfrm>
            <a:off x="1081976" y="7200900"/>
            <a:ext cx="1856344" cy="1856344"/>
          </a:xfrm>
          <a:custGeom>
            <a:avLst/>
            <a:gdLst/>
            <a:ahLst/>
            <a:cxnLst/>
            <a:rect l="l" t="t" r="r" b="b"/>
            <a:pathLst>
              <a:path w="1856344" h="1856344">
                <a:moveTo>
                  <a:pt x="0" y="0"/>
                </a:moveTo>
                <a:lnTo>
                  <a:pt x="1856344" y="0"/>
                </a:lnTo>
                <a:lnTo>
                  <a:pt x="1856344" y="1856344"/>
                </a:lnTo>
                <a:lnTo>
                  <a:pt x="0" y="1856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4EC34-9DE7-40EA-9EE0-7D54DB38E517}"/>
              </a:ext>
            </a:extLst>
          </p:cNvPr>
          <p:cNvSpPr txBox="1"/>
          <p:nvPr/>
        </p:nvSpPr>
        <p:spPr>
          <a:xfrm>
            <a:off x="3797462" y="6997490"/>
            <a:ext cx="70063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Netflix DVD </a:t>
            </a:r>
            <a:r>
              <a:rPr lang="en-US" sz="2800" dirty="0" err="1"/>
              <a:t>ijarasidan</a:t>
            </a:r>
            <a:r>
              <a:rPr lang="en-US" sz="2800" dirty="0"/>
              <a:t> </a:t>
            </a:r>
            <a:r>
              <a:rPr lang="en-US" sz="2800" dirty="0" err="1"/>
              <a:t>onlayn</a:t>
            </a:r>
            <a:r>
              <a:rPr lang="en-US" sz="2800" dirty="0"/>
              <a:t> </a:t>
            </a:r>
            <a:r>
              <a:rPr lang="en-US" sz="2800" dirty="0" err="1"/>
              <a:t>striming</a:t>
            </a:r>
            <a:r>
              <a:rPr lang="en-US" sz="2800" dirty="0"/>
              <a:t> </a:t>
            </a:r>
            <a:r>
              <a:rPr lang="en-US" sz="2800" dirty="0" err="1"/>
              <a:t>platformasiga</a:t>
            </a:r>
            <a:r>
              <a:rPr lang="en-US" sz="2800" dirty="0"/>
              <a:t> </a:t>
            </a:r>
            <a:r>
              <a:rPr lang="en-US" sz="2800" dirty="0" err="1"/>
              <a:t>o‘tish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</a:t>
            </a:r>
            <a:r>
              <a:rPr lang="en-US" sz="2800" dirty="0" err="1"/>
              <a:t>millionlab</a:t>
            </a:r>
            <a:r>
              <a:rPr lang="en-US" sz="2800" dirty="0"/>
              <a:t> dollar </a:t>
            </a:r>
            <a:r>
              <a:rPr lang="en-US" sz="2800" dirty="0" err="1"/>
              <a:t>sarmoya</a:t>
            </a:r>
            <a:r>
              <a:rPr lang="en-US" sz="2800" dirty="0"/>
              <a:t> </a:t>
            </a:r>
            <a:r>
              <a:rPr lang="en-US" sz="2800" dirty="0" err="1"/>
              <a:t>qilgan</a:t>
            </a:r>
            <a:r>
              <a:rPr lang="en-US" sz="2800" dirty="0"/>
              <a:t>. </a:t>
            </a:r>
            <a:r>
              <a:rPr lang="en-US" sz="2800" dirty="0" err="1"/>
              <a:t>Dastlab</a:t>
            </a:r>
            <a:r>
              <a:rPr lang="en-US" sz="2800" dirty="0"/>
              <a:t> </a:t>
            </a:r>
            <a:r>
              <a:rPr lang="en-US" sz="2800" dirty="0" err="1"/>
              <a:t>zarar</a:t>
            </a:r>
            <a:r>
              <a:rPr lang="en-US" sz="2800" dirty="0"/>
              <a:t> </a:t>
            </a:r>
            <a:r>
              <a:rPr lang="en-US" sz="2800" dirty="0" err="1"/>
              <a:t>ko‘rgan</a:t>
            </a:r>
            <a:r>
              <a:rPr lang="en-US" sz="2800" dirty="0"/>
              <a:t>, </a:t>
            </a:r>
            <a:r>
              <a:rPr lang="en-US" sz="2800" dirty="0" err="1"/>
              <a:t>lekin</a:t>
            </a:r>
            <a:r>
              <a:rPr lang="en-US" sz="2800" dirty="0"/>
              <a:t> </a:t>
            </a:r>
            <a:r>
              <a:rPr lang="en-US" sz="2800" dirty="0" err="1"/>
              <a:t>hozir</a:t>
            </a:r>
            <a:r>
              <a:rPr lang="en-US" sz="2800" dirty="0"/>
              <a:t> </a:t>
            </a:r>
            <a:r>
              <a:rPr lang="en-US" sz="2800" dirty="0" err="1"/>
              <a:t>dunyoning</a:t>
            </a:r>
            <a:r>
              <a:rPr lang="en-US" sz="2800" dirty="0"/>
              <a:t> </a:t>
            </a:r>
            <a:r>
              <a:rPr lang="en-US" sz="2800" dirty="0" err="1"/>
              <a:t>eng</a:t>
            </a:r>
            <a:r>
              <a:rPr lang="en-US" sz="2800" dirty="0"/>
              <a:t> </a:t>
            </a:r>
            <a:r>
              <a:rPr lang="en-US" sz="2800" dirty="0" err="1"/>
              <a:t>yirik</a:t>
            </a:r>
            <a:r>
              <a:rPr lang="en-US" sz="2800" dirty="0"/>
              <a:t> media </a:t>
            </a:r>
            <a:r>
              <a:rPr lang="en-US" sz="2800" dirty="0" err="1"/>
              <a:t>kompaniyasiga</a:t>
            </a:r>
            <a:r>
              <a:rPr lang="en-US" sz="2800" dirty="0"/>
              <a:t> </a:t>
            </a:r>
            <a:r>
              <a:rPr lang="en-US" sz="2800" dirty="0" err="1"/>
              <a:t>aylangan</a:t>
            </a:r>
            <a:r>
              <a:rPr lang="en-US" sz="2800" dirty="0"/>
              <a:t>.</a:t>
            </a: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51396" y="-390734"/>
            <a:ext cx="8718286" cy="11068469"/>
            <a:chOff x="0" y="0"/>
            <a:chExt cx="11624381" cy="14757958"/>
          </a:xfrm>
        </p:grpSpPr>
        <p:sp>
          <p:nvSpPr>
            <p:cNvPr id="3" name="Freeform 3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530565" y="2028099"/>
              <a:ext cx="9314004" cy="11153407"/>
            </a:xfrm>
            <a:custGeom>
              <a:avLst/>
              <a:gdLst/>
              <a:ahLst/>
              <a:cxnLst/>
              <a:rect l="l" t="t" r="r" b="b"/>
              <a:pathLst>
                <a:path w="9314004" h="11153407">
                  <a:moveTo>
                    <a:pt x="9314004" y="0"/>
                  </a:moveTo>
                  <a:lnTo>
                    <a:pt x="0" y="0"/>
                  </a:lnTo>
                  <a:lnTo>
                    <a:pt x="0" y="11153408"/>
                  </a:lnTo>
                  <a:lnTo>
                    <a:pt x="9314004" y="11153408"/>
                  </a:lnTo>
                  <a:lnTo>
                    <a:pt x="9314004" y="0"/>
                  </a:lnTo>
                  <a:close/>
                </a:path>
              </a:pathLst>
            </a:custGeom>
            <a:blipFill>
              <a:blip r:embed="rId3"/>
              <a:stretch>
                <a:fillRect b="-9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877431" y="722764"/>
            <a:ext cx="7668063" cy="54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Investitsiya</a:t>
            </a:r>
            <a:r>
              <a:rPr lang="en-US" sz="3600" b="1" dirty="0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>
                <a:latin typeface="Nunito Ultra-Bold"/>
                <a:ea typeface="Nunito Ultra-Bold"/>
                <a:cs typeface="Nunito Ultra-Bold"/>
                <a:sym typeface="Nunito Ultra-Bold"/>
              </a:rPr>
              <a:t>– </a:t>
            </a:r>
            <a:r>
              <a:rPr lang="en-US" sz="3600" b="1" dirty="0" err="1">
                <a:latin typeface="Nunito Ultra-Bold"/>
                <a:ea typeface="Nunito Ultra-Bold"/>
                <a:cs typeface="Nunito Ultra-Bold"/>
                <a:sym typeface="Nunito Ultra-Bold"/>
              </a:rPr>
              <a:t>vaqt</a:t>
            </a:r>
            <a:r>
              <a:rPr lang="en-US" sz="3600" b="1" dirty="0"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latin typeface="Nunito Ultra-Bold"/>
                <a:ea typeface="Nunito Ultra-Bold"/>
                <a:cs typeface="Nunito Ultra-Bold"/>
                <a:sym typeface="Nunito Ultra-Bold"/>
              </a:rPr>
              <a:t>va</a:t>
            </a:r>
            <a:r>
              <a:rPr lang="en-US" sz="3600" b="1" dirty="0">
                <a:latin typeface="Nunito Ultra-Bold"/>
                <a:ea typeface="Nunito Ultra-Bold"/>
                <a:cs typeface="Nunito Ultra-Bold"/>
                <a:sym typeface="Nunito Ultra-Bold"/>
              </a:rPr>
              <a:t> </a:t>
            </a:r>
            <a:r>
              <a:rPr lang="en-US" sz="3600" b="1" dirty="0" err="1">
                <a:latin typeface="Nunito Ultra-Bold"/>
                <a:ea typeface="Nunito Ultra-Bold"/>
                <a:cs typeface="Nunito Ultra-Bold"/>
                <a:sym typeface="Nunito Ultra-Bold"/>
              </a:rPr>
              <a:t>resurslar</a:t>
            </a:r>
            <a:endParaRPr lang="en-US" sz="3600" b="1" dirty="0"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528267" y="7126054"/>
            <a:ext cx="650803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Microsoft </a:t>
            </a:r>
            <a:r>
              <a:rPr lang="en-US" sz="2800" dirty="0" err="1"/>
              <a:t>o‘zining</a:t>
            </a:r>
            <a:r>
              <a:rPr lang="en-US" sz="2800" dirty="0"/>
              <a:t> </a:t>
            </a:r>
            <a:r>
              <a:rPr lang="en-US" sz="2800" dirty="0" err="1"/>
              <a:t>butunlay</a:t>
            </a:r>
            <a:r>
              <a:rPr lang="en-US" sz="2800" dirty="0"/>
              <a:t> </a:t>
            </a:r>
            <a:r>
              <a:rPr lang="en-US" sz="2800" dirty="0" err="1"/>
              <a:t>bulutga</a:t>
            </a:r>
            <a:r>
              <a:rPr lang="en-US" sz="2800" dirty="0"/>
              <a:t> </a:t>
            </a:r>
            <a:r>
              <a:rPr lang="en-US" sz="2800" dirty="0" err="1"/>
              <a:t>o‘tishi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</a:t>
            </a:r>
            <a:r>
              <a:rPr lang="en-US" sz="2800" b="1" dirty="0"/>
              <a:t>5 </a:t>
            </a:r>
            <a:r>
              <a:rPr lang="en-US" sz="2800" b="1" dirty="0" err="1"/>
              <a:t>yildan</a:t>
            </a:r>
            <a:r>
              <a:rPr lang="en-US" sz="2800" b="1" dirty="0"/>
              <a:t> </a:t>
            </a:r>
            <a:r>
              <a:rPr lang="en-US" sz="2800" b="1" dirty="0" err="1"/>
              <a:t>ortiq</a:t>
            </a:r>
            <a:r>
              <a:rPr lang="en-US" sz="2800" b="1" dirty="0"/>
              <a:t> </a:t>
            </a:r>
            <a:r>
              <a:rPr lang="en-US" sz="2800" b="1" dirty="0" err="1"/>
              <a:t>vaqt</a:t>
            </a:r>
            <a:r>
              <a:rPr lang="en-US" sz="2800" dirty="0"/>
              <a:t> </a:t>
            </a:r>
            <a:r>
              <a:rPr lang="en-US" sz="2800" dirty="0" err="1"/>
              <a:t>sarfladi</a:t>
            </a:r>
            <a:r>
              <a:rPr lang="en-US" sz="2800" dirty="0"/>
              <a:t>. </a:t>
            </a:r>
            <a:r>
              <a:rPr lang="en-US" sz="2800" dirty="0" err="1"/>
              <a:t>Ular</a:t>
            </a:r>
            <a:r>
              <a:rPr lang="en-US" sz="2800" dirty="0"/>
              <a:t> har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bosqichni</a:t>
            </a:r>
            <a:r>
              <a:rPr lang="en-US" sz="2800" dirty="0"/>
              <a:t> </a:t>
            </a:r>
            <a:r>
              <a:rPr lang="en-US" sz="2800" dirty="0" err="1"/>
              <a:t>sinchiklab</a:t>
            </a:r>
            <a:r>
              <a:rPr lang="en-US" sz="2800" dirty="0"/>
              <a:t> </a:t>
            </a:r>
            <a:r>
              <a:rPr lang="en-US" sz="2800" dirty="0" err="1"/>
              <a:t>ishlab</a:t>
            </a:r>
            <a:r>
              <a:rPr lang="en-US" sz="2800" dirty="0"/>
              <a:t> </a:t>
            </a:r>
            <a:r>
              <a:rPr lang="en-US" sz="2800" dirty="0" err="1"/>
              <a:t>chiqdi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doimiy</a:t>
            </a:r>
            <a:r>
              <a:rPr lang="en-US" sz="2800" dirty="0"/>
              <a:t> </a:t>
            </a:r>
            <a:r>
              <a:rPr lang="en-US" sz="2800" dirty="0" err="1"/>
              <a:t>yangilab</a:t>
            </a:r>
            <a:r>
              <a:rPr lang="en-US" sz="2800" dirty="0"/>
              <a:t> </a:t>
            </a:r>
            <a:r>
              <a:rPr lang="en-US" sz="2800" dirty="0" err="1"/>
              <a:t>bordi</a:t>
            </a:r>
            <a:r>
              <a:rPr lang="en-US" sz="2800" dirty="0"/>
              <a:t>.</a:t>
            </a:r>
          </a:p>
        </p:txBody>
      </p:sp>
      <p:pic>
        <p:nvPicPr>
          <p:cNvPr id="6148" name="Picture 4" descr="Quelques réflexions sur Microsoft">
            <a:extLst>
              <a:ext uri="{FF2B5EF4-FFF2-40B4-BE49-F238E27FC236}">
                <a16:creationId xmlns:a16="http://schemas.microsoft.com/office/drawing/2014/main" id="{675521EC-779E-4F1E-AEAE-25A93C606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31" y="5676900"/>
            <a:ext cx="42862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CBF7E2-9680-4007-906A-D0085918A3FF}"/>
              </a:ext>
            </a:extLst>
          </p:cNvPr>
          <p:cNvSpPr txBox="1"/>
          <p:nvPr/>
        </p:nvSpPr>
        <p:spPr>
          <a:xfrm>
            <a:off x="2209800" y="2362837"/>
            <a:ext cx="708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Resurslar</a:t>
            </a:r>
            <a:r>
              <a:rPr lang="en-US" sz="3200" dirty="0"/>
              <a:t> </a:t>
            </a:r>
            <a:r>
              <a:rPr lang="en-US" sz="3200" dirty="0" err="1"/>
              <a:t>deganda</a:t>
            </a:r>
            <a:r>
              <a:rPr lang="en-US" sz="3200" dirty="0"/>
              <a:t> </a:t>
            </a:r>
            <a:r>
              <a:rPr lang="en-US" sz="3200" b="1" dirty="0" err="1"/>
              <a:t>moliyaviy</a:t>
            </a:r>
            <a:r>
              <a:rPr lang="en-US" sz="3200" b="1" dirty="0"/>
              <a:t> </a:t>
            </a:r>
            <a:r>
              <a:rPr lang="en-US" sz="3200" b="1" dirty="0" err="1"/>
              <a:t>mablag'lar</a:t>
            </a:r>
            <a:r>
              <a:rPr lang="en-US" sz="3200" dirty="0"/>
              <a:t>, </a:t>
            </a:r>
            <a:r>
              <a:rPr lang="en-US" sz="3200" b="1" dirty="0" err="1"/>
              <a:t>vaqt</a:t>
            </a:r>
            <a:r>
              <a:rPr lang="en-US" sz="3200" dirty="0"/>
              <a:t>, </a:t>
            </a:r>
            <a:r>
              <a:rPr lang="en-US" sz="3200" b="1" dirty="0" err="1"/>
              <a:t>inson</a:t>
            </a:r>
            <a:r>
              <a:rPr lang="en-US" sz="3200" b="1" dirty="0"/>
              <a:t> </a:t>
            </a:r>
            <a:r>
              <a:rPr lang="en-US" sz="3200" b="1" dirty="0" err="1"/>
              <a:t>salohiyati</a:t>
            </a:r>
            <a:r>
              <a:rPr lang="en-US" sz="3200" dirty="0"/>
              <a:t>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b="1" dirty="0" err="1"/>
              <a:t>energiyasi</a:t>
            </a:r>
            <a:r>
              <a:rPr lang="en-US" sz="3200" dirty="0"/>
              <a:t> </a:t>
            </a:r>
            <a:r>
              <a:rPr lang="en-US" sz="3200" dirty="0" err="1"/>
              <a:t>tushuniladi</a:t>
            </a:r>
            <a:r>
              <a:rPr lang="en-US" sz="3200" dirty="0"/>
              <a:t>.</a:t>
            </a:r>
            <a:endParaRPr lang="ru-RU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C9ED23-B9F7-4235-BFFB-B8DB2329B96A}"/>
              </a:ext>
            </a:extLst>
          </p:cNvPr>
          <p:cNvSpPr txBox="1"/>
          <p:nvPr/>
        </p:nvSpPr>
        <p:spPr>
          <a:xfrm>
            <a:off x="4952999" y="1380765"/>
            <a:ext cx="650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Resurs</a:t>
            </a:r>
            <a:r>
              <a:rPr lang="en-US" sz="4000" dirty="0"/>
              <a:t> – </a:t>
            </a:r>
            <a:r>
              <a:rPr lang="en-US" sz="4000" dirty="0" err="1">
                <a:solidFill>
                  <a:srgbClr val="FF0000"/>
                </a:solidFill>
              </a:rPr>
              <a:t>faqat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pul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emas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1FCE42-6568-4306-A2E7-B13E9F46C51A}"/>
              </a:ext>
            </a:extLst>
          </p:cNvPr>
          <p:cNvSpPr txBox="1"/>
          <p:nvPr/>
        </p:nvSpPr>
        <p:spPr>
          <a:xfrm>
            <a:off x="5753100" y="3642056"/>
            <a:ext cx="57117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➔ </a:t>
            </a:r>
            <a:r>
              <a:rPr lang="en-US" sz="2400" dirty="0" err="1"/>
              <a:t>yangi</a:t>
            </a:r>
            <a:r>
              <a:rPr lang="en-US" sz="2400" dirty="0"/>
              <a:t> </a:t>
            </a:r>
            <a:r>
              <a:rPr lang="en-US" sz="2400" dirty="0" err="1"/>
              <a:t>texnologiyalarni</a:t>
            </a:r>
            <a:r>
              <a:rPr lang="en-US" sz="2400" dirty="0"/>
              <a:t> </a:t>
            </a:r>
            <a:r>
              <a:rPr lang="en-US" sz="2400" dirty="0" err="1"/>
              <a:t>joriy</a:t>
            </a:r>
            <a:r>
              <a:rPr lang="en-US" sz="2400" dirty="0"/>
              <a:t> </a:t>
            </a:r>
            <a:r>
              <a:rPr lang="en-US" sz="2400" dirty="0" err="1"/>
              <a:t>etish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➔ </a:t>
            </a:r>
            <a:r>
              <a:rPr lang="en-US" sz="2400" dirty="0" err="1"/>
              <a:t>xodimlarni</a:t>
            </a:r>
            <a:r>
              <a:rPr lang="en-US" sz="2400" dirty="0"/>
              <a:t> </a:t>
            </a:r>
            <a:r>
              <a:rPr lang="en-US" sz="2400" dirty="0" err="1"/>
              <a:t>o‘qitish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➔ </a:t>
            </a:r>
            <a:r>
              <a:rPr lang="en-US" sz="2400" dirty="0" err="1"/>
              <a:t>yangi</a:t>
            </a:r>
            <a:r>
              <a:rPr lang="en-US" sz="2400" dirty="0"/>
              <a:t> </a:t>
            </a:r>
            <a:r>
              <a:rPr lang="en-US" sz="2400" dirty="0" err="1"/>
              <a:t>jarayonlarni</a:t>
            </a:r>
            <a:r>
              <a:rPr lang="en-US" sz="2400" dirty="0"/>
              <a:t> </a:t>
            </a:r>
            <a:r>
              <a:rPr lang="en-US" sz="2400" dirty="0" err="1"/>
              <a:t>ishlab</a:t>
            </a:r>
            <a:r>
              <a:rPr lang="en-US" sz="2400" dirty="0"/>
              <a:t> </a:t>
            </a:r>
            <a:r>
              <a:rPr lang="en-US" sz="2400" dirty="0" err="1"/>
              <a:t>chiqish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➔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mavjud</a:t>
            </a:r>
            <a:r>
              <a:rPr lang="en-US" sz="2400" dirty="0"/>
              <a:t> </a:t>
            </a:r>
            <a:r>
              <a:rPr lang="en-US" sz="2400" dirty="0" err="1"/>
              <a:t>tizimlarni</a:t>
            </a:r>
            <a:r>
              <a:rPr lang="en-US" sz="2400" dirty="0"/>
              <a:t> </a:t>
            </a:r>
            <a:r>
              <a:rPr lang="en-US" sz="2400" dirty="0" err="1"/>
              <a:t>modernizatsiya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endParaRPr lang="ru-RU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23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85800" y="-773347"/>
            <a:ext cx="8024066" cy="11833694"/>
            <a:chOff x="0" y="0"/>
            <a:chExt cx="10698755" cy="15778259"/>
          </a:xfrm>
        </p:grpSpPr>
        <p:sp>
          <p:nvSpPr>
            <p:cNvPr id="4" name="Freeform 4"/>
            <p:cNvSpPr/>
            <p:nvPr/>
          </p:nvSpPr>
          <p:spPr>
            <a:xfrm>
              <a:off x="1330886" y="3296672"/>
              <a:ext cx="8942809" cy="9136970"/>
            </a:xfrm>
            <a:custGeom>
              <a:avLst/>
              <a:gdLst/>
              <a:ahLst/>
              <a:cxnLst/>
              <a:rect l="l" t="t" r="r" b="b"/>
              <a:pathLst>
                <a:path w="8942809" h="9136970">
                  <a:moveTo>
                    <a:pt x="0" y="0"/>
                  </a:moveTo>
                  <a:lnTo>
                    <a:pt x="8942810" y="0"/>
                  </a:lnTo>
                  <a:lnTo>
                    <a:pt x="8942810" y="9136969"/>
                  </a:lnTo>
                  <a:lnTo>
                    <a:pt x="0" y="9136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78278" y="11141281"/>
              <a:ext cx="505216" cy="504585"/>
            </a:xfrm>
            <a:custGeom>
              <a:avLst/>
              <a:gdLst/>
              <a:ahLst/>
              <a:cxnLst/>
              <a:rect l="l" t="t" r="r" b="b"/>
              <a:pathLst>
                <a:path w="505216" h="504585">
                  <a:moveTo>
                    <a:pt x="0" y="0"/>
                  </a:moveTo>
                  <a:lnTo>
                    <a:pt x="505217" y="0"/>
                  </a:lnTo>
                  <a:lnTo>
                    <a:pt x="505217" y="504585"/>
                  </a:lnTo>
                  <a:lnTo>
                    <a:pt x="0" y="50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390256" y="8711599"/>
              <a:ext cx="505216" cy="504585"/>
            </a:xfrm>
            <a:custGeom>
              <a:avLst/>
              <a:gdLst/>
              <a:ahLst/>
              <a:cxnLst/>
              <a:rect l="l" t="t" r="r" b="b"/>
              <a:pathLst>
                <a:path w="505216" h="504585">
                  <a:moveTo>
                    <a:pt x="0" y="0"/>
                  </a:moveTo>
                  <a:lnTo>
                    <a:pt x="505216" y="0"/>
                  </a:lnTo>
                  <a:lnTo>
                    <a:pt x="505216" y="504585"/>
                  </a:lnTo>
                  <a:lnTo>
                    <a:pt x="0" y="50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542270" y="4489560"/>
              <a:ext cx="522677" cy="522023"/>
            </a:xfrm>
            <a:custGeom>
              <a:avLst/>
              <a:gdLst/>
              <a:ahLst/>
              <a:cxnLst/>
              <a:rect l="l" t="t" r="r" b="b"/>
              <a:pathLst>
                <a:path w="522677" h="522023">
                  <a:moveTo>
                    <a:pt x="0" y="0"/>
                  </a:moveTo>
                  <a:lnTo>
                    <a:pt x="522677" y="0"/>
                  </a:lnTo>
                  <a:lnTo>
                    <a:pt x="522677" y="522024"/>
                  </a:lnTo>
                  <a:lnTo>
                    <a:pt x="0" y="522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2558731">
              <a:off x="442332" y="1810183"/>
              <a:ext cx="2282326" cy="2196738"/>
            </a:xfrm>
            <a:custGeom>
              <a:avLst/>
              <a:gdLst/>
              <a:ahLst/>
              <a:cxnLst/>
              <a:rect l="l" t="t" r="r" b="b"/>
              <a:pathLst>
                <a:path w="2282326" h="2196738">
                  <a:moveTo>
                    <a:pt x="0" y="0"/>
                  </a:moveTo>
                  <a:lnTo>
                    <a:pt x="2282325" y="0"/>
                  </a:lnTo>
                  <a:lnTo>
                    <a:pt x="2282325" y="2196738"/>
                  </a:lnTo>
                  <a:lnTo>
                    <a:pt x="0" y="2196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7838767" y="590111"/>
              <a:ext cx="2509885" cy="2029869"/>
            </a:xfrm>
            <a:custGeom>
              <a:avLst/>
              <a:gdLst/>
              <a:ahLst/>
              <a:cxnLst/>
              <a:rect l="l" t="t" r="r" b="b"/>
              <a:pathLst>
                <a:path w="2509885" h="2029869">
                  <a:moveTo>
                    <a:pt x="0" y="0"/>
                  </a:moveTo>
                  <a:lnTo>
                    <a:pt x="2509885" y="0"/>
                  </a:lnTo>
                  <a:lnTo>
                    <a:pt x="2509885" y="2029869"/>
                  </a:lnTo>
                  <a:lnTo>
                    <a:pt x="0" y="202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688318" y="13419455"/>
              <a:ext cx="2376628" cy="2358804"/>
            </a:xfrm>
            <a:custGeom>
              <a:avLst/>
              <a:gdLst/>
              <a:ahLst/>
              <a:cxnLst/>
              <a:rect l="l" t="t" r="r" b="b"/>
              <a:pathLst>
                <a:path w="2376628" h="2358804">
                  <a:moveTo>
                    <a:pt x="0" y="0"/>
                  </a:moveTo>
                  <a:lnTo>
                    <a:pt x="2376629" y="0"/>
                  </a:lnTo>
                  <a:lnTo>
                    <a:pt x="2376629" y="2358804"/>
                  </a:lnTo>
                  <a:lnTo>
                    <a:pt x="0" y="2358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7542751" y="12433641"/>
              <a:ext cx="3101917" cy="3074775"/>
            </a:xfrm>
            <a:custGeom>
              <a:avLst/>
              <a:gdLst/>
              <a:ahLst/>
              <a:cxnLst/>
              <a:rect l="l" t="t" r="r" b="b"/>
              <a:pathLst>
                <a:path w="3101917" h="3074775">
                  <a:moveTo>
                    <a:pt x="0" y="0"/>
                  </a:moveTo>
                  <a:lnTo>
                    <a:pt x="3101917" y="0"/>
                  </a:lnTo>
                  <a:lnTo>
                    <a:pt x="3101917" y="3074775"/>
                  </a:lnTo>
                  <a:lnTo>
                    <a:pt x="0" y="3074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902C1B8-67A7-4676-AA54-E159D232BC11}"/>
              </a:ext>
            </a:extLst>
          </p:cNvPr>
          <p:cNvSpPr txBox="1"/>
          <p:nvPr/>
        </p:nvSpPr>
        <p:spPr>
          <a:xfrm>
            <a:off x="9601200" y="571500"/>
            <a:ext cx="556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rgbClr val="C00000"/>
                </a:solidFill>
              </a:rPr>
              <a:t>Vaqtni</a:t>
            </a:r>
            <a:r>
              <a:rPr lang="en-US" sz="5400" b="1" dirty="0">
                <a:solidFill>
                  <a:srgbClr val="C00000"/>
                </a:solidFill>
              </a:rPr>
              <a:t> </a:t>
            </a:r>
            <a:r>
              <a:rPr lang="en-US" sz="5400" b="1" dirty="0" err="1">
                <a:solidFill>
                  <a:srgbClr val="C00000"/>
                </a:solidFill>
              </a:rPr>
              <a:t>to‘g‘ri</a:t>
            </a:r>
            <a:r>
              <a:rPr lang="en-US" sz="5400" b="1" dirty="0">
                <a:solidFill>
                  <a:srgbClr val="C00000"/>
                </a:solidFill>
              </a:rPr>
              <a:t> </a:t>
            </a:r>
            <a:r>
              <a:rPr lang="en-US" sz="5400" b="1" dirty="0" err="1">
                <a:solidFill>
                  <a:srgbClr val="C00000"/>
                </a:solidFill>
              </a:rPr>
              <a:t>boshqarish</a:t>
            </a:r>
            <a:r>
              <a:rPr lang="en-US" sz="5400" b="1" dirty="0">
                <a:solidFill>
                  <a:srgbClr val="C00000"/>
                </a:solidFill>
              </a:rPr>
              <a:t> </a:t>
            </a:r>
            <a:r>
              <a:rPr lang="en-US" sz="5400" b="1" dirty="0" err="1">
                <a:solidFill>
                  <a:srgbClr val="C00000"/>
                </a:solidFill>
              </a:rPr>
              <a:t>zarur</a:t>
            </a:r>
            <a:endParaRPr lang="ru-RU" sz="54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630A4D-52F1-43E0-A2A9-3AAB028C6DC2}"/>
              </a:ext>
            </a:extLst>
          </p:cNvPr>
          <p:cNvSpPr txBox="1"/>
          <p:nvPr/>
        </p:nvSpPr>
        <p:spPr>
          <a:xfrm>
            <a:off x="9982200" y="3778064"/>
            <a:ext cx="6858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Vaqtni</a:t>
            </a:r>
            <a:r>
              <a:rPr lang="en-US" sz="4000" dirty="0"/>
              <a:t> </a:t>
            </a:r>
            <a:r>
              <a:rPr lang="en-US" sz="4000" dirty="0" err="1"/>
              <a:t>rejalashtirmasdan</a:t>
            </a:r>
            <a:r>
              <a:rPr lang="en-US" sz="4000" dirty="0"/>
              <a:t> </a:t>
            </a:r>
            <a:r>
              <a:rPr lang="en-US" sz="4000" dirty="0" err="1"/>
              <a:t>transformatsiya</a:t>
            </a:r>
            <a:r>
              <a:rPr lang="en-US" sz="4000" dirty="0"/>
              <a:t> </a:t>
            </a:r>
            <a:r>
              <a:rPr lang="en-US" sz="4000" dirty="0" err="1"/>
              <a:t>qilish</a:t>
            </a:r>
            <a:r>
              <a:rPr lang="en-US" sz="4000" dirty="0"/>
              <a:t>:</a:t>
            </a:r>
            <a:br>
              <a:rPr lang="en-US" sz="4000" dirty="0"/>
            </a:br>
            <a:r>
              <a:rPr lang="en-US" sz="4000" dirty="0"/>
              <a:t>➔ </a:t>
            </a:r>
            <a:r>
              <a:rPr lang="en-US" sz="4000" dirty="0" err="1"/>
              <a:t>loyiha</a:t>
            </a:r>
            <a:r>
              <a:rPr lang="en-US" sz="4000" dirty="0"/>
              <a:t> </a:t>
            </a:r>
            <a:r>
              <a:rPr lang="en-US" sz="4000" dirty="0" err="1"/>
              <a:t>kechikishiga</a:t>
            </a:r>
            <a:r>
              <a:rPr lang="en-US" sz="4000" dirty="0"/>
              <a:t>,</a:t>
            </a:r>
            <a:br>
              <a:rPr lang="en-US" sz="4000" dirty="0"/>
            </a:br>
            <a:r>
              <a:rPr lang="en-US" sz="4000" dirty="0"/>
              <a:t>➔ </a:t>
            </a:r>
            <a:r>
              <a:rPr lang="en-US" sz="4000" dirty="0" err="1"/>
              <a:t>xodimlarning</a:t>
            </a:r>
            <a:r>
              <a:rPr lang="en-US" sz="4000" dirty="0"/>
              <a:t> </a:t>
            </a:r>
            <a:r>
              <a:rPr lang="en-US" sz="4000" dirty="0" err="1"/>
              <a:t>charchashiga</a:t>
            </a:r>
            <a:r>
              <a:rPr lang="en-US" sz="4000" dirty="0"/>
              <a:t>,</a:t>
            </a:r>
            <a:br>
              <a:rPr lang="en-US" sz="4000" dirty="0"/>
            </a:br>
            <a:r>
              <a:rPr lang="en-US" sz="4000" dirty="0"/>
              <a:t>➔ </a:t>
            </a:r>
            <a:r>
              <a:rPr lang="en-US" sz="4000" dirty="0" err="1"/>
              <a:t>va</a:t>
            </a:r>
            <a:r>
              <a:rPr lang="en-US" sz="4000" dirty="0"/>
              <a:t> </a:t>
            </a:r>
            <a:r>
              <a:rPr lang="en-US" sz="4000" dirty="0" err="1"/>
              <a:t>investitsiyalarning</a:t>
            </a:r>
            <a:r>
              <a:rPr lang="en-US" sz="4000" dirty="0"/>
              <a:t> </a:t>
            </a:r>
            <a:r>
              <a:rPr lang="en-US" sz="4000" dirty="0" err="1"/>
              <a:t>samarasiz</a:t>
            </a:r>
            <a:r>
              <a:rPr lang="en-US" sz="4000" dirty="0"/>
              <a:t> </a:t>
            </a:r>
            <a:r>
              <a:rPr lang="en-US" sz="4000" dirty="0" err="1"/>
              <a:t>ketishiga</a:t>
            </a:r>
            <a:r>
              <a:rPr lang="en-US" sz="4000" dirty="0"/>
              <a:t> </a:t>
            </a:r>
            <a:r>
              <a:rPr lang="en-US" sz="4000" dirty="0" err="1"/>
              <a:t>olib</a:t>
            </a:r>
            <a:r>
              <a:rPr lang="en-US" sz="4000" dirty="0"/>
              <a:t> </a:t>
            </a:r>
            <a:r>
              <a:rPr lang="en-US" sz="4000" dirty="0" err="1"/>
              <a:t>keladi</a:t>
            </a:r>
            <a:r>
              <a:rPr lang="en-US" sz="4000" dirty="0"/>
              <a:t>.</a:t>
            </a:r>
            <a:endParaRPr lang="ru-RU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279853" y="-444051"/>
            <a:ext cx="8655332" cy="11346827"/>
            <a:chOff x="0" y="0"/>
            <a:chExt cx="11540443" cy="15129103"/>
          </a:xfrm>
        </p:grpSpPr>
        <p:sp>
          <p:nvSpPr>
            <p:cNvPr id="4" name="Freeform 4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2279853" y="203570"/>
            <a:ext cx="8655332" cy="11346827"/>
            <a:chOff x="0" y="0"/>
            <a:chExt cx="11540443" cy="15129103"/>
          </a:xfrm>
        </p:grpSpPr>
        <p:sp>
          <p:nvSpPr>
            <p:cNvPr id="14" name="Freeform 14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7499657" y="798023"/>
            <a:ext cx="8799208" cy="191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944"/>
              </a:lnSpc>
              <a:spcBef>
                <a:spcPct val="0"/>
              </a:spcBef>
            </a:pPr>
            <a:r>
              <a:rPr lang="en-US" sz="4800" dirty="0"/>
              <a:t>"</a:t>
            </a:r>
            <a:r>
              <a:rPr lang="en-US" sz="4800" dirty="0" err="1"/>
              <a:t>Raqamli</a:t>
            </a:r>
            <a:r>
              <a:rPr lang="en-US" sz="4800" dirty="0"/>
              <a:t> </a:t>
            </a:r>
            <a:r>
              <a:rPr lang="en-US" sz="4800" dirty="0" err="1"/>
              <a:t>transformatsiya</a:t>
            </a:r>
            <a:r>
              <a:rPr lang="en-US" sz="4800" dirty="0"/>
              <a:t> – </a:t>
            </a:r>
            <a:r>
              <a:rPr lang="en-US" sz="4800" dirty="0" err="1"/>
              <a:t>texnologiyaga</a:t>
            </a:r>
            <a:r>
              <a:rPr lang="en-US" sz="4800" dirty="0"/>
              <a:t> </a:t>
            </a:r>
            <a:r>
              <a:rPr lang="en-US" sz="4800" dirty="0" err="1"/>
              <a:t>sarmoya</a:t>
            </a:r>
            <a:r>
              <a:rPr lang="en-US" sz="4800" dirty="0"/>
              <a:t> </a:t>
            </a:r>
            <a:r>
              <a:rPr lang="en-US" sz="4800" dirty="0" err="1"/>
              <a:t>qilish</a:t>
            </a:r>
            <a:r>
              <a:rPr lang="en-US" sz="4800" dirty="0"/>
              <a:t> </a:t>
            </a:r>
            <a:r>
              <a:rPr lang="en-US" sz="4800" dirty="0" err="1"/>
              <a:t>emas</a:t>
            </a:r>
            <a:r>
              <a:rPr lang="en-US" sz="4800" dirty="0"/>
              <a:t>, </a:t>
            </a:r>
            <a:r>
              <a:rPr lang="en-US" sz="4800" dirty="0" err="1"/>
              <a:t>odamlarning</a:t>
            </a:r>
            <a:r>
              <a:rPr lang="en-US" sz="4800" dirty="0"/>
              <a:t> </a:t>
            </a:r>
            <a:r>
              <a:rPr lang="en-US" sz="4800" dirty="0" err="1"/>
              <a:t>fikrini</a:t>
            </a:r>
            <a:r>
              <a:rPr lang="en-US" sz="4800" dirty="0"/>
              <a:t> </a:t>
            </a:r>
            <a:r>
              <a:rPr lang="en-US" sz="4800" dirty="0" err="1"/>
              <a:t>o'zgartirishdir</a:t>
            </a:r>
            <a:r>
              <a:rPr lang="en-US" sz="4800" dirty="0"/>
              <a:t>."</a:t>
            </a:r>
            <a:endParaRPr lang="en-US" sz="4800" b="1" dirty="0">
              <a:solidFill>
                <a:srgbClr val="3E3E3E"/>
              </a:solidFill>
              <a:latin typeface="Nunito Heavy"/>
              <a:ea typeface="Nunito Heavy"/>
              <a:cs typeface="Nunito Heavy"/>
              <a:sym typeface="Nunito Heavy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E0CF17-AB73-4B6B-BBCB-1CF018D186F3}"/>
              </a:ext>
            </a:extLst>
          </p:cNvPr>
          <p:cNvSpPr txBox="1"/>
          <p:nvPr/>
        </p:nvSpPr>
        <p:spPr>
          <a:xfrm>
            <a:off x="10034587" y="3347161"/>
            <a:ext cx="4953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Agar </a:t>
            </a:r>
            <a:r>
              <a:rPr lang="en-US" sz="3600" dirty="0" err="1">
                <a:solidFill>
                  <a:srgbClr val="C00000"/>
                </a:solidFill>
              </a:rPr>
              <a:t>fikrlar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o‘zgarmasa</a:t>
            </a:r>
            <a:r>
              <a:rPr lang="en-US" sz="3600" dirty="0">
                <a:solidFill>
                  <a:srgbClr val="C00000"/>
                </a:solidFill>
              </a:rPr>
              <a:t>, </a:t>
            </a:r>
            <a:r>
              <a:rPr lang="en-US" sz="3600" dirty="0" err="1">
                <a:solidFill>
                  <a:srgbClr val="C00000"/>
                </a:solidFill>
              </a:rPr>
              <a:t>texnologiya</a:t>
            </a:r>
            <a:r>
              <a:rPr lang="en-US" sz="3600" dirty="0">
                <a:solidFill>
                  <a:srgbClr val="C00000"/>
                </a:solidFill>
              </a:rPr>
              <a:t> ham </a:t>
            </a:r>
            <a:r>
              <a:rPr lang="en-US" sz="3600" dirty="0" err="1">
                <a:solidFill>
                  <a:srgbClr val="C00000"/>
                </a:solidFill>
              </a:rPr>
              <a:t>hech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narsa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o‘zgartira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 err="1">
                <a:solidFill>
                  <a:srgbClr val="C00000"/>
                </a:solidFill>
              </a:rPr>
              <a:t>olmaydi</a:t>
            </a:r>
            <a:r>
              <a:rPr lang="en-US" sz="3600" dirty="0">
                <a:solidFill>
                  <a:srgbClr val="C00000"/>
                </a:solidFill>
              </a:rPr>
              <a:t>."</a:t>
            </a:r>
            <a:endParaRPr lang="ru-RU" sz="3600" dirty="0">
              <a:solidFill>
                <a:srgbClr val="C00000"/>
              </a:solidFill>
            </a:endParaRPr>
          </a:p>
        </p:txBody>
      </p:sp>
      <p:pic>
        <p:nvPicPr>
          <p:cNvPr id="7172" name="Picture 4" descr="Google Maps will change the Gulf of Mexico to the Gulf of America | CNN  Business">
            <a:extLst>
              <a:ext uri="{FF2B5EF4-FFF2-40B4-BE49-F238E27FC236}">
                <a16:creationId xmlns:a16="http://schemas.microsoft.com/office/drawing/2014/main" id="{6515538D-617F-47E8-AE96-DBF7A28E4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489" y="6357720"/>
            <a:ext cx="5600700" cy="31522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CEB31F-8F92-4E0B-9EB7-9AE3CE2BE774}"/>
              </a:ext>
            </a:extLst>
          </p:cNvPr>
          <p:cNvSpPr txBox="1"/>
          <p:nvPr/>
        </p:nvSpPr>
        <p:spPr>
          <a:xfrm>
            <a:off x="12725400" y="6725493"/>
            <a:ext cx="449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Google </a:t>
            </a:r>
            <a:r>
              <a:rPr lang="en-US" sz="2800" dirty="0" err="1"/>
              <a:t>xodimlari</a:t>
            </a:r>
            <a:r>
              <a:rPr lang="en-US" sz="2800" dirty="0"/>
              <a:t> </a:t>
            </a:r>
            <a:r>
              <a:rPr lang="en-US" sz="2800" dirty="0" err="1"/>
              <a:t>o‘z</a:t>
            </a:r>
            <a:r>
              <a:rPr lang="en-US" sz="2800" dirty="0"/>
              <a:t> </a:t>
            </a:r>
            <a:r>
              <a:rPr lang="en-US" sz="2800" dirty="0" err="1"/>
              <a:t>loyihalarini</a:t>
            </a:r>
            <a:r>
              <a:rPr lang="en-US" sz="2800" dirty="0"/>
              <a:t> </a:t>
            </a:r>
            <a:r>
              <a:rPr lang="en-US" sz="2800" dirty="0" err="1"/>
              <a:t>sinab</a:t>
            </a:r>
            <a:r>
              <a:rPr lang="en-US" sz="2800" dirty="0"/>
              <a:t> </a:t>
            </a:r>
            <a:r>
              <a:rPr lang="en-US" sz="2800" dirty="0" err="1"/>
              <a:t>ko‘rishda</a:t>
            </a:r>
            <a:r>
              <a:rPr lang="en-US" sz="2800" dirty="0"/>
              <a:t> </a:t>
            </a:r>
            <a:r>
              <a:rPr lang="en-US" sz="2800" dirty="0" err="1"/>
              <a:t>erkinlikka</a:t>
            </a:r>
            <a:r>
              <a:rPr lang="en-US" sz="2800" dirty="0"/>
              <a:t> </a:t>
            </a:r>
            <a:r>
              <a:rPr lang="en-US" sz="2800" dirty="0" err="1"/>
              <a:t>ega</a:t>
            </a:r>
            <a:r>
              <a:rPr lang="en-US" sz="2800" dirty="0"/>
              <a:t>. </a:t>
            </a:r>
            <a:r>
              <a:rPr lang="ru-RU" sz="2800" dirty="0" err="1"/>
              <a:t>Bu</a:t>
            </a:r>
            <a:r>
              <a:rPr lang="ru-RU" sz="2800" dirty="0"/>
              <a:t> </a:t>
            </a:r>
            <a:r>
              <a:rPr lang="ru-RU" sz="2800" dirty="0" err="1"/>
              <a:t>yondashuv</a:t>
            </a:r>
            <a:r>
              <a:rPr lang="ru-RU" sz="2800" dirty="0"/>
              <a:t> </a:t>
            </a:r>
            <a:r>
              <a:rPr lang="ru-RU" sz="2800" dirty="0" err="1"/>
              <a:t>innovatsiyalar</a:t>
            </a:r>
            <a:r>
              <a:rPr lang="ru-RU" sz="2800" dirty="0"/>
              <a:t> </a:t>
            </a:r>
            <a:r>
              <a:rPr lang="ru-RU" sz="2800" dirty="0" err="1"/>
              <a:t>tug‘ilishiga</a:t>
            </a:r>
            <a:r>
              <a:rPr lang="ru-RU" sz="2800" dirty="0"/>
              <a:t> </a:t>
            </a:r>
            <a:r>
              <a:rPr lang="ru-RU" sz="2800" dirty="0" err="1"/>
              <a:t>sabab</a:t>
            </a:r>
            <a:r>
              <a:rPr lang="ru-RU" sz="2800" dirty="0"/>
              <a:t> </a:t>
            </a:r>
            <a:r>
              <a:rPr lang="ru-RU" sz="2800" dirty="0" err="1"/>
              <a:t>bo‘ladi</a:t>
            </a:r>
            <a:r>
              <a:rPr lang="ru-RU" sz="2800" dirty="0"/>
              <a:t>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9689" y="2967588"/>
            <a:ext cx="1345629" cy="1571621"/>
            <a:chOff x="0" y="0"/>
            <a:chExt cx="1698935" cy="19842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8935" cy="1984263"/>
            </a:xfrm>
            <a:custGeom>
              <a:avLst/>
              <a:gdLst/>
              <a:ahLst/>
              <a:cxnLst/>
              <a:rect l="l" t="t" r="r" b="b"/>
              <a:pathLst>
                <a:path w="1698935" h="1984263">
                  <a:moveTo>
                    <a:pt x="0" y="0"/>
                  </a:moveTo>
                  <a:lnTo>
                    <a:pt x="1698935" y="0"/>
                  </a:lnTo>
                  <a:lnTo>
                    <a:pt x="1698935" y="1984263"/>
                  </a:lnTo>
                  <a:lnTo>
                    <a:pt x="0" y="1984263"/>
                  </a:lnTo>
                  <a:close/>
                </a:path>
              </a:pathLst>
            </a:custGeom>
            <a:solidFill>
              <a:srgbClr val="6FB4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98935" cy="1993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1296293" y="4539208"/>
            <a:ext cx="116211" cy="3428158"/>
          </a:xfrm>
          <a:prstGeom prst="line">
            <a:avLst/>
          </a:prstGeom>
          <a:ln w="38100" cap="flat">
            <a:solidFill>
              <a:srgbClr val="6FB42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616628" y="7974910"/>
            <a:ext cx="1436935" cy="1434662"/>
            <a:chOff x="0" y="0"/>
            <a:chExt cx="1814214" cy="18113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4214" cy="1811345"/>
            </a:xfrm>
            <a:custGeom>
              <a:avLst/>
              <a:gdLst/>
              <a:ahLst/>
              <a:cxnLst/>
              <a:rect l="l" t="t" r="r" b="b"/>
              <a:pathLst>
                <a:path w="1814214" h="1811345">
                  <a:moveTo>
                    <a:pt x="0" y="0"/>
                  </a:moveTo>
                  <a:lnTo>
                    <a:pt x="1814214" y="0"/>
                  </a:lnTo>
                  <a:lnTo>
                    <a:pt x="1814214" y="1811345"/>
                  </a:lnTo>
                  <a:lnTo>
                    <a:pt x="0" y="1811345"/>
                  </a:lnTo>
                  <a:close/>
                </a:path>
              </a:pathLst>
            </a:custGeom>
            <a:solidFill>
              <a:srgbClr val="6FB42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814214" cy="182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44011" y="-912157"/>
            <a:ext cx="7543989" cy="11199157"/>
            <a:chOff x="0" y="0"/>
            <a:chExt cx="10058652" cy="14932209"/>
          </a:xfrm>
        </p:grpSpPr>
        <p:sp>
          <p:nvSpPr>
            <p:cNvPr id="10" name="Freeform 10"/>
            <p:cNvSpPr/>
            <p:nvPr/>
          </p:nvSpPr>
          <p:spPr>
            <a:xfrm rot="-1100670">
              <a:off x="5571982" y="1357890"/>
              <a:ext cx="1915805" cy="1843962"/>
            </a:xfrm>
            <a:custGeom>
              <a:avLst/>
              <a:gdLst/>
              <a:ahLst/>
              <a:cxnLst/>
              <a:rect l="l" t="t" r="r" b="b"/>
              <a:pathLst>
                <a:path w="1915805" h="1843962">
                  <a:moveTo>
                    <a:pt x="0" y="0"/>
                  </a:moveTo>
                  <a:lnTo>
                    <a:pt x="1915804" y="0"/>
                  </a:lnTo>
                  <a:lnTo>
                    <a:pt x="1915804" y="1843962"/>
                  </a:lnTo>
                  <a:lnTo>
                    <a:pt x="0" y="1843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592221">
              <a:off x="1074066" y="4368682"/>
              <a:ext cx="8512841" cy="6239069"/>
            </a:xfrm>
            <a:custGeom>
              <a:avLst/>
              <a:gdLst/>
              <a:ahLst/>
              <a:cxnLst/>
              <a:rect l="l" t="t" r="r" b="b"/>
              <a:pathLst>
                <a:path w="8512841" h="6239069">
                  <a:moveTo>
                    <a:pt x="0" y="0"/>
                  </a:moveTo>
                  <a:lnTo>
                    <a:pt x="8512840" y="0"/>
                  </a:lnTo>
                  <a:lnTo>
                    <a:pt x="8512840" y="6239069"/>
                  </a:lnTo>
                  <a:lnTo>
                    <a:pt x="0" y="623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5051375" y="11706407"/>
              <a:ext cx="558222" cy="557524"/>
            </a:xfrm>
            <a:custGeom>
              <a:avLst/>
              <a:gdLst/>
              <a:ahLst/>
              <a:cxnLst/>
              <a:rect l="l" t="t" r="r" b="b"/>
              <a:pathLst>
                <a:path w="558222" h="557524">
                  <a:moveTo>
                    <a:pt x="0" y="0"/>
                  </a:moveTo>
                  <a:lnTo>
                    <a:pt x="558222" y="0"/>
                  </a:lnTo>
                  <a:lnTo>
                    <a:pt x="558222" y="557524"/>
                  </a:lnTo>
                  <a:lnTo>
                    <a:pt x="0" y="55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63057" y="4735195"/>
              <a:ext cx="450420" cy="449857"/>
            </a:xfrm>
            <a:custGeom>
              <a:avLst/>
              <a:gdLst/>
              <a:ahLst/>
              <a:cxnLst/>
              <a:rect l="l" t="t" r="r" b="b"/>
              <a:pathLst>
                <a:path w="450420" h="449857">
                  <a:moveTo>
                    <a:pt x="0" y="0"/>
                  </a:moveTo>
                  <a:lnTo>
                    <a:pt x="450420" y="0"/>
                  </a:lnTo>
                  <a:lnTo>
                    <a:pt x="450420" y="449857"/>
                  </a:lnTo>
                  <a:lnTo>
                    <a:pt x="0" y="449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1777721">
              <a:off x="917072" y="454604"/>
              <a:ext cx="2339515" cy="1892083"/>
            </a:xfrm>
            <a:custGeom>
              <a:avLst/>
              <a:gdLst/>
              <a:ahLst/>
              <a:cxnLst/>
              <a:rect l="l" t="t" r="r" b="b"/>
              <a:pathLst>
                <a:path w="2339515" h="1892083">
                  <a:moveTo>
                    <a:pt x="0" y="0"/>
                  </a:moveTo>
                  <a:lnTo>
                    <a:pt x="2339515" y="0"/>
                  </a:lnTo>
                  <a:lnTo>
                    <a:pt x="2339515" y="1892083"/>
                  </a:lnTo>
                  <a:lnTo>
                    <a:pt x="0" y="189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4239088">
              <a:off x="2622803" y="6672145"/>
              <a:ext cx="1310417" cy="2186241"/>
            </a:xfrm>
            <a:custGeom>
              <a:avLst/>
              <a:gdLst/>
              <a:ahLst/>
              <a:cxnLst/>
              <a:rect l="l" t="t" r="r" b="b"/>
              <a:pathLst>
                <a:path w="1310417" h="2186241">
                  <a:moveTo>
                    <a:pt x="0" y="0"/>
                  </a:moveTo>
                  <a:lnTo>
                    <a:pt x="1310417" y="0"/>
                  </a:lnTo>
                  <a:lnTo>
                    <a:pt x="1310417" y="2186241"/>
                  </a:lnTo>
                  <a:lnTo>
                    <a:pt x="0" y="2186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2633171">
              <a:off x="741300" y="11625057"/>
              <a:ext cx="2116348" cy="2991304"/>
            </a:xfrm>
            <a:custGeom>
              <a:avLst/>
              <a:gdLst/>
              <a:ahLst/>
              <a:cxnLst/>
              <a:rect l="l" t="t" r="r" b="b"/>
              <a:pathLst>
                <a:path w="2116348" h="2991304">
                  <a:moveTo>
                    <a:pt x="0" y="0"/>
                  </a:moveTo>
                  <a:lnTo>
                    <a:pt x="2116347" y="0"/>
                  </a:lnTo>
                  <a:lnTo>
                    <a:pt x="2116347" y="2991304"/>
                  </a:lnTo>
                  <a:lnTo>
                    <a:pt x="0" y="299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2456265">
              <a:off x="7351366" y="11238926"/>
              <a:ext cx="1899285" cy="2192537"/>
            </a:xfrm>
            <a:custGeom>
              <a:avLst/>
              <a:gdLst/>
              <a:ahLst/>
              <a:cxnLst/>
              <a:rect l="l" t="t" r="r" b="b"/>
              <a:pathLst>
                <a:path w="1899285" h="2192537">
                  <a:moveTo>
                    <a:pt x="0" y="0"/>
                  </a:moveTo>
                  <a:lnTo>
                    <a:pt x="1899285" y="0"/>
                  </a:lnTo>
                  <a:lnTo>
                    <a:pt x="1899285" y="2192537"/>
                  </a:lnTo>
                  <a:lnTo>
                    <a:pt x="0" y="219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716916" y="3033101"/>
            <a:ext cx="1391174" cy="1391174"/>
          </a:xfrm>
          <a:custGeom>
            <a:avLst/>
            <a:gdLst/>
            <a:ahLst/>
            <a:cxnLst/>
            <a:rect l="l" t="t" r="r" b="b"/>
            <a:pathLst>
              <a:path w="1391174" h="1391174">
                <a:moveTo>
                  <a:pt x="0" y="0"/>
                </a:moveTo>
                <a:lnTo>
                  <a:pt x="1391175" y="0"/>
                </a:lnTo>
                <a:lnTo>
                  <a:pt x="1391175" y="1391174"/>
                </a:lnTo>
                <a:lnTo>
                  <a:pt x="0" y="1391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16916" y="8062856"/>
            <a:ext cx="1288780" cy="1288780"/>
          </a:xfrm>
          <a:custGeom>
            <a:avLst/>
            <a:gdLst/>
            <a:ahLst/>
            <a:cxnLst/>
            <a:rect l="l" t="t" r="r" b="b"/>
            <a:pathLst>
              <a:path w="1288780" h="1288780">
                <a:moveTo>
                  <a:pt x="0" y="0"/>
                </a:moveTo>
                <a:lnTo>
                  <a:pt x="1288780" y="0"/>
                </a:lnTo>
                <a:lnTo>
                  <a:pt x="1288780" y="1288781"/>
                </a:lnTo>
                <a:lnTo>
                  <a:pt x="0" y="12887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9630" y="1237098"/>
            <a:ext cx="1403217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6000" b="1" dirty="0" err="1"/>
              <a:t>Rahbarlardan</a:t>
            </a:r>
            <a:r>
              <a:rPr lang="ru-RU" sz="6000" b="1" dirty="0"/>
              <a:t> </a:t>
            </a:r>
            <a:r>
              <a:rPr lang="ru-RU" sz="6000" b="1" dirty="0" err="1"/>
              <a:t>boshlab</a:t>
            </a:r>
            <a:r>
              <a:rPr lang="ru-RU" sz="6000" b="1" dirty="0"/>
              <a:t> </a:t>
            </a:r>
            <a:r>
              <a:rPr lang="ru-RU" sz="6000" b="1" dirty="0" err="1"/>
              <a:t>madaniyat</a:t>
            </a:r>
            <a:r>
              <a:rPr lang="ru-RU" sz="6000" b="1" dirty="0"/>
              <a:t> </a:t>
            </a:r>
            <a:r>
              <a:rPr lang="ru-RU" sz="6000" b="1" dirty="0" err="1"/>
              <a:t>yaratiladi</a:t>
            </a:r>
            <a:endParaRPr lang="ru-RU" sz="6000" dirty="0"/>
          </a:p>
        </p:txBody>
      </p:sp>
      <p:sp>
        <p:nvSpPr>
          <p:cNvPr id="21" name="TextBox 21"/>
          <p:cNvSpPr txBox="1"/>
          <p:nvPr/>
        </p:nvSpPr>
        <p:spPr>
          <a:xfrm>
            <a:off x="3143615" y="2848114"/>
            <a:ext cx="9147929" cy="19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3200" dirty="0" err="1"/>
              <a:t>Liderlar</a:t>
            </a:r>
            <a:r>
              <a:rPr lang="en-US" sz="3200" dirty="0"/>
              <a:t> </a:t>
            </a:r>
            <a:r>
              <a:rPr lang="en-US" sz="3200" dirty="0" err="1"/>
              <a:t>o‘z</a:t>
            </a:r>
            <a:r>
              <a:rPr lang="en-US" sz="3200" dirty="0"/>
              <a:t> </a:t>
            </a:r>
            <a:r>
              <a:rPr lang="en-US" sz="3200" dirty="0" err="1"/>
              <a:t>harakatlari</a:t>
            </a:r>
            <a:r>
              <a:rPr lang="en-US" sz="3200" dirty="0"/>
              <a:t> </a:t>
            </a:r>
            <a:r>
              <a:rPr lang="en-US" sz="3200" dirty="0" err="1"/>
              <a:t>bilan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➔ </a:t>
            </a:r>
            <a:r>
              <a:rPr lang="en-US" sz="3200" dirty="0" err="1"/>
              <a:t>o‘rganishni</a:t>
            </a:r>
            <a:r>
              <a:rPr lang="en-US" sz="3200" dirty="0"/>
              <a:t>,</a:t>
            </a:r>
            <a:br>
              <a:rPr lang="en-US" sz="3200" dirty="0"/>
            </a:br>
            <a:r>
              <a:rPr lang="en-US" sz="3200" dirty="0"/>
              <a:t>➔ </a:t>
            </a:r>
            <a:r>
              <a:rPr lang="en-US" sz="3200" dirty="0" err="1"/>
              <a:t>yangilikni</a:t>
            </a:r>
            <a:r>
              <a:rPr lang="en-US" sz="3200" dirty="0"/>
              <a:t>,</a:t>
            </a:r>
            <a:br>
              <a:rPr lang="en-US" sz="3200" dirty="0"/>
            </a:br>
            <a:r>
              <a:rPr lang="en-US" sz="3200" dirty="0"/>
              <a:t>➔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moslashuvchanlikni</a:t>
            </a:r>
            <a:r>
              <a:rPr lang="en-US" sz="3200" dirty="0"/>
              <a:t> </a:t>
            </a:r>
            <a:r>
              <a:rPr lang="en-US" sz="3200" dirty="0" err="1"/>
              <a:t>rag‘batlantirishi</a:t>
            </a:r>
            <a:r>
              <a:rPr lang="en-US" sz="3200" dirty="0"/>
              <a:t> </a:t>
            </a:r>
            <a:r>
              <a:rPr lang="en-US" sz="3200" dirty="0" err="1"/>
              <a:t>kerak</a:t>
            </a:r>
            <a:r>
              <a:rPr lang="en-US" sz="3200" dirty="0"/>
              <a:t>.</a:t>
            </a:r>
            <a:endParaRPr lang="ru-RU" sz="3200" dirty="0"/>
          </a:p>
        </p:txBody>
      </p:sp>
      <p:sp>
        <p:nvSpPr>
          <p:cNvPr id="22" name="TextBox 22"/>
          <p:cNvSpPr txBox="1"/>
          <p:nvPr/>
        </p:nvSpPr>
        <p:spPr>
          <a:xfrm>
            <a:off x="2977294" y="7999198"/>
            <a:ext cx="850121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ru-RU" sz="3200" dirty="0" err="1"/>
              <a:t>Texnologiya</a:t>
            </a:r>
            <a:r>
              <a:rPr lang="ru-RU" sz="3200" dirty="0"/>
              <a:t> </a:t>
            </a:r>
            <a:r>
              <a:rPr lang="ru-RU" sz="3200" dirty="0" err="1"/>
              <a:t>joriy</a:t>
            </a:r>
            <a:r>
              <a:rPr lang="ru-RU" sz="3200" dirty="0"/>
              <a:t> </a:t>
            </a:r>
            <a:r>
              <a:rPr lang="ru-RU" sz="3200" dirty="0" err="1"/>
              <a:t>qilishning</a:t>
            </a:r>
            <a:r>
              <a:rPr lang="ru-RU" sz="3200" dirty="0"/>
              <a:t> </a:t>
            </a:r>
            <a:r>
              <a:rPr lang="ru-RU" sz="3200" dirty="0" err="1"/>
              <a:t>oxirgi</a:t>
            </a:r>
            <a:r>
              <a:rPr lang="ru-RU" sz="3200" dirty="0"/>
              <a:t> </a:t>
            </a:r>
            <a:r>
              <a:rPr lang="ru-RU" sz="3200" dirty="0" err="1"/>
              <a:t>maqsadi</a:t>
            </a:r>
            <a:r>
              <a:rPr lang="ru-RU" sz="3200" dirty="0"/>
              <a:t> — </a:t>
            </a:r>
            <a:r>
              <a:rPr lang="ru-RU" sz="3200" b="1" dirty="0" err="1"/>
              <a:t>mijozlarga</a:t>
            </a:r>
            <a:r>
              <a:rPr lang="ru-RU" sz="3200" b="1" dirty="0"/>
              <a:t> </a:t>
            </a:r>
            <a:r>
              <a:rPr lang="ru-RU" sz="3200" b="1" dirty="0" err="1"/>
              <a:t>yaxshiroq</a:t>
            </a:r>
            <a:r>
              <a:rPr lang="ru-RU" sz="3200" b="1" dirty="0"/>
              <a:t> </a:t>
            </a:r>
            <a:r>
              <a:rPr lang="ru-RU" sz="3200" b="1" dirty="0" err="1"/>
              <a:t>xizmat</a:t>
            </a:r>
            <a:r>
              <a:rPr lang="ru-RU" sz="3200" b="1" dirty="0"/>
              <a:t> </a:t>
            </a:r>
            <a:r>
              <a:rPr lang="ru-RU" sz="3200" b="1" dirty="0" err="1"/>
              <a:t>ko‘rsatish</a:t>
            </a:r>
            <a:r>
              <a:rPr lang="ru-RU" sz="32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7C99C7-D331-4106-AB34-14C2D8E77002}"/>
              </a:ext>
            </a:extLst>
          </p:cNvPr>
          <p:cNvSpPr txBox="1"/>
          <p:nvPr/>
        </p:nvSpPr>
        <p:spPr>
          <a:xfrm>
            <a:off x="1885075" y="5732670"/>
            <a:ext cx="9677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 err="1"/>
              <a:t>Mijozga</a:t>
            </a:r>
            <a:r>
              <a:rPr lang="ru-RU" sz="5400" b="1" dirty="0"/>
              <a:t> </a:t>
            </a:r>
            <a:r>
              <a:rPr lang="ru-RU" sz="5400" b="1" dirty="0" err="1"/>
              <a:t>yo‘naltirilgan</a:t>
            </a:r>
            <a:r>
              <a:rPr lang="ru-RU" sz="5400" b="1" dirty="0"/>
              <a:t> </a:t>
            </a:r>
            <a:r>
              <a:rPr lang="ru-RU" sz="5400" b="1" dirty="0" err="1"/>
              <a:t>madaniyat</a:t>
            </a:r>
            <a:endParaRPr lang="ru-RU" sz="5400" dirty="0"/>
          </a:p>
          <a:p>
            <a:endParaRPr lang="ru-RU" sz="5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279853" y="-444051"/>
            <a:ext cx="8655332" cy="11346827"/>
            <a:chOff x="0" y="0"/>
            <a:chExt cx="11540443" cy="15129103"/>
          </a:xfrm>
        </p:grpSpPr>
        <p:sp>
          <p:nvSpPr>
            <p:cNvPr id="4" name="Freeform 4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-2279853" y="203570"/>
            <a:ext cx="8655332" cy="11346827"/>
            <a:chOff x="0" y="0"/>
            <a:chExt cx="11540443" cy="15129103"/>
          </a:xfrm>
        </p:grpSpPr>
        <p:sp>
          <p:nvSpPr>
            <p:cNvPr id="11" name="Freeform 11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7499657" y="798023"/>
            <a:ext cx="8799208" cy="65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4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Real </a:t>
            </a:r>
            <a:r>
              <a:rPr lang="en-US" sz="4800" b="1" dirty="0" err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misol</a:t>
            </a:r>
            <a:endParaRPr lang="en-US" sz="4800" b="1" dirty="0">
              <a:solidFill>
                <a:srgbClr val="3E3E3E"/>
              </a:solidFill>
              <a:latin typeface="Nunito Heavy"/>
              <a:ea typeface="Nunito Heavy"/>
              <a:cs typeface="Nunito Heavy"/>
              <a:sym typeface="Nunito Heavy"/>
            </a:endParaRPr>
          </a:p>
        </p:txBody>
      </p:sp>
      <p:pic>
        <p:nvPicPr>
          <p:cNvPr id="8194" name="Picture 2" descr="Starbucks уведомляет о правах на интеллектуальную собствен">
            <a:extLst>
              <a:ext uri="{FF2B5EF4-FFF2-40B4-BE49-F238E27FC236}">
                <a16:creationId xmlns:a16="http://schemas.microsoft.com/office/drawing/2014/main" id="{E8384B0B-B62F-4DB5-87DC-995275230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451" y="2563603"/>
            <a:ext cx="7696200" cy="432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DC6B8A4-D4D5-41FE-BD9A-31FBEA46E0CB}"/>
              </a:ext>
            </a:extLst>
          </p:cNvPr>
          <p:cNvSpPr txBox="1"/>
          <p:nvPr/>
        </p:nvSpPr>
        <p:spPr>
          <a:xfrm>
            <a:off x="7338051" y="7320488"/>
            <a:ext cx="8001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Starbucks </a:t>
            </a:r>
            <a:r>
              <a:rPr lang="en-US" sz="2800" dirty="0" err="1"/>
              <a:t>kompaniyasi</a:t>
            </a:r>
            <a:r>
              <a:rPr lang="en-US" sz="2800" dirty="0"/>
              <a:t> </a:t>
            </a:r>
            <a:r>
              <a:rPr lang="en-US" sz="2800" dirty="0" err="1"/>
              <a:t>mobil</a:t>
            </a:r>
            <a:r>
              <a:rPr lang="en-US" sz="2800" dirty="0"/>
              <a:t> </a:t>
            </a:r>
            <a:r>
              <a:rPr lang="en-US" sz="2800" dirty="0" err="1"/>
              <a:t>ilovalar</a:t>
            </a:r>
            <a:r>
              <a:rPr lang="en-US" sz="2800" dirty="0"/>
              <a:t> </a:t>
            </a:r>
            <a:r>
              <a:rPr lang="en-US" sz="2800" dirty="0" err="1"/>
              <a:t>orqali</a:t>
            </a:r>
            <a:r>
              <a:rPr lang="en-US" sz="2800" dirty="0"/>
              <a:t> </a:t>
            </a:r>
            <a:r>
              <a:rPr lang="en-US" sz="2800" dirty="0" err="1"/>
              <a:t>buyurtma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to'lov</a:t>
            </a:r>
            <a:r>
              <a:rPr lang="en-US" sz="2800" dirty="0"/>
              <a:t> </a:t>
            </a:r>
            <a:r>
              <a:rPr lang="en-US" sz="2800" dirty="0" err="1"/>
              <a:t>tizimini</a:t>
            </a:r>
            <a:r>
              <a:rPr lang="en-US" sz="2800" dirty="0"/>
              <a:t> </a:t>
            </a:r>
            <a:r>
              <a:rPr lang="en-US" sz="2800" dirty="0" err="1"/>
              <a:t>joriy</a:t>
            </a:r>
            <a:r>
              <a:rPr lang="en-US" sz="2800" dirty="0"/>
              <a:t> </a:t>
            </a:r>
            <a:r>
              <a:rPr lang="en-US" sz="2800" dirty="0" err="1"/>
              <a:t>qildi</a:t>
            </a:r>
            <a:r>
              <a:rPr lang="en-US" sz="2800" dirty="0"/>
              <a:t>. Bu </a:t>
            </a:r>
            <a:r>
              <a:rPr lang="en-US" sz="2800" dirty="0" err="1"/>
              <a:t>mijozlar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</a:t>
            </a:r>
            <a:r>
              <a:rPr lang="en-US" sz="2800" dirty="0" err="1"/>
              <a:t>qulaylik</a:t>
            </a:r>
            <a:r>
              <a:rPr lang="en-US" sz="2800" dirty="0"/>
              <a:t> </a:t>
            </a:r>
            <a:r>
              <a:rPr lang="en-US" sz="2800" dirty="0" err="1"/>
              <a:t>yaratdi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savdo</a:t>
            </a:r>
            <a:r>
              <a:rPr lang="en-US" sz="2800" dirty="0"/>
              <a:t> </a:t>
            </a:r>
            <a:r>
              <a:rPr lang="en-US" sz="2800" dirty="0" err="1"/>
              <a:t>hajmini</a:t>
            </a:r>
            <a:r>
              <a:rPr lang="en-US" sz="2800" dirty="0"/>
              <a:t> </a:t>
            </a:r>
            <a:r>
              <a:rPr lang="en-US" sz="2800" dirty="0" err="1"/>
              <a:t>oshirdi</a:t>
            </a:r>
            <a:r>
              <a:rPr lang="en-US" sz="2800" dirty="0"/>
              <a:t>. </a:t>
            </a:r>
            <a:r>
              <a:rPr lang="en-US" sz="2800" dirty="0" err="1"/>
              <a:t>Raqamli</a:t>
            </a:r>
            <a:r>
              <a:rPr lang="en-US" sz="2800" dirty="0"/>
              <a:t> </a:t>
            </a:r>
            <a:r>
              <a:rPr lang="en-US" sz="2800" dirty="0" err="1"/>
              <a:t>yechimlar</a:t>
            </a:r>
            <a:r>
              <a:rPr lang="en-US" sz="2800" dirty="0"/>
              <a:t> </a:t>
            </a:r>
            <a:r>
              <a:rPr lang="en-US" sz="2800" dirty="0" err="1"/>
              <a:t>to'g'ri</a:t>
            </a:r>
            <a:r>
              <a:rPr lang="en-US" sz="2800" dirty="0"/>
              <a:t> </a:t>
            </a:r>
            <a:r>
              <a:rPr lang="en-US" sz="2800" dirty="0" err="1"/>
              <a:t>qo'llansa</a:t>
            </a:r>
            <a:r>
              <a:rPr lang="en-US" sz="2800" dirty="0"/>
              <a:t>, </a:t>
            </a:r>
            <a:r>
              <a:rPr lang="en-US" sz="2800" dirty="0" err="1"/>
              <a:t>natija</a:t>
            </a:r>
            <a:r>
              <a:rPr lang="en-US" sz="2800" dirty="0"/>
              <a:t> </a:t>
            </a:r>
            <a:r>
              <a:rPr lang="en-US" sz="2800" dirty="0" err="1"/>
              <a:t>samarali</a:t>
            </a:r>
            <a:r>
              <a:rPr lang="en-US" sz="2800" dirty="0"/>
              <a:t> </a:t>
            </a:r>
            <a:r>
              <a:rPr lang="en-US" sz="2800" dirty="0" err="1"/>
              <a:t>bo'lishi</a:t>
            </a:r>
            <a:r>
              <a:rPr lang="en-US" sz="2800" dirty="0"/>
              <a:t> </a:t>
            </a:r>
            <a:r>
              <a:rPr lang="en-US" sz="2800" dirty="0" err="1"/>
              <a:t>aniq</a:t>
            </a:r>
            <a:r>
              <a:rPr lang="en-US" sz="2800" dirty="0"/>
              <a:t>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-13776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sp>
        <p:nvSpPr>
          <p:cNvPr id="3" name="Freeform 3"/>
          <p:cNvSpPr/>
          <p:nvPr/>
        </p:nvSpPr>
        <p:spPr>
          <a:xfrm rot="158938">
            <a:off x="1094156" y="3226226"/>
            <a:ext cx="3990732" cy="2924811"/>
          </a:xfrm>
          <a:custGeom>
            <a:avLst/>
            <a:gdLst/>
            <a:ahLst/>
            <a:cxnLst/>
            <a:rect l="l" t="t" r="r" b="b"/>
            <a:pathLst>
              <a:path w="3990732" h="2924811">
                <a:moveTo>
                  <a:pt x="0" y="0"/>
                </a:moveTo>
                <a:lnTo>
                  <a:pt x="3990731" y="0"/>
                </a:lnTo>
                <a:lnTo>
                  <a:pt x="3990731" y="2924811"/>
                </a:lnTo>
                <a:lnTo>
                  <a:pt x="0" y="2924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829800" y="1978174"/>
            <a:ext cx="2390894" cy="852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8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TASK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3197" y="3893484"/>
            <a:ext cx="7744403" cy="1932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5"/>
              </a:lnSpc>
              <a:spcBef>
                <a:spcPct val="0"/>
              </a:spcBef>
            </a:pPr>
            <a:r>
              <a:rPr lang="en-US" sz="4400" dirty="0" err="1"/>
              <a:t>Raqamli</a:t>
            </a:r>
            <a:r>
              <a:rPr lang="en-US" sz="4400" dirty="0"/>
              <a:t> </a:t>
            </a:r>
            <a:r>
              <a:rPr lang="en-US" sz="4400" dirty="0" err="1"/>
              <a:t>transformatsiyada</a:t>
            </a:r>
            <a:r>
              <a:rPr lang="en-US" sz="4400" dirty="0"/>
              <a:t> </a:t>
            </a:r>
            <a:r>
              <a:rPr lang="en-US" sz="4400" dirty="0" err="1"/>
              <a:t>odamlarning</a:t>
            </a:r>
            <a:r>
              <a:rPr lang="en-US" sz="4400" dirty="0"/>
              <a:t> </a:t>
            </a:r>
            <a:r>
              <a:rPr lang="en-US" sz="4400" dirty="0" err="1"/>
              <a:t>madaniyati</a:t>
            </a:r>
            <a:r>
              <a:rPr lang="en-US" sz="4400" dirty="0"/>
              <a:t> </a:t>
            </a:r>
            <a:r>
              <a:rPr lang="en-US" sz="4400" dirty="0" err="1"/>
              <a:t>texnologiyadan</a:t>
            </a:r>
            <a:r>
              <a:rPr lang="en-US" sz="4400" dirty="0"/>
              <a:t> ham </a:t>
            </a:r>
            <a:r>
              <a:rPr lang="en-US" sz="4400" dirty="0" err="1"/>
              <a:t>muhimmi</a:t>
            </a:r>
            <a:r>
              <a:rPr lang="en-US" sz="4400" dirty="0"/>
              <a:t>?"</a:t>
            </a:r>
            <a:endParaRPr lang="en-US" sz="4200" b="1" dirty="0">
              <a:solidFill>
                <a:srgbClr val="000000"/>
              </a:solidFill>
              <a:latin typeface="Nunito Ultra-Bold"/>
              <a:ea typeface="Nunito Ultra-Bold"/>
              <a:cs typeface="Nunito Ultra-Bold"/>
              <a:sym typeface="Nunito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05297" y="6241694"/>
            <a:ext cx="8820201" cy="542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(80 – 100 </a:t>
            </a:r>
            <a:r>
              <a:rPr lang="en-US" sz="3600" dirty="0" err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so’zdan</a:t>
            </a:r>
            <a:r>
              <a:rPr lang="en-US" sz="3600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iborat</a:t>
            </a:r>
            <a:r>
              <a:rPr lang="en-US" sz="3600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essey</a:t>
            </a:r>
            <a:r>
              <a:rPr lang="en-US" sz="3600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41577" y="3486136"/>
            <a:ext cx="19912862" cy="10912724"/>
            <a:chOff x="0" y="0"/>
            <a:chExt cx="26550483" cy="14550299"/>
          </a:xfrm>
        </p:grpSpPr>
        <p:sp>
          <p:nvSpPr>
            <p:cNvPr id="4" name="Freeform 4"/>
            <p:cNvSpPr/>
            <p:nvPr/>
          </p:nvSpPr>
          <p:spPr>
            <a:xfrm>
              <a:off x="7958576" y="2583608"/>
              <a:ext cx="9992187" cy="11966691"/>
            </a:xfrm>
            <a:custGeom>
              <a:avLst/>
              <a:gdLst/>
              <a:ahLst/>
              <a:cxnLst/>
              <a:rect l="l" t="t" r="r" b="b"/>
              <a:pathLst>
                <a:path w="9992187" h="11966691">
                  <a:moveTo>
                    <a:pt x="0" y="0"/>
                  </a:moveTo>
                  <a:lnTo>
                    <a:pt x="9992187" y="0"/>
                  </a:lnTo>
                  <a:lnTo>
                    <a:pt x="9992187" y="11966691"/>
                  </a:lnTo>
                  <a:lnTo>
                    <a:pt x="0" y="11966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1100670">
              <a:off x="2608351" y="6769980"/>
              <a:ext cx="2884567" cy="2776396"/>
            </a:xfrm>
            <a:custGeom>
              <a:avLst/>
              <a:gdLst/>
              <a:ahLst/>
              <a:cxnLst/>
              <a:rect l="l" t="t" r="r" b="b"/>
              <a:pathLst>
                <a:path w="2884567" h="2776396">
                  <a:moveTo>
                    <a:pt x="0" y="0"/>
                  </a:moveTo>
                  <a:lnTo>
                    <a:pt x="2884567" y="0"/>
                  </a:lnTo>
                  <a:lnTo>
                    <a:pt x="2884567" y="2776396"/>
                  </a:lnTo>
                  <a:lnTo>
                    <a:pt x="0" y="2776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60598"/>
              <a:ext cx="2792150" cy="2823919"/>
            </a:xfrm>
            <a:custGeom>
              <a:avLst/>
              <a:gdLst/>
              <a:ahLst/>
              <a:cxnLst/>
              <a:rect l="l" t="t" r="r" b="b"/>
              <a:pathLst>
                <a:path w="2792150" h="2823919">
                  <a:moveTo>
                    <a:pt x="0" y="0"/>
                  </a:moveTo>
                  <a:lnTo>
                    <a:pt x="2792150" y="0"/>
                  </a:lnTo>
                  <a:lnTo>
                    <a:pt x="2792150" y="2823920"/>
                  </a:lnTo>
                  <a:lnTo>
                    <a:pt x="0" y="2823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2301051">
              <a:off x="5345801" y="1497629"/>
              <a:ext cx="2308361" cy="3262701"/>
            </a:xfrm>
            <a:custGeom>
              <a:avLst/>
              <a:gdLst/>
              <a:ahLst/>
              <a:cxnLst/>
              <a:rect l="l" t="t" r="r" b="b"/>
              <a:pathLst>
                <a:path w="2308361" h="3262701">
                  <a:moveTo>
                    <a:pt x="0" y="0"/>
                  </a:moveTo>
                  <a:lnTo>
                    <a:pt x="2308361" y="0"/>
                  </a:lnTo>
                  <a:lnTo>
                    <a:pt x="2308361" y="3262701"/>
                  </a:lnTo>
                  <a:lnTo>
                    <a:pt x="0" y="3262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20479" y="5085738"/>
              <a:ext cx="1678893" cy="1678893"/>
            </a:xfrm>
            <a:custGeom>
              <a:avLst/>
              <a:gdLst/>
              <a:ahLst/>
              <a:cxnLst/>
              <a:rect l="l" t="t" r="r" b="b"/>
              <a:pathLst>
                <a:path w="1678893" h="1678893">
                  <a:moveTo>
                    <a:pt x="0" y="0"/>
                  </a:moveTo>
                  <a:lnTo>
                    <a:pt x="1678893" y="0"/>
                  </a:lnTo>
                  <a:lnTo>
                    <a:pt x="1678893" y="1678893"/>
                  </a:lnTo>
                  <a:lnTo>
                    <a:pt x="0" y="1678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>
              <a:off x="4050635" y="1665609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2"/>
                  </a:lnTo>
                  <a:lnTo>
                    <a:pt x="0" y="496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6536283" y="6534962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1"/>
                  </a:lnTo>
                  <a:lnTo>
                    <a:pt x="0" y="496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70763" y="4918695"/>
              <a:ext cx="334505" cy="334086"/>
            </a:xfrm>
            <a:custGeom>
              <a:avLst/>
              <a:gdLst/>
              <a:ahLst/>
              <a:cxnLst/>
              <a:rect l="l" t="t" r="r" b="b"/>
              <a:pathLst>
                <a:path w="334505" h="334086">
                  <a:moveTo>
                    <a:pt x="0" y="0"/>
                  </a:moveTo>
                  <a:lnTo>
                    <a:pt x="334504" y="0"/>
                  </a:lnTo>
                  <a:lnTo>
                    <a:pt x="334504" y="334086"/>
                  </a:lnTo>
                  <a:lnTo>
                    <a:pt x="0" y="334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3599469">
              <a:off x="8335286" y="3816116"/>
              <a:ext cx="799209" cy="827124"/>
            </a:xfrm>
            <a:custGeom>
              <a:avLst/>
              <a:gdLst/>
              <a:ahLst/>
              <a:cxnLst/>
              <a:rect l="l" t="t" r="r" b="b"/>
              <a:pathLst>
                <a:path w="799209" h="827124">
                  <a:moveTo>
                    <a:pt x="0" y="0"/>
                  </a:moveTo>
                  <a:lnTo>
                    <a:pt x="799209" y="0"/>
                  </a:lnTo>
                  <a:lnTo>
                    <a:pt x="799209" y="827125"/>
                  </a:lnTo>
                  <a:lnTo>
                    <a:pt x="0" y="827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3775070" y="0"/>
              <a:ext cx="2428523" cy="2425488"/>
            </a:xfrm>
            <a:custGeom>
              <a:avLst/>
              <a:gdLst/>
              <a:ahLst/>
              <a:cxnLst/>
              <a:rect l="l" t="t" r="r" b="b"/>
              <a:pathLst>
                <a:path w="2428523" h="2425488">
                  <a:moveTo>
                    <a:pt x="0" y="0"/>
                  </a:moveTo>
                  <a:lnTo>
                    <a:pt x="2428523" y="0"/>
                  </a:lnTo>
                  <a:lnTo>
                    <a:pt x="2428523" y="2425488"/>
                  </a:lnTo>
                  <a:lnTo>
                    <a:pt x="0" y="242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0300263" y="6386597"/>
              <a:ext cx="3179555" cy="3104041"/>
            </a:xfrm>
            <a:custGeom>
              <a:avLst/>
              <a:gdLst/>
              <a:ahLst/>
              <a:cxnLst/>
              <a:rect l="l" t="t" r="r" b="b"/>
              <a:pathLst>
                <a:path w="3179555" h="3104041">
                  <a:moveTo>
                    <a:pt x="0" y="0"/>
                  </a:moveTo>
                  <a:lnTo>
                    <a:pt x="3179556" y="0"/>
                  </a:lnTo>
                  <a:lnTo>
                    <a:pt x="3179556" y="3104041"/>
                  </a:lnTo>
                  <a:lnTo>
                    <a:pt x="0" y="3104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3722613">
              <a:off x="19977229" y="1729361"/>
              <a:ext cx="2199425" cy="2690428"/>
            </a:xfrm>
            <a:custGeom>
              <a:avLst/>
              <a:gdLst/>
              <a:ahLst/>
              <a:cxnLst/>
              <a:rect l="l" t="t" r="r" b="b"/>
              <a:pathLst>
                <a:path w="2199425" h="2690428">
                  <a:moveTo>
                    <a:pt x="0" y="0"/>
                  </a:moveTo>
                  <a:lnTo>
                    <a:pt x="2199425" y="0"/>
                  </a:lnTo>
                  <a:lnTo>
                    <a:pt x="2199425" y="2690428"/>
                  </a:lnTo>
                  <a:lnTo>
                    <a:pt x="0" y="2690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10223540">
              <a:off x="24067959" y="4662132"/>
              <a:ext cx="2302134" cy="2355124"/>
            </a:xfrm>
            <a:custGeom>
              <a:avLst/>
              <a:gdLst/>
              <a:ahLst/>
              <a:cxnLst/>
              <a:rect l="l" t="t" r="r" b="b"/>
              <a:pathLst>
                <a:path w="2302134" h="2355124">
                  <a:moveTo>
                    <a:pt x="0" y="0"/>
                  </a:moveTo>
                  <a:lnTo>
                    <a:pt x="2302134" y="0"/>
                  </a:lnTo>
                  <a:lnTo>
                    <a:pt x="2302134" y="2355124"/>
                  </a:lnTo>
                  <a:lnTo>
                    <a:pt x="0" y="2355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82484" y="7278344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1"/>
                  </a:lnTo>
                  <a:lnTo>
                    <a:pt x="0" y="496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7118055" y="3642184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2"/>
                  </a:lnTo>
                  <a:lnTo>
                    <a:pt x="0" y="496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3373213" y="3642184"/>
              <a:ext cx="514356" cy="513713"/>
            </a:xfrm>
            <a:custGeom>
              <a:avLst/>
              <a:gdLst/>
              <a:ahLst/>
              <a:cxnLst/>
              <a:rect l="l" t="t" r="r" b="b"/>
              <a:pathLst>
                <a:path w="514356" h="513713">
                  <a:moveTo>
                    <a:pt x="0" y="0"/>
                  </a:moveTo>
                  <a:lnTo>
                    <a:pt x="514355" y="0"/>
                  </a:lnTo>
                  <a:lnTo>
                    <a:pt x="514355" y="513713"/>
                  </a:lnTo>
                  <a:lnTo>
                    <a:pt x="0" y="513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8272746" y="5061325"/>
              <a:ext cx="1252220" cy="1004906"/>
            </a:xfrm>
            <a:custGeom>
              <a:avLst/>
              <a:gdLst/>
              <a:ahLst/>
              <a:cxnLst/>
              <a:rect l="l" t="t" r="r" b="b"/>
              <a:pathLst>
                <a:path w="1252220" h="1004906">
                  <a:moveTo>
                    <a:pt x="0" y="0"/>
                  </a:moveTo>
                  <a:lnTo>
                    <a:pt x="1252220" y="0"/>
                  </a:lnTo>
                  <a:lnTo>
                    <a:pt x="1252220" y="1004906"/>
                  </a:lnTo>
                  <a:lnTo>
                    <a:pt x="0" y="1004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784056" y="1431305"/>
            <a:ext cx="6719888" cy="131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83"/>
              </a:lnSpc>
              <a:spcBef>
                <a:spcPct val="0"/>
              </a:spcBef>
            </a:pPr>
            <a:r>
              <a:rPr lang="en-US" sz="8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607</Words>
  <Application>Microsoft Office PowerPoint</Application>
  <PresentationFormat>Произвольный</PresentationFormat>
  <Paragraphs>52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Nunito Bold</vt:lpstr>
      <vt:lpstr>Nunito Heavy</vt:lpstr>
      <vt:lpstr>Nunito Ultra-Bold</vt:lpstr>
      <vt:lpstr>Calibri</vt:lpstr>
      <vt:lpstr>Wingdings</vt:lpstr>
      <vt:lpstr>Arial</vt:lpstr>
      <vt:lpstr>Nunito</vt:lpstr>
      <vt:lpstr>Nunito Semi-Bold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project</dc:title>
  <cp:lastModifiedBy>LENOVO</cp:lastModifiedBy>
  <cp:revision>16</cp:revision>
  <dcterms:created xsi:type="dcterms:W3CDTF">2006-08-16T00:00:00Z</dcterms:created>
  <dcterms:modified xsi:type="dcterms:W3CDTF">2025-04-27T15:39:48Z</dcterms:modified>
  <dc:identifier>DAGYZ6h3AlA</dc:identifier>
</cp:coreProperties>
</file>