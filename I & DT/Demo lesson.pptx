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6" r:id="rId3"/>
    <p:sldId id="269" r:id="rId4"/>
    <p:sldId id="257" r:id="rId5"/>
    <p:sldId id="277" r:id="rId6"/>
    <p:sldId id="274" r:id="rId7"/>
    <p:sldId id="258" r:id="rId8"/>
    <p:sldId id="275" r:id="rId9"/>
    <p:sldId id="278" r:id="rId10"/>
    <p:sldId id="279" r:id="rId11"/>
    <p:sldId id="280" r:id="rId12"/>
    <p:sldId id="281" r:id="rId13"/>
    <p:sldId id="270" r:id="rId14"/>
    <p:sldId id="259" r:id="rId15"/>
    <p:sldId id="273" r:id="rId16"/>
  </p:sldIdLst>
  <p:sldSz cx="18288000" cy="10287000"/>
  <p:notesSz cx="6858000" cy="9144000"/>
  <p:embeddedFontLst>
    <p:embeddedFont>
      <p:font typeface="Lora" pitchFamily="2" charset="-52"/>
      <p:regular r:id="rId17"/>
      <p:bold r:id="rId18"/>
      <p:italic r:id="rId19"/>
      <p:boldItalic r:id="rId20"/>
    </p:embeddedFont>
    <p:embeddedFont>
      <p:font typeface="Open Sans" panose="020B0606030504020204" pitchFamily="34" charset="0"/>
      <p:regular r:id="rId21"/>
      <p:bold r:id="rId22"/>
      <p:italic r:id="rId23"/>
    </p:embeddedFont>
    <p:embeddedFont>
      <p:font typeface="Open Sans Bold" panose="020B0806030504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7" d="100"/>
          <a:sy n="67" d="100"/>
        </p:scale>
        <p:origin x="95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nozimaraximova09@gmail.com"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2.png"/><Relationship Id="rId7"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jpe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jpeg"/><Relationship Id="rId5" Type="http://schemas.microsoft.com/office/2007/relationships/hdphoto" Target="../media/hdphoto2.wdp"/><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hyperlink" Target="https://www.youtube.com/watch?v=6qPL5mkS6KA" TargetMode="Externa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69817" y="2438062"/>
            <a:ext cx="7260801" cy="1711109"/>
          </a:xfrm>
          <a:prstGeom prst="rect">
            <a:avLst/>
          </a:prstGeom>
        </p:spPr>
        <p:txBody>
          <a:bodyPr lIns="0" tIns="0" rIns="0" bIns="0" rtlCol="0" anchor="t">
            <a:spAutoFit/>
          </a:bodyPr>
          <a:lstStyle/>
          <a:p>
            <a:pPr algn="ctr">
              <a:lnSpc>
                <a:spcPts val="6875"/>
              </a:lnSpc>
              <a:spcBef>
                <a:spcPct val="0"/>
              </a:spcBef>
            </a:pPr>
            <a:r>
              <a:rPr lang="en-US" sz="4911" b="1" dirty="0" err="1">
                <a:solidFill>
                  <a:srgbClr val="000000"/>
                </a:solidFill>
                <a:latin typeface="Open Sans Bold"/>
                <a:ea typeface="Open Sans Bold"/>
                <a:cs typeface="Open Sans Bold"/>
                <a:sym typeface="Open Sans Bold"/>
              </a:rPr>
              <a:t>Innovatsiya</a:t>
            </a:r>
            <a:r>
              <a:rPr lang="en-US" sz="4911" b="1" dirty="0">
                <a:solidFill>
                  <a:srgbClr val="000000"/>
                </a:solidFill>
                <a:latin typeface="Open Sans Bold"/>
                <a:ea typeface="Open Sans Bold"/>
                <a:cs typeface="Open Sans Bold"/>
                <a:sym typeface="Open Sans Bold"/>
              </a:rPr>
              <a:t> </a:t>
            </a:r>
            <a:r>
              <a:rPr lang="en-US" sz="4911" b="1" dirty="0" err="1">
                <a:solidFill>
                  <a:srgbClr val="000000"/>
                </a:solidFill>
                <a:latin typeface="Open Sans Bold"/>
                <a:ea typeface="Open Sans Bold"/>
                <a:cs typeface="Open Sans Bold"/>
                <a:sym typeface="Open Sans Bold"/>
              </a:rPr>
              <a:t>va</a:t>
            </a:r>
            <a:r>
              <a:rPr lang="en-US" sz="4911" b="1" dirty="0">
                <a:solidFill>
                  <a:srgbClr val="000000"/>
                </a:solidFill>
                <a:latin typeface="Open Sans Bold"/>
                <a:ea typeface="Open Sans Bold"/>
                <a:cs typeface="Open Sans Bold"/>
                <a:sym typeface="Open Sans Bold"/>
              </a:rPr>
              <a:t> </a:t>
            </a:r>
            <a:r>
              <a:rPr lang="en-US" sz="4911" b="1" dirty="0" err="1">
                <a:solidFill>
                  <a:srgbClr val="000000"/>
                </a:solidFill>
                <a:latin typeface="Open Sans Bold"/>
                <a:ea typeface="Open Sans Bold"/>
                <a:cs typeface="Open Sans Bold"/>
                <a:sym typeface="Open Sans Bold"/>
              </a:rPr>
              <a:t>raqamli</a:t>
            </a:r>
            <a:r>
              <a:rPr lang="en-US" sz="4911" b="1" dirty="0">
                <a:solidFill>
                  <a:srgbClr val="000000"/>
                </a:solidFill>
                <a:latin typeface="Open Sans Bold"/>
                <a:ea typeface="Open Sans Bold"/>
                <a:cs typeface="Open Sans Bold"/>
                <a:sym typeface="Open Sans Bold"/>
              </a:rPr>
              <a:t> </a:t>
            </a:r>
            <a:r>
              <a:rPr lang="en-US" sz="4911" b="1" dirty="0" err="1">
                <a:solidFill>
                  <a:srgbClr val="000000"/>
                </a:solidFill>
                <a:latin typeface="Open Sans Bold"/>
                <a:ea typeface="Open Sans Bold"/>
                <a:cs typeface="Open Sans Bold"/>
                <a:sym typeface="Open Sans Bold"/>
              </a:rPr>
              <a:t>transformatsiya</a:t>
            </a:r>
            <a:endParaRPr lang="en-US" sz="4911" b="1" dirty="0">
              <a:solidFill>
                <a:srgbClr val="000000"/>
              </a:solidFill>
              <a:latin typeface="Open Sans Bold"/>
              <a:ea typeface="Open Sans Bold"/>
              <a:cs typeface="Open Sans Bold"/>
              <a:sym typeface="Open Sans Bold"/>
            </a:endParaRPr>
          </a:p>
        </p:txBody>
      </p:sp>
      <p:sp>
        <p:nvSpPr>
          <p:cNvPr id="3" name="TextBox 3"/>
          <p:cNvSpPr txBox="1"/>
          <p:nvPr/>
        </p:nvSpPr>
        <p:spPr>
          <a:xfrm>
            <a:off x="3108226" y="808961"/>
            <a:ext cx="8503177" cy="649952"/>
          </a:xfrm>
          <a:prstGeom prst="rect">
            <a:avLst/>
          </a:prstGeom>
        </p:spPr>
        <p:txBody>
          <a:bodyPr lIns="0" tIns="0" rIns="0" bIns="0" rtlCol="0" anchor="t">
            <a:spAutoFit/>
          </a:bodyPr>
          <a:lstStyle/>
          <a:p>
            <a:pPr algn="just">
              <a:lnSpc>
                <a:spcPts val="5228"/>
              </a:lnSpc>
              <a:spcBef>
                <a:spcPct val="0"/>
              </a:spcBef>
            </a:pPr>
            <a:r>
              <a:rPr lang="en-US" sz="3734" dirty="0">
                <a:solidFill>
                  <a:srgbClr val="000000"/>
                </a:solidFill>
                <a:latin typeface="Open Sans"/>
                <a:ea typeface="Open Sans"/>
                <a:cs typeface="Open Sans"/>
                <a:sym typeface="Open Sans"/>
              </a:rPr>
              <a:t>Innovation and Digital Transformation</a:t>
            </a:r>
          </a:p>
        </p:txBody>
      </p:sp>
      <p:sp>
        <p:nvSpPr>
          <p:cNvPr id="4" name="AutoShape 4"/>
          <p:cNvSpPr/>
          <p:nvPr/>
        </p:nvSpPr>
        <p:spPr>
          <a:xfrm>
            <a:off x="1028700" y="1592927"/>
            <a:ext cx="16230600" cy="0"/>
          </a:xfrm>
          <a:prstGeom prst="line">
            <a:avLst/>
          </a:prstGeom>
          <a:ln w="38100" cap="flat">
            <a:solidFill>
              <a:srgbClr val="000000"/>
            </a:solidFill>
            <a:prstDash val="solid"/>
            <a:headEnd type="none" w="sm" len="sm"/>
            <a:tailEnd type="none" w="sm" len="sm"/>
          </a:ln>
        </p:spPr>
      </p:sp>
      <p:sp>
        <p:nvSpPr>
          <p:cNvPr id="5" name="TextBox 5"/>
          <p:cNvSpPr txBox="1"/>
          <p:nvPr/>
        </p:nvSpPr>
        <p:spPr>
          <a:xfrm>
            <a:off x="1066800" y="8626352"/>
            <a:ext cx="9072711" cy="419346"/>
          </a:xfrm>
          <a:prstGeom prst="rect">
            <a:avLst/>
          </a:prstGeom>
        </p:spPr>
        <p:txBody>
          <a:bodyPr lIns="0" tIns="0" rIns="0" bIns="0" rtlCol="0" anchor="t">
            <a:spAutoFit/>
          </a:bodyPr>
          <a:lstStyle/>
          <a:p>
            <a:pPr algn="l">
              <a:lnSpc>
                <a:spcPts val="3499"/>
              </a:lnSpc>
            </a:pPr>
            <a:r>
              <a:rPr lang="en-US" sz="2499" dirty="0" err="1">
                <a:solidFill>
                  <a:srgbClr val="000000"/>
                </a:solidFill>
                <a:latin typeface="Open Sans"/>
                <a:ea typeface="Open Sans"/>
                <a:cs typeface="Open Sans"/>
                <a:sym typeface="Open Sans"/>
              </a:rPr>
              <a:t>Nozima</a:t>
            </a:r>
            <a:r>
              <a:rPr lang="en-US" sz="2499" dirty="0">
                <a:solidFill>
                  <a:srgbClr val="000000"/>
                </a:solidFill>
                <a:latin typeface="Open Sans"/>
                <a:ea typeface="Open Sans"/>
                <a:cs typeface="Open Sans"/>
                <a:sym typeface="Open Sans"/>
              </a:rPr>
              <a:t> </a:t>
            </a:r>
            <a:r>
              <a:rPr lang="en-US" sz="2499" dirty="0" err="1">
                <a:solidFill>
                  <a:srgbClr val="000000"/>
                </a:solidFill>
                <a:latin typeface="Open Sans"/>
                <a:ea typeface="Open Sans"/>
                <a:cs typeface="Open Sans"/>
                <a:sym typeface="Open Sans"/>
              </a:rPr>
              <a:t>Raximova</a:t>
            </a:r>
            <a:endParaRPr lang="en-US" sz="2499" dirty="0">
              <a:solidFill>
                <a:srgbClr val="000000"/>
              </a:solidFill>
              <a:latin typeface="Open Sans"/>
              <a:ea typeface="Open Sans"/>
              <a:cs typeface="Open Sans"/>
              <a:sym typeface="Open Sans"/>
            </a:endParaRPr>
          </a:p>
        </p:txBody>
      </p:sp>
      <p:grpSp>
        <p:nvGrpSpPr>
          <p:cNvPr id="6" name="Group 6"/>
          <p:cNvGrpSpPr/>
          <p:nvPr/>
        </p:nvGrpSpPr>
        <p:grpSpPr>
          <a:xfrm>
            <a:off x="13195926" y="442716"/>
            <a:ext cx="4063374" cy="1054961"/>
            <a:chOff x="0" y="0"/>
            <a:chExt cx="5417832" cy="1406615"/>
          </a:xfrm>
        </p:grpSpPr>
        <p:sp>
          <p:nvSpPr>
            <p:cNvPr id="7" name="Freeform 7"/>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8" name="Freeform 8"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10" name="TextBox 9">
            <a:extLst>
              <a:ext uri="{FF2B5EF4-FFF2-40B4-BE49-F238E27FC236}">
                <a16:creationId xmlns:a16="http://schemas.microsoft.com/office/drawing/2014/main" id="{E01CA29B-02CB-A888-E2CD-AA235376A7FD}"/>
              </a:ext>
            </a:extLst>
          </p:cNvPr>
          <p:cNvSpPr txBox="1"/>
          <p:nvPr/>
        </p:nvSpPr>
        <p:spPr>
          <a:xfrm>
            <a:off x="1066800" y="579939"/>
            <a:ext cx="2012851" cy="1107996"/>
          </a:xfrm>
          <a:prstGeom prst="rect">
            <a:avLst/>
          </a:prstGeom>
          <a:noFill/>
        </p:spPr>
        <p:txBody>
          <a:bodyPr wrap="square" rtlCol="0">
            <a:spAutoFit/>
          </a:bodyPr>
          <a:lstStyle/>
          <a:p>
            <a:r>
              <a:rPr lang="en-US" sz="6600" dirty="0"/>
              <a:t>Unit:</a:t>
            </a:r>
            <a:endParaRPr lang="ru-RU" sz="6600" dirty="0"/>
          </a:p>
        </p:txBody>
      </p:sp>
      <p:pic>
        <p:nvPicPr>
          <p:cNvPr id="1028" name="Picture 4" descr="Innovation Icon Vector Art, Icons, and Graphics for Free Download">
            <a:extLst>
              <a:ext uri="{FF2B5EF4-FFF2-40B4-BE49-F238E27FC236}">
                <a16:creationId xmlns:a16="http://schemas.microsoft.com/office/drawing/2014/main" id="{A7C3B215-178E-4F6C-CBCD-28D0914A0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6987" y="5079038"/>
            <a:ext cx="3586460" cy="3586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1028700" y="1592927"/>
            <a:ext cx="16230600" cy="0"/>
          </a:xfrm>
          <a:prstGeom prst="line">
            <a:avLst/>
          </a:prstGeom>
          <a:ln w="38100" cap="flat">
            <a:solidFill>
              <a:srgbClr val="000000"/>
            </a:solidFill>
            <a:prstDash val="solid"/>
            <a:headEnd type="none" w="sm" len="sm"/>
            <a:tailEnd type="none" w="sm" len="sm"/>
          </a:ln>
        </p:spPr>
      </p:sp>
      <p:sp>
        <p:nvSpPr>
          <p:cNvPr id="5" name="TextBox 5"/>
          <p:cNvSpPr txBox="1"/>
          <p:nvPr/>
        </p:nvSpPr>
        <p:spPr>
          <a:xfrm>
            <a:off x="1219200" y="8254978"/>
            <a:ext cx="9072711" cy="1327030"/>
          </a:xfrm>
          <a:prstGeom prst="rect">
            <a:avLst/>
          </a:prstGeom>
        </p:spPr>
        <p:txBody>
          <a:bodyPr lIns="0" tIns="0" rIns="0" bIns="0" rtlCol="0" anchor="t">
            <a:spAutoFit/>
          </a:bodyPr>
          <a:lstStyle/>
          <a:p>
            <a:pPr algn="l">
              <a:lnSpc>
                <a:spcPts val="3499"/>
              </a:lnSpc>
            </a:pPr>
            <a:r>
              <a:rPr lang="en-US" sz="2800" dirty="0" err="1">
                <a:solidFill>
                  <a:srgbClr val="000000"/>
                </a:solidFill>
                <a:latin typeface="Open Sans"/>
                <a:ea typeface="Open Sans"/>
                <a:cs typeface="Open Sans"/>
                <a:sym typeface="Open Sans"/>
              </a:rPr>
              <a:t>Nozima</a:t>
            </a:r>
            <a:r>
              <a:rPr lang="en-US" sz="2800" dirty="0">
                <a:solidFill>
                  <a:srgbClr val="000000"/>
                </a:solidFill>
                <a:latin typeface="Open Sans"/>
                <a:ea typeface="Open Sans"/>
                <a:cs typeface="Open Sans"/>
                <a:sym typeface="Open Sans"/>
              </a:rPr>
              <a:t> </a:t>
            </a:r>
            <a:r>
              <a:rPr lang="en-US" sz="2800" dirty="0" err="1">
                <a:solidFill>
                  <a:srgbClr val="000000"/>
                </a:solidFill>
                <a:latin typeface="Open Sans"/>
                <a:ea typeface="Open Sans"/>
                <a:cs typeface="Open Sans"/>
                <a:sym typeface="Open Sans"/>
              </a:rPr>
              <a:t>Raximova</a:t>
            </a:r>
            <a:br>
              <a:rPr lang="en-US" sz="2800" dirty="0">
                <a:solidFill>
                  <a:srgbClr val="000000"/>
                </a:solidFill>
                <a:latin typeface="Open Sans"/>
                <a:ea typeface="Open Sans"/>
                <a:cs typeface="Open Sans"/>
                <a:sym typeface="Open Sans"/>
              </a:rPr>
            </a:br>
            <a:r>
              <a:rPr lang="en-US" sz="2800" dirty="0">
                <a:solidFill>
                  <a:srgbClr val="000000"/>
                </a:solidFill>
                <a:latin typeface="Open Sans"/>
                <a:ea typeface="Open Sans"/>
                <a:cs typeface="Open Sans"/>
                <a:sym typeface="Open Sans"/>
              </a:rPr>
              <a:t>e-mail: </a:t>
            </a:r>
            <a:r>
              <a:rPr lang="en-US" sz="2800" dirty="0">
                <a:solidFill>
                  <a:srgbClr val="000000"/>
                </a:solidFill>
                <a:latin typeface="Open Sans"/>
                <a:ea typeface="Open Sans"/>
                <a:cs typeface="Open Sans"/>
                <a:sym typeface="Open Sans"/>
                <a:hlinkClick r:id="rId2"/>
              </a:rPr>
              <a:t>nozimaraximova09@gmail.com</a:t>
            </a:r>
            <a:br>
              <a:rPr lang="en-US" sz="2800" dirty="0">
                <a:solidFill>
                  <a:srgbClr val="000000"/>
                </a:solidFill>
                <a:latin typeface="Open Sans"/>
                <a:ea typeface="Open Sans"/>
                <a:cs typeface="Open Sans"/>
                <a:sym typeface="Open Sans"/>
              </a:rPr>
            </a:br>
            <a:r>
              <a:rPr lang="en-US" sz="2800" dirty="0" err="1">
                <a:solidFill>
                  <a:srgbClr val="000000"/>
                </a:solidFill>
                <a:latin typeface="Open Sans"/>
                <a:ea typeface="Open Sans"/>
                <a:cs typeface="Open Sans"/>
                <a:sym typeface="Open Sans"/>
              </a:rPr>
              <a:t>tg</a:t>
            </a:r>
            <a:r>
              <a:rPr lang="en-US" sz="2800" dirty="0">
                <a:solidFill>
                  <a:srgbClr val="000000"/>
                </a:solidFill>
                <a:latin typeface="Open Sans"/>
                <a:ea typeface="Open Sans"/>
                <a:cs typeface="Open Sans"/>
                <a:sym typeface="Open Sans"/>
              </a:rPr>
              <a:t>: @NIlxomovna</a:t>
            </a:r>
          </a:p>
        </p:txBody>
      </p:sp>
      <p:grpSp>
        <p:nvGrpSpPr>
          <p:cNvPr id="6" name="Group 6"/>
          <p:cNvGrpSpPr/>
          <p:nvPr/>
        </p:nvGrpSpPr>
        <p:grpSpPr>
          <a:xfrm>
            <a:off x="13195926" y="442716"/>
            <a:ext cx="4063374" cy="1054961"/>
            <a:chOff x="0" y="0"/>
            <a:chExt cx="5417832" cy="1406615"/>
          </a:xfrm>
        </p:grpSpPr>
        <p:sp>
          <p:nvSpPr>
            <p:cNvPr id="7" name="Freeform 7"/>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3"/>
              <a:stretch>
                <a:fillRect/>
              </a:stretch>
            </a:blipFill>
          </p:spPr>
        </p:sp>
        <p:sp>
          <p:nvSpPr>
            <p:cNvPr id="8" name="Freeform 8"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4"/>
              <a:stretch>
                <a:fillRect/>
              </a:stretch>
            </a:blipFill>
          </p:spPr>
        </p:sp>
      </p:grpSp>
      <p:sp>
        <p:nvSpPr>
          <p:cNvPr id="13" name="TextBox 12">
            <a:extLst>
              <a:ext uri="{FF2B5EF4-FFF2-40B4-BE49-F238E27FC236}">
                <a16:creationId xmlns:a16="http://schemas.microsoft.com/office/drawing/2014/main" id="{88231DCC-9E96-B14C-6B6D-38B64E6FF3BA}"/>
              </a:ext>
            </a:extLst>
          </p:cNvPr>
          <p:cNvSpPr txBox="1"/>
          <p:nvPr/>
        </p:nvSpPr>
        <p:spPr>
          <a:xfrm>
            <a:off x="1219200" y="825803"/>
            <a:ext cx="5849093" cy="830997"/>
          </a:xfrm>
          <a:prstGeom prst="rect">
            <a:avLst/>
          </a:prstGeom>
          <a:noFill/>
        </p:spPr>
        <p:txBody>
          <a:bodyPr wrap="square" rtlCol="0">
            <a:spAutoFit/>
          </a:bodyPr>
          <a:lstStyle/>
          <a:p>
            <a:r>
              <a:rPr lang="ru-RU" sz="4800" b="1" dirty="0">
                <a:solidFill>
                  <a:srgbClr val="2C3E50"/>
                </a:solidFill>
                <a:latin typeface="Open Sans" panose="020B0606030504020204" pitchFamily="34" charset="0"/>
                <a:ea typeface="Open Sans" panose="020B0606030504020204" pitchFamily="34" charset="0"/>
                <a:cs typeface="Open Sans" panose="020B0606030504020204" pitchFamily="34" charset="0"/>
              </a:rPr>
              <a:t>🎓</a:t>
            </a:r>
            <a:r>
              <a:rPr lang="en-US" sz="4800" b="1" dirty="0" err="1">
                <a:latin typeface="Open Sans" panose="020B0606030504020204" pitchFamily="34" charset="0"/>
                <a:ea typeface="Open Sans" panose="020B0606030504020204" pitchFamily="34" charset="0"/>
                <a:cs typeface="Open Sans" panose="020B0606030504020204" pitchFamily="34" charset="0"/>
              </a:rPr>
              <a:t>O’zim</a:t>
            </a:r>
            <a:r>
              <a:rPr lang="en-US" sz="4800" b="1" dirty="0">
                <a:latin typeface="Open Sans" panose="020B0606030504020204" pitchFamily="34" charset="0"/>
                <a:ea typeface="Open Sans" panose="020B0606030504020204" pitchFamily="34" charset="0"/>
                <a:cs typeface="Open Sans" panose="020B0606030504020204" pitchFamily="34" charset="0"/>
              </a:rPr>
              <a:t> </a:t>
            </a:r>
            <a:r>
              <a:rPr lang="en-US" sz="4800" b="1" dirty="0" err="1">
                <a:latin typeface="Open Sans" panose="020B0606030504020204" pitchFamily="34" charset="0"/>
                <a:ea typeface="Open Sans" panose="020B0606030504020204" pitchFamily="34" charset="0"/>
                <a:cs typeface="Open Sans" panose="020B0606030504020204" pitchFamily="34" charset="0"/>
              </a:rPr>
              <a:t>haqimda</a:t>
            </a:r>
            <a:endParaRPr lang="ru-RU" sz="48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3F3E66B0-4365-3A7D-3118-2671BC2F2635}"/>
              </a:ext>
            </a:extLst>
          </p:cNvPr>
          <p:cNvSpPr txBox="1"/>
          <p:nvPr/>
        </p:nvSpPr>
        <p:spPr>
          <a:xfrm>
            <a:off x="1447800" y="2939952"/>
            <a:ext cx="13563600" cy="4031873"/>
          </a:xfrm>
          <a:prstGeom prst="rect">
            <a:avLst/>
          </a:prstGeom>
          <a:noFill/>
        </p:spPr>
        <p:txBody>
          <a:bodyPr wrap="square" rtlCol="0">
            <a:spAutoFit/>
          </a:bodyPr>
          <a:lstStyle/>
          <a:p>
            <a:pPr marL="457200" indent="-457200">
              <a:buFont typeface="Arial" panose="020B0604020202020204" pitchFamily="34" charset="0"/>
              <a:buChar char="•"/>
            </a:pPr>
            <a:r>
              <a:rPr lang="en-US" sz="3200" b="1" dirty="0" err="1">
                <a:latin typeface="Open Sans" panose="020B0606030504020204" pitchFamily="34" charset="0"/>
                <a:ea typeface="Open Sans" panose="020B0606030504020204" pitchFamily="34" charset="0"/>
                <a:cs typeface="Open Sans" panose="020B0606030504020204" pitchFamily="34" charset="0"/>
              </a:rPr>
              <a:t>Bakalavr</a:t>
            </a:r>
            <a:r>
              <a:rPr lang="en-US" sz="3200" dirty="0">
                <a:latin typeface="Open Sans" panose="020B0606030504020204" pitchFamily="34" charset="0"/>
                <a:ea typeface="Open Sans" panose="020B0606030504020204" pitchFamily="34" charset="0"/>
                <a:cs typeface="Open Sans" panose="020B0606030504020204" pitchFamily="34" charset="0"/>
              </a:rPr>
              <a:t>: TATU – </a:t>
            </a:r>
            <a:r>
              <a:rPr lang="en-US" sz="3200" dirty="0" err="1">
                <a:latin typeface="Open Sans" panose="020B0606030504020204" pitchFamily="34" charset="0"/>
                <a:ea typeface="Open Sans" panose="020B0606030504020204" pitchFamily="34" charset="0"/>
                <a:cs typeface="Open Sans" panose="020B0606030504020204" pitchFamily="34" charset="0"/>
              </a:rPr>
              <a:t>Texnika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texnologiya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va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tahlilga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muhabbat</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shu</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yerda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boshlangan</a:t>
            </a:r>
            <a:br>
              <a:rPr lang="en-US" sz="3200" dirty="0">
                <a:latin typeface="Open Sans" panose="020B0606030504020204" pitchFamily="34" charset="0"/>
                <a:ea typeface="Open Sans" panose="020B0606030504020204" pitchFamily="34" charset="0"/>
                <a:cs typeface="Open Sans" panose="020B0606030504020204" pitchFamily="34" charset="0"/>
              </a:rPr>
            </a:b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b="1" dirty="0" err="1">
                <a:latin typeface="Open Sans" panose="020B0606030504020204" pitchFamily="34" charset="0"/>
                <a:ea typeface="Open Sans" panose="020B0606030504020204" pitchFamily="34" charset="0"/>
                <a:cs typeface="Open Sans" panose="020B0606030504020204" pitchFamily="34" charset="0"/>
              </a:rPr>
              <a:t>Magistratura</a:t>
            </a:r>
            <a:r>
              <a:rPr lang="en-US" sz="3200" b="1" dirty="0">
                <a:latin typeface="Open Sans" panose="020B0606030504020204" pitchFamily="34" charset="0"/>
                <a:ea typeface="Open Sans" panose="020B0606030504020204" pitchFamily="34" charset="0"/>
                <a:cs typeface="Open Sans" panose="020B0606030504020204" pitchFamily="34" charset="0"/>
              </a:rPr>
              <a:t>: </a:t>
            </a:r>
            <a:r>
              <a:rPr lang="en-US" sz="3200" dirty="0">
                <a:latin typeface="Open Sans" panose="020B0606030504020204" pitchFamily="34" charset="0"/>
                <a:ea typeface="Open Sans" panose="020B0606030504020204" pitchFamily="34" charset="0"/>
                <a:cs typeface="Open Sans" panose="020B0606030504020204" pitchFamily="34" charset="0"/>
              </a:rPr>
              <a:t>UMFT – </a:t>
            </a:r>
            <a:r>
              <a:rPr lang="en-US" sz="3200" dirty="0" err="1">
                <a:latin typeface="Open Sans" panose="020B0606030504020204" pitchFamily="34" charset="0"/>
                <a:ea typeface="Open Sans" panose="020B0606030504020204" pitchFamily="34" charset="0"/>
                <a:cs typeface="Open Sans" panose="020B0606030504020204" pitchFamily="34" charset="0"/>
              </a:rPr>
              <a:t>Innovatsiya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va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raqamli</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transformatsiyaga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yo‘l</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shu</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yerdan</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davom</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etmoqda</a:t>
            </a:r>
            <a:br>
              <a:rPr lang="en-US" sz="3200" dirty="0">
                <a:latin typeface="Open Sans" panose="020B0606030504020204" pitchFamily="34" charset="0"/>
                <a:ea typeface="Open Sans" panose="020B0606030504020204" pitchFamily="34" charset="0"/>
                <a:cs typeface="Open Sans" panose="020B0606030504020204" pitchFamily="34" charset="0"/>
              </a:rPr>
            </a:b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b="1" dirty="0" err="1">
                <a:latin typeface="Open Sans" panose="020B0606030504020204" pitchFamily="34" charset="0"/>
                <a:ea typeface="Open Sans" panose="020B0606030504020204" pitchFamily="34" charset="0"/>
                <a:cs typeface="Open Sans" panose="020B0606030504020204" pitchFamily="34" charset="0"/>
              </a:rPr>
              <a:t>Tajriba</a:t>
            </a:r>
            <a:r>
              <a:rPr lang="en-US" sz="3200" b="1" dirty="0">
                <a:latin typeface="Open Sans" panose="020B0606030504020204" pitchFamily="34" charset="0"/>
                <a:ea typeface="Open Sans" panose="020B0606030504020204" pitchFamily="34" charset="0"/>
                <a:cs typeface="Open Sans" panose="020B0606030504020204" pitchFamily="34" charset="0"/>
              </a:rPr>
              <a:t>:</a:t>
            </a:r>
            <a:br>
              <a:rPr lang="en-US" sz="3200" dirty="0">
                <a:latin typeface="Open Sans" panose="020B0606030504020204" pitchFamily="34" charset="0"/>
                <a:ea typeface="Open Sans" panose="020B0606030504020204" pitchFamily="34" charset="0"/>
                <a:cs typeface="Open Sans" panose="020B0606030504020204" pitchFamily="34" charset="0"/>
              </a:rPr>
            </a:br>
            <a:r>
              <a:rPr lang="en-US" sz="3200" dirty="0">
                <a:latin typeface="Open Sans" panose="020B0606030504020204" pitchFamily="34" charset="0"/>
                <a:ea typeface="Open Sans" panose="020B0606030504020204" pitchFamily="34" charset="0"/>
                <a:cs typeface="Open Sans" panose="020B0606030504020204" pitchFamily="34" charset="0"/>
              </a:rPr>
              <a:t>   - 3 </a:t>
            </a:r>
            <a:r>
              <a:rPr lang="en-US" sz="3200" dirty="0" err="1">
                <a:latin typeface="Open Sans" panose="020B0606030504020204" pitchFamily="34" charset="0"/>
                <a:ea typeface="Open Sans" panose="020B0606030504020204" pitchFamily="34" charset="0"/>
                <a:cs typeface="Open Sans" panose="020B0606030504020204" pitchFamily="34" charset="0"/>
              </a:rPr>
              <a:t>yillik</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Ingliz</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tili</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va</a:t>
            </a:r>
            <a:r>
              <a:rPr lang="en-US" sz="3200" dirty="0">
                <a:latin typeface="Open Sans" panose="020B0606030504020204" pitchFamily="34" charset="0"/>
                <a:ea typeface="Open Sans" panose="020B0606030504020204" pitchFamily="34" charset="0"/>
                <a:cs typeface="Open Sans" panose="020B0606030504020204" pitchFamily="34" charset="0"/>
              </a:rPr>
              <a:t> Soft Skills </a:t>
            </a:r>
            <a:r>
              <a:rPr lang="en-US" sz="3200" dirty="0" err="1">
                <a:latin typeface="Open Sans" panose="020B0606030504020204" pitchFamily="34" charset="0"/>
                <a:ea typeface="Open Sans" panose="020B0606030504020204" pitchFamily="34" charset="0"/>
                <a:cs typeface="Open Sans" panose="020B0606030504020204" pitchFamily="34" charset="0"/>
              </a:rPr>
              <a:t>darslari</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tajribasi</a:t>
            </a:r>
            <a:br>
              <a:rPr lang="en-US" sz="3200" dirty="0">
                <a:latin typeface="Open Sans" panose="020B0606030504020204" pitchFamily="34" charset="0"/>
                <a:ea typeface="Open Sans" panose="020B0606030504020204" pitchFamily="34" charset="0"/>
                <a:cs typeface="Open Sans" panose="020B0606030504020204" pitchFamily="34" charset="0"/>
              </a:rPr>
            </a:br>
            <a:r>
              <a:rPr lang="en-US" sz="3200" dirty="0">
                <a:latin typeface="Open Sans" panose="020B0606030504020204" pitchFamily="34" charset="0"/>
                <a:ea typeface="Open Sans" panose="020B0606030504020204" pitchFamily="34" charset="0"/>
                <a:cs typeface="Open Sans" panose="020B0606030504020204" pitchFamily="34" charset="0"/>
              </a:rPr>
              <a:t>   - </a:t>
            </a:r>
            <a:r>
              <a:rPr lang="en-US" sz="3200" dirty="0" err="1">
                <a:latin typeface="Open Sans" panose="020B0606030504020204" pitchFamily="34" charset="0"/>
                <a:ea typeface="Open Sans" panose="020B0606030504020204" pitchFamily="34" charset="0"/>
                <a:cs typeface="Open Sans" panose="020B0606030504020204" pitchFamily="34" charset="0"/>
              </a:rPr>
              <a:t>O‘quv</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ishlari</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bo‘yicha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katta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mutaxassis</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boshqa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universitetda</a:t>
            </a:r>
            <a:r>
              <a:rPr lang="en-US" sz="3200" dirty="0">
                <a:latin typeface="Open Sans" panose="020B0606030504020204" pitchFamily="34" charset="0"/>
                <a:ea typeface="Open Sans" panose="020B0606030504020204" pitchFamily="34" charset="0"/>
                <a:cs typeface="Open Sans" panose="020B0606030504020204" pitchFamily="34" charset="0"/>
              </a:rPr>
              <a:t>)</a:t>
            </a:r>
            <a:br>
              <a:rPr lang="en-US" sz="3200" dirty="0">
                <a:latin typeface="Open Sans" panose="020B0606030504020204" pitchFamily="34" charset="0"/>
                <a:ea typeface="Open Sans" panose="020B0606030504020204" pitchFamily="34" charset="0"/>
                <a:cs typeface="Open Sans" panose="020B0606030504020204" pitchFamily="34" charset="0"/>
              </a:rPr>
            </a:br>
            <a:r>
              <a:rPr lang="en-US" sz="3200" dirty="0">
                <a:latin typeface="Open Sans" panose="020B0606030504020204" pitchFamily="34" charset="0"/>
                <a:ea typeface="Open Sans" panose="020B0606030504020204" pitchFamily="34" charset="0"/>
                <a:cs typeface="Open Sans" panose="020B0606030504020204" pitchFamily="34" charset="0"/>
              </a:rPr>
              <a:t>   - </a:t>
            </a:r>
            <a:r>
              <a:rPr lang="en-US" sz="3200" dirty="0" err="1">
                <a:latin typeface="Open Sans" panose="020B0606030504020204" pitchFamily="34" charset="0"/>
                <a:ea typeface="Open Sans" panose="020B0606030504020204" pitchFamily="34" charset="0"/>
                <a:cs typeface="Open Sans" panose="020B0606030504020204" pitchFamily="34" charset="0"/>
              </a:rPr>
              <a:t>Kutubxona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tizimi</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rahbari</a:t>
            </a:r>
            <a:r>
              <a:rPr lang="en-US" sz="3200" dirty="0">
                <a:latin typeface="Open Sans" panose="020B0606030504020204" pitchFamily="34" charset="0"/>
                <a:ea typeface="Open Sans" panose="020B0606030504020204" pitchFamily="34" charset="0"/>
                <a:cs typeface="Open Sans" panose="020B0606030504020204" pitchFamily="34" charset="0"/>
              </a:rPr>
              <a:t> — </a:t>
            </a:r>
            <a:r>
              <a:rPr lang="en-US" sz="3200" dirty="0" err="1">
                <a:latin typeface="Open Sans" panose="020B0606030504020204" pitchFamily="34" charset="0"/>
                <a:ea typeface="Open Sans" panose="020B0606030504020204" pitchFamily="34" charset="0"/>
                <a:cs typeface="Open Sans" panose="020B0606030504020204" pitchFamily="34" charset="0"/>
              </a:rPr>
              <a:t>hozirda</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magistrlikni</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en-US" sz="3200" dirty="0" err="1">
                <a:latin typeface="Open Sans" panose="020B0606030504020204" pitchFamily="34" charset="0"/>
                <a:ea typeface="Open Sans" panose="020B0606030504020204" pitchFamily="34" charset="0"/>
                <a:cs typeface="Open Sans" panose="020B0606030504020204" pitchFamily="34" charset="0"/>
              </a:rPr>
              <a:t>tugatyapman</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ru-RU" sz="32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226015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D3E13FA2-58B3-B337-23F8-66A7C893BEE8}"/>
              </a:ext>
            </a:extLst>
          </p:cNvPr>
          <p:cNvGrpSpPr/>
          <p:nvPr/>
        </p:nvGrpSpPr>
        <p:grpSpPr>
          <a:xfrm>
            <a:off x="1828800" y="2400307"/>
            <a:ext cx="14706600" cy="6553191"/>
            <a:chOff x="825895" y="889753"/>
            <a:chExt cx="10457135" cy="5064459"/>
          </a:xfrm>
        </p:grpSpPr>
        <p:sp>
          <p:nvSpPr>
            <p:cNvPr id="62" name="TextBox 61">
              <a:extLst>
                <a:ext uri="{FF2B5EF4-FFF2-40B4-BE49-F238E27FC236}">
                  <a16:creationId xmlns:a16="http://schemas.microsoft.com/office/drawing/2014/main" id="{02E0492C-EC43-2B26-F6E7-77724353DDBC}"/>
                </a:ext>
              </a:extLst>
            </p:cNvPr>
            <p:cNvSpPr txBox="1"/>
            <p:nvPr/>
          </p:nvSpPr>
          <p:spPr>
            <a:xfrm>
              <a:off x="8628233" y="2655117"/>
              <a:ext cx="2654797" cy="1405824"/>
            </a:xfrm>
            <a:prstGeom prst="rect">
              <a:avLst/>
            </a:prstGeom>
            <a:noFill/>
          </p:spPr>
          <p:txBody>
            <a:bodyPr wrap="square">
              <a:spAutoFit/>
            </a:bodyPr>
            <a:lstStyle/>
            <a:p>
              <a:pPr algn="ctr"/>
              <a:r>
                <a:rPr lang="en-US" sz="5400" b="1" dirty="0" err="1">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rPr>
                <a:t>Dars</a:t>
              </a:r>
              <a:r>
                <a:rPr lang="en-US" sz="5400" b="1" dirty="0">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rPr>
                <a:t> </a:t>
              </a:r>
              <a:r>
                <a:rPr lang="en-US" sz="5400" b="1" dirty="0" err="1">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rPr>
                <a:t>maqsadi</a:t>
              </a:r>
              <a:endParaRPr lang="en-US" sz="5400" b="1" dirty="0">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72" name="Group 71">
              <a:extLst>
                <a:ext uri="{FF2B5EF4-FFF2-40B4-BE49-F238E27FC236}">
                  <a16:creationId xmlns:a16="http://schemas.microsoft.com/office/drawing/2014/main" id="{4886B275-1AD5-8BC0-15AA-89D13337B69F}"/>
                </a:ext>
              </a:extLst>
            </p:cNvPr>
            <p:cNvGrpSpPr/>
            <p:nvPr/>
          </p:nvGrpSpPr>
          <p:grpSpPr>
            <a:xfrm>
              <a:off x="825895" y="889753"/>
              <a:ext cx="7293554" cy="5064459"/>
              <a:chOff x="825895" y="889753"/>
              <a:chExt cx="7293554" cy="5064459"/>
            </a:xfrm>
          </p:grpSpPr>
          <p:sp>
            <p:nvSpPr>
              <p:cNvPr id="47" name="Freeform: Shape 46">
                <a:extLst>
                  <a:ext uri="{FF2B5EF4-FFF2-40B4-BE49-F238E27FC236}">
                    <a16:creationId xmlns:a16="http://schemas.microsoft.com/office/drawing/2014/main" id="{32AE57EB-E7EE-D8FF-9F5A-A65F8A326627}"/>
                  </a:ext>
                </a:extLst>
              </p:cNvPr>
              <p:cNvSpPr/>
              <p:nvPr/>
            </p:nvSpPr>
            <p:spPr>
              <a:xfrm>
                <a:off x="4529729" y="4795764"/>
                <a:ext cx="2468387" cy="1158448"/>
              </a:xfrm>
              <a:custGeom>
                <a:avLst/>
                <a:gdLst>
                  <a:gd name="connsiteX0" fmla="*/ 2468311 w 2468387"/>
                  <a:gd name="connsiteY0" fmla="*/ -47 h 1158448"/>
                  <a:gd name="connsiteX1" fmla="*/ 2325200 w 2468387"/>
                  <a:gd name="connsiteY1" fmla="*/ 699773 h 1158448"/>
                  <a:gd name="connsiteX2" fmla="*/ 2468311 w 2468387"/>
                  <a:gd name="connsiteY2" fmla="*/ 842884 h 1158448"/>
                  <a:gd name="connsiteX3" fmla="*/ 630838 w 2468387"/>
                  <a:gd name="connsiteY3" fmla="*/ 842884 h 1158448"/>
                  <a:gd name="connsiteX4" fmla="*/ 315321 w 2468387"/>
                  <a:gd name="connsiteY4" fmla="*/ 1158401 h 1158448"/>
                  <a:gd name="connsiteX5" fmla="*/ 306607 w 2468387"/>
                  <a:gd name="connsiteY5" fmla="*/ 1158282 h 1158448"/>
                  <a:gd name="connsiteX6" fmla="*/ -77 w 2468387"/>
                  <a:gd name="connsiteY6" fmla="*/ 835960 h 1158448"/>
                  <a:gd name="connsiteX7" fmla="*/ -77 w 2468387"/>
                  <a:gd name="connsiteY7" fmla="*/ 224026 h 1158448"/>
                  <a:gd name="connsiteX8" fmla="*/ 223996 w 2468387"/>
                  <a:gd name="connsiteY8" fmla="*/ -47 h 115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387" h="1158448">
                    <a:moveTo>
                      <a:pt x="2468311" y="-47"/>
                    </a:moveTo>
                    <a:cubicBezTo>
                      <a:pt x="2235547" y="153688"/>
                      <a:pt x="2171465" y="467009"/>
                      <a:pt x="2325200" y="699773"/>
                    </a:cubicBezTo>
                    <a:cubicBezTo>
                      <a:pt x="2362756" y="756645"/>
                      <a:pt x="2411439" y="805327"/>
                      <a:pt x="2468311" y="842884"/>
                    </a:cubicBezTo>
                    <a:lnTo>
                      <a:pt x="630838" y="842884"/>
                    </a:lnTo>
                    <a:cubicBezTo>
                      <a:pt x="630838" y="1017140"/>
                      <a:pt x="489578" y="1158401"/>
                      <a:pt x="315321" y="1158401"/>
                    </a:cubicBezTo>
                    <a:cubicBezTo>
                      <a:pt x="312420" y="1158401"/>
                      <a:pt x="309507" y="1158365"/>
                      <a:pt x="306607" y="1158282"/>
                    </a:cubicBezTo>
                    <a:cubicBezTo>
                      <a:pt x="134702" y="1153506"/>
                      <a:pt x="-77" y="1008223"/>
                      <a:pt x="-77" y="835960"/>
                    </a:cubicBezTo>
                    <a:lnTo>
                      <a:pt x="-77" y="224026"/>
                    </a:lnTo>
                    <a:cubicBezTo>
                      <a:pt x="-77" y="100278"/>
                      <a:pt x="100249" y="-47"/>
                      <a:pt x="223996" y="-47"/>
                    </a:cubicBezTo>
                    <a:close/>
                  </a:path>
                </a:pathLst>
              </a:custGeom>
              <a:solidFill>
                <a:schemeClr val="accent5"/>
              </a:solidFill>
              <a:ln w="11933" cap="flat">
                <a:noFill/>
                <a:prstDash val="solid"/>
                <a:miter/>
              </a:ln>
            </p:spPr>
            <p:txBody>
              <a:bodyPr rtlCol="0" anchor="ctr"/>
              <a:lstStyle/>
              <a:p>
                <a:endParaRPr lang="en-US" sz="2700"/>
              </a:p>
            </p:txBody>
          </p:sp>
          <p:sp>
            <p:nvSpPr>
              <p:cNvPr id="38" name="Freeform: Shape 37">
                <a:extLst>
                  <a:ext uri="{FF2B5EF4-FFF2-40B4-BE49-F238E27FC236}">
                    <a16:creationId xmlns:a16="http://schemas.microsoft.com/office/drawing/2014/main" id="{B3CCA9CD-5346-37C6-2441-E036591138D7}"/>
                  </a:ext>
                </a:extLst>
              </p:cNvPr>
              <p:cNvSpPr/>
              <p:nvPr/>
            </p:nvSpPr>
            <p:spPr>
              <a:xfrm>
                <a:off x="4027843" y="2008136"/>
                <a:ext cx="2994446" cy="1272360"/>
              </a:xfrm>
              <a:custGeom>
                <a:avLst/>
                <a:gdLst>
                  <a:gd name="connsiteX0" fmla="*/ 2468191 w 2468267"/>
                  <a:gd name="connsiteY0" fmla="*/ -47 h 1158328"/>
                  <a:gd name="connsiteX1" fmla="*/ 2325081 w 2468267"/>
                  <a:gd name="connsiteY1" fmla="*/ 699773 h 1158328"/>
                  <a:gd name="connsiteX2" fmla="*/ 2468191 w 2468267"/>
                  <a:gd name="connsiteY2" fmla="*/ 842884 h 1158328"/>
                  <a:gd name="connsiteX3" fmla="*/ 630838 w 2468267"/>
                  <a:gd name="connsiteY3" fmla="*/ 842884 h 1158328"/>
                  <a:gd name="connsiteX4" fmla="*/ 315202 w 2468267"/>
                  <a:gd name="connsiteY4" fmla="*/ 1158282 h 1158328"/>
                  <a:gd name="connsiteX5" fmla="*/ 306487 w 2468267"/>
                  <a:gd name="connsiteY5" fmla="*/ 1158162 h 1158328"/>
                  <a:gd name="connsiteX6" fmla="*/ -77 w 2468267"/>
                  <a:gd name="connsiteY6" fmla="*/ 835840 h 1158328"/>
                  <a:gd name="connsiteX7" fmla="*/ -77 w 2468267"/>
                  <a:gd name="connsiteY7" fmla="*/ 261033 h 1158328"/>
                  <a:gd name="connsiteX8" fmla="*/ 261004 w 2468267"/>
                  <a:gd name="connsiteY8" fmla="*/ -47 h 1158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267" h="1158328">
                    <a:moveTo>
                      <a:pt x="2468191" y="-47"/>
                    </a:moveTo>
                    <a:cubicBezTo>
                      <a:pt x="2235427" y="153688"/>
                      <a:pt x="2171345" y="467009"/>
                      <a:pt x="2325081" y="699773"/>
                    </a:cubicBezTo>
                    <a:cubicBezTo>
                      <a:pt x="2362637" y="756645"/>
                      <a:pt x="2411320" y="805327"/>
                      <a:pt x="2468191" y="842884"/>
                    </a:cubicBezTo>
                    <a:lnTo>
                      <a:pt x="630838" y="842884"/>
                    </a:lnTo>
                    <a:cubicBezTo>
                      <a:pt x="630779" y="1017140"/>
                      <a:pt x="489458" y="1158353"/>
                      <a:pt x="315202" y="1158282"/>
                    </a:cubicBezTo>
                    <a:cubicBezTo>
                      <a:pt x="312301" y="1158282"/>
                      <a:pt x="309388" y="1158246"/>
                      <a:pt x="306487" y="1158162"/>
                    </a:cubicBezTo>
                    <a:cubicBezTo>
                      <a:pt x="134702" y="1153506"/>
                      <a:pt x="-77" y="1008223"/>
                      <a:pt x="-77" y="835840"/>
                    </a:cubicBezTo>
                    <a:lnTo>
                      <a:pt x="-77" y="261033"/>
                    </a:lnTo>
                    <a:cubicBezTo>
                      <a:pt x="-77" y="116848"/>
                      <a:pt x="116819" y="-47"/>
                      <a:pt x="261004" y="-47"/>
                    </a:cubicBezTo>
                    <a:close/>
                  </a:path>
                </a:pathLst>
              </a:custGeom>
              <a:solidFill>
                <a:schemeClr val="accent3"/>
              </a:solidFill>
              <a:ln w="11933" cap="flat">
                <a:noFill/>
                <a:prstDash val="solid"/>
                <a:miter/>
              </a:ln>
            </p:spPr>
            <p:txBody>
              <a:bodyPr rtlCol="0" anchor="ctr"/>
              <a:lstStyle/>
              <a:p>
                <a:endParaRPr lang="en-US" sz="2700"/>
              </a:p>
            </p:txBody>
          </p:sp>
          <p:sp>
            <p:nvSpPr>
              <p:cNvPr id="29" name="Freeform: Shape 28">
                <a:extLst>
                  <a:ext uri="{FF2B5EF4-FFF2-40B4-BE49-F238E27FC236}">
                    <a16:creationId xmlns:a16="http://schemas.microsoft.com/office/drawing/2014/main" id="{42A9CF27-AB66-6B51-E39B-4FCE176BB57C}"/>
                  </a:ext>
                </a:extLst>
              </p:cNvPr>
              <p:cNvSpPr/>
              <p:nvPr/>
            </p:nvSpPr>
            <p:spPr>
              <a:xfrm>
                <a:off x="2827289" y="889753"/>
                <a:ext cx="2865784" cy="1172484"/>
              </a:xfrm>
              <a:custGeom>
                <a:avLst/>
                <a:gdLst>
                  <a:gd name="connsiteX0" fmla="*/ 2468192 w 2468268"/>
                  <a:gd name="connsiteY0" fmla="*/ -47 h 1158448"/>
                  <a:gd name="connsiteX1" fmla="*/ 2325081 w 2468268"/>
                  <a:gd name="connsiteY1" fmla="*/ 699773 h 1158448"/>
                  <a:gd name="connsiteX2" fmla="*/ 2468192 w 2468268"/>
                  <a:gd name="connsiteY2" fmla="*/ 842884 h 1158448"/>
                  <a:gd name="connsiteX3" fmla="*/ 630838 w 2468268"/>
                  <a:gd name="connsiteY3" fmla="*/ 842884 h 1158448"/>
                  <a:gd name="connsiteX4" fmla="*/ 315321 w 2468268"/>
                  <a:gd name="connsiteY4" fmla="*/ 1158401 h 1158448"/>
                  <a:gd name="connsiteX5" fmla="*/ 306487 w 2468268"/>
                  <a:gd name="connsiteY5" fmla="*/ 1158282 h 1158448"/>
                  <a:gd name="connsiteX6" fmla="*/ -77 w 2468268"/>
                  <a:gd name="connsiteY6" fmla="*/ 835960 h 1158448"/>
                  <a:gd name="connsiteX7" fmla="*/ -77 w 2468268"/>
                  <a:gd name="connsiteY7" fmla="*/ 232263 h 1158448"/>
                  <a:gd name="connsiteX8" fmla="*/ 232115 w 2468268"/>
                  <a:gd name="connsiteY8" fmla="*/ -47 h 115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268" h="1158448">
                    <a:moveTo>
                      <a:pt x="2468192" y="-47"/>
                    </a:moveTo>
                    <a:cubicBezTo>
                      <a:pt x="2235428" y="153685"/>
                      <a:pt x="2171345" y="467006"/>
                      <a:pt x="2325081" y="699773"/>
                    </a:cubicBezTo>
                    <a:cubicBezTo>
                      <a:pt x="2362637" y="756645"/>
                      <a:pt x="2411320" y="805327"/>
                      <a:pt x="2468192" y="842884"/>
                    </a:cubicBezTo>
                    <a:lnTo>
                      <a:pt x="630838" y="842884"/>
                    </a:lnTo>
                    <a:cubicBezTo>
                      <a:pt x="630838" y="1017140"/>
                      <a:pt x="489578" y="1158401"/>
                      <a:pt x="315321" y="1158401"/>
                    </a:cubicBezTo>
                    <a:cubicBezTo>
                      <a:pt x="312385" y="1158401"/>
                      <a:pt x="309436" y="1158365"/>
                      <a:pt x="306487" y="1158282"/>
                    </a:cubicBezTo>
                    <a:cubicBezTo>
                      <a:pt x="134702" y="1153506"/>
                      <a:pt x="-77" y="1008223"/>
                      <a:pt x="-77" y="835960"/>
                    </a:cubicBezTo>
                    <a:lnTo>
                      <a:pt x="-77" y="232263"/>
                    </a:lnTo>
                    <a:cubicBezTo>
                      <a:pt x="-77" y="104008"/>
                      <a:pt x="103854" y="18"/>
                      <a:pt x="232115" y="-47"/>
                    </a:cubicBezTo>
                    <a:close/>
                  </a:path>
                </a:pathLst>
              </a:custGeom>
              <a:solidFill>
                <a:schemeClr val="accent1"/>
              </a:solidFill>
              <a:ln w="11933" cap="flat">
                <a:noFill/>
                <a:prstDash val="solid"/>
                <a:miter/>
              </a:ln>
            </p:spPr>
            <p:txBody>
              <a:bodyPr rtlCol="0" anchor="ctr"/>
              <a:lstStyle/>
              <a:p>
                <a:endParaRPr lang="en-US" sz="2700"/>
              </a:p>
            </p:txBody>
          </p:sp>
          <p:sp>
            <p:nvSpPr>
              <p:cNvPr id="6" name="TextBox 5">
                <a:extLst>
                  <a:ext uri="{FF2B5EF4-FFF2-40B4-BE49-F238E27FC236}">
                    <a16:creationId xmlns:a16="http://schemas.microsoft.com/office/drawing/2014/main" id="{1ACF230D-2444-E6DE-3482-313F86B25FD0}"/>
                  </a:ext>
                </a:extLst>
              </p:cNvPr>
              <p:cNvSpPr txBox="1"/>
              <p:nvPr/>
            </p:nvSpPr>
            <p:spPr>
              <a:xfrm>
                <a:off x="4491707" y="2119759"/>
                <a:ext cx="2341646" cy="863225"/>
              </a:xfrm>
              <a:prstGeom prst="rect">
                <a:avLst/>
              </a:prstGeom>
              <a:noFill/>
            </p:spPr>
            <p:txBody>
              <a:bodyPr wrap="square">
                <a:spAutoFit/>
              </a:bodyPr>
              <a:lstStyle/>
              <a:p>
                <a:pPr algn="ctr">
                  <a:spcAft>
                    <a:spcPts val="900"/>
                  </a:spcAft>
                </a:pPr>
                <a:r>
                  <a:rPr lang="en-US" sz="3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Transformatsiya</a:t>
                </a:r>
                <a:r>
                  <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3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turlari</a:t>
                </a:r>
                <a:endPar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2B28D9F9-E7C0-A14E-9C83-0890CAB305DA}"/>
                  </a:ext>
                </a:extLst>
              </p:cNvPr>
              <p:cNvSpPr txBox="1"/>
              <p:nvPr/>
            </p:nvSpPr>
            <p:spPr>
              <a:xfrm>
                <a:off x="3316905" y="922735"/>
                <a:ext cx="2231063" cy="764571"/>
              </a:xfrm>
              <a:prstGeom prst="rect">
                <a:avLst/>
              </a:prstGeom>
              <a:noFill/>
            </p:spPr>
            <p:txBody>
              <a:bodyPr wrap="square">
                <a:spAutoFit/>
              </a:bodyPr>
              <a:lstStyle/>
              <a:p>
                <a:pPr algn="ctr">
                  <a:spcAft>
                    <a:spcPts val="900"/>
                  </a:spcAft>
                </a:pPr>
                <a:r>
                  <a:rPr lang="en-US" sz="28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Raqamli</a:t>
                </a:r>
                <a:r>
                  <a:rPr lang="en-US" sz="2800" dirty="0">
                    <a:solidFill>
                      <a:schemeClr val="bg1"/>
                    </a:solidFill>
                    <a:latin typeface="Lora" pitchFamily="2" charset="0"/>
                  </a:rPr>
                  <a:t> </a:t>
                </a:r>
                <a:r>
                  <a:rPr lang="en-US" sz="28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transformatsiya</a:t>
                </a:r>
                <a:endParaRPr lang="en-US" sz="2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4" name="Freeform: Shape 43">
                <a:extLst>
                  <a:ext uri="{FF2B5EF4-FFF2-40B4-BE49-F238E27FC236}">
                    <a16:creationId xmlns:a16="http://schemas.microsoft.com/office/drawing/2014/main" id="{4CE11DCD-52DC-3B0B-12AD-FFC7D3E1CA8E}"/>
                  </a:ext>
                </a:extLst>
              </p:cNvPr>
              <p:cNvSpPr/>
              <p:nvPr/>
            </p:nvSpPr>
            <p:spPr>
              <a:xfrm>
                <a:off x="4781020" y="3392085"/>
                <a:ext cx="2645666" cy="1188080"/>
              </a:xfrm>
              <a:custGeom>
                <a:avLst/>
                <a:gdLst>
                  <a:gd name="connsiteX0" fmla="*/ 2468192 w 2468268"/>
                  <a:gd name="connsiteY0" fmla="*/ 549 h 1158925"/>
                  <a:gd name="connsiteX1" fmla="*/ 2325080 w 2468268"/>
                  <a:gd name="connsiteY1" fmla="*/ 700370 h 1158925"/>
                  <a:gd name="connsiteX2" fmla="*/ 2468192 w 2468268"/>
                  <a:gd name="connsiteY2" fmla="*/ 843480 h 1158925"/>
                  <a:gd name="connsiteX3" fmla="*/ 630719 w 2468268"/>
                  <a:gd name="connsiteY3" fmla="*/ 843480 h 1158925"/>
                  <a:gd name="connsiteX4" fmla="*/ 315321 w 2468268"/>
                  <a:gd name="connsiteY4" fmla="*/ 1158878 h 1158925"/>
                  <a:gd name="connsiteX5" fmla="*/ 306487 w 2468268"/>
                  <a:gd name="connsiteY5" fmla="*/ 1158759 h 1158925"/>
                  <a:gd name="connsiteX6" fmla="*/ -77 w 2468268"/>
                  <a:gd name="connsiteY6" fmla="*/ 836437 h 1158925"/>
                  <a:gd name="connsiteX7" fmla="*/ -77 w 2468268"/>
                  <a:gd name="connsiteY7" fmla="*/ 251483 h 1158925"/>
                  <a:gd name="connsiteX8" fmla="*/ 251454 w 2468268"/>
                  <a:gd name="connsiteY8" fmla="*/ -47 h 115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268" h="1158925">
                    <a:moveTo>
                      <a:pt x="2468192" y="549"/>
                    </a:moveTo>
                    <a:cubicBezTo>
                      <a:pt x="2235427" y="154285"/>
                      <a:pt x="2171345" y="467606"/>
                      <a:pt x="2325080" y="700370"/>
                    </a:cubicBezTo>
                    <a:cubicBezTo>
                      <a:pt x="2362637" y="757241"/>
                      <a:pt x="2411319" y="805924"/>
                      <a:pt x="2468192" y="843480"/>
                    </a:cubicBezTo>
                    <a:lnTo>
                      <a:pt x="630719" y="843480"/>
                    </a:lnTo>
                    <a:cubicBezTo>
                      <a:pt x="630719" y="1017665"/>
                      <a:pt x="489518" y="1158878"/>
                      <a:pt x="315321" y="1158878"/>
                    </a:cubicBezTo>
                    <a:cubicBezTo>
                      <a:pt x="312384" y="1158878"/>
                      <a:pt x="309436" y="1158843"/>
                      <a:pt x="306487" y="1158759"/>
                    </a:cubicBezTo>
                    <a:cubicBezTo>
                      <a:pt x="134582" y="1154103"/>
                      <a:pt x="-77" y="1008820"/>
                      <a:pt x="-77" y="836437"/>
                    </a:cubicBezTo>
                    <a:lnTo>
                      <a:pt x="-77" y="251483"/>
                    </a:lnTo>
                    <a:cubicBezTo>
                      <a:pt x="-77" y="112562"/>
                      <a:pt x="112533" y="-47"/>
                      <a:pt x="251454" y="-47"/>
                    </a:cubicBezTo>
                    <a:close/>
                  </a:path>
                </a:pathLst>
              </a:custGeom>
              <a:solidFill>
                <a:schemeClr val="accent2"/>
              </a:solidFill>
              <a:ln w="11933" cap="flat">
                <a:noFill/>
                <a:prstDash val="solid"/>
                <a:miter/>
              </a:ln>
            </p:spPr>
            <p:txBody>
              <a:bodyPr rtlCol="0" anchor="ctr"/>
              <a:lstStyle/>
              <a:p>
                <a:endParaRPr lang="en-US" sz="2700"/>
              </a:p>
            </p:txBody>
          </p:sp>
          <p:sp>
            <p:nvSpPr>
              <p:cNvPr id="11" name="TextBox 10">
                <a:extLst>
                  <a:ext uri="{FF2B5EF4-FFF2-40B4-BE49-F238E27FC236}">
                    <a16:creationId xmlns:a16="http://schemas.microsoft.com/office/drawing/2014/main" id="{CC3A86A8-29C9-C82C-1689-BBAC57DCC662}"/>
                  </a:ext>
                </a:extLst>
              </p:cNvPr>
              <p:cNvSpPr txBox="1"/>
              <p:nvPr/>
            </p:nvSpPr>
            <p:spPr>
              <a:xfrm>
                <a:off x="5263509" y="3447052"/>
                <a:ext cx="1999592" cy="737356"/>
              </a:xfrm>
              <a:prstGeom prst="rect">
                <a:avLst/>
              </a:prstGeom>
              <a:noFill/>
            </p:spPr>
            <p:txBody>
              <a:bodyPr wrap="square">
                <a:spAutoFit/>
              </a:bodyPr>
              <a:lstStyle/>
              <a:p>
                <a:pPr algn="ctr">
                  <a:spcAft>
                    <a:spcPts val="900"/>
                  </a:spcAft>
                </a:pPr>
                <a:r>
                  <a:rPr lang="en-US" sz="28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Innovatsion</a:t>
                </a:r>
                <a:r>
                  <a:rPr lang="en-US" sz="280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8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rahbarlik</a:t>
                </a:r>
                <a:endParaRPr lang="en-US" sz="2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AC330870-9E39-4C2A-3219-4628DE09C131}"/>
                  </a:ext>
                </a:extLst>
              </p:cNvPr>
              <p:cNvSpPr txBox="1"/>
              <p:nvPr/>
            </p:nvSpPr>
            <p:spPr>
              <a:xfrm>
                <a:off x="5215078" y="5046021"/>
                <a:ext cx="1580453" cy="468608"/>
              </a:xfrm>
              <a:prstGeom prst="rect">
                <a:avLst/>
              </a:prstGeom>
              <a:noFill/>
            </p:spPr>
            <p:txBody>
              <a:bodyPr wrap="square">
                <a:spAutoFit/>
              </a:bodyPr>
              <a:lstStyle/>
              <a:p>
                <a:pPr algn="ctr">
                  <a:spcAft>
                    <a:spcPts val="900"/>
                  </a:spcAft>
                </a:pPr>
                <a:r>
                  <a:rPr lang="en-US" sz="3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Xulosa</a:t>
                </a:r>
                <a:endPar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Freeform: Shape 13">
                <a:extLst>
                  <a:ext uri="{FF2B5EF4-FFF2-40B4-BE49-F238E27FC236}">
                    <a16:creationId xmlns:a16="http://schemas.microsoft.com/office/drawing/2014/main" id="{7AF78DFD-1414-E2ED-E962-E77B22CF7AB0}"/>
                  </a:ext>
                </a:extLst>
              </p:cNvPr>
              <p:cNvSpPr/>
              <p:nvPr/>
            </p:nvSpPr>
            <p:spPr>
              <a:xfrm>
                <a:off x="825895" y="2689690"/>
                <a:ext cx="2731377" cy="2731378"/>
              </a:xfrm>
              <a:custGeom>
                <a:avLst/>
                <a:gdLst>
                  <a:gd name="connsiteX0" fmla="*/ 2731378 w 2731377"/>
                  <a:gd name="connsiteY0" fmla="*/ 1365689 h 2731378"/>
                  <a:gd name="connsiteX1" fmla="*/ 1365689 w 2731377"/>
                  <a:gd name="connsiteY1" fmla="*/ 2731378 h 2731378"/>
                  <a:gd name="connsiteX2" fmla="*/ 0 w 2731377"/>
                  <a:gd name="connsiteY2" fmla="*/ 1365689 h 2731378"/>
                  <a:gd name="connsiteX3" fmla="*/ 1365689 w 2731377"/>
                  <a:gd name="connsiteY3" fmla="*/ 0 h 2731378"/>
                  <a:gd name="connsiteX4" fmla="*/ 2731378 w 2731377"/>
                  <a:gd name="connsiteY4" fmla="*/ 1365689 h 2731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77" h="2731378">
                    <a:moveTo>
                      <a:pt x="2731378" y="1365689"/>
                    </a:moveTo>
                    <a:cubicBezTo>
                      <a:pt x="2731378" y="2119938"/>
                      <a:pt x="2119938" y="2731378"/>
                      <a:pt x="1365689" y="2731378"/>
                    </a:cubicBezTo>
                    <a:cubicBezTo>
                      <a:pt x="611440" y="2731378"/>
                      <a:pt x="0" y="2119938"/>
                      <a:pt x="0" y="1365689"/>
                    </a:cubicBezTo>
                    <a:cubicBezTo>
                      <a:pt x="0" y="611440"/>
                      <a:pt x="611440" y="0"/>
                      <a:pt x="1365689" y="0"/>
                    </a:cubicBezTo>
                    <a:cubicBezTo>
                      <a:pt x="2119938" y="0"/>
                      <a:pt x="2731378" y="611440"/>
                      <a:pt x="2731378" y="1365689"/>
                    </a:cubicBezTo>
                    <a:close/>
                  </a:path>
                </a:pathLst>
              </a:custGeom>
              <a:noFill/>
              <a:ln w="250595" cap="flat">
                <a:solidFill>
                  <a:schemeClr val="accent4">
                    <a:lumMod val="75000"/>
                  </a:schemeClr>
                </a:solidFill>
                <a:prstDash val="solid"/>
                <a:miter/>
              </a:ln>
            </p:spPr>
            <p:txBody>
              <a:bodyPr rtlCol="0" anchor="ctr"/>
              <a:lstStyle/>
              <a:p>
                <a:endParaRPr lang="en-US" sz="2700"/>
              </a:p>
            </p:txBody>
          </p:sp>
          <p:sp>
            <p:nvSpPr>
              <p:cNvPr id="15" name="Freeform: Shape 14">
                <a:extLst>
                  <a:ext uri="{FF2B5EF4-FFF2-40B4-BE49-F238E27FC236}">
                    <a16:creationId xmlns:a16="http://schemas.microsoft.com/office/drawing/2014/main" id="{24D65E8E-03F9-0E22-44CE-124A8F51FDA3}"/>
                  </a:ext>
                </a:extLst>
              </p:cNvPr>
              <p:cNvSpPr/>
              <p:nvPr/>
            </p:nvSpPr>
            <p:spPr>
              <a:xfrm rot="16975799">
                <a:off x="1439100" y="3303033"/>
                <a:ext cx="1505122" cy="1505122"/>
              </a:xfrm>
              <a:custGeom>
                <a:avLst/>
                <a:gdLst>
                  <a:gd name="connsiteX0" fmla="*/ 1505046 w 1505122"/>
                  <a:gd name="connsiteY0" fmla="*/ 752514 h 1505122"/>
                  <a:gd name="connsiteX1" fmla="*/ 752485 w 1505122"/>
                  <a:gd name="connsiteY1" fmla="*/ 1505076 h 1505122"/>
                  <a:gd name="connsiteX2" fmla="*/ -77 w 1505122"/>
                  <a:gd name="connsiteY2" fmla="*/ 752514 h 1505122"/>
                  <a:gd name="connsiteX3" fmla="*/ 752485 w 1505122"/>
                  <a:gd name="connsiteY3" fmla="*/ -47 h 1505122"/>
                  <a:gd name="connsiteX4" fmla="*/ 1505046 w 1505122"/>
                  <a:gd name="connsiteY4" fmla="*/ 752514 h 1505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5122" h="1505122">
                    <a:moveTo>
                      <a:pt x="1505046" y="752514"/>
                    </a:moveTo>
                    <a:cubicBezTo>
                      <a:pt x="1505046" y="1168143"/>
                      <a:pt x="1168113" y="1505076"/>
                      <a:pt x="752485" y="1505076"/>
                    </a:cubicBezTo>
                    <a:cubicBezTo>
                      <a:pt x="336857" y="1505076"/>
                      <a:pt x="-77" y="1168143"/>
                      <a:pt x="-77" y="752514"/>
                    </a:cubicBezTo>
                    <a:cubicBezTo>
                      <a:pt x="-77" y="336886"/>
                      <a:pt x="336857" y="-47"/>
                      <a:pt x="752485" y="-47"/>
                    </a:cubicBezTo>
                    <a:cubicBezTo>
                      <a:pt x="1168113" y="-47"/>
                      <a:pt x="1505046" y="336886"/>
                      <a:pt x="1505046" y="752514"/>
                    </a:cubicBezTo>
                    <a:close/>
                  </a:path>
                </a:pathLst>
              </a:custGeom>
              <a:noFill/>
              <a:ln w="250595" cap="flat">
                <a:solidFill>
                  <a:schemeClr val="accent4">
                    <a:lumMod val="75000"/>
                  </a:schemeClr>
                </a:solidFill>
                <a:prstDash val="solid"/>
                <a:miter/>
              </a:ln>
            </p:spPr>
            <p:txBody>
              <a:bodyPr rtlCol="0" anchor="ctr"/>
              <a:lstStyle/>
              <a:p>
                <a:endParaRPr lang="en-US" sz="2700"/>
              </a:p>
            </p:txBody>
          </p:sp>
          <p:sp>
            <p:nvSpPr>
              <p:cNvPr id="16" name="Freeform: Shape 15">
                <a:extLst>
                  <a:ext uri="{FF2B5EF4-FFF2-40B4-BE49-F238E27FC236}">
                    <a16:creationId xmlns:a16="http://schemas.microsoft.com/office/drawing/2014/main" id="{707803EC-8C18-D190-84E7-352D8BF61BA6}"/>
                  </a:ext>
                </a:extLst>
              </p:cNvPr>
              <p:cNvSpPr/>
              <p:nvPr/>
            </p:nvSpPr>
            <p:spPr>
              <a:xfrm>
                <a:off x="1941844" y="3805639"/>
                <a:ext cx="499479" cy="499479"/>
              </a:xfrm>
              <a:custGeom>
                <a:avLst/>
                <a:gdLst>
                  <a:gd name="connsiteX0" fmla="*/ 499479 w 499479"/>
                  <a:gd name="connsiteY0" fmla="*/ 249740 h 499479"/>
                  <a:gd name="connsiteX1" fmla="*/ 249740 w 499479"/>
                  <a:gd name="connsiteY1" fmla="*/ 499479 h 499479"/>
                  <a:gd name="connsiteX2" fmla="*/ 0 w 499479"/>
                  <a:gd name="connsiteY2" fmla="*/ 249740 h 499479"/>
                  <a:gd name="connsiteX3" fmla="*/ 249740 w 499479"/>
                  <a:gd name="connsiteY3" fmla="*/ 0 h 499479"/>
                  <a:gd name="connsiteX4" fmla="*/ 499479 w 499479"/>
                  <a:gd name="connsiteY4" fmla="*/ 249740 h 499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479" h="499479">
                    <a:moveTo>
                      <a:pt x="499479" y="249740"/>
                    </a:moveTo>
                    <a:cubicBezTo>
                      <a:pt x="499479" y="387667"/>
                      <a:pt x="387667" y="499479"/>
                      <a:pt x="249740" y="499479"/>
                    </a:cubicBezTo>
                    <a:cubicBezTo>
                      <a:pt x="111812" y="499479"/>
                      <a:pt x="0" y="387667"/>
                      <a:pt x="0" y="249740"/>
                    </a:cubicBezTo>
                    <a:cubicBezTo>
                      <a:pt x="0" y="111812"/>
                      <a:pt x="111812" y="0"/>
                      <a:pt x="249740" y="0"/>
                    </a:cubicBezTo>
                    <a:cubicBezTo>
                      <a:pt x="387667" y="0"/>
                      <a:pt x="499479" y="111812"/>
                      <a:pt x="499479" y="249740"/>
                    </a:cubicBezTo>
                    <a:close/>
                  </a:path>
                </a:pathLst>
              </a:custGeom>
              <a:solidFill>
                <a:schemeClr val="accent4">
                  <a:lumMod val="75000"/>
                </a:schemeClr>
              </a:solidFill>
              <a:ln w="11933" cap="flat">
                <a:noFill/>
                <a:prstDash val="solid"/>
                <a:miter/>
              </a:ln>
            </p:spPr>
            <p:txBody>
              <a:bodyPr rtlCol="0" anchor="ctr"/>
              <a:lstStyle/>
              <a:p>
                <a:endParaRPr lang="en-US" sz="2700"/>
              </a:p>
            </p:txBody>
          </p:sp>
          <p:sp>
            <p:nvSpPr>
              <p:cNvPr id="17" name="Freeform: Shape 16">
                <a:extLst>
                  <a:ext uri="{FF2B5EF4-FFF2-40B4-BE49-F238E27FC236}">
                    <a16:creationId xmlns:a16="http://schemas.microsoft.com/office/drawing/2014/main" id="{EE379952-D8AD-B953-6E08-EE783CE40FE5}"/>
                  </a:ext>
                </a:extLst>
              </p:cNvPr>
              <p:cNvSpPr/>
              <p:nvPr/>
            </p:nvSpPr>
            <p:spPr>
              <a:xfrm>
                <a:off x="4065228" y="3826291"/>
                <a:ext cx="671145" cy="173098"/>
              </a:xfrm>
              <a:custGeom>
                <a:avLst/>
                <a:gdLst>
                  <a:gd name="connsiteX0" fmla="*/ 488854 w 671145"/>
                  <a:gd name="connsiteY0" fmla="*/ 168204 h 173098"/>
                  <a:gd name="connsiteX1" fmla="*/ 0 w 671145"/>
                  <a:gd name="connsiteY1" fmla="*/ 173099 h 173098"/>
                  <a:gd name="connsiteX2" fmla="*/ 182291 w 671145"/>
                  <a:gd name="connsiteY2" fmla="*/ 4895 h 173098"/>
                  <a:gd name="connsiteX3" fmla="*/ 671145 w 671145"/>
                  <a:gd name="connsiteY3" fmla="*/ 0 h 173098"/>
                  <a:gd name="connsiteX4" fmla="*/ 488854 w 671145"/>
                  <a:gd name="connsiteY4" fmla="*/ 168204 h 173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145" h="173098">
                    <a:moveTo>
                      <a:pt x="488854" y="168204"/>
                    </a:moveTo>
                    <a:lnTo>
                      <a:pt x="0" y="173099"/>
                    </a:lnTo>
                    <a:lnTo>
                      <a:pt x="182291" y="4895"/>
                    </a:lnTo>
                    <a:lnTo>
                      <a:pt x="671145" y="0"/>
                    </a:lnTo>
                    <a:lnTo>
                      <a:pt x="488854" y="168204"/>
                    </a:lnTo>
                    <a:close/>
                  </a:path>
                </a:pathLst>
              </a:custGeom>
              <a:solidFill>
                <a:schemeClr val="accent2"/>
              </a:solidFill>
              <a:ln w="11933" cap="flat">
                <a:noFill/>
                <a:prstDash val="solid"/>
                <a:miter/>
              </a:ln>
            </p:spPr>
            <p:txBody>
              <a:bodyPr rtlCol="0" anchor="ctr"/>
              <a:lstStyle/>
              <a:p>
                <a:endParaRPr lang="en-US" sz="2700"/>
              </a:p>
            </p:txBody>
          </p:sp>
          <p:sp>
            <p:nvSpPr>
              <p:cNvPr id="18" name="Freeform: Shape 17">
                <a:extLst>
                  <a:ext uri="{FF2B5EF4-FFF2-40B4-BE49-F238E27FC236}">
                    <a16:creationId xmlns:a16="http://schemas.microsoft.com/office/drawing/2014/main" id="{D343246E-3899-290C-007D-4EEA6A810E90}"/>
                  </a:ext>
                </a:extLst>
              </p:cNvPr>
              <p:cNvSpPr/>
              <p:nvPr/>
            </p:nvSpPr>
            <p:spPr>
              <a:xfrm>
                <a:off x="4073226" y="4009299"/>
                <a:ext cx="672816" cy="166413"/>
              </a:xfrm>
              <a:custGeom>
                <a:avLst/>
                <a:gdLst>
                  <a:gd name="connsiteX0" fmla="*/ 488855 w 672816"/>
                  <a:gd name="connsiteY0" fmla="*/ 0 h 166413"/>
                  <a:gd name="connsiteX1" fmla="*/ 0 w 672816"/>
                  <a:gd name="connsiteY1" fmla="*/ 119 h 166413"/>
                  <a:gd name="connsiteX2" fmla="*/ 183962 w 672816"/>
                  <a:gd name="connsiteY2" fmla="*/ 166413 h 166413"/>
                  <a:gd name="connsiteX3" fmla="*/ 672817 w 672816"/>
                  <a:gd name="connsiteY3" fmla="*/ 166175 h 166413"/>
                  <a:gd name="connsiteX4" fmla="*/ 488855 w 672816"/>
                  <a:gd name="connsiteY4" fmla="*/ 0 h 16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6" h="166413">
                    <a:moveTo>
                      <a:pt x="488855" y="0"/>
                    </a:moveTo>
                    <a:lnTo>
                      <a:pt x="0" y="119"/>
                    </a:lnTo>
                    <a:lnTo>
                      <a:pt x="183962" y="166413"/>
                    </a:lnTo>
                    <a:lnTo>
                      <a:pt x="672817" y="166175"/>
                    </a:lnTo>
                    <a:lnTo>
                      <a:pt x="488855" y="0"/>
                    </a:lnTo>
                    <a:close/>
                  </a:path>
                </a:pathLst>
              </a:custGeom>
              <a:solidFill>
                <a:schemeClr val="accent2"/>
              </a:solidFill>
              <a:ln w="11933" cap="flat">
                <a:noFill/>
                <a:prstDash val="solid"/>
                <a:miter/>
              </a:ln>
            </p:spPr>
            <p:txBody>
              <a:bodyPr rtlCol="0" anchor="ctr"/>
              <a:lstStyle/>
              <a:p>
                <a:endParaRPr lang="en-US" sz="2700"/>
              </a:p>
            </p:txBody>
          </p:sp>
          <p:sp>
            <p:nvSpPr>
              <p:cNvPr id="19" name="Freeform: Shape 18">
                <a:extLst>
                  <a:ext uri="{FF2B5EF4-FFF2-40B4-BE49-F238E27FC236}">
                    <a16:creationId xmlns:a16="http://schemas.microsoft.com/office/drawing/2014/main" id="{9FD11702-5A27-FD70-0EA6-BF596D240F1A}"/>
                  </a:ext>
                </a:extLst>
              </p:cNvPr>
              <p:cNvSpPr/>
              <p:nvPr/>
            </p:nvSpPr>
            <p:spPr>
              <a:xfrm>
                <a:off x="2191584" y="4000942"/>
                <a:ext cx="2578931" cy="54436"/>
              </a:xfrm>
              <a:custGeom>
                <a:avLst/>
                <a:gdLst>
                  <a:gd name="connsiteX0" fmla="*/ 2578932 w 2578931"/>
                  <a:gd name="connsiteY0" fmla="*/ 0 h 54436"/>
                  <a:gd name="connsiteX1" fmla="*/ 0 w 2578931"/>
                  <a:gd name="connsiteY1" fmla="*/ 54437 h 54436"/>
                </a:gdLst>
                <a:ahLst/>
                <a:cxnLst>
                  <a:cxn ang="0">
                    <a:pos x="connsiteX0" y="connsiteY0"/>
                  </a:cxn>
                  <a:cxn ang="0">
                    <a:pos x="connsiteX1" y="connsiteY1"/>
                  </a:cxn>
                </a:cxnLst>
                <a:rect l="l" t="t" r="r" b="b"/>
                <a:pathLst>
                  <a:path w="2578931" h="54436">
                    <a:moveTo>
                      <a:pt x="2578932" y="0"/>
                    </a:moveTo>
                    <a:lnTo>
                      <a:pt x="0" y="54437"/>
                    </a:lnTo>
                  </a:path>
                </a:pathLst>
              </a:custGeom>
              <a:ln w="47732" cap="rnd">
                <a:solidFill>
                  <a:srgbClr val="FAFAFA"/>
                </a:solidFill>
                <a:prstDash val="solid"/>
                <a:round/>
              </a:ln>
            </p:spPr>
            <p:txBody>
              <a:bodyPr rtlCol="0" anchor="ctr"/>
              <a:lstStyle/>
              <a:p>
                <a:endParaRPr lang="en-US" sz="2700"/>
              </a:p>
            </p:txBody>
          </p:sp>
          <p:sp>
            <p:nvSpPr>
              <p:cNvPr id="20" name="Freeform: Shape 19">
                <a:extLst>
                  <a:ext uri="{FF2B5EF4-FFF2-40B4-BE49-F238E27FC236}">
                    <a16:creationId xmlns:a16="http://schemas.microsoft.com/office/drawing/2014/main" id="{05CEA066-B4F9-6DDD-D389-62EBB97C0281}"/>
                  </a:ext>
                </a:extLst>
              </p:cNvPr>
              <p:cNvSpPr/>
              <p:nvPr/>
            </p:nvSpPr>
            <p:spPr>
              <a:xfrm>
                <a:off x="2828587" y="2028214"/>
                <a:ext cx="287343" cy="674368"/>
              </a:xfrm>
              <a:custGeom>
                <a:avLst/>
                <a:gdLst>
                  <a:gd name="connsiteX0" fmla="*/ 287344 w 287343"/>
                  <a:gd name="connsiteY0" fmla="*/ 239592 h 674368"/>
                  <a:gd name="connsiteX1" fmla="*/ 63748 w 287343"/>
                  <a:gd name="connsiteY1" fmla="*/ 674369 h 674368"/>
                  <a:gd name="connsiteX2" fmla="*/ 0 w 287343"/>
                  <a:gd name="connsiteY2" fmla="*/ 434657 h 674368"/>
                  <a:gd name="connsiteX3" fmla="*/ 223596 w 287343"/>
                  <a:gd name="connsiteY3" fmla="*/ 0 h 674368"/>
                  <a:gd name="connsiteX4" fmla="*/ 287344 w 287343"/>
                  <a:gd name="connsiteY4" fmla="*/ 239592 h 674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343" h="674368">
                    <a:moveTo>
                      <a:pt x="287344" y="239592"/>
                    </a:moveTo>
                    <a:lnTo>
                      <a:pt x="63748" y="674369"/>
                    </a:lnTo>
                    <a:lnTo>
                      <a:pt x="0" y="434657"/>
                    </a:lnTo>
                    <a:lnTo>
                      <a:pt x="223596" y="0"/>
                    </a:lnTo>
                    <a:lnTo>
                      <a:pt x="287344" y="239592"/>
                    </a:lnTo>
                    <a:close/>
                  </a:path>
                </a:pathLst>
              </a:custGeom>
              <a:solidFill>
                <a:schemeClr val="accent1"/>
              </a:solidFill>
              <a:ln w="11933" cap="flat">
                <a:noFill/>
                <a:prstDash val="solid"/>
                <a:miter/>
              </a:ln>
            </p:spPr>
            <p:txBody>
              <a:bodyPr rtlCol="0" anchor="ctr"/>
              <a:lstStyle/>
              <a:p>
                <a:endParaRPr lang="en-US" sz="2700"/>
              </a:p>
            </p:txBody>
          </p:sp>
          <p:sp>
            <p:nvSpPr>
              <p:cNvPr id="21" name="Freeform: Shape 20">
                <a:extLst>
                  <a:ext uri="{FF2B5EF4-FFF2-40B4-BE49-F238E27FC236}">
                    <a16:creationId xmlns:a16="http://schemas.microsoft.com/office/drawing/2014/main" id="{F7CD1F31-CE30-39D2-3C63-03424B74AFC3}"/>
                  </a:ext>
                </a:extLst>
              </p:cNvPr>
              <p:cNvSpPr/>
              <p:nvPr/>
            </p:nvSpPr>
            <p:spPr>
              <a:xfrm>
                <a:off x="2904392" y="2186510"/>
                <a:ext cx="455667" cy="522161"/>
              </a:xfrm>
              <a:custGeom>
                <a:avLst/>
                <a:gdLst>
                  <a:gd name="connsiteX0" fmla="*/ 223596 w 455667"/>
                  <a:gd name="connsiteY0" fmla="*/ 87504 h 522161"/>
                  <a:gd name="connsiteX1" fmla="*/ 0 w 455667"/>
                  <a:gd name="connsiteY1" fmla="*/ 522161 h 522161"/>
                  <a:gd name="connsiteX2" fmla="*/ 232072 w 455667"/>
                  <a:gd name="connsiteY2" fmla="*/ 434657 h 522161"/>
                  <a:gd name="connsiteX3" fmla="*/ 455667 w 455667"/>
                  <a:gd name="connsiteY3" fmla="*/ 0 h 522161"/>
                  <a:gd name="connsiteX4" fmla="*/ 223596 w 455667"/>
                  <a:gd name="connsiteY4" fmla="*/ 87504 h 522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667" h="522161">
                    <a:moveTo>
                      <a:pt x="223596" y="87504"/>
                    </a:moveTo>
                    <a:lnTo>
                      <a:pt x="0" y="522161"/>
                    </a:lnTo>
                    <a:lnTo>
                      <a:pt x="232072" y="434657"/>
                    </a:lnTo>
                    <a:lnTo>
                      <a:pt x="455667" y="0"/>
                    </a:lnTo>
                    <a:lnTo>
                      <a:pt x="223596" y="87504"/>
                    </a:lnTo>
                    <a:close/>
                  </a:path>
                </a:pathLst>
              </a:custGeom>
              <a:solidFill>
                <a:schemeClr val="accent1"/>
              </a:solidFill>
              <a:ln w="11933" cap="flat">
                <a:noFill/>
                <a:prstDash val="solid"/>
                <a:miter/>
              </a:ln>
            </p:spPr>
            <p:txBody>
              <a:bodyPr rtlCol="0" anchor="ctr"/>
              <a:lstStyle/>
              <a:p>
                <a:endParaRPr lang="en-US" sz="2700"/>
              </a:p>
            </p:txBody>
          </p:sp>
          <p:sp>
            <p:nvSpPr>
              <p:cNvPr id="22" name="Freeform: Shape 21">
                <a:extLst>
                  <a:ext uri="{FF2B5EF4-FFF2-40B4-BE49-F238E27FC236}">
                    <a16:creationId xmlns:a16="http://schemas.microsoft.com/office/drawing/2014/main" id="{062174AD-7316-D309-453C-8AFBC5D54F3A}"/>
                  </a:ext>
                </a:extLst>
              </p:cNvPr>
              <p:cNvSpPr/>
              <p:nvPr/>
            </p:nvSpPr>
            <p:spPr>
              <a:xfrm>
                <a:off x="2191584" y="2078114"/>
                <a:ext cx="1029399" cy="1977264"/>
              </a:xfrm>
              <a:custGeom>
                <a:avLst/>
                <a:gdLst>
                  <a:gd name="connsiteX0" fmla="*/ 1029400 w 1029399"/>
                  <a:gd name="connsiteY0" fmla="*/ 0 h 1977264"/>
                  <a:gd name="connsiteX1" fmla="*/ 0 w 1029399"/>
                  <a:gd name="connsiteY1" fmla="*/ 1977265 h 1977264"/>
                </a:gdLst>
                <a:ahLst/>
                <a:cxnLst>
                  <a:cxn ang="0">
                    <a:pos x="connsiteX0" y="connsiteY0"/>
                  </a:cxn>
                  <a:cxn ang="0">
                    <a:pos x="connsiteX1" y="connsiteY1"/>
                  </a:cxn>
                </a:cxnLst>
                <a:rect l="l" t="t" r="r" b="b"/>
                <a:pathLst>
                  <a:path w="1029399" h="1977264">
                    <a:moveTo>
                      <a:pt x="1029400" y="0"/>
                    </a:moveTo>
                    <a:lnTo>
                      <a:pt x="0" y="1977265"/>
                    </a:lnTo>
                  </a:path>
                </a:pathLst>
              </a:custGeom>
              <a:ln w="47732" cap="rnd">
                <a:solidFill>
                  <a:srgbClr val="FAFAFA"/>
                </a:solidFill>
                <a:prstDash val="solid"/>
                <a:round/>
              </a:ln>
            </p:spPr>
            <p:txBody>
              <a:bodyPr rtlCol="0" anchor="ctr"/>
              <a:lstStyle/>
              <a:p>
                <a:endParaRPr lang="en-US" sz="2700"/>
              </a:p>
            </p:txBody>
          </p:sp>
          <p:sp>
            <p:nvSpPr>
              <p:cNvPr id="23" name="Freeform: Shape 22">
                <a:extLst>
                  <a:ext uri="{FF2B5EF4-FFF2-40B4-BE49-F238E27FC236}">
                    <a16:creationId xmlns:a16="http://schemas.microsoft.com/office/drawing/2014/main" id="{46B5E789-0EEB-7412-5D59-C1D8471E6794}"/>
                  </a:ext>
                </a:extLst>
              </p:cNvPr>
              <p:cNvSpPr/>
              <p:nvPr/>
            </p:nvSpPr>
            <p:spPr>
              <a:xfrm>
                <a:off x="3618991" y="2774806"/>
                <a:ext cx="501747" cy="478110"/>
              </a:xfrm>
              <a:custGeom>
                <a:avLst/>
                <a:gdLst>
                  <a:gd name="connsiteX0" fmla="*/ 424510 w 501747"/>
                  <a:gd name="connsiteY0" fmla="*/ 235653 h 478110"/>
                  <a:gd name="connsiteX1" fmla="*/ 0 w 501747"/>
                  <a:gd name="connsiteY1" fmla="*/ 478111 h 478110"/>
                  <a:gd name="connsiteX2" fmla="*/ 77238 w 501747"/>
                  <a:gd name="connsiteY2" fmla="*/ 242458 h 478110"/>
                  <a:gd name="connsiteX3" fmla="*/ 501747 w 501747"/>
                  <a:gd name="connsiteY3" fmla="*/ 0 h 478110"/>
                  <a:gd name="connsiteX4" fmla="*/ 424510 w 501747"/>
                  <a:gd name="connsiteY4" fmla="*/ 235653 h 478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747" h="478110">
                    <a:moveTo>
                      <a:pt x="424510" y="235653"/>
                    </a:moveTo>
                    <a:lnTo>
                      <a:pt x="0" y="478111"/>
                    </a:lnTo>
                    <a:lnTo>
                      <a:pt x="77238" y="242458"/>
                    </a:lnTo>
                    <a:lnTo>
                      <a:pt x="501747" y="0"/>
                    </a:lnTo>
                    <a:lnTo>
                      <a:pt x="424510" y="235653"/>
                    </a:lnTo>
                    <a:close/>
                  </a:path>
                </a:pathLst>
              </a:custGeom>
              <a:solidFill>
                <a:schemeClr val="accent3"/>
              </a:solidFill>
              <a:ln w="11933" cap="flat">
                <a:noFill/>
                <a:prstDash val="solid"/>
                <a:miter/>
              </a:ln>
            </p:spPr>
            <p:txBody>
              <a:bodyPr rtlCol="0" anchor="ctr"/>
              <a:lstStyle/>
              <a:p>
                <a:endParaRPr lang="en-US" sz="2700"/>
              </a:p>
            </p:txBody>
          </p:sp>
          <p:sp>
            <p:nvSpPr>
              <p:cNvPr id="24" name="Freeform: Shape 23">
                <a:extLst>
                  <a:ext uri="{FF2B5EF4-FFF2-40B4-BE49-F238E27FC236}">
                    <a16:creationId xmlns:a16="http://schemas.microsoft.com/office/drawing/2014/main" id="{C434C2C6-1B6F-E103-CAD6-652F2CD86B14}"/>
                  </a:ext>
                </a:extLst>
              </p:cNvPr>
              <p:cNvSpPr/>
              <p:nvPr/>
            </p:nvSpPr>
            <p:spPr>
              <a:xfrm>
                <a:off x="3625677" y="3022158"/>
                <a:ext cx="666728" cy="295700"/>
              </a:xfrm>
              <a:custGeom>
                <a:avLst/>
                <a:gdLst>
                  <a:gd name="connsiteX0" fmla="*/ 424510 w 666728"/>
                  <a:gd name="connsiteY0" fmla="*/ 0 h 295700"/>
                  <a:gd name="connsiteX1" fmla="*/ 0 w 666728"/>
                  <a:gd name="connsiteY1" fmla="*/ 242577 h 295700"/>
                  <a:gd name="connsiteX2" fmla="*/ 242219 w 666728"/>
                  <a:gd name="connsiteY2" fmla="*/ 295700 h 295700"/>
                  <a:gd name="connsiteX3" fmla="*/ 666729 w 666728"/>
                  <a:gd name="connsiteY3" fmla="*/ 53243 h 295700"/>
                  <a:gd name="connsiteX4" fmla="*/ 424510 w 666728"/>
                  <a:gd name="connsiteY4" fmla="*/ 0 h 295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28" h="295700">
                    <a:moveTo>
                      <a:pt x="424510" y="0"/>
                    </a:moveTo>
                    <a:lnTo>
                      <a:pt x="0" y="242577"/>
                    </a:lnTo>
                    <a:lnTo>
                      <a:pt x="242219" y="295700"/>
                    </a:lnTo>
                    <a:lnTo>
                      <a:pt x="666729" y="53243"/>
                    </a:lnTo>
                    <a:lnTo>
                      <a:pt x="424510" y="0"/>
                    </a:lnTo>
                    <a:close/>
                  </a:path>
                </a:pathLst>
              </a:custGeom>
              <a:solidFill>
                <a:schemeClr val="accent3"/>
              </a:solidFill>
              <a:ln w="11933" cap="flat">
                <a:noFill/>
                <a:prstDash val="solid"/>
                <a:miter/>
              </a:ln>
            </p:spPr>
            <p:txBody>
              <a:bodyPr rtlCol="0" anchor="ctr"/>
              <a:lstStyle/>
              <a:p>
                <a:endParaRPr lang="en-US" sz="2700"/>
              </a:p>
            </p:txBody>
          </p:sp>
          <p:sp>
            <p:nvSpPr>
              <p:cNvPr id="25" name="Freeform: Shape 24">
                <a:extLst>
                  <a:ext uri="{FF2B5EF4-FFF2-40B4-BE49-F238E27FC236}">
                    <a16:creationId xmlns:a16="http://schemas.microsoft.com/office/drawing/2014/main" id="{D40B682B-7A82-CCB5-B242-2CFCABDEB298}"/>
                  </a:ext>
                </a:extLst>
              </p:cNvPr>
              <p:cNvSpPr/>
              <p:nvPr/>
            </p:nvSpPr>
            <p:spPr>
              <a:xfrm>
                <a:off x="2202089" y="2908749"/>
                <a:ext cx="2032894" cy="1139944"/>
              </a:xfrm>
              <a:custGeom>
                <a:avLst/>
                <a:gdLst>
                  <a:gd name="connsiteX0" fmla="*/ 2032895 w 2032894"/>
                  <a:gd name="connsiteY0" fmla="*/ 0 h 1139944"/>
                  <a:gd name="connsiteX1" fmla="*/ 0 w 2032894"/>
                  <a:gd name="connsiteY1" fmla="*/ 1139945 h 1139944"/>
                </a:gdLst>
                <a:ahLst/>
                <a:cxnLst>
                  <a:cxn ang="0">
                    <a:pos x="connsiteX0" y="connsiteY0"/>
                  </a:cxn>
                  <a:cxn ang="0">
                    <a:pos x="connsiteX1" y="connsiteY1"/>
                  </a:cxn>
                </a:cxnLst>
                <a:rect l="l" t="t" r="r" b="b"/>
                <a:pathLst>
                  <a:path w="2032894" h="1139944">
                    <a:moveTo>
                      <a:pt x="2032895" y="0"/>
                    </a:moveTo>
                    <a:lnTo>
                      <a:pt x="0" y="1139945"/>
                    </a:lnTo>
                  </a:path>
                </a:pathLst>
              </a:custGeom>
              <a:ln w="47732" cap="rnd">
                <a:solidFill>
                  <a:srgbClr val="FAFAFA"/>
                </a:solidFill>
                <a:prstDash val="solid"/>
                <a:round/>
              </a:ln>
            </p:spPr>
            <p:txBody>
              <a:bodyPr rtlCol="0" anchor="ctr"/>
              <a:lstStyle/>
              <a:p>
                <a:endParaRPr lang="en-US" sz="2700"/>
              </a:p>
            </p:txBody>
          </p:sp>
          <p:sp>
            <p:nvSpPr>
              <p:cNvPr id="26" name="Freeform: Shape 25">
                <a:extLst>
                  <a:ext uri="{FF2B5EF4-FFF2-40B4-BE49-F238E27FC236}">
                    <a16:creationId xmlns:a16="http://schemas.microsoft.com/office/drawing/2014/main" id="{11601F4D-1486-9943-89AE-A152E5057595}"/>
                  </a:ext>
                </a:extLst>
              </p:cNvPr>
              <p:cNvSpPr/>
              <p:nvPr/>
            </p:nvSpPr>
            <p:spPr>
              <a:xfrm>
                <a:off x="3668653" y="4842321"/>
                <a:ext cx="668280" cy="294148"/>
              </a:xfrm>
              <a:custGeom>
                <a:avLst/>
                <a:gdLst>
                  <a:gd name="connsiteX0" fmla="*/ 426539 w 668280"/>
                  <a:gd name="connsiteY0" fmla="*/ 294148 h 294148"/>
                  <a:gd name="connsiteX1" fmla="*/ 0 w 668280"/>
                  <a:gd name="connsiteY1" fmla="*/ 55153 h 294148"/>
                  <a:gd name="connsiteX2" fmla="*/ 241741 w 668280"/>
                  <a:gd name="connsiteY2" fmla="*/ 0 h 294148"/>
                  <a:gd name="connsiteX3" fmla="*/ 668280 w 668280"/>
                  <a:gd name="connsiteY3" fmla="*/ 238876 h 294148"/>
                  <a:gd name="connsiteX4" fmla="*/ 426539 w 668280"/>
                  <a:gd name="connsiteY4" fmla="*/ 294148 h 294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280" h="294148">
                    <a:moveTo>
                      <a:pt x="426539" y="294148"/>
                    </a:moveTo>
                    <a:lnTo>
                      <a:pt x="0" y="55153"/>
                    </a:lnTo>
                    <a:lnTo>
                      <a:pt x="241741" y="0"/>
                    </a:lnTo>
                    <a:lnTo>
                      <a:pt x="668280" y="238876"/>
                    </a:lnTo>
                    <a:lnTo>
                      <a:pt x="426539" y="294148"/>
                    </a:lnTo>
                    <a:close/>
                  </a:path>
                </a:pathLst>
              </a:custGeom>
              <a:solidFill>
                <a:schemeClr val="accent5"/>
              </a:solidFill>
              <a:ln w="11933" cap="flat">
                <a:noFill/>
                <a:prstDash val="solid"/>
                <a:miter/>
              </a:ln>
            </p:spPr>
            <p:txBody>
              <a:bodyPr rtlCol="0" anchor="ctr"/>
              <a:lstStyle/>
              <a:p>
                <a:endParaRPr lang="en-US" sz="2700"/>
              </a:p>
            </p:txBody>
          </p:sp>
          <p:sp>
            <p:nvSpPr>
              <p:cNvPr id="27" name="Freeform: Shape 26">
                <a:extLst>
                  <a:ext uri="{FF2B5EF4-FFF2-40B4-BE49-F238E27FC236}">
                    <a16:creationId xmlns:a16="http://schemas.microsoft.com/office/drawing/2014/main" id="{6A610A45-B167-6D49-B84F-CF68808EEB4A}"/>
                  </a:ext>
                </a:extLst>
              </p:cNvPr>
              <p:cNvSpPr/>
              <p:nvPr/>
            </p:nvSpPr>
            <p:spPr>
              <a:xfrm>
                <a:off x="3673786" y="4908934"/>
                <a:ext cx="497210" cy="482766"/>
              </a:xfrm>
              <a:custGeom>
                <a:avLst/>
                <a:gdLst>
                  <a:gd name="connsiteX0" fmla="*/ 422241 w 497210"/>
                  <a:gd name="connsiteY0" fmla="*/ 246397 h 482766"/>
                  <a:gd name="connsiteX1" fmla="*/ 0 w 497210"/>
                  <a:gd name="connsiteY1" fmla="*/ 0 h 482766"/>
                  <a:gd name="connsiteX2" fmla="*/ 74970 w 497210"/>
                  <a:gd name="connsiteY2" fmla="*/ 236369 h 482766"/>
                  <a:gd name="connsiteX3" fmla="*/ 497211 w 497210"/>
                  <a:gd name="connsiteY3" fmla="*/ 482766 h 482766"/>
                  <a:gd name="connsiteX4" fmla="*/ 422241 w 497210"/>
                  <a:gd name="connsiteY4" fmla="*/ 246397 h 48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210" h="482766">
                    <a:moveTo>
                      <a:pt x="422241" y="246397"/>
                    </a:moveTo>
                    <a:lnTo>
                      <a:pt x="0" y="0"/>
                    </a:lnTo>
                    <a:lnTo>
                      <a:pt x="74970" y="236369"/>
                    </a:lnTo>
                    <a:lnTo>
                      <a:pt x="497211" y="482766"/>
                    </a:lnTo>
                    <a:lnTo>
                      <a:pt x="422241" y="246397"/>
                    </a:lnTo>
                    <a:close/>
                  </a:path>
                </a:pathLst>
              </a:custGeom>
              <a:solidFill>
                <a:schemeClr val="accent5"/>
              </a:solidFill>
              <a:ln w="11933" cap="flat">
                <a:noFill/>
                <a:prstDash val="solid"/>
                <a:miter/>
              </a:ln>
            </p:spPr>
            <p:txBody>
              <a:bodyPr rtlCol="0" anchor="ctr"/>
              <a:lstStyle/>
              <a:p>
                <a:endParaRPr lang="en-US" sz="2700"/>
              </a:p>
            </p:txBody>
          </p:sp>
          <p:sp>
            <p:nvSpPr>
              <p:cNvPr id="28" name="Freeform: Shape 27">
                <a:extLst>
                  <a:ext uri="{FF2B5EF4-FFF2-40B4-BE49-F238E27FC236}">
                    <a16:creationId xmlns:a16="http://schemas.microsoft.com/office/drawing/2014/main" id="{36735A46-CBEC-323E-9AED-09DE4DA049B4}"/>
                  </a:ext>
                </a:extLst>
              </p:cNvPr>
              <p:cNvSpPr/>
              <p:nvPr/>
            </p:nvSpPr>
            <p:spPr>
              <a:xfrm>
                <a:off x="2191584" y="4055379"/>
                <a:ext cx="2101298" cy="1179339"/>
              </a:xfrm>
              <a:custGeom>
                <a:avLst/>
                <a:gdLst>
                  <a:gd name="connsiteX0" fmla="*/ 2101299 w 2101298"/>
                  <a:gd name="connsiteY0" fmla="*/ 1179340 h 1179339"/>
                  <a:gd name="connsiteX1" fmla="*/ 0 w 2101298"/>
                  <a:gd name="connsiteY1" fmla="*/ 0 h 1179339"/>
                </a:gdLst>
                <a:ahLst/>
                <a:cxnLst>
                  <a:cxn ang="0">
                    <a:pos x="connsiteX0" y="connsiteY0"/>
                  </a:cxn>
                  <a:cxn ang="0">
                    <a:pos x="connsiteX1" y="connsiteY1"/>
                  </a:cxn>
                </a:cxnLst>
                <a:rect l="l" t="t" r="r" b="b"/>
                <a:pathLst>
                  <a:path w="2101298" h="1179339">
                    <a:moveTo>
                      <a:pt x="2101299" y="1179340"/>
                    </a:moveTo>
                    <a:lnTo>
                      <a:pt x="0" y="0"/>
                    </a:lnTo>
                  </a:path>
                </a:pathLst>
              </a:custGeom>
              <a:ln w="47732" cap="rnd">
                <a:solidFill>
                  <a:srgbClr val="FAFAFA"/>
                </a:solidFill>
                <a:prstDash val="solid"/>
                <a:round/>
              </a:ln>
            </p:spPr>
            <p:txBody>
              <a:bodyPr rtlCol="0" anchor="ctr"/>
              <a:lstStyle/>
              <a:p>
                <a:endParaRPr lang="en-US" sz="2700"/>
              </a:p>
            </p:txBody>
          </p:sp>
          <p:sp>
            <p:nvSpPr>
              <p:cNvPr id="30" name="Freeform: Shape 29">
                <a:extLst>
                  <a:ext uri="{FF2B5EF4-FFF2-40B4-BE49-F238E27FC236}">
                    <a16:creationId xmlns:a16="http://schemas.microsoft.com/office/drawing/2014/main" id="{1F2A2D97-51E5-2DFF-4D60-23C3D5993FE8}"/>
                  </a:ext>
                </a:extLst>
              </p:cNvPr>
              <p:cNvSpPr/>
              <p:nvPr/>
            </p:nvSpPr>
            <p:spPr>
              <a:xfrm>
                <a:off x="2911489" y="1145188"/>
                <a:ext cx="501030" cy="745681"/>
              </a:xfrm>
              <a:custGeom>
                <a:avLst/>
                <a:gdLst>
                  <a:gd name="connsiteX0" fmla="*/ -77 w 501030"/>
                  <a:gd name="connsiteY0" fmla="*/ 106200 h 745681"/>
                  <a:gd name="connsiteX1" fmla="*/ -77 w 501030"/>
                  <a:gd name="connsiteY1" fmla="*/ 489046 h 745681"/>
                  <a:gd name="connsiteX2" fmla="*/ 241306 w 501030"/>
                  <a:gd name="connsiteY2" fmla="*/ 745471 h 745681"/>
                  <a:gd name="connsiteX3" fmla="*/ 500799 w 501030"/>
                  <a:gd name="connsiteY3" fmla="*/ 503885 h 745681"/>
                  <a:gd name="connsiteX4" fmla="*/ 500954 w 501030"/>
                  <a:gd name="connsiteY4" fmla="*/ 494776 h 745681"/>
                  <a:gd name="connsiteX5" fmla="*/ 500954 w 501030"/>
                  <a:gd name="connsiteY5" fmla="*/ 106200 h 745681"/>
                  <a:gd name="connsiteX6" fmla="*/ 394707 w 501030"/>
                  <a:gd name="connsiteY6" fmla="*/ -47 h 745681"/>
                  <a:gd name="connsiteX7" fmla="*/ 106170 w 501030"/>
                  <a:gd name="connsiteY7" fmla="*/ -47 h 745681"/>
                  <a:gd name="connsiteX8" fmla="*/ -77 w 501030"/>
                  <a:gd name="connsiteY8" fmla="*/ 106200 h 74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030" h="745681">
                    <a:moveTo>
                      <a:pt x="-77" y="106200"/>
                    </a:moveTo>
                    <a:lnTo>
                      <a:pt x="-77" y="489046"/>
                    </a:lnTo>
                    <a:cubicBezTo>
                      <a:pt x="-77" y="624899"/>
                      <a:pt x="105573" y="740576"/>
                      <a:pt x="241306" y="745471"/>
                    </a:cubicBezTo>
                    <a:cubicBezTo>
                      <a:pt x="379678" y="750413"/>
                      <a:pt x="495845" y="642257"/>
                      <a:pt x="500799" y="503885"/>
                    </a:cubicBezTo>
                    <a:cubicBezTo>
                      <a:pt x="500906" y="500853"/>
                      <a:pt x="500954" y="497820"/>
                      <a:pt x="500954" y="494776"/>
                    </a:cubicBezTo>
                    <a:lnTo>
                      <a:pt x="500954" y="106200"/>
                    </a:lnTo>
                    <a:cubicBezTo>
                      <a:pt x="500954" y="47521"/>
                      <a:pt x="453382" y="-47"/>
                      <a:pt x="394707" y="-47"/>
                    </a:cubicBezTo>
                    <a:lnTo>
                      <a:pt x="106170" y="-47"/>
                    </a:lnTo>
                    <a:cubicBezTo>
                      <a:pt x="47495" y="-47"/>
                      <a:pt x="-77" y="47521"/>
                      <a:pt x="-77" y="106200"/>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31" name="Freeform: Shape 30">
                <a:extLst>
                  <a:ext uri="{FF2B5EF4-FFF2-40B4-BE49-F238E27FC236}">
                    <a16:creationId xmlns:a16="http://schemas.microsoft.com/office/drawing/2014/main" id="{4E13C318-8845-4244-555D-EDBE857CAA6A}"/>
                  </a:ext>
                </a:extLst>
              </p:cNvPr>
              <p:cNvSpPr/>
              <p:nvPr/>
            </p:nvSpPr>
            <p:spPr>
              <a:xfrm>
                <a:off x="2949394" y="1112893"/>
                <a:ext cx="410664" cy="768959"/>
              </a:xfrm>
              <a:custGeom>
                <a:avLst/>
                <a:gdLst>
                  <a:gd name="connsiteX0" fmla="*/ -77 w 501031"/>
                  <a:gd name="connsiteY0" fmla="*/ 101544 h 768959"/>
                  <a:gd name="connsiteX1" fmla="*/ -77 w 501031"/>
                  <a:gd name="connsiteY1" fmla="*/ 512444 h 768959"/>
                  <a:gd name="connsiteX2" fmla="*/ 241307 w 501031"/>
                  <a:gd name="connsiteY2" fmla="*/ 768750 h 768959"/>
                  <a:gd name="connsiteX3" fmla="*/ 500799 w 501031"/>
                  <a:gd name="connsiteY3" fmla="*/ 527164 h 768959"/>
                  <a:gd name="connsiteX4" fmla="*/ 500955 w 501031"/>
                  <a:gd name="connsiteY4" fmla="*/ 518055 h 768959"/>
                  <a:gd name="connsiteX5" fmla="*/ 500955 w 501031"/>
                  <a:gd name="connsiteY5" fmla="*/ 101544 h 768959"/>
                  <a:gd name="connsiteX6" fmla="*/ 399363 w 501031"/>
                  <a:gd name="connsiteY6" fmla="*/ -47 h 768959"/>
                  <a:gd name="connsiteX7" fmla="*/ 101514 w 501031"/>
                  <a:gd name="connsiteY7" fmla="*/ -47 h 768959"/>
                  <a:gd name="connsiteX8" fmla="*/ -77 w 501031"/>
                  <a:gd name="connsiteY8" fmla="*/ 101544 h 76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031" h="768959">
                    <a:moveTo>
                      <a:pt x="-77" y="101544"/>
                    </a:moveTo>
                    <a:lnTo>
                      <a:pt x="-77" y="512444"/>
                    </a:lnTo>
                    <a:cubicBezTo>
                      <a:pt x="-77" y="648297"/>
                      <a:pt x="105573" y="763975"/>
                      <a:pt x="241307" y="768750"/>
                    </a:cubicBezTo>
                    <a:cubicBezTo>
                      <a:pt x="379678" y="773692"/>
                      <a:pt x="495845" y="665535"/>
                      <a:pt x="500799" y="527164"/>
                    </a:cubicBezTo>
                    <a:cubicBezTo>
                      <a:pt x="500907" y="524131"/>
                      <a:pt x="500955" y="521099"/>
                      <a:pt x="500955" y="518055"/>
                    </a:cubicBezTo>
                    <a:lnTo>
                      <a:pt x="500955" y="101544"/>
                    </a:lnTo>
                    <a:cubicBezTo>
                      <a:pt x="500955" y="45437"/>
                      <a:pt x="455471" y="-47"/>
                      <a:pt x="399363" y="-47"/>
                    </a:cubicBezTo>
                    <a:lnTo>
                      <a:pt x="101514" y="-47"/>
                    </a:lnTo>
                    <a:cubicBezTo>
                      <a:pt x="45406" y="-47"/>
                      <a:pt x="-77" y="45437"/>
                      <a:pt x="-77" y="101544"/>
                    </a:cubicBezTo>
                    <a:close/>
                  </a:path>
                </a:pathLst>
              </a:custGeom>
              <a:solidFill>
                <a:srgbClr val="FAFAFA"/>
              </a:solidFill>
              <a:ln w="11933" cap="flat">
                <a:noFill/>
                <a:prstDash val="solid"/>
                <a:miter/>
              </a:ln>
            </p:spPr>
            <p:txBody>
              <a:bodyPr rtlCol="0" anchor="ctr"/>
              <a:lstStyle/>
              <a:p>
                <a:endParaRPr lang="en-US" sz="2700" dirty="0"/>
              </a:p>
            </p:txBody>
          </p:sp>
          <p:sp>
            <p:nvSpPr>
              <p:cNvPr id="32" name="Freeform: Shape 31">
                <a:extLst>
                  <a:ext uri="{FF2B5EF4-FFF2-40B4-BE49-F238E27FC236}">
                    <a16:creationId xmlns:a16="http://schemas.microsoft.com/office/drawing/2014/main" id="{17332F49-20DC-893D-50DC-069F20CE5F5F}"/>
                  </a:ext>
                </a:extLst>
              </p:cNvPr>
              <p:cNvSpPr/>
              <p:nvPr/>
            </p:nvSpPr>
            <p:spPr>
              <a:xfrm>
                <a:off x="5463627" y="903789"/>
                <a:ext cx="843050" cy="843050"/>
              </a:xfrm>
              <a:custGeom>
                <a:avLst/>
                <a:gdLst>
                  <a:gd name="connsiteX0" fmla="*/ 843050 w 843050"/>
                  <a:gd name="connsiteY0" fmla="*/ 421525 h 843050"/>
                  <a:gd name="connsiteX1" fmla="*/ 421525 w 843050"/>
                  <a:gd name="connsiteY1" fmla="*/ 843050 h 843050"/>
                  <a:gd name="connsiteX2" fmla="*/ 0 w 843050"/>
                  <a:gd name="connsiteY2" fmla="*/ 421525 h 843050"/>
                  <a:gd name="connsiteX3" fmla="*/ 421525 w 843050"/>
                  <a:gd name="connsiteY3" fmla="*/ 0 h 843050"/>
                  <a:gd name="connsiteX4" fmla="*/ 843050 w 843050"/>
                  <a:gd name="connsiteY4" fmla="*/ 421525 h 8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050" h="843050">
                    <a:moveTo>
                      <a:pt x="843050" y="421525"/>
                    </a:moveTo>
                    <a:cubicBezTo>
                      <a:pt x="843050" y="654327"/>
                      <a:pt x="654327" y="843050"/>
                      <a:pt x="421525" y="843050"/>
                    </a:cubicBezTo>
                    <a:cubicBezTo>
                      <a:pt x="188723" y="843050"/>
                      <a:pt x="0" y="654327"/>
                      <a:pt x="0" y="421525"/>
                    </a:cubicBezTo>
                    <a:cubicBezTo>
                      <a:pt x="0" y="188723"/>
                      <a:pt x="188723" y="0"/>
                      <a:pt x="421525" y="0"/>
                    </a:cubicBezTo>
                    <a:cubicBezTo>
                      <a:pt x="654327" y="0"/>
                      <a:pt x="843050" y="188723"/>
                      <a:pt x="843050" y="421525"/>
                    </a:cubicBezTo>
                    <a:close/>
                  </a:path>
                </a:pathLst>
              </a:custGeom>
              <a:solidFill>
                <a:schemeClr val="accent1"/>
              </a:solidFill>
              <a:ln w="11933" cap="flat">
                <a:noFill/>
                <a:prstDash val="solid"/>
                <a:miter/>
              </a:ln>
            </p:spPr>
            <p:txBody>
              <a:bodyPr rtlCol="0" anchor="ctr"/>
              <a:lstStyle/>
              <a:p>
                <a:endParaRPr lang="en-US" sz="2700"/>
              </a:p>
            </p:txBody>
          </p:sp>
          <p:sp>
            <p:nvSpPr>
              <p:cNvPr id="33" name="Freeform: Shape 32">
                <a:extLst>
                  <a:ext uri="{FF2B5EF4-FFF2-40B4-BE49-F238E27FC236}">
                    <a16:creationId xmlns:a16="http://schemas.microsoft.com/office/drawing/2014/main" id="{79FF9CE0-0509-8666-4604-0B4AF43A2023}"/>
                  </a:ext>
                </a:extLst>
              </p:cNvPr>
              <p:cNvSpPr/>
              <p:nvPr/>
            </p:nvSpPr>
            <p:spPr>
              <a:xfrm rot="16610399">
                <a:off x="5548934" y="997973"/>
                <a:ext cx="717942" cy="717942"/>
              </a:xfrm>
              <a:custGeom>
                <a:avLst/>
                <a:gdLst>
                  <a:gd name="connsiteX0" fmla="*/ 717866 w 717942"/>
                  <a:gd name="connsiteY0" fmla="*/ 358924 h 717942"/>
                  <a:gd name="connsiteX1" fmla="*/ 358894 w 717942"/>
                  <a:gd name="connsiteY1" fmla="*/ 717895 h 717942"/>
                  <a:gd name="connsiteX2" fmla="*/ -77 w 717942"/>
                  <a:gd name="connsiteY2" fmla="*/ 358924 h 717942"/>
                  <a:gd name="connsiteX3" fmla="*/ 358894 w 717942"/>
                  <a:gd name="connsiteY3" fmla="*/ -47 h 717942"/>
                  <a:gd name="connsiteX4" fmla="*/ 717866 w 717942"/>
                  <a:gd name="connsiteY4" fmla="*/ 358924 h 71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2" h="717942">
                    <a:moveTo>
                      <a:pt x="717866" y="358924"/>
                    </a:moveTo>
                    <a:cubicBezTo>
                      <a:pt x="717866" y="557178"/>
                      <a:pt x="557149" y="717895"/>
                      <a:pt x="358894" y="717895"/>
                    </a:cubicBezTo>
                    <a:cubicBezTo>
                      <a:pt x="160640" y="717895"/>
                      <a:pt x="-77" y="557178"/>
                      <a:pt x="-77" y="358924"/>
                    </a:cubicBezTo>
                    <a:cubicBezTo>
                      <a:pt x="-77" y="160670"/>
                      <a:pt x="160640" y="-47"/>
                      <a:pt x="358894" y="-47"/>
                    </a:cubicBezTo>
                    <a:cubicBezTo>
                      <a:pt x="557148" y="-47"/>
                      <a:pt x="717866" y="160670"/>
                      <a:pt x="717866" y="358924"/>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34" name="Freeform: Shape 33">
                <a:extLst>
                  <a:ext uri="{FF2B5EF4-FFF2-40B4-BE49-F238E27FC236}">
                    <a16:creationId xmlns:a16="http://schemas.microsoft.com/office/drawing/2014/main" id="{5C352E66-CCAC-2456-7EFB-B66A0DBE5EB8}"/>
                  </a:ext>
                </a:extLst>
              </p:cNvPr>
              <p:cNvSpPr/>
              <p:nvPr/>
            </p:nvSpPr>
            <p:spPr>
              <a:xfrm>
                <a:off x="5547968" y="955668"/>
                <a:ext cx="717941" cy="717941"/>
              </a:xfrm>
              <a:custGeom>
                <a:avLst/>
                <a:gdLst>
                  <a:gd name="connsiteX0" fmla="*/ 717942 w 717941"/>
                  <a:gd name="connsiteY0" fmla="*/ 358971 h 717941"/>
                  <a:gd name="connsiteX1" fmla="*/ 358971 w 717941"/>
                  <a:gd name="connsiteY1" fmla="*/ 717942 h 717941"/>
                  <a:gd name="connsiteX2" fmla="*/ 0 w 717941"/>
                  <a:gd name="connsiteY2" fmla="*/ 358971 h 717941"/>
                  <a:gd name="connsiteX3" fmla="*/ 358971 w 717941"/>
                  <a:gd name="connsiteY3" fmla="*/ 0 h 717941"/>
                  <a:gd name="connsiteX4" fmla="*/ 717942 w 717941"/>
                  <a:gd name="connsiteY4" fmla="*/ 358971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942" y="358971"/>
                    </a:moveTo>
                    <a:cubicBezTo>
                      <a:pt x="717942" y="557225"/>
                      <a:pt x="557225" y="717942"/>
                      <a:pt x="358971" y="717942"/>
                    </a:cubicBezTo>
                    <a:cubicBezTo>
                      <a:pt x="160717" y="717942"/>
                      <a:pt x="0" y="557225"/>
                      <a:pt x="0" y="358971"/>
                    </a:cubicBezTo>
                    <a:cubicBezTo>
                      <a:pt x="0" y="160717"/>
                      <a:pt x="160717" y="0"/>
                      <a:pt x="358971" y="0"/>
                    </a:cubicBezTo>
                    <a:cubicBezTo>
                      <a:pt x="557225" y="0"/>
                      <a:pt x="717942" y="160717"/>
                      <a:pt x="717942" y="358971"/>
                    </a:cubicBezTo>
                    <a:close/>
                  </a:path>
                </a:pathLst>
              </a:custGeom>
              <a:solidFill>
                <a:srgbClr val="FAFAFA"/>
              </a:solidFill>
              <a:ln w="11933" cap="flat">
                <a:noFill/>
                <a:prstDash val="solid"/>
                <a:miter/>
              </a:ln>
            </p:spPr>
            <p:txBody>
              <a:bodyPr rtlCol="0" anchor="ctr"/>
              <a:lstStyle/>
              <a:p>
                <a:pPr algn="ctr"/>
                <a:r>
                  <a:rPr lang="en-US" sz="3600" b="1" dirty="0">
                    <a:solidFill>
                      <a:schemeClr val="tx1">
                        <a:lumMod val="85000"/>
                        <a:lumOff val="15000"/>
                      </a:schemeClr>
                    </a:solidFill>
                    <a:latin typeface="Lora" pitchFamily="2" charset="0"/>
                  </a:rPr>
                  <a:t>1</a:t>
                </a:r>
              </a:p>
            </p:txBody>
          </p:sp>
          <p:sp>
            <p:nvSpPr>
              <p:cNvPr id="35" name="Freeform: Shape 34">
                <a:extLst>
                  <a:ext uri="{FF2B5EF4-FFF2-40B4-BE49-F238E27FC236}">
                    <a16:creationId xmlns:a16="http://schemas.microsoft.com/office/drawing/2014/main" id="{F8D4DF90-4D8B-5D47-2651-ADF3A77107E5}"/>
                  </a:ext>
                </a:extLst>
              </p:cNvPr>
              <p:cNvSpPr/>
              <p:nvPr/>
            </p:nvSpPr>
            <p:spPr>
              <a:xfrm>
                <a:off x="6805796" y="2100066"/>
                <a:ext cx="843050" cy="843050"/>
              </a:xfrm>
              <a:custGeom>
                <a:avLst/>
                <a:gdLst>
                  <a:gd name="connsiteX0" fmla="*/ 843050 w 843050"/>
                  <a:gd name="connsiteY0" fmla="*/ 421525 h 843050"/>
                  <a:gd name="connsiteX1" fmla="*/ 421525 w 843050"/>
                  <a:gd name="connsiteY1" fmla="*/ 843050 h 843050"/>
                  <a:gd name="connsiteX2" fmla="*/ 0 w 843050"/>
                  <a:gd name="connsiteY2" fmla="*/ 421525 h 843050"/>
                  <a:gd name="connsiteX3" fmla="*/ 421525 w 843050"/>
                  <a:gd name="connsiteY3" fmla="*/ 0 h 843050"/>
                  <a:gd name="connsiteX4" fmla="*/ 843050 w 843050"/>
                  <a:gd name="connsiteY4" fmla="*/ 421525 h 8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050" h="843050">
                    <a:moveTo>
                      <a:pt x="843050" y="421525"/>
                    </a:moveTo>
                    <a:cubicBezTo>
                      <a:pt x="843050" y="654327"/>
                      <a:pt x="654327" y="843050"/>
                      <a:pt x="421525" y="843050"/>
                    </a:cubicBezTo>
                    <a:cubicBezTo>
                      <a:pt x="188724" y="843050"/>
                      <a:pt x="0" y="654327"/>
                      <a:pt x="0" y="421525"/>
                    </a:cubicBezTo>
                    <a:cubicBezTo>
                      <a:pt x="0" y="188723"/>
                      <a:pt x="188724" y="0"/>
                      <a:pt x="421525" y="0"/>
                    </a:cubicBezTo>
                    <a:cubicBezTo>
                      <a:pt x="654327" y="0"/>
                      <a:pt x="843050" y="188723"/>
                      <a:pt x="843050" y="421525"/>
                    </a:cubicBezTo>
                    <a:close/>
                  </a:path>
                </a:pathLst>
              </a:custGeom>
              <a:solidFill>
                <a:schemeClr val="accent3"/>
              </a:solidFill>
              <a:ln w="11933" cap="flat">
                <a:noFill/>
                <a:prstDash val="solid"/>
                <a:miter/>
              </a:ln>
            </p:spPr>
            <p:txBody>
              <a:bodyPr rtlCol="0" anchor="ctr"/>
              <a:lstStyle/>
              <a:p>
                <a:endParaRPr lang="en-US" sz="2700"/>
              </a:p>
            </p:txBody>
          </p:sp>
          <p:sp>
            <p:nvSpPr>
              <p:cNvPr id="36" name="Freeform: Shape 35">
                <a:extLst>
                  <a:ext uri="{FF2B5EF4-FFF2-40B4-BE49-F238E27FC236}">
                    <a16:creationId xmlns:a16="http://schemas.microsoft.com/office/drawing/2014/main" id="{E932AF1A-1C5A-5158-B80F-1179A528C077}"/>
                  </a:ext>
                </a:extLst>
              </p:cNvPr>
              <p:cNvSpPr/>
              <p:nvPr/>
            </p:nvSpPr>
            <p:spPr>
              <a:xfrm>
                <a:off x="6897002" y="2171018"/>
                <a:ext cx="717941" cy="717941"/>
              </a:xfrm>
              <a:custGeom>
                <a:avLst/>
                <a:gdLst>
                  <a:gd name="connsiteX0" fmla="*/ 717942 w 717941"/>
                  <a:gd name="connsiteY0" fmla="*/ 358971 h 717941"/>
                  <a:gd name="connsiteX1" fmla="*/ 358971 w 717941"/>
                  <a:gd name="connsiteY1" fmla="*/ 717942 h 717941"/>
                  <a:gd name="connsiteX2" fmla="*/ 0 w 717941"/>
                  <a:gd name="connsiteY2" fmla="*/ 358971 h 717941"/>
                  <a:gd name="connsiteX3" fmla="*/ 358971 w 717941"/>
                  <a:gd name="connsiteY3" fmla="*/ 0 h 717941"/>
                  <a:gd name="connsiteX4" fmla="*/ 717942 w 717941"/>
                  <a:gd name="connsiteY4" fmla="*/ 358971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942" y="358971"/>
                    </a:moveTo>
                    <a:cubicBezTo>
                      <a:pt x="717942" y="557225"/>
                      <a:pt x="557225" y="717942"/>
                      <a:pt x="358971" y="717942"/>
                    </a:cubicBezTo>
                    <a:cubicBezTo>
                      <a:pt x="160717" y="717942"/>
                      <a:pt x="0" y="557225"/>
                      <a:pt x="0" y="358971"/>
                    </a:cubicBezTo>
                    <a:cubicBezTo>
                      <a:pt x="0" y="160717"/>
                      <a:pt x="160716" y="0"/>
                      <a:pt x="358971" y="0"/>
                    </a:cubicBezTo>
                    <a:cubicBezTo>
                      <a:pt x="557225" y="0"/>
                      <a:pt x="717942" y="160717"/>
                      <a:pt x="717942" y="358971"/>
                    </a:cubicBezTo>
                    <a:close/>
                  </a:path>
                </a:pathLst>
              </a:custGeom>
              <a:solidFill>
                <a:srgbClr val="606060">
                  <a:alpha val="38000"/>
                </a:srgbClr>
              </a:solidFill>
              <a:ln w="11933" cap="flat">
                <a:noFill/>
                <a:prstDash val="solid"/>
                <a:miter/>
              </a:ln>
            </p:spPr>
            <p:txBody>
              <a:bodyPr rtlCol="0" anchor="ctr"/>
              <a:lstStyle/>
              <a:p>
                <a:endParaRPr lang="en-US" sz="2700" dirty="0"/>
              </a:p>
            </p:txBody>
          </p:sp>
          <p:sp>
            <p:nvSpPr>
              <p:cNvPr id="37" name="Freeform: Shape 36">
                <a:extLst>
                  <a:ext uri="{FF2B5EF4-FFF2-40B4-BE49-F238E27FC236}">
                    <a16:creationId xmlns:a16="http://schemas.microsoft.com/office/drawing/2014/main" id="{168D049E-5184-C466-18B2-C2AD27A5A988}"/>
                  </a:ext>
                </a:extLst>
              </p:cNvPr>
              <p:cNvSpPr/>
              <p:nvPr/>
            </p:nvSpPr>
            <p:spPr>
              <a:xfrm>
                <a:off x="6913954" y="2091489"/>
                <a:ext cx="717941" cy="717941"/>
              </a:xfrm>
              <a:custGeom>
                <a:avLst/>
                <a:gdLst>
                  <a:gd name="connsiteX0" fmla="*/ 717865 w 717941"/>
                  <a:gd name="connsiteY0" fmla="*/ 358923 h 717941"/>
                  <a:gd name="connsiteX1" fmla="*/ 358894 w 717941"/>
                  <a:gd name="connsiteY1" fmla="*/ 717894 h 717941"/>
                  <a:gd name="connsiteX2" fmla="*/ -77 w 717941"/>
                  <a:gd name="connsiteY2" fmla="*/ 358923 h 717941"/>
                  <a:gd name="connsiteX3" fmla="*/ 358894 w 717941"/>
                  <a:gd name="connsiteY3" fmla="*/ -47 h 717941"/>
                  <a:gd name="connsiteX4" fmla="*/ 717865 w 717941"/>
                  <a:gd name="connsiteY4" fmla="*/ 358923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865" y="358923"/>
                    </a:moveTo>
                    <a:cubicBezTo>
                      <a:pt x="717865" y="557178"/>
                      <a:pt x="557148" y="717894"/>
                      <a:pt x="358894" y="717894"/>
                    </a:cubicBezTo>
                    <a:cubicBezTo>
                      <a:pt x="160640" y="717894"/>
                      <a:pt x="-77" y="557178"/>
                      <a:pt x="-77" y="358923"/>
                    </a:cubicBezTo>
                    <a:cubicBezTo>
                      <a:pt x="-77" y="160669"/>
                      <a:pt x="160639" y="-47"/>
                      <a:pt x="358894" y="-47"/>
                    </a:cubicBezTo>
                    <a:cubicBezTo>
                      <a:pt x="557148" y="-47"/>
                      <a:pt x="717865" y="160669"/>
                      <a:pt x="717865" y="358923"/>
                    </a:cubicBezTo>
                    <a:close/>
                  </a:path>
                </a:pathLst>
              </a:custGeom>
              <a:solidFill>
                <a:srgbClr val="FAFAFA"/>
              </a:solidFill>
              <a:ln w="11933" cap="flat">
                <a:noFill/>
                <a:prstDash val="solid"/>
                <a:miter/>
              </a:ln>
            </p:spPr>
            <p:txBody>
              <a:bodyPr rtlCol="0" anchor="ctr"/>
              <a:lstStyle/>
              <a:p>
                <a:pPr algn="ctr"/>
                <a:r>
                  <a:rPr lang="en-US" sz="3600" b="1" dirty="0">
                    <a:solidFill>
                      <a:schemeClr val="tx1">
                        <a:lumMod val="85000"/>
                        <a:lumOff val="15000"/>
                      </a:schemeClr>
                    </a:solidFill>
                    <a:latin typeface="Lora" pitchFamily="2" charset="0"/>
                  </a:rPr>
                  <a:t>2</a:t>
                </a:r>
              </a:p>
            </p:txBody>
          </p:sp>
          <p:sp>
            <p:nvSpPr>
              <p:cNvPr id="39" name="Freeform: Shape 38">
                <a:extLst>
                  <a:ext uri="{FF2B5EF4-FFF2-40B4-BE49-F238E27FC236}">
                    <a16:creationId xmlns:a16="http://schemas.microsoft.com/office/drawing/2014/main" id="{D872D937-1901-F81F-ED42-E654D6DF6015}"/>
                  </a:ext>
                </a:extLst>
              </p:cNvPr>
              <p:cNvSpPr/>
              <p:nvPr/>
            </p:nvSpPr>
            <p:spPr>
              <a:xfrm>
                <a:off x="4191279" y="2557571"/>
                <a:ext cx="501031" cy="745561"/>
              </a:xfrm>
              <a:custGeom>
                <a:avLst/>
                <a:gdLst>
                  <a:gd name="connsiteX0" fmla="*/ -77 w 501031"/>
                  <a:gd name="connsiteY0" fmla="*/ 106200 h 745561"/>
                  <a:gd name="connsiteX1" fmla="*/ -77 w 501031"/>
                  <a:gd name="connsiteY1" fmla="*/ 489046 h 745561"/>
                  <a:gd name="connsiteX2" fmla="*/ 241307 w 501031"/>
                  <a:gd name="connsiteY2" fmla="*/ 745352 h 745561"/>
                  <a:gd name="connsiteX3" fmla="*/ 500799 w 501031"/>
                  <a:gd name="connsiteY3" fmla="*/ 503766 h 745561"/>
                  <a:gd name="connsiteX4" fmla="*/ 500955 w 501031"/>
                  <a:gd name="connsiteY4" fmla="*/ 494657 h 745561"/>
                  <a:gd name="connsiteX5" fmla="*/ 500955 w 501031"/>
                  <a:gd name="connsiteY5" fmla="*/ 106200 h 745561"/>
                  <a:gd name="connsiteX6" fmla="*/ 394946 w 501031"/>
                  <a:gd name="connsiteY6" fmla="*/ -47 h 745561"/>
                  <a:gd name="connsiteX7" fmla="*/ 394707 w 501031"/>
                  <a:gd name="connsiteY7" fmla="*/ -47 h 745561"/>
                  <a:gd name="connsiteX8" fmla="*/ 106170 w 501031"/>
                  <a:gd name="connsiteY8" fmla="*/ -47 h 745561"/>
                  <a:gd name="connsiteX9" fmla="*/ -77 w 501031"/>
                  <a:gd name="connsiteY9" fmla="*/ 105961 h 745561"/>
                  <a:gd name="connsiteX10" fmla="*/ -77 w 501031"/>
                  <a:gd name="connsiteY10" fmla="*/ 106200 h 745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031" h="745561">
                    <a:moveTo>
                      <a:pt x="-77" y="106200"/>
                    </a:moveTo>
                    <a:lnTo>
                      <a:pt x="-77" y="489046"/>
                    </a:lnTo>
                    <a:cubicBezTo>
                      <a:pt x="-77" y="624899"/>
                      <a:pt x="105573" y="740577"/>
                      <a:pt x="241307" y="745352"/>
                    </a:cubicBezTo>
                    <a:cubicBezTo>
                      <a:pt x="379678" y="750294"/>
                      <a:pt x="495845" y="642137"/>
                      <a:pt x="500799" y="503766"/>
                    </a:cubicBezTo>
                    <a:cubicBezTo>
                      <a:pt x="500906" y="500733"/>
                      <a:pt x="500955" y="497701"/>
                      <a:pt x="500955" y="494657"/>
                    </a:cubicBezTo>
                    <a:lnTo>
                      <a:pt x="500955" y="106200"/>
                    </a:lnTo>
                    <a:cubicBezTo>
                      <a:pt x="501026" y="47585"/>
                      <a:pt x="453561" y="25"/>
                      <a:pt x="394946" y="-47"/>
                    </a:cubicBezTo>
                    <a:cubicBezTo>
                      <a:pt x="394863" y="-47"/>
                      <a:pt x="394791" y="-47"/>
                      <a:pt x="394707" y="-47"/>
                    </a:cubicBezTo>
                    <a:lnTo>
                      <a:pt x="106170" y="-47"/>
                    </a:lnTo>
                    <a:cubicBezTo>
                      <a:pt x="47555" y="-119"/>
                      <a:pt x="-5" y="47346"/>
                      <a:pt x="-77" y="105961"/>
                    </a:cubicBezTo>
                    <a:cubicBezTo>
                      <a:pt x="-77" y="106045"/>
                      <a:pt x="-77" y="106116"/>
                      <a:pt x="-77" y="106200"/>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40" name="Freeform: Shape 39">
                <a:extLst>
                  <a:ext uri="{FF2B5EF4-FFF2-40B4-BE49-F238E27FC236}">
                    <a16:creationId xmlns:a16="http://schemas.microsoft.com/office/drawing/2014/main" id="{B03C1EAA-6315-8CC7-65F0-CBA6B4D15C47}"/>
                  </a:ext>
                </a:extLst>
              </p:cNvPr>
              <p:cNvSpPr/>
              <p:nvPr/>
            </p:nvSpPr>
            <p:spPr>
              <a:xfrm>
                <a:off x="4112679" y="2451153"/>
                <a:ext cx="501031" cy="768959"/>
              </a:xfrm>
              <a:custGeom>
                <a:avLst/>
                <a:gdLst>
                  <a:gd name="connsiteX0" fmla="*/ -77 w 501031"/>
                  <a:gd name="connsiteY0" fmla="*/ 101544 h 768959"/>
                  <a:gd name="connsiteX1" fmla="*/ -77 w 501031"/>
                  <a:gd name="connsiteY1" fmla="*/ 512444 h 768959"/>
                  <a:gd name="connsiteX2" fmla="*/ 241307 w 501031"/>
                  <a:gd name="connsiteY2" fmla="*/ 768750 h 768959"/>
                  <a:gd name="connsiteX3" fmla="*/ 500799 w 501031"/>
                  <a:gd name="connsiteY3" fmla="*/ 527164 h 768959"/>
                  <a:gd name="connsiteX4" fmla="*/ 500955 w 501031"/>
                  <a:gd name="connsiteY4" fmla="*/ 518055 h 768959"/>
                  <a:gd name="connsiteX5" fmla="*/ 500955 w 501031"/>
                  <a:gd name="connsiteY5" fmla="*/ 101544 h 768959"/>
                  <a:gd name="connsiteX6" fmla="*/ 399363 w 501031"/>
                  <a:gd name="connsiteY6" fmla="*/ -47 h 768959"/>
                  <a:gd name="connsiteX7" fmla="*/ 101514 w 501031"/>
                  <a:gd name="connsiteY7" fmla="*/ -47 h 768959"/>
                  <a:gd name="connsiteX8" fmla="*/ -77 w 501031"/>
                  <a:gd name="connsiteY8" fmla="*/ 101544 h 76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031" h="768959">
                    <a:moveTo>
                      <a:pt x="-77" y="101544"/>
                    </a:moveTo>
                    <a:lnTo>
                      <a:pt x="-77" y="512444"/>
                    </a:lnTo>
                    <a:cubicBezTo>
                      <a:pt x="-77" y="648297"/>
                      <a:pt x="105573" y="763975"/>
                      <a:pt x="241307" y="768750"/>
                    </a:cubicBezTo>
                    <a:cubicBezTo>
                      <a:pt x="379678" y="773692"/>
                      <a:pt x="495845" y="665535"/>
                      <a:pt x="500799" y="527164"/>
                    </a:cubicBezTo>
                    <a:cubicBezTo>
                      <a:pt x="500907" y="524131"/>
                      <a:pt x="500955" y="521099"/>
                      <a:pt x="500955" y="518055"/>
                    </a:cubicBezTo>
                    <a:lnTo>
                      <a:pt x="500955" y="101544"/>
                    </a:lnTo>
                    <a:cubicBezTo>
                      <a:pt x="500955" y="45436"/>
                      <a:pt x="455471" y="-47"/>
                      <a:pt x="399363" y="-47"/>
                    </a:cubicBezTo>
                    <a:lnTo>
                      <a:pt x="101514" y="-47"/>
                    </a:lnTo>
                    <a:cubicBezTo>
                      <a:pt x="45406" y="-47"/>
                      <a:pt x="-77" y="45436"/>
                      <a:pt x="-77" y="101544"/>
                    </a:cubicBezTo>
                    <a:close/>
                  </a:path>
                </a:pathLst>
              </a:custGeom>
              <a:solidFill>
                <a:srgbClr val="FAFAFA"/>
              </a:solidFill>
              <a:ln w="11933" cap="flat">
                <a:noFill/>
                <a:prstDash val="solid"/>
                <a:miter/>
              </a:ln>
            </p:spPr>
            <p:txBody>
              <a:bodyPr rtlCol="0" anchor="ctr"/>
              <a:lstStyle/>
              <a:p>
                <a:endParaRPr lang="en-US" sz="2700"/>
              </a:p>
            </p:txBody>
          </p:sp>
          <p:sp>
            <p:nvSpPr>
              <p:cNvPr id="41" name="Freeform: Shape 40">
                <a:extLst>
                  <a:ext uri="{FF2B5EF4-FFF2-40B4-BE49-F238E27FC236}">
                    <a16:creationId xmlns:a16="http://schemas.microsoft.com/office/drawing/2014/main" id="{CFA77A36-CDE4-A961-C0AA-69C495A12672}"/>
                  </a:ext>
                </a:extLst>
              </p:cNvPr>
              <p:cNvSpPr/>
              <p:nvPr/>
            </p:nvSpPr>
            <p:spPr>
              <a:xfrm rot="20279999">
                <a:off x="7276399" y="3421356"/>
                <a:ext cx="843050" cy="843050"/>
              </a:xfrm>
              <a:custGeom>
                <a:avLst/>
                <a:gdLst>
                  <a:gd name="connsiteX0" fmla="*/ 842974 w 843050"/>
                  <a:gd name="connsiteY0" fmla="*/ 421478 h 843050"/>
                  <a:gd name="connsiteX1" fmla="*/ 421448 w 843050"/>
                  <a:gd name="connsiteY1" fmla="*/ 843003 h 843050"/>
                  <a:gd name="connsiteX2" fmla="*/ -77 w 843050"/>
                  <a:gd name="connsiteY2" fmla="*/ 421478 h 843050"/>
                  <a:gd name="connsiteX3" fmla="*/ 421448 w 843050"/>
                  <a:gd name="connsiteY3" fmla="*/ -47 h 843050"/>
                  <a:gd name="connsiteX4" fmla="*/ 842974 w 843050"/>
                  <a:gd name="connsiteY4" fmla="*/ 421478 h 8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050" h="843050">
                    <a:moveTo>
                      <a:pt x="842974" y="421478"/>
                    </a:moveTo>
                    <a:cubicBezTo>
                      <a:pt x="842974" y="654280"/>
                      <a:pt x="654250" y="843003"/>
                      <a:pt x="421448" y="843003"/>
                    </a:cubicBezTo>
                    <a:cubicBezTo>
                      <a:pt x="188647" y="843003"/>
                      <a:pt x="-77" y="654280"/>
                      <a:pt x="-77" y="421478"/>
                    </a:cubicBezTo>
                    <a:cubicBezTo>
                      <a:pt x="-77" y="188676"/>
                      <a:pt x="188647" y="-47"/>
                      <a:pt x="421448" y="-47"/>
                    </a:cubicBezTo>
                    <a:cubicBezTo>
                      <a:pt x="654250" y="-47"/>
                      <a:pt x="842974" y="188676"/>
                      <a:pt x="842974" y="421478"/>
                    </a:cubicBezTo>
                    <a:close/>
                  </a:path>
                </a:pathLst>
              </a:custGeom>
              <a:solidFill>
                <a:schemeClr val="accent2"/>
              </a:solidFill>
              <a:ln w="11933" cap="flat">
                <a:noFill/>
                <a:prstDash val="solid"/>
                <a:miter/>
              </a:ln>
            </p:spPr>
            <p:txBody>
              <a:bodyPr rtlCol="0" anchor="ctr"/>
              <a:lstStyle/>
              <a:p>
                <a:endParaRPr lang="en-US" sz="2700"/>
              </a:p>
            </p:txBody>
          </p:sp>
          <p:sp>
            <p:nvSpPr>
              <p:cNvPr id="42" name="Freeform: Shape 41">
                <a:extLst>
                  <a:ext uri="{FF2B5EF4-FFF2-40B4-BE49-F238E27FC236}">
                    <a16:creationId xmlns:a16="http://schemas.microsoft.com/office/drawing/2014/main" id="{730CA551-C964-9EB7-E3A2-12833806CEBB}"/>
                  </a:ext>
                </a:extLst>
              </p:cNvPr>
              <p:cNvSpPr/>
              <p:nvPr/>
            </p:nvSpPr>
            <p:spPr>
              <a:xfrm>
                <a:off x="7361982" y="3516027"/>
                <a:ext cx="717941" cy="717941"/>
              </a:xfrm>
              <a:custGeom>
                <a:avLst/>
                <a:gdLst>
                  <a:gd name="connsiteX0" fmla="*/ 717942 w 717941"/>
                  <a:gd name="connsiteY0" fmla="*/ 358971 h 717941"/>
                  <a:gd name="connsiteX1" fmla="*/ 358971 w 717941"/>
                  <a:gd name="connsiteY1" fmla="*/ 717942 h 717941"/>
                  <a:gd name="connsiteX2" fmla="*/ 0 w 717941"/>
                  <a:gd name="connsiteY2" fmla="*/ 358971 h 717941"/>
                  <a:gd name="connsiteX3" fmla="*/ 358971 w 717941"/>
                  <a:gd name="connsiteY3" fmla="*/ 0 h 717941"/>
                  <a:gd name="connsiteX4" fmla="*/ 717942 w 717941"/>
                  <a:gd name="connsiteY4" fmla="*/ 358971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942" y="358971"/>
                    </a:moveTo>
                    <a:cubicBezTo>
                      <a:pt x="717942" y="557225"/>
                      <a:pt x="557226" y="717942"/>
                      <a:pt x="358971" y="717942"/>
                    </a:cubicBezTo>
                    <a:cubicBezTo>
                      <a:pt x="160717" y="717942"/>
                      <a:pt x="0" y="557225"/>
                      <a:pt x="0" y="358971"/>
                    </a:cubicBezTo>
                    <a:cubicBezTo>
                      <a:pt x="0" y="160716"/>
                      <a:pt x="160717" y="0"/>
                      <a:pt x="358971" y="0"/>
                    </a:cubicBezTo>
                    <a:cubicBezTo>
                      <a:pt x="557225" y="0"/>
                      <a:pt x="717942" y="160716"/>
                      <a:pt x="717942" y="358971"/>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43" name="Freeform: Shape 42">
                <a:extLst>
                  <a:ext uri="{FF2B5EF4-FFF2-40B4-BE49-F238E27FC236}">
                    <a16:creationId xmlns:a16="http://schemas.microsoft.com/office/drawing/2014/main" id="{68BA1AC9-7742-5844-B19C-C6E2401FACD0}"/>
                  </a:ext>
                </a:extLst>
              </p:cNvPr>
              <p:cNvSpPr/>
              <p:nvPr/>
            </p:nvSpPr>
            <p:spPr>
              <a:xfrm>
                <a:off x="7338948" y="3484306"/>
                <a:ext cx="717941" cy="717941"/>
              </a:xfrm>
              <a:custGeom>
                <a:avLst/>
                <a:gdLst>
                  <a:gd name="connsiteX0" fmla="*/ 717865 w 717941"/>
                  <a:gd name="connsiteY0" fmla="*/ 358924 h 717941"/>
                  <a:gd name="connsiteX1" fmla="*/ 358894 w 717941"/>
                  <a:gd name="connsiteY1" fmla="*/ 717895 h 717941"/>
                  <a:gd name="connsiteX2" fmla="*/ -77 w 717941"/>
                  <a:gd name="connsiteY2" fmla="*/ 358924 h 717941"/>
                  <a:gd name="connsiteX3" fmla="*/ 358894 w 717941"/>
                  <a:gd name="connsiteY3" fmla="*/ -47 h 717941"/>
                  <a:gd name="connsiteX4" fmla="*/ 717865 w 717941"/>
                  <a:gd name="connsiteY4" fmla="*/ 358924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865" y="358924"/>
                    </a:moveTo>
                    <a:cubicBezTo>
                      <a:pt x="717865" y="557178"/>
                      <a:pt x="557149" y="717895"/>
                      <a:pt x="358894" y="717895"/>
                    </a:cubicBezTo>
                    <a:cubicBezTo>
                      <a:pt x="160640" y="717895"/>
                      <a:pt x="-77" y="557178"/>
                      <a:pt x="-77" y="358924"/>
                    </a:cubicBezTo>
                    <a:cubicBezTo>
                      <a:pt x="-77" y="160669"/>
                      <a:pt x="160640" y="-47"/>
                      <a:pt x="358894" y="-47"/>
                    </a:cubicBezTo>
                    <a:cubicBezTo>
                      <a:pt x="557148" y="-47"/>
                      <a:pt x="717865" y="160669"/>
                      <a:pt x="717865" y="358924"/>
                    </a:cubicBezTo>
                    <a:close/>
                  </a:path>
                </a:pathLst>
              </a:custGeom>
              <a:solidFill>
                <a:srgbClr val="FAFAFA"/>
              </a:solidFill>
              <a:ln w="11933" cap="flat">
                <a:noFill/>
                <a:prstDash val="solid"/>
                <a:miter/>
              </a:ln>
            </p:spPr>
            <p:txBody>
              <a:bodyPr rtlCol="0" anchor="ctr"/>
              <a:lstStyle/>
              <a:p>
                <a:pPr algn="ctr"/>
                <a:r>
                  <a:rPr lang="en-US" sz="3600" b="1" dirty="0">
                    <a:solidFill>
                      <a:schemeClr val="tx1">
                        <a:lumMod val="85000"/>
                        <a:lumOff val="15000"/>
                      </a:schemeClr>
                    </a:solidFill>
                    <a:latin typeface="Lora" pitchFamily="2" charset="0"/>
                  </a:rPr>
                  <a:t>3</a:t>
                </a:r>
              </a:p>
            </p:txBody>
          </p:sp>
          <p:sp>
            <p:nvSpPr>
              <p:cNvPr id="45" name="Freeform: Shape 44">
                <a:extLst>
                  <a:ext uri="{FF2B5EF4-FFF2-40B4-BE49-F238E27FC236}">
                    <a16:creationId xmlns:a16="http://schemas.microsoft.com/office/drawing/2014/main" id="{E0F0CFEC-448F-21E2-9154-A2225B0B61D4}"/>
                  </a:ext>
                </a:extLst>
              </p:cNvPr>
              <p:cNvSpPr/>
              <p:nvPr/>
            </p:nvSpPr>
            <p:spPr>
              <a:xfrm>
                <a:off x="4833071" y="3785517"/>
                <a:ext cx="501031" cy="745681"/>
              </a:xfrm>
              <a:custGeom>
                <a:avLst/>
                <a:gdLst>
                  <a:gd name="connsiteX0" fmla="*/ -77 w 501031"/>
                  <a:gd name="connsiteY0" fmla="*/ 106199 h 745681"/>
                  <a:gd name="connsiteX1" fmla="*/ -77 w 501031"/>
                  <a:gd name="connsiteY1" fmla="*/ 489046 h 745681"/>
                  <a:gd name="connsiteX2" fmla="*/ 241307 w 501031"/>
                  <a:gd name="connsiteY2" fmla="*/ 745471 h 745681"/>
                  <a:gd name="connsiteX3" fmla="*/ 500799 w 501031"/>
                  <a:gd name="connsiteY3" fmla="*/ 503885 h 745681"/>
                  <a:gd name="connsiteX4" fmla="*/ 500955 w 501031"/>
                  <a:gd name="connsiteY4" fmla="*/ 494776 h 745681"/>
                  <a:gd name="connsiteX5" fmla="*/ 500955 w 501031"/>
                  <a:gd name="connsiteY5" fmla="*/ 106199 h 745681"/>
                  <a:gd name="connsiteX6" fmla="*/ 394827 w 501031"/>
                  <a:gd name="connsiteY6" fmla="*/ -47 h 745681"/>
                  <a:gd name="connsiteX7" fmla="*/ 106170 w 501031"/>
                  <a:gd name="connsiteY7" fmla="*/ -47 h 745681"/>
                  <a:gd name="connsiteX8" fmla="*/ -77 w 501031"/>
                  <a:gd name="connsiteY8" fmla="*/ 106199 h 74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031" h="745681">
                    <a:moveTo>
                      <a:pt x="-77" y="106199"/>
                    </a:moveTo>
                    <a:lnTo>
                      <a:pt x="-77" y="489046"/>
                    </a:lnTo>
                    <a:cubicBezTo>
                      <a:pt x="-77" y="624899"/>
                      <a:pt x="105573" y="740577"/>
                      <a:pt x="241307" y="745471"/>
                    </a:cubicBezTo>
                    <a:cubicBezTo>
                      <a:pt x="379678" y="750413"/>
                      <a:pt x="495845" y="642256"/>
                      <a:pt x="500799" y="503885"/>
                    </a:cubicBezTo>
                    <a:cubicBezTo>
                      <a:pt x="500906" y="500853"/>
                      <a:pt x="500955" y="497820"/>
                      <a:pt x="500955" y="494776"/>
                    </a:cubicBezTo>
                    <a:lnTo>
                      <a:pt x="500955" y="106199"/>
                    </a:lnTo>
                    <a:cubicBezTo>
                      <a:pt x="500955" y="47573"/>
                      <a:pt x="453454" y="25"/>
                      <a:pt x="394827" y="-47"/>
                    </a:cubicBezTo>
                    <a:lnTo>
                      <a:pt x="106170" y="-47"/>
                    </a:lnTo>
                    <a:cubicBezTo>
                      <a:pt x="47495" y="-47"/>
                      <a:pt x="-77" y="47525"/>
                      <a:pt x="-77" y="106199"/>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46" name="Freeform: Shape 45">
                <a:extLst>
                  <a:ext uri="{FF2B5EF4-FFF2-40B4-BE49-F238E27FC236}">
                    <a16:creationId xmlns:a16="http://schemas.microsoft.com/office/drawing/2014/main" id="{94813088-A54E-8386-36B1-E0E4159AC5E8}"/>
                  </a:ext>
                </a:extLst>
              </p:cNvPr>
              <p:cNvSpPr/>
              <p:nvPr/>
            </p:nvSpPr>
            <p:spPr>
              <a:xfrm>
                <a:off x="4841152" y="3692921"/>
                <a:ext cx="501031" cy="768959"/>
              </a:xfrm>
              <a:custGeom>
                <a:avLst/>
                <a:gdLst>
                  <a:gd name="connsiteX0" fmla="*/ -77 w 501031"/>
                  <a:gd name="connsiteY0" fmla="*/ 101544 h 768959"/>
                  <a:gd name="connsiteX1" fmla="*/ -77 w 501031"/>
                  <a:gd name="connsiteY1" fmla="*/ 512444 h 768959"/>
                  <a:gd name="connsiteX2" fmla="*/ 241307 w 501031"/>
                  <a:gd name="connsiteY2" fmla="*/ 768750 h 768959"/>
                  <a:gd name="connsiteX3" fmla="*/ 500799 w 501031"/>
                  <a:gd name="connsiteY3" fmla="*/ 527164 h 768959"/>
                  <a:gd name="connsiteX4" fmla="*/ 500955 w 501031"/>
                  <a:gd name="connsiteY4" fmla="*/ 518055 h 768959"/>
                  <a:gd name="connsiteX5" fmla="*/ 500955 w 501031"/>
                  <a:gd name="connsiteY5" fmla="*/ 101544 h 768959"/>
                  <a:gd name="connsiteX6" fmla="*/ 399363 w 501031"/>
                  <a:gd name="connsiteY6" fmla="*/ -47 h 768959"/>
                  <a:gd name="connsiteX7" fmla="*/ 101514 w 501031"/>
                  <a:gd name="connsiteY7" fmla="*/ -47 h 768959"/>
                  <a:gd name="connsiteX8" fmla="*/ -77 w 501031"/>
                  <a:gd name="connsiteY8" fmla="*/ 101544 h 76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031" h="768959">
                    <a:moveTo>
                      <a:pt x="-77" y="101544"/>
                    </a:moveTo>
                    <a:lnTo>
                      <a:pt x="-77" y="512444"/>
                    </a:lnTo>
                    <a:cubicBezTo>
                      <a:pt x="-77" y="648297"/>
                      <a:pt x="105573" y="763975"/>
                      <a:pt x="241307" y="768750"/>
                    </a:cubicBezTo>
                    <a:cubicBezTo>
                      <a:pt x="379678" y="773692"/>
                      <a:pt x="495845" y="665535"/>
                      <a:pt x="500799" y="527164"/>
                    </a:cubicBezTo>
                    <a:cubicBezTo>
                      <a:pt x="500907" y="524131"/>
                      <a:pt x="500955" y="521099"/>
                      <a:pt x="500955" y="518055"/>
                    </a:cubicBezTo>
                    <a:lnTo>
                      <a:pt x="500955" y="101544"/>
                    </a:lnTo>
                    <a:cubicBezTo>
                      <a:pt x="500955" y="45436"/>
                      <a:pt x="455471" y="-47"/>
                      <a:pt x="399363" y="-47"/>
                    </a:cubicBezTo>
                    <a:lnTo>
                      <a:pt x="101514" y="-47"/>
                    </a:lnTo>
                    <a:cubicBezTo>
                      <a:pt x="45406" y="-47"/>
                      <a:pt x="-77" y="45436"/>
                      <a:pt x="-77" y="101544"/>
                    </a:cubicBezTo>
                    <a:close/>
                  </a:path>
                </a:pathLst>
              </a:custGeom>
              <a:solidFill>
                <a:srgbClr val="FAFAFA"/>
              </a:solidFill>
              <a:ln w="11933" cap="flat">
                <a:noFill/>
                <a:prstDash val="solid"/>
                <a:miter/>
              </a:ln>
            </p:spPr>
            <p:txBody>
              <a:bodyPr rtlCol="0" anchor="ctr"/>
              <a:lstStyle/>
              <a:p>
                <a:endParaRPr lang="en-US" sz="2700"/>
              </a:p>
            </p:txBody>
          </p:sp>
          <p:sp>
            <p:nvSpPr>
              <p:cNvPr id="48" name="Freeform: Shape 47">
                <a:extLst>
                  <a:ext uri="{FF2B5EF4-FFF2-40B4-BE49-F238E27FC236}">
                    <a16:creationId xmlns:a16="http://schemas.microsoft.com/office/drawing/2014/main" id="{D0A9B9E4-C5F0-5E05-6DF2-E9B88D09217F}"/>
                  </a:ext>
                </a:extLst>
              </p:cNvPr>
              <p:cNvSpPr/>
              <p:nvPr/>
            </p:nvSpPr>
            <p:spPr>
              <a:xfrm>
                <a:off x="4617233" y="5145542"/>
                <a:ext cx="500912" cy="745557"/>
              </a:xfrm>
              <a:custGeom>
                <a:avLst/>
                <a:gdLst>
                  <a:gd name="connsiteX0" fmla="*/ -77 w 500912"/>
                  <a:gd name="connsiteY0" fmla="*/ 106080 h 745557"/>
                  <a:gd name="connsiteX1" fmla="*/ -77 w 500912"/>
                  <a:gd name="connsiteY1" fmla="*/ 489046 h 745557"/>
                  <a:gd name="connsiteX2" fmla="*/ 241307 w 500912"/>
                  <a:gd name="connsiteY2" fmla="*/ 745352 h 745557"/>
                  <a:gd name="connsiteX3" fmla="*/ 500680 w 500912"/>
                  <a:gd name="connsiteY3" fmla="*/ 503646 h 745557"/>
                  <a:gd name="connsiteX4" fmla="*/ 500835 w 500912"/>
                  <a:gd name="connsiteY4" fmla="*/ 494657 h 745557"/>
                  <a:gd name="connsiteX5" fmla="*/ 500835 w 500912"/>
                  <a:gd name="connsiteY5" fmla="*/ 106080 h 745557"/>
                  <a:gd name="connsiteX6" fmla="*/ 394708 w 500912"/>
                  <a:gd name="connsiteY6" fmla="*/ -47 h 745557"/>
                  <a:gd name="connsiteX7" fmla="*/ 106051 w 500912"/>
                  <a:gd name="connsiteY7" fmla="*/ -47 h 745557"/>
                  <a:gd name="connsiteX8" fmla="*/ -77 w 500912"/>
                  <a:gd name="connsiteY8" fmla="*/ 106080 h 74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0912" h="745557">
                    <a:moveTo>
                      <a:pt x="-77" y="106080"/>
                    </a:moveTo>
                    <a:lnTo>
                      <a:pt x="-77" y="489046"/>
                    </a:lnTo>
                    <a:cubicBezTo>
                      <a:pt x="-77" y="624899"/>
                      <a:pt x="105454" y="740577"/>
                      <a:pt x="241307" y="745352"/>
                    </a:cubicBezTo>
                    <a:cubicBezTo>
                      <a:pt x="379678" y="750234"/>
                      <a:pt x="495798" y="642018"/>
                      <a:pt x="500680" y="503646"/>
                    </a:cubicBezTo>
                    <a:cubicBezTo>
                      <a:pt x="500788" y="500650"/>
                      <a:pt x="500835" y="497653"/>
                      <a:pt x="500835" y="494657"/>
                    </a:cubicBezTo>
                    <a:lnTo>
                      <a:pt x="500835" y="106080"/>
                    </a:lnTo>
                    <a:cubicBezTo>
                      <a:pt x="500835" y="47465"/>
                      <a:pt x="453323" y="-47"/>
                      <a:pt x="394708" y="-47"/>
                    </a:cubicBezTo>
                    <a:lnTo>
                      <a:pt x="106051" y="-47"/>
                    </a:lnTo>
                    <a:cubicBezTo>
                      <a:pt x="47436" y="-47"/>
                      <a:pt x="-77" y="47465"/>
                      <a:pt x="-77" y="106080"/>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49" name="Freeform: Shape 48">
                <a:extLst>
                  <a:ext uri="{FF2B5EF4-FFF2-40B4-BE49-F238E27FC236}">
                    <a16:creationId xmlns:a16="http://schemas.microsoft.com/office/drawing/2014/main" id="{D4599FFD-BB0B-36D1-8D56-965E7530102C}"/>
                  </a:ext>
                </a:extLst>
              </p:cNvPr>
              <p:cNvSpPr/>
              <p:nvPr/>
            </p:nvSpPr>
            <p:spPr>
              <a:xfrm>
                <a:off x="4598730" y="5099820"/>
                <a:ext cx="501031" cy="768959"/>
              </a:xfrm>
              <a:custGeom>
                <a:avLst/>
                <a:gdLst>
                  <a:gd name="connsiteX0" fmla="*/ -77 w 501031"/>
                  <a:gd name="connsiteY0" fmla="*/ 101544 h 768959"/>
                  <a:gd name="connsiteX1" fmla="*/ -77 w 501031"/>
                  <a:gd name="connsiteY1" fmla="*/ 512444 h 768959"/>
                  <a:gd name="connsiteX2" fmla="*/ 241307 w 501031"/>
                  <a:gd name="connsiteY2" fmla="*/ 768750 h 768959"/>
                  <a:gd name="connsiteX3" fmla="*/ 500799 w 501031"/>
                  <a:gd name="connsiteY3" fmla="*/ 527164 h 768959"/>
                  <a:gd name="connsiteX4" fmla="*/ 500955 w 501031"/>
                  <a:gd name="connsiteY4" fmla="*/ 518055 h 768959"/>
                  <a:gd name="connsiteX5" fmla="*/ 500955 w 501031"/>
                  <a:gd name="connsiteY5" fmla="*/ 101544 h 768959"/>
                  <a:gd name="connsiteX6" fmla="*/ 399363 w 501031"/>
                  <a:gd name="connsiteY6" fmla="*/ -47 h 768959"/>
                  <a:gd name="connsiteX7" fmla="*/ 101514 w 501031"/>
                  <a:gd name="connsiteY7" fmla="*/ -47 h 768959"/>
                  <a:gd name="connsiteX8" fmla="*/ -77 w 501031"/>
                  <a:gd name="connsiteY8" fmla="*/ 101544 h 76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031" h="768959">
                    <a:moveTo>
                      <a:pt x="-77" y="101544"/>
                    </a:moveTo>
                    <a:lnTo>
                      <a:pt x="-77" y="512444"/>
                    </a:lnTo>
                    <a:cubicBezTo>
                      <a:pt x="-77" y="648297"/>
                      <a:pt x="105573" y="763975"/>
                      <a:pt x="241307" y="768750"/>
                    </a:cubicBezTo>
                    <a:cubicBezTo>
                      <a:pt x="379678" y="773692"/>
                      <a:pt x="495845" y="665535"/>
                      <a:pt x="500799" y="527164"/>
                    </a:cubicBezTo>
                    <a:cubicBezTo>
                      <a:pt x="500907" y="524131"/>
                      <a:pt x="500955" y="521099"/>
                      <a:pt x="500955" y="518055"/>
                    </a:cubicBezTo>
                    <a:lnTo>
                      <a:pt x="500955" y="101544"/>
                    </a:lnTo>
                    <a:cubicBezTo>
                      <a:pt x="500955" y="45436"/>
                      <a:pt x="455471" y="-47"/>
                      <a:pt x="399363" y="-47"/>
                    </a:cubicBezTo>
                    <a:lnTo>
                      <a:pt x="101514" y="-47"/>
                    </a:lnTo>
                    <a:cubicBezTo>
                      <a:pt x="45406" y="-47"/>
                      <a:pt x="-77" y="45436"/>
                      <a:pt x="-77" y="101544"/>
                    </a:cubicBezTo>
                    <a:close/>
                  </a:path>
                </a:pathLst>
              </a:custGeom>
              <a:solidFill>
                <a:srgbClr val="FAFAFA"/>
              </a:solidFill>
              <a:ln w="11933" cap="flat">
                <a:noFill/>
                <a:prstDash val="solid"/>
                <a:miter/>
              </a:ln>
            </p:spPr>
            <p:txBody>
              <a:bodyPr rtlCol="0" anchor="ctr"/>
              <a:lstStyle/>
              <a:p>
                <a:endParaRPr lang="en-US" sz="2700"/>
              </a:p>
            </p:txBody>
          </p:sp>
          <p:sp>
            <p:nvSpPr>
              <p:cNvPr id="50" name="Freeform: Shape 49">
                <a:extLst>
                  <a:ext uri="{FF2B5EF4-FFF2-40B4-BE49-F238E27FC236}">
                    <a16:creationId xmlns:a16="http://schemas.microsoft.com/office/drawing/2014/main" id="{EFD30DDA-11FA-E577-30FC-F7DC6147BE0F}"/>
                  </a:ext>
                </a:extLst>
              </p:cNvPr>
              <p:cNvSpPr/>
              <p:nvPr/>
            </p:nvSpPr>
            <p:spPr>
              <a:xfrm>
                <a:off x="6851400" y="4795764"/>
                <a:ext cx="843050" cy="843050"/>
              </a:xfrm>
              <a:custGeom>
                <a:avLst/>
                <a:gdLst>
                  <a:gd name="connsiteX0" fmla="*/ 843050 w 843050"/>
                  <a:gd name="connsiteY0" fmla="*/ 421525 h 843050"/>
                  <a:gd name="connsiteX1" fmla="*/ 421525 w 843050"/>
                  <a:gd name="connsiteY1" fmla="*/ 843050 h 843050"/>
                  <a:gd name="connsiteX2" fmla="*/ 0 w 843050"/>
                  <a:gd name="connsiteY2" fmla="*/ 421525 h 843050"/>
                  <a:gd name="connsiteX3" fmla="*/ 421525 w 843050"/>
                  <a:gd name="connsiteY3" fmla="*/ 0 h 843050"/>
                  <a:gd name="connsiteX4" fmla="*/ 843050 w 843050"/>
                  <a:gd name="connsiteY4" fmla="*/ 421525 h 8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050" h="843050">
                    <a:moveTo>
                      <a:pt x="843050" y="421525"/>
                    </a:moveTo>
                    <a:cubicBezTo>
                      <a:pt x="843050" y="654327"/>
                      <a:pt x="654327" y="843050"/>
                      <a:pt x="421525" y="843050"/>
                    </a:cubicBezTo>
                    <a:cubicBezTo>
                      <a:pt x="188723" y="843050"/>
                      <a:pt x="0" y="654327"/>
                      <a:pt x="0" y="421525"/>
                    </a:cubicBezTo>
                    <a:cubicBezTo>
                      <a:pt x="0" y="188723"/>
                      <a:pt x="188723" y="0"/>
                      <a:pt x="421525" y="0"/>
                    </a:cubicBezTo>
                    <a:cubicBezTo>
                      <a:pt x="654327" y="0"/>
                      <a:pt x="843050" y="188723"/>
                      <a:pt x="843050" y="421525"/>
                    </a:cubicBezTo>
                    <a:close/>
                  </a:path>
                </a:pathLst>
              </a:custGeom>
              <a:solidFill>
                <a:schemeClr val="accent5"/>
              </a:solidFill>
              <a:ln w="11933" cap="flat">
                <a:noFill/>
                <a:prstDash val="solid"/>
                <a:miter/>
              </a:ln>
            </p:spPr>
            <p:txBody>
              <a:bodyPr rtlCol="0" anchor="ctr"/>
              <a:lstStyle/>
              <a:p>
                <a:endParaRPr lang="en-US" sz="2700"/>
              </a:p>
            </p:txBody>
          </p:sp>
          <p:sp>
            <p:nvSpPr>
              <p:cNvPr id="51" name="Freeform: Shape 50">
                <a:extLst>
                  <a:ext uri="{FF2B5EF4-FFF2-40B4-BE49-F238E27FC236}">
                    <a16:creationId xmlns:a16="http://schemas.microsoft.com/office/drawing/2014/main" id="{CB291898-E459-CC82-7E3E-ABCAC0B8E4EB}"/>
                  </a:ext>
                </a:extLst>
              </p:cNvPr>
              <p:cNvSpPr/>
              <p:nvPr/>
            </p:nvSpPr>
            <p:spPr>
              <a:xfrm>
                <a:off x="6930906" y="4890073"/>
                <a:ext cx="717941" cy="717941"/>
              </a:xfrm>
              <a:custGeom>
                <a:avLst/>
                <a:gdLst>
                  <a:gd name="connsiteX0" fmla="*/ 717942 w 717941"/>
                  <a:gd name="connsiteY0" fmla="*/ 358971 h 717941"/>
                  <a:gd name="connsiteX1" fmla="*/ 358971 w 717941"/>
                  <a:gd name="connsiteY1" fmla="*/ 717942 h 717941"/>
                  <a:gd name="connsiteX2" fmla="*/ 0 w 717941"/>
                  <a:gd name="connsiteY2" fmla="*/ 358971 h 717941"/>
                  <a:gd name="connsiteX3" fmla="*/ 358971 w 717941"/>
                  <a:gd name="connsiteY3" fmla="*/ 0 h 717941"/>
                  <a:gd name="connsiteX4" fmla="*/ 717942 w 717941"/>
                  <a:gd name="connsiteY4" fmla="*/ 358971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942" y="358971"/>
                    </a:moveTo>
                    <a:cubicBezTo>
                      <a:pt x="717942" y="557225"/>
                      <a:pt x="557225" y="717942"/>
                      <a:pt x="358971" y="717942"/>
                    </a:cubicBezTo>
                    <a:cubicBezTo>
                      <a:pt x="160717" y="717942"/>
                      <a:pt x="0" y="557225"/>
                      <a:pt x="0" y="358971"/>
                    </a:cubicBezTo>
                    <a:cubicBezTo>
                      <a:pt x="0" y="160717"/>
                      <a:pt x="160716" y="0"/>
                      <a:pt x="358971" y="0"/>
                    </a:cubicBezTo>
                    <a:cubicBezTo>
                      <a:pt x="557224" y="0"/>
                      <a:pt x="717942" y="160717"/>
                      <a:pt x="717942" y="358971"/>
                    </a:cubicBezTo>
                    <a:close/>
                  </a:path>
                </a:pathLst>
              </a:custGeom>
              <a:solidFill>
                <a:srgbClr val="606060">
                  <a:alpha val="38000"/>
                </a:srgbClr>
              </a:solidFill>
              <a:ln w="11933" cap="flat">
                <a:noFill/>
                <a:prstDash val="solid"/>
                <a:miter/>
              </a:ln>
            </p:spPr>
            <p:txBody>
              <a:bodyPr rtlCol="0" anchor="ctr"/>
              <a:lstStyle/>
              <a:p>
                <a:endParaRPr lang="en-US" sz="2700"/>
              </a:p>
            </p:txBody>
          </p:sp>
          <p:sp>
            <p:nvSpPr>
              <p:cNvPr id="52" name="Freeform: Shape 51">
                <a:extLst>
                  <a:ext uri="{FF2B5EF4-FFF2-40B4-BE49-F238E27FC236}">
                    <a16:creationId xmlns:a16="http://schemas.microsoft.com/office/drawing/2014/main" id="{A2578448-FF44-6B25-9917-807587960673}"/>
                  </a:ext>
                </a:extLst>
              </p:cNvPr>
              <p:cNvSpPr/>
              <p:nvPr/>
            </p:nvSpPr>
            <p:spPr>
              <a:xfrm>
                <a:off x="6913955" y="4858318"/>
                <a:ext cx="717941" cy="717941"/>
              </a:xfrm>
              <a:custGeom>
                <a:avLst/>
                <a:gdLst>
                  <a:gd name="connsiteX0" fmla="*/ 717942 w 717941"/>
                  <a:gd name="connsiteY0" fmla="*/ 358971 h 717941"/>
                  <a:gd name="connsiteX1" fmla="*/ 358971 w 717941"/>
                  <a:gd name="connsiteY1" fmla="*/ 717942 h 717941"/>
                  <a:gd name="connsiteX2" fmla="*/ 0 w 717941"/>
                  <a:gd name="connsiteY2" fmla="*/ 358971 h 717941"/>
                  <a:gd name="connsiteX3" fmla="*/ 358971 w 717941"/>
                  <a:gd name="connsiteY3" fmla="*/ 0 h 717941"/>
                  <a:gd name="connsiteX4" fmla="*/ 717942 w 717941"/>
                  <a:gd name="connsiteY4" fmla="*/ 358971 h 717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41" h="717941">
                    <a:moveTo>
                      <a:pt x="717942" y="358971"/>
                    </a:moveTo>
                    <a:cubicBezTo>
                      <a:pt x="717942" y="557225"/>
                      <a:pt x="557225" y="717942"/>
                      <a:pt x="358971" y="717942"/>
                    </a:cubicBezTo>
                    <a:cubicBezTo>
                      <a:pt x="160717" y="717942"/>
                      <a:pt x="0" y="557225"/>
                      <a:pt x="0" y="358971"/>
                    </a:cubicBezTo>
                    <a:cubicBezTo>
                      <a:pt x="0" y="160717"/>
                      <a:pt x="160716" y="0"/>
                      <a:pt x="358971" y="0"/>
                    </a:cubicBezTo>
                    <a:cubicBezTo>
                      <a:pt x="557225" y="0"/>
                      <a:pt x="717942" y="160717"/>
                      <a:pt x="717942" y="358971"/>
                    </a:cubicBezTo>
                    <a:close/>
                  </a:path>
                </a:pathLst>
              </a:custGeom>
              <a:solidFill>
                <a:srgbClr val="FAFAFA"/>
              </a:solidFill>
              <a:ln w="11933" cap="flat">
                <a:noFill/>
                <a:prstDash val="solid"/>
                <a:miter/>
              </a:ln>
            </p:spPr>
            <p:txBody>
              <a:bodyPr rtlCol="0" anchor="ctr"/>
              <a:lstStyle/>
              <a:p>
                <a:pPr algn="ctr"/>
                <a:r>
                  <a:rPr lang="en-US" sz="3600" b="1" dirty="0">
                    <a:solidFill>
                      <a:schemeClr val="tx1">
                        <a:lumMod val="85000"/>
                        <a:lumOff val="15000"/>
                      </a:schemeClr>
                    </a:solidFill>
                    <a:latin typeface="Lora" pitchFamily="2" charset="0"/>
                  </a:rPr>
                  <a:t>4</a:t>
                </a:r>
              </a:p>
            </p:txBody>
          </p:sp>
          <p:pic>
            <p:nvPicPr>
              <p:cNvPr id="65" name="Picture 64" descr="A black background with a black square&#10;&#10;Description automatically generated with medium confidence">
                <a:extLst>
                  <a:ext uri="{FF2B5EF4-FFF2-40B4-BE49-F238E27FC236}">
                    <a16:creationId xmlns:a16="http://schemas.microsoft.com/office/drawing/2014/main" id="{C8E8A253-98C5-3651-DED0-0C3B9B39E5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2258" y="1328391"/>
                <a:ext cx="383708" cy="383708"/>
              </a:xfrm>
              <a:prstGeom prst="rect">
                <a:avLst/>
              </a:prstGeom>
            </p:spPr>
          </p:pic>
          <p:pic>
            <p:nvPicPr>
              <p:cNvPr id="67" name="Picture 66" descr="A black background with a black square&#10;&#10;Description automatically generated with medium confidence">
                <a:extLst>
                  <a:ext uri="{FF2B5EF4-FFF2-40B4-BE49-F238E27FC236}">
                    <a16:creationId xmlns:a16="http://schemas.microsoft.com/office/drawing/2014/main" id="{824A65A2-06C2-5039-6D63-D4395FAA3A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1274" y="2666723"/>
                <a:ext cx="348316" cy="348316"/>
              </a:xfrm>
              <a:prstGeom prst="rect">
                <a:avLst/>
              </a:prstGeom>
            </p:spPr>
          </p:pic>
          <p:pic>
            <p:nvPicPr>
              <p:cNvPr id="69" name="Picture 68" descr="A black background with a black square&#10;&#10;Description automatically generated with medium confidence">
                <a:extLst>
                  <a:ext uri="{FF2B5EF4-FFF2-40B4-BE49-F238E27FC236}">
                    <a16:creationId xmlns:a16="http://schemas.microsoft.com/office/drawing/2014/main" id="{0A9DD42E-2B1B-1E58-FCC3-5A387AEE95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08671" y="3901433"/>
                <a:ext cx="369332" cy="369332"/>
              </a:xfrm>
              <a:prstGeom prst="rect">
                <a:avLst/>
              </a:prstGeom>
            </p:spPr>
          </p:pic>
          <p:pic>
            <p:nvPicPr>
              <p:cNvPr id="71" name="Picture 70" descr="A black background with a black square&#10;&#10;Description automatically generated with medium confidence">
                <a:extLst>
                  <a:ext uri="{FF2B5EF4-FFF2-40B4-BE49-F238E27FC236}">
                    <a16:creationId xmlns:a16="http://schemas.microsoft.com/office/drawing/2014/main" id="{0C0EBFBC-2F90-BBBD-E8AA-C272A54D9B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07708" y="5342762"/>
                <a:ext cx="283075" cy="283075"/>
              </a:xfrm>
              <a:prstGeom prst="rect">
                <a:avLst/>
              </a:prstGeom>
            </p:spPr>
          </p:pic>
        </p:grpSp>
      </p:grpSp>
      <p:sp>
        <p:nvSpPr>
          <p:cNvPr id="2" name="AutoShape 3">
            <a:extLst>
              <a:ext uri="{FF2B5EF4-FFF2-40B4-BE49-F238E27FC236}">
                <a16:creationId xmlns:a16="http://schemas.microsoft.com/office/drawing/2014/main" id="{A4C60BB0-6D20-7CC2-DEBC-EE1B47D7033E}"/>
              </a:ext>
            </a:extLst>
          </p:cNvPr>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3" name="Group 5">
            <a:extLst>
              <a:ext uri="{FF2B5EF4-FFF2-40B4-BE49-F238E27FC236}">
                <a16:creationId xmlns:a16="http://schemas.microsoft.com/office/drawing/2014/main" id="{6098D033-F030-0C21-6850-F5DCC983CBEE}"/>
              </a:ext>
            </a:extLst>
          </p:cNvPr>
          <p:cNvGrpSpPr/>
          <p:nvPr/>
        </p:nvGrpSpPr>
        <p:grpSpPr>
          <a:xfrm>
            <a:off x="13195926" y="442716"/>
            <a:ext cx="4063374" cy="1054961"/>
            <a:chOff x="0" y="0"/>
            <a:chExt cx="5417832" cy="1406615"/>
          </a:xfrm>
        </p:grpSpPr>
        <p:sp>
          <p:nvSpPr>
            <p:cNvPr id="4" name="Freeform 6">
              <a:extLst>
                <a:ext uri="{FF2B5EF4-FFF2-40B4-BE49-F238E27FC236}">
                  <a16:creationId xmlns:a16="http://schemas.microsoft.com/office/drawing/2014/main" id="{5E7EC8F1-0E89-7F16-6E2E-B966465415B2}"/>
                </a:ext>
              </a:extLst>
            </p:cNvPr>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6"/>
              <a:stretch>
                <a:fillRect/>
              </a:stretch>
            </a:blipFill>
          </p:spPr>
        </p:sp>
        <p:sp>
          <p:nvSpPr>
            <p:cNvPr id="5" name="Freeform 7" descr="Professional Bodies That IINH Work Closely With">
              <a:extLst>
                <a:ext uri="{FF2B5EF4-FFF2-40B4-BE49-F238E27FC236}">
                  <a16:creationId xmlns:a16="http://schemas.microsoft.com/office/drawing/2014/main" id="{11F0D613-26C6-FC1F-F54D-28057F963444}"/>
                </a:ext>
              </a:extLst>
            </p:cNvPr>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7"/>
              <a:stretch>
                <a:fillRect/>
              </a:stretch>
            </a:blipFill>
          </p:spPr>
        </p:sp>
      </p:grpSp>
      <p:sp>
        <p:nvSpPr>
          <p:cNvPr id="7" name="TextBox 6">
            <a:extLst>
              <a:ext uri="{FF2B5EF4-FFF2-40B4-BE49-F238E27FC236}">
                <a16:creationId xmlns:a16="http://schemas.microsoft.com/office/drawing/2014/main" id="{CC3B303B-38FF-D2D8-7B5E-25939341A6A5}"/>
              </a:ext>
            </a:extLst>
          </p:cNvPr>
          <p:cNvSpPr txBox="1"/>
          <p:nvPr/>
        </p:nvSpPr>
        <p:spPr>
          <a:xfrm>
            <a:off x="1028700" y="952500"/>
            <a:ext cx="4293370" cy="707886"/>
          </a:xfrm>
          <a:prstGeom prst="rect">
            <a:avLst/>
          </a:prstGeom>
          <a:noFill/>
        </p:spPr>
        <p:txBody>
          <a:bodyPr wrap="square" rtlCol="0">
            <a:spAutoFit/>
          </a:bodyPr>
          <a:lstStyle/>
          <a:p>
            <a:r>
              <a:rPr lang="en-US" sz="4000" dirty="0">
                <a:latin typeface="Open Sans" panose="020B0606030504020204" pitchFamily="34" charset="0"/>
                <a:ea typeface="Open Sans" panose="020B0606030504020204" pitchFamily="34" charset="0"/>
                <a:cs typeface="Open Sans" panose="020B0606030504020204" pitchFamily="34" charset="0"/>
              </a:rPr>
              <a:t>Introduction</a:t>
            </a:r>
            <a:endParaRPr lang="ru-RU" sz="4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9581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a:solidFill>
                  <a:srgbClr val="000000"/>
                </a:solidFill>
                <a:latin typeface="Open Sans"/>
                <a:ea typeface="Open Sans"/>
                <a:cs typeface="Open Sans"/>
                <a:sym typeface="Open Sans"/>
              </a:rPr>
              <a:t>Group discussion</a:t>
            </a: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pic>
        <p:nvPicPr>
          <p:cNvPr id="2052" name="Picture 4" descr="The invention is significant but innovation is for genius">
            <a:extLst>
              <a:ext uri="{FF2B5EF4-FFF2-40B4-BE49-F238E27FC236}">
                <a16:creationId xmlns:a16="http://schemas.microsoft.com/office/drawing/2014/main" id="{31AAAEF7-5727-1AAB-8DA9-5C760F1023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153392"/>
            <a:ext cx="10210800" cy="7658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a:solidFill>
                  <a:srgbClr val="000000"/>
                </a:solidFill>
                <a:latin typeface="Open Sans"/>
                <a:ea typeface="Open Sans"/>
                <a:cs typeface="Open Sans"/>
                <a:sym typeface="Open Sans"/>
              </a:rPr>
              <a:t>Innovation</a:t>
            </a: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pic>
        <p:nvPicPr>
          <p:cNvPr id="3074" name="Picture 2" descr="Radical &amp; Incremental Innovation — Ed Elias">
            <a:extLst>
              <a:ext uri="{FF2B5EF4-FFF2-40B4-BE49-F238E27FC236}">
                <a16:creationId xmlns:a16="http://schemas.microsoft.com/office/drawing/2014/main" id="{E1ABD13F-A516-A9C5-7B28-0D1DFBD0D0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400" y="2426494"/>
            <a:ext cx="5270513" cy="2233611"/>
          </a:xfrm>
          <a:prstGeom prst="rect">
            <a:avLst/>
          </a:prstGeom>
          <a:noFill/>
          <a:extLst>
            <a:ext uri="{909E8E84-426E-40DD-AFC4-6F175D3DCCD1}">
              <a14:hiddenFill xmlns:a14="http://schemas.microsoft.com/office/drawing/2010/main">
                <a:solidFill>
                  <a:srgbClr val="FFFFFF"/>
                </a:solidFill>
              </a14:hiddenFill>
            </a:ext>
          </a:extLst>
        </p:spPr>
      </p:pic>
      <p:sp>
        <p:nvSpPr>
          <p:cNvPr id="10" name="Стрелка: вправо 9">
            <a:extLst>
              <a:ext uri="{FF2B5EF4-FFF2-40B4-BE49-F238E27FC236}">
                <a16:creationId xmlns:a16="http://schemas.microsoft.com/office/drawing/2014/main" id="{F897842C-164D-E3A5-4634-3DA6E6FEAEB6}"/>
              </a:ext>
            </a:extLst>
          </p:cNvPr>
          <p:cNvSpPr/>
          <p:nvPr/>
        </p:nvSpPr>
        <p:spPr>
          <a:xfrm>
            <a:off x="1905000" y="2705100"/>
            <a:ext cx="3200400" cy="2133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Incremental innovation</a:t>
            </a:r>
            <a:endParaRPr lang="ru-RU"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Стрелка: влево 10">
            <a:extLst>
              <a:ext uri="{FF2B5EF4-FFF2-40B4-BE49-F238E27FC236}">
                <a16:creationId xmlns:a16="http://schemas.microsoft.com/office/drawing/2014/main" id="{19C81CA8-D37B-C4CF-7886-1FE8C63A1780}"/>
              </a:ext>
            </a:extLst>
          </p:cNvPr>
          <p:cNvSpPr/>
          <p:nvPr/>
        </p:nvSpPr>
        <p:spPr>
          <a:xfrm>
            <a:off x="12192000" y="6210300"/>
            <a:ext cx="3276600" cy="205740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Radical Innovation</a:t>
            </a:r>
            <a:endParaRPr lang="ru-RU" sz="28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076" name="Picture 4">
            <a:extLst>
              <a:ext uri="{FF2B5EF4-FFF2-40B4-BE49-F238E27FC236}">
                <a16:creationId xmlns:a16="http://schemas.microsoft.com/office/drawing/2014/main" id="{17303A2D-29BF-DA8F-63D8-F0E7E98630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5626896"/>
            <a:ext cx="3771900" cy="308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71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a:solidFill>
                  <a:srgbClr val="000000"/>
                </a:solidFill>
                <a:latin typeface="Open Sans"/>
                <a:ea typeface="Open Sans"/>
                <a:cs typeface="Open Sans"/>
                <a:sym typeface="Open Sans"/>
              </a:rPr>
              <a:t>Digital Innovation</a:t>
            </a: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9" name="TextBox 8">
            <a:extLst>
              <a:ext uri="{FF2B5EF4-FFF2-40B4-BE49-F238E27FC236}">
                <a16:creationId xmlns:a16="http://schemas.microsoft.com/office/drawing/2014/main" id="{A3BB91B8-46E8-9680-1B95-E72E4A4FB4B8}"/>
              </a:ext>
            </a:extLst>
          </p:cNvPr>
          <p:cNvSpPr txBox="1"/>
          <p:nvPr/>
        </p:nvSpPr>
        <p:spPr>
          <a:xfrm>
            <a:off x="3124200" y="2400300"/>
            <a:ext cx="11430000" cy="998863"/>
          </a:xfrm>
          <a:prstGeom prst="rect">
            <a:avLst/>
          </a:prstGeom>
          <a:noFill/>
        </p:spPr>
        <p:txBody>
          <a:bodyPr wrap="square" rtlCol="0">
            <a:spAutoFit/>
          </a:bodyPr>
          <a:lstStyle/>
          <a:p>
            <a:pPr lvl="0">
              <a:lnSpc>
                <a:spcPct val="107000"/>
              </a:lnSpc>
              <a:spcAft>
                <a:spcPts val="800"/>
              </a:spcAft>
              <a:buSzPct val="40000"/>
              <a:tabLst>
                <a:tab pos="457200" algn="l"/>
              </a:tabLst>
            </a:pP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 Disruptive innovation</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tartib</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buzuvchi</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innovatsiya</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endParaRPr lang="ru-RU" dirty="0"/>
          </a:p>
        </p:txBody>
      </p:sp>
      <p:pic>
        <p:nvPicPr>
          <p:cNvPr id="8" name="Picture 2">
            <a:extLst>
              <a:ext uri="{FF2B5EF4-FFF2-40B4-BE49-F238E27FC236}">
                <a16:creationId xmlns:a16="http://schemas.microsoft.com/office/drawing/2014/main" id="{7169DE84-8E96-4ACD-38FD-3FF2025535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856879"/>
            <a:ext cx="11522702" cy="4981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970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1592927"/>
            <a:ext cx="16230600" cy="0"/>
          </a:xfrm>
          <a:prstGeom prst="line">
            <a:avLst/>
          </a:prstGeom>
          <a:ln w="38100" cap="flat">
            <a:solidFill>
              <a:srgbClr val="000000"/>
            </a:solidFill>
            <a:prstDash val="solid"/>
            <a:headEnd type="none" w="sm" len="sm"/>
            <a:tailEnd type="none" w="sm" len="sm"/>
          </a:ln>
        </p:spPr>
      </p:sp>
      <p:sp>
        <p:nvSpPr>
          <p:cNvPr id="5" name="TextBox 5"/>
          <p:cNvSpPr txBox="1"/>
          <p:nvPr/>
        </p:nvSpPr>
        <p:spPr>
          <a:xfrm>
            <a:off x="1057275" y="878065"/>
            <a:ext cx="8503177" cy="632545"/>
          </a:xfrm>
          <a:prstGeom prst="rect">
            <a:avLst/>
          </a:prstGeom>
        </p:spPr>
        <p:txBody>
          <a:bodyPr lIns="0" tIns="0" rIns="0" bIns="0" rtlCol="0" anchor="t">
            <a:spAutoFit/>
          </a:bodyPr>
          <a:lstStyle/>
          <a:p>
            <a:pPr algn="just">
              <a:lnSpc>
                <a:spcPts val="5228"/>
              </a:lnSpc>
              <a:spcBef>
                <a:spcPct val="0"/>
              </a:spcBef>
            </a:pPr>
            <a:r>
              <a:rPr lang="en-US" sz="4000" dirty="0">
                <a:solidFill>
                  <a:srgbClr val="000000"/>
                </a:solidFill>
                <a:latin typeface="Open Sans"/>
                <a:ea typeface="Open Sans"/>
                <a:cs typeface="Open Sans"/>
                <a:sym typeface="Open Sans"/>
              </a:rPr>
              <a:t>Digital Transformation </a:t>
            </a:r>
          </a:p>
        </p:txBody>
      </p:sp>
      <p:grpSp>
        <p:nvGrpSpPr>
          <p:cNvPr id="7" name="Group 7"/>
          <p:cNvGrpSpPr/>
          <p:nvPr/>
        </p:nvGrpSpPr>
        <p:grpSpPr>
          <a:xfrm>
            <a:off x="13195926" y="442716"/>
            <a:ext cx="4063374" cy="1054961"/>
            <a:chOff x="0" y="0"/>
            <a:chExt cx="5417832" cy="1406615"/>
          </a:xfrm>
        </p:grpSpPr>
        <p:sp>
          <p:nvSpPr>
            <p:cNvPr id="8" name="Freeform 8"/>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9" name="Freeform 9"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10" name="TextBox 9">
            <a:extLst>
              <a:ext uri="{FF2B5EF4-FFF2-40B4-BE49-F238E27FC236}">
                <a16:creationId xmlns:a16="http://schemas.microsoft.com/office/drawing/2014/main" id="{C25798A9-ED3A-AB05-7C7F-E1D8A16C0AB0}"/>
              </a:ext>
            </a:extLst>
          </p:cNvPr>
          <p:cNvSpPr txBox="1"/>
          <p:nvPr/>
        </p:nvSpPr>
        <p:spPr>
          <a:xfrm>
            <a:off x="1949019" y="2146345"/>
            <a:ext cx="14782800" cy="2123658"/>
          </a:xfrm>
          <a:prstGeom prst="rect">
            <a:avLst/>
          </a:prstGeom>
          <a:noFill/>
        </p:spPr>
        <p:txBody>
          <a:bodyPr wrap="square" rtlCol="0">
            <a:spAutoFit/>
          </a:bodyPr>
          <a:lstStyle/>
          <a:p>
            <a:pPr marL="285750" indent="-285750">
              <a:buFont typeface="Wingdings" panose="05000000000000000000" pitchFamily="2" charset="2"/>
              <a:buChar char="Ø"/>
            </a:pPr>
            <a:r>
              <a:rPr lang="en-US" sz="4400" b="1" dirty="0" err="1"/>
              <a:t>Raqamli</a:t>
            </a:r>
            <a:r>
              <a:rPr lang="en-US" sz="4400" b="1" dirty="0"/>
              <a:t> </a:t>
            </a:r>
            <a:r>
              <a:rPr lang="en-US" sz="4400" b="1" dirty="0" err="1"/>
              <a:t>transformatsiya</a:t>
            </a:r>
            <a:r>
              <a:rPr lang="en-US" sz="4400" b="1" dirty="0"/>
              <a:t> </a:t>
            </a:r>
            <a:r>
              <a:rPr lang="en-US" sz="4400" dirty="0"/>
              <a:t>- </a:t>
            </a:r>
            <a:r>
              <a:rPr lang="en-US" sz="4400" dirty="0" err="1"/>
              <a:t>bu</a:t>
            </a:r>
            <a:r>
              <a:rPr lang="en-US" sz="4400" dirty="0"/>
              <a:t> </a:t>
            </a:r>
            <a:r>
              <a:rPr lang="en-US" sz="4400" dirty="0" err="1"/>
              <a:t>tashkilotlar</a:t>
            </a:r>
            <a:r>
              <a:rPr lang="en-US" sz="4400" dirty="0"/>
              <a:t> </a:t>
            </a:r>
            <a:r>
              <a:rPr lang="en-US" sz="4400" dirty="0" err="1"/>
              <a:t>yoki</a:t>
            </a:r>
            <a:r>
              <a:rPr lang="en-US" sz="4400" dirty="0"/>
              <a:t> </a:t>
            </a:r>
            <a:r>
              <a:rPr lang="en-US" sz="4400" dirty="0" err="1"/>
              <a:t>jamiyatning</a:t>
            </a:r>
            <a:r>
              <a:rPr lang="en-US" sz="4400" dirty="0"/>
              <a:t> </a:t>
            </a:r>
            <a:r>
              <a:rPr lang="en-US" sz="4400" dirty="0" err="1"/>
              <a:t>raqamli</a:t>
            </a:r>
            <a:r>
              <a:rPr lang="en-US" sz="4400" dirty="0"/>
              <a:t> </a:t>
            </a:r>
            <a:r>
              <a:rPr lang="en-US" sz="4400" dirty="0" err="1"/>
              <a:t>texnologiyalar</a:t>
            </a:r>
            <a:r>
              <a:rPr lang="en-US" sz="4400" dirty="0"/>
              <a:t> </a:t>
            </a:r>
            <a:r>
              <a:rPr lang="en-US" sz="4400" dirty="0" err="1"/>
              <a:t>yordamida</a:t>
            </a:r>
            <a:r>
              <a:rPr lang="en-US" sz="4400" dirty="0"/>
              <a:t> </a:t>
            </a:r>
            <a:r>
              <a:rPr lang="en-US" sz="4400" dirty="0" err="1"/>
              <a:t>ish</a:t>
            </a:r>
            <a:r>
              <a:rPr lang="en-US" sz="4400" dirty="0"/>
              <a:t> </a:t>
            </a:r>
            <a:r>
              <a:rPr lang="en-US" sz="4400" dirty="0" err="1"/>
              <a:t>uslubi</a:t>
            </a:r>
            <a:r>
              <a:rPr lang="en-US" sz="4400" dirty="0"/>
              <a:t>, </a:t>
            </a:r>
            <a:r>
              <a:rPr lang="en-US" sz="4400" dirty="0" err="1"/>
              <a:t>xizmat</a:t>
            </a:r>
            <a:r>
              <a:rPr lang="en-US" sz="4400" dirty="0"/>
              <a:t> </a:t>
            </a:r>
            <a:r>
              <a:rPr lang="en-US" sz="4400" dirty="0" err="1"/>
              <a:t>ko‘rsatish</a:t>
            </a:r>
            <a:r>
              <a:rPr lang="en-US" sz="4400" dirty="0"/>
              <a:t> </a:t>
            </a:r>
            <a:r>
              <a:rPr lang="en-US" sz="4400" dirty="0" err="1"/>
              <a:t>yoki</a:t>
            </a:r>
            <a:r>
              <a:rPr lang="en-US" sz="4400" dirty="0"/>
              <a:t> </a:t>
            </a:r>
            <a:r>
              <a:rPr lang="en-US" sz="4400" dirty="0" err="1"/>
              <a:t>mahsulot</a:t>
            </a:r>
            <a:r>
              <a:rPr lang="en-US" sz="4400" dirty="0"/>
              <a:t> </a:t>
            </a:r>
            <a:r>
              <a:rPr lang="en-US" sz="4400" dirty="0" err="1"/>
              <a:t>yaratish</a:t>
            </a:r>
            <a:r>
              <a:rPr lang="en-US" sz="4400" dirty="0"/>
              <a:t> </a:t>
            </a:r>
            <a:r>
              <a:rPr lang="en-US" sz="4400" dirty="0" err="1"/>
              <a:t>jarayonlarini</a:t>
            </a:r>
            <a:r>
              <a:rPr lang="en-US" sz="4400" dirty="0"/>
              <a:t> </a:t>
            </a:r>
            <a:r>
              <a:rPr lang="en-US" sz="4400" dirty="0" err="1"/>
              <a:t>tubdan</a:t>
            </a:r>
            <a:r>
              <a:rPr lang="en-US" sz="4400" dirty="0"/>
              <a:t> </a:t>
            </a:r>
            <a:r>
              <a:rPr lang="en-US" sz="4400" dirty="0" err="1"/>
              <a:t>o‘zgartirishidir</a:t>
            </a:r>
            <a:r>
              <a:rPr lang="en-US" dirty="0"/>
              <a:t>.</a:t>
            </a:r>
            <a:endParaRPr lang="ru-RU" dirty="0"/>
          </a:p>
        </p:txBody>
      </p:sp>
      <p:pic>
        <p:nvPicPr>
          <p:cNvPr id="2050" name="Picture 2" descr="AGGREGATE CAPITAL OF UZBEK BANKS SURPASS 9.9 TRILLION SOUMS – uzbekembassy">
            <a:extLst>
              <a:ext uri="{FF2B5EF4-FFF2-40B4-BE49-F238E27FC236}">
                <a16:creationId xmlns:a16="http://schemas.microsoft.com/office/drawing/2014/main" id="{B6936656-ADBD-56CF-9E8F-48DBF12C91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824" y="6395720"/>
            <a:ext cx="5096779" cy="21236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tegración Moodle con Zoom Meeting SDK - ES">
            <a:extLst>
              <a:ext uri="{FF2B5EF4-FFF2-40B4-BE49-F238E27FC236}">
                <a16:creationId xmlns:a16="http://schemas.microsoft.com/office/drawing/2014/main" id="{BB52FDC8-4894-CC70-6E28-34686B037B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977" y="6183200"/>
            <a:ext cx="4407421" cy="257747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Online Education Logo Vector Art, Icons, and Graphics for Free Download">
            <a:extLst>
              <a:ext uri="{FF2B5EF4-FFF2-40B4-BE49-F238E27FC236}">
                <a16:creationId xmlns:a16="http://schemas.microsoft.com/office/drawing/2014/main" id="{B170E68A-F555-CAEB-0DDE-1988176A455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29931" y="4357231"/>
            <a:ext cx="1805255" cy="180525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anking Logo Vector Art, Icons, and Graphics for Free Download">
            <a:extLst>
              <a:ext uri="{FF2B5EF4-FFF2-40B4-BE49-F238E27FC236}">
                <a16:creationId xmlns:a16="http://schemas.microsoft.com/office/drawing/2014/main" id="{E145E31F-5721-6CCC-BE8E-CFE049AE1D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20834" y="4464242"/>
            <a:ext cx="1627365" cy="162736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edicine Logo Graphic by skyacegraphic0220 · Creative Fabrica">
            <a:extLst>
              <a:ext uri="{FF2B5EF4-FFF2-40B4-BE49-F238E27FC236}">
                <a16:creationId xmlns:a16="http://schemas.microsoft.com/office/drawing/2014/main" id="{7D54149B-E44A-1D19-38CC-EEDDF6B9813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379227" y="4230900"/>
            <a:ext cx="3033518" cy="201881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Online Medical Card - 420 Evaluations">
            <a:extLst>
              <a:ext uri="{FF2B5EF4-FFF2-40B4-BE49-F238E27FC236}">
                <a16:creationId xmlns:a16="http://schemas.microsoft.com/office/drawing/2014/main" id="{EDBA9E56-686D-AB54-7C04-532DB4FAFFD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90490" y="6395719"/>
            <a:ext cx="2577474" cy="257747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Token Management System Tailored For Clinics – MyMed Queue">
            <a:extLst>
              <a:ext uri="{FF2B5EF4-FFF2-40B4-BE49-F238E27FC236}">
                <a16:creationId xmlns:a16="http://schemas.microsoft.com/office/drawing/2014/main" id="{D889AF97-BA4C-5153-5387-6F53F60C8E6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861522" y="7234399"/>
            <a:ext cx="2645905" cy="900113"/>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16" descr="Lms Logo - LMS Logo for Learning Management System - CleanPNG">
            <a:extLst>
              <a:ext uri="{FF2B5EF4-FFF2-40B4-BE49-F238E27FC236}">
                <a16:creationId xmlns:a16="http://schemas.microsoft.com/office/drawing/2014/main" id="{7C2A1A4A-0FD8-FA2C-A532-A6AE0512479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err="1">
                <a:solidFill>
                  <a:srgbClr val="000000"/>
                </a:solidFill>
                <a:latin typeface="Open Sans"/>
                <a:ea typeface="Open Sans"/>
                <a:cs typeface="Open Sans"/>
                <a:sym typeface="Open Sans"/>
              </a:rPr>
              <a:t>Tranformation</a:t>
            </a:r>
            <a:endParaRPr lang="en-US" sz="4000" dirty="0">
              <a:solidFill>
                <a:srgbClr val="000000"/>
              </a:solidFill>
              <a:latin typeface="Open Sans"/>
              <a:ea typeface="Open Sans"/>
              <a:cs typeface="Open Sans"/>
              <a:sym typeface="Open Sans"/>
            </a:endParaRP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4" name="TextBox 3">
            <a:extLst>
              <a:ext uri="{FF2B5EF4-FFF2-40B4-BE49-F238E27FC236}">
                <a16:creationId xmlns:a16="http://schemas.microsoft.com/office/drawing/2014/main" id="{52F98238-97F5-5A96-8430-667A4F08D187}"/>
              </a:ext>
            </a:extLst>
          </p:cNvPr>
          <p:cNvSpPr txBox="1"/>
          <p:nvPr/>
        </p:nvSpPr>
        <p:spPr>
          <a:xfrm>
            <a:off x="1295400" y="2258809"/>
            <a:ext cx="9677400" cy="1469120"/>
          </a:xfrm>
          <a:prstGeom prst="rect">
            <a:avLst/>
          </a:prstGeom>
          <a:noFill/>
        </p:spPr>
        <p:txBody>
          <a:bodyPr wrap="square" rtlCol="0">
            <a:spAutoFit/>
          </a:bodyPr>
          <a:lstStyle/>
          <a:p>
            <a:pPr marL="571500" indent="-571500">
              <a:lnSpc>
                <a:spcPct val="107000"/>
              </a:lnSpc>
              <a:spcAft>
                <a:spcPts val="800"/>
              </a:spcAft>
              <a:buFont typeface="Wingdings" panose="05000000000000000000" pitchFamily="2" charset="2"/>
              <a:buChar char="Ø"/>
            </a:pPr>
            <a:r>
              <a:rPr lang="ru-RU" sz="4000" b="1" kern="100" dirty="0" err="1">
                <a:effectLst/>
                <a:latin typeface="Open Sans" panose="020B0606030504020204" pitchFamily="34" charset="0"/>
                <a:ea typeface="Open Sans" panose="020B0606030504020204" pitchFamily="34" charset="0"/>
                <a:cs typeface="Open Sans" panose="020B0606030504020204" pitchFamily="34" charset="0"/>
              </a:rPr>
              <a:t>Raqamli</a:t>
            </a:r>
            <a:r>
              <a:rPr lang="ru-RU" sz="4000" b="1" kern="100" dirty="0">
                <a:effectLst/>
                <a:latin typeface="Open Sans" panose="020B0606030504020204" pitchFamily="34" charset="0"/>
                <a:ea typeface="Open Sans" panose="020B0606030504020204" pitchFamily="34" charset="0"/>
                <a:cs typeface="Open Sans" panose="020B0606030504020204" pitchFamily="34" charset="0"/>
              </a:rPr>
              <a:t> </a:t>
            </a:r>
            <a:r>
              <a:rPr lang="en-US" sz="4000" b="1" kern="100" dirty="0" err="1">
                <a:effectLst/>
                <a:latin typeface="Open Sans" panose="020B0606030504020204" pitchFamily="34" charset="0"/>
                <a:ea typeface="Open Sans" panose="020B0606030504020204" pitchFamily="34" charset="0"/>
                <a:cs typeface="Open Sans" panose="020B0606030504020204" pitchFamily="34" charset="0"/>
              </a:rPr>
              <a:t>transformatsiya</a:t>
            </a:r>
            <a:r>
              <a:rPr lang="en-US" sz="4000" b="1" kern="100" dirty="0">
                <a:effectLst/>
                <a:latin typeface="Open Sans" panose="020B0606030504020204" pitchFamily="34" charset="0"/>
                <a:ea typeface="Open Sans" panose="020B0606030504020204" pitchFamily="34" charset="0"/>
                <a:cs typeface="Open Sans" panose="020B0606030504020204" pitchFamily="34" charset="0"/>
              </a:rPr>
              <a:t> </a:t>
            </a:r>
            <a:r>
              <a:rPr lang="en-US" sz="4000" b="1" kern="100" dirty="0" err="1">
                <a:effectLst/>
                <a:latin typeface="Open Sans" panose="020B0606030504020204" pitchFamily="34" charset="0"/>
                <a:ea typeface="Open Sans" panose="020B0606030504020204" pitchFamily="34" charset="0"/>
                <a:cs typeface="Open Sans" panose="020B0606030504020204" pitchFamily="34" charset="0"/>
              </a:rPr>
              <a:t>turlari</a:t>
            </a:r>
            <a:endParaRPr lang="ru-RU" sz="4000" kern="100" dirty="0">
              <a:effectLst/>
              <a:latin typeface="Open Sans" panose="020B0606030504020204" pitchFamily="34" charset="0"/>
              <a:ea typeface="Open Sans" panose="020B0606030504020204" pitchFamily="34" charset="0"/>
              <a:cs typeface="Open Sans" panose="020B0606030504020204" pitchFamily="34" charset="0"/>
            </a:endParaRPr>
          </a:p>
          <a:p>
            <a:pPr marL="571500" indent="-571500">
              <a:buFont typeface="Wingdings" panose="05000000000000000000" pitchFamily="2" charset="2"/>
              <a:buChar char="Ø"/>
            </a:pPr>
            <a:endParaRPr lang="ru-RU" sz="40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A3BB91B8-46E8-9680-1B95-E72E4A4FB4B8}"/>
              </a:ext>
            </a:extLst>
          </p:cNvPr>
          <p:cNvSpPr txBox="1"/>
          <p:nvPr/>
        </p:nvSpPr>
        <p:spPr>
          <a:xfrm>
            <a:off x="958507" y="3508531"/>
            <a:ext cx="5334000" cy="1525802"/>
          </a:xfrm>
          <a:prstGeom prst="rect">
            <a:avLst/>
          </a:prstGeom>
          <a:noFill/>
        </p:spPr>
        <p:txBody>
          <a:bodyPr wrap="square" rtlCol="0">
            <a:spAutoFit/>
          </a:bodyPr>
          <a:lstStyle/>
          <a:p>
            <a:pPr marL="457200" lvl="0" indent="-457200">
              <a:lnSpc>
                <a:spcPct val="107000"/>
              </a:lnSpc>
              <a:spcAft>
                <a:spcPts val="800"/>
              </a:spcAft>
              <a:buFont typeface="Wingdings" panose="05000000000000000000" pitchFamily="2" charset="2"/>
              <a:buChar char="§"/>
              <a:tabLst>
                <a:tab pos="457200" algn="l"/>
              </a:tabLst>
            </a:pP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Business process transformation</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endParaRPr lang="ru-RU" dirty="0"/>
          </a:p>
        </p:txBody>
      </p:sp>
      <p:pic>
        <p:nvPicPr>
          <p:cNvPr id="3074" name="Picture 2" descr="Strategies &amp; Tools for Digital Transformation • Glue Up">
            <a:extLst>
              <a:ext uri="{FF2B5EF4-FFF2-40B4-BE49-F238E27FC236}">
                <a16:creationId xmlns:a16="http://schemas.microsoft.com/office/drawing/2014/main" id="{BD885C91-D4E9-732F-4537-4B7668280F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6152" y="3991187"/>
            <a:ext cx="6895695" cy="401674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6022CD7-A7FA-D1B8-EA78-73090255B9B1}"/>
              </a:ext>
            </a:extLst>
          </p:cNvPr>
          <p:cNvSpPr txBox="1"/>
          <p:nvPr/>
        </p:nvSpPr>
        <p:spPr>
          <a:xfrm>
            <a:off x="1295400" y="7577455"/>
            <a:ext cx="4037289" cy="1354217"/>
          </a:xfrm>
          <a:prstGeom prst="rect">
            <a:avLst/>
          </a:prstGeom>
          <a:noFill/>
        </p:spPr>
        <p:txBody>
          <a:bodyPr wrap="square" rtlCol="0">
            <a:spAutoFit/>
          </a:bodyPr>
          <a:lstStyle/>
          <a:p>
            <a:pPr marL="457200" indent="-457200">
              <a:buFont typeface="Wingdings" panose="05000000000000000000" pitchFamily="2" charset="2"/>
              <a:buChar char="§"/>
            </a:pP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Business model transformation</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endParaRPr lang="ru-RU" dirty="0"/>
          </a:p>
        </p:txBody>
      </p:sp>
      <p:sp>
        <p:nvSpPr>
          <p:cNvPr id="11" name="TextBox 10">
            <a:extLst>
              <a:ext uri="{FF2B5EF4-FFF2-40B4-BE49-F238E27FC236}">
                <a16:creationId xmlns:a16="http://schemas.microsoft.com/office/drawing/2014/main" id="{B2C1FB0D-AC8F-9639-82E9-510373F0DA92}"/>
              </a:ext>
            </a:extLst>
          </p:cNvPr>
          <p:cNvSpPr txBox="1"/>
          <p:nvPr/>
        </p:nvSpPr>
        <p:spPr>
          <a:xfrm>
            <a:off x="13162588" y="3508531"/>
            <a:ext cx="3863632" cy="1354217"/>
          </a:xfrm>
          <a:prstGeom prst="rect">
            <a:avLst/>
          </a:prstGeom>
          <a:noFill/>
        </p:spPr>
        <p:txBody>
          <a:bodyPr wrap="square" rtlCol="0">
            <a:spAutoFit/>
          </a:bodyPr>
          <a:lstStyle/>
          <a:p>
            <a:pPr marL="457200" indent="-457200">
              <a:buFont typeface="Wingdings" panose="05000000000000000000" pitchFamily="2" charset="2"/>
              <a:buChar char="§"/>
            </a:pP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Domain transformation</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p>
          <a:p>
            <a:endParaRPr lang="ru-RU" dirty="0"/>
          </a:p>
        </p:txBody>
      </p:sp>
      <p:sp>
        <p:nvSpPr>
          <p:cNvPr id="12" name="TextBox 11">
            <a:extLst>
              <a:ext uri="{FF2B5EF4-FFF2-40B4-BE49-F238E27FC236}">
                <a16:creationId xmlns:a16="http://schemas.microsoft.com/office/drawing/2014/main" id="{E5E56898-3F6C-B93D-7398-3D8695BFFA2F}"/>
              </a:ext>
            </a:extLst>
          </p:cNvPr>
          <p:cNvSpPr txBox="1"/>
          <p:nvPr/>
        </p:nvSpPr>
        <p:spPr>
          <a:xfrm>
            <a:off x="12849226" y="7429500"/>
            <a:ext cx="3863632" cy="1846659"/>
          </a:xfrm>
          <a:prstGeom prst="rect">
            <a:avLst/>
          </a:prstGeom>
          <a:noFill/>
        </p:spPr>
        <p:txBody>
          <a:bodyPr wrap="square" rtlCol="0">
            <a:spAutoFit/>
          </a:bodyPr>
          <a:lstStyle/>
          <a:p>
            <a:pPr marL="457200" indent="-457200">
              <a:buFont typeface="Wingdings" panose="05000000000000000000" pitchFamily="2" charset="2"/>
              <a:buChar char="§"/>
            </a:pPr>
            <a:r>
              <a:rPr lang="en-US" sz="3200" b="1" kern="100" dirty="0" err="1">
                <a:effectLst/>
                <a:latin typeface="Open Sans" panose="020B0606030504020204" pitchFamily="34" charset="0"/>
                <a:ea typeface="Open Sans" panose="020B0606030504020204" pitchFamily="34" charset="0"/>
                <a:cs typeface="Open Sans" panose="020B0606030504020204" pitchFamily="34" charset="0"/>
              </a:rPr>
              <a:t>Organisational</a:t>
            </a: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/cultural transformation</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endParaRPr lang="ru-RU" dirty="0"/>
          </a:p>
        </p:txBody>
      </p:sp>
    </p:spTree>
    <p:extLst>
      <p:ext uri="{BB962C8B-B14F-4D97-AF65-F5344CB8AC3E}">
        <p14:creationId xmlns:p14="http://schemas.microsoft.com/office/powerpoint/2010/main" val="2171043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err="1">
                <a:solidFill>
                  <a:srgbClr val="000000"/>
                </a:solidFill>
                <a:latin typeface="Open Sans"/>
                <a:ea typeface="Open Sans"/>
                <a:cs typeface="Open Sans"/>
                <a:sym typeface="Open Sans"/>
              </a:rPr>
              <a:t>Tranformation</a:t>
            </a:r>
            <a:endParaRPr lang="en-US" sz="4000" dirty="0">
              <a:solidFill>
                <a:srgbClr val="000000"/>
              </a:solidFill>
              <a:latin typeface="Open Sans"/>
              <a:ea typeface="Open Sans"/>
              <a:cs typeface="Open Sans"/>
              <a:sym typeface="Open Sans"/>
            </a:endParaRP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4" name="TextBox 3">
            <a:extLst>
              <a:ext uri="{FF2B5EF4-FFF2-40B4-BE49-F238E27FC236}">
                <a16:creationId xmlns:a16="http://schemas.microsoft.com/office/drawing/2014/main" id="{52F98238-97F5-5A96-8430-667A4F08D187}"/>
              </a:ext>
            </a:extLst>
          </p:cNvPr>
          <p:cNvSpPr txBox="1"/>
          <p:nvPr/>
        </p:nvSpPr>
        <p:spPr>
          <a:xfrm>
            <a:off x="1295400" y="2096868"/>
            <a:ext cx="15697200" cy="1741246"/>
          </a:xfrm>
          <a:prstGeom prst="rect">
            <a:avLst/>
          </a:prstGeom>
          <a:noFill/>
        </p:spPr>
        <p:txBody>
          <a:bodyPr wrap="square" rtlCol="0">
            <a:spAutoFit/>
          </a:bodyPr>
          <a:lstStyle/>
          <a:p>
            <a:pPr marL="571500" indent="-571500">
              <a:lnSpc>
                <a:spcPct val="107000"/>
              </a:lnSpc>
              <a:spcAft>
                <a:spcPts val="800"/>
              </a:spcAft>
              <a:buFont typeface="Wingdings" panose="05000000000000000000" pitchFamily="2" charset="2"/>
              <a:buChar char="Ø"/>
            </a:pP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Business process transformation - </a:t>
            </a:r>
            <a:r>
              <a:rPr lang="en-US" sz="3200" dirty="0" err="1"/>
              <a:t>Ishlarni</a:t>
            </a:r>
            <a:r>
              <a:rPr lang="en-US" sz="3200" dirty="0"/>
              <a:t> </a:t>
            </a:r>
            <a:r>
              <a:rPr lang="en-US" sz="3200" dirty="0" err="1"/>
              <a:t>tezroq</a:t>
            </a:r>
            <a:r>
              <a:rPr lang="en-US" sz="3200" dirty="0"/>
              <a:t>, </a:t>
            </a:r>
            <a:r>
              <a:rPr lang="en-US" sz="3200" dirty="0" err="1"/>
              <a:t>arzonroq</a:t>
            </a:r>
            <a:r>
              <a:rPr lang="en-US" sz="3200" dirty="0"/>
              <a:t> </a:t>
            </a:r>
            <a:r>
              <a:rPr lang="en-US" sz="3200" dirty="0" err="1"/>
              <a:t>va</a:t>
            </a:r>
            <a:r>
              <a:rPr lang="en-US" sz="3200" dirty="0"/>
              <a:t> </a:t>
            </a:r>
            <a:r>
              <a:rPr lang="en-US" sz="3200" dirty="0" err="1"/>
              <a:t>aqlli</a:t>
            </a:r>
            <a:r>
              <a:rPr lang="en-US" sz="3200" dirty="0"/>
              <a:t> </a:t>
            </a:r>
            <a:r>
              <a:rPr lang="en-US" sz="3200" dirty="0" err="1"/>
              <a:t>tarzda</a:t>
            </a:r>
            <a:r>
              <a:rPr lang="en-US" sz="3200" dirty="0"/>
              <a:t> </a:t>
            </a:r>
            <a:r>
              <a:rPr lang="en-US" sz="3200" dirty="0" err="1"/>
              <a:t>bajarish</a:t>
            </a:r>
            <a:r>
              <a:rPr lang="en-US" sz="3200" dirty="0"/>
              <a:t> </a:t>
            </a:r>
            <a:r>
              <a:rPr lang="en-US" sz="3200" dirty="0" err="1"/>
              <a:t>uchun</a:t>
            </a:r>
            <a:r>
              <a:rPr lang="en-US" sz="3200" dirty="0"/>
              <a:t> </a:t>
            </a:r>
            <a:r>
              <a:rPr lang="en-US" sz="3200" dirty="0" err="1"/>
              <a:t>ichki</a:t>
            </a:r>
            <a:r>
              <a:rPr lang="en-US" sz="3200" dirty="0"/>
              <a:t> </a:t>
            </a:r>
            <a:r>
              <a:rPr lang="en-US" sz="3200" dirty="0" err="1"/>
              <a:t>jarayonlarni</a:t>
            </a:r>
            <a:r>
              <a:rPr lang="en-US" sz="3200" dirty="0"/>
              <a:t> </a:t>
            </a:r>
            <a:r>
              <a:rPr lang="en-US" sz="3200" dirty="0" err="1"/>
              <a:t>yangilash</a:t>
            </a:r>
            <a:r>
              <a:rPr lang="en-US" sz="3200" dirty="0"/>
              <a:t>.</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pPr marL="571500" indent="-571500">
              <a:buFont typeface="Wingdings" panose="05000000000000000000" pitchFamily="2" charset="2"/>
              <a:buChar char="Ø"/>
            </a:pPr>
            <a:endParaRPr lang="ru-RU" sz="32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098" name="Picture 2">
            <a:extLst>
              <a:ext uri="{FF2B5EF4-FFF2-40B4-BE49-F238E27FC236}">
                <a16:creationId xmlns:a16="http://schemas.microsoft.com/office/drawing/2014/main" id="{D82E2CE5-560D-C0A8-D22D-D7E8A5990DC0}"/>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4038600" y="3365335"/>
            <a:ext cx="89154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46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err="1">
                <a:solidFill>
                  <a:srgbClr val="000000"/>
                </a:solidFill>
                <a:latin typeface="Open Sans"/>
                <a:ea typeface="Open Sans"/>
                <a:cs typeface="Open Sans"/>
                <a:sym typeface="Open Sans"/>
              </a:rPr>
              <a:t>Tranformation</a:t>
            </a:r>
            <a:endParaRPr lang="en-US" sz="4000" dirty="0">
              <a:solidFill>
                <a:srgbClr val="000000"/>
              </a:solidFill>
              <a:latin typeface="Open Sans"/>
              <a:ea typeface="Open Sans"/>
              <a:cs typeface="Open Sans"/>
              <a:sym typeface="Open Sans"/>
            </a:endParaRP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4" name="TextBox 3">
            <a:extLst>
              <a:ext uri="{FF2B5EF4-FFF2-40B4-BE49-F238E27FC236}">
                <a16:creationId xmlns:a16="http://schemas.microsoft.com/office/drawing/2014/main" id="{52F98238-97F5-5A96-8430-667A4F08D187}"/>
              </a:ext>
            </a:extLst>
          </p:cNvPr>
          <p:cNvSpPr txBox="1"/>
          <p:nvPr/>
        </p:nvSpPr>
        <p:spPr>
          <a:xfrm>
            <a:off x="1295400" y="2063737"/>
            <a:ext cx="14097000" cy="1122359"/>
          </a:xfrm>
          <a:prstGeom prst="rect">
            <a:avLst/>
          </a:prstGeom>
          <a:noFill/>
        </p:spPr>
        <p:txBody>
          <a:bodyPr wrap="square" rtlCol="0">
            <a:spAutoFit/>
          </a:bodyPr>
          <a:lstStyle/>
          <a:p>
            <a:pPr marL="571500" indent="-571500">
              <a:lnSpc>
                <a:spcPct val="107000"/>
              </a:lnSpc>
              <a:spcAft>
                <a:spcPts val="800"/>
              </a:spcAft>
              <a:buFont typeface="Wingdings" panose="05000000000000000000" pitchFamily="2" charset="2"/>
              <a:buChar char="Ø"/>
            </a:pPr>
            <a:r>
              <a:rPr lang="en-US" sz="3200" b="1" dirty="0"/>
              <a:t>Business model transformation </a:t>
            </a:r>
            <a:r>
              <a:rPr lang="en-US" sz="3200" dirty="0"/>
              <a:t>– </a:t>
            </a:r>
            <a:r>
              <a:rPr lang="en-US" sz="3200" dirty="0" err="1"/>
              <a:t>bu</a:t>
            </a:r>
            <a:r>
              <a:rPr lang="en-US" sz="3200" dirty="0"/>
              <a:t> </a:t>
            </a:r>
            <a:r>
              <a:rPr lang="en-US" sz="3200" dirty="0" err="1"/>
              <a:t>kompaniya</a:t>
            </a:r>
            <a:r>
              <a:rPr lang="en-US" sz="3200" dirty="0"/>
              <a:t> </a:t>
            </a:r>
            <a:r>
              <a:rPr lang="en-US" sz="3200" dirty="0" err="1"/>
              <a:t>o‘z</a:t>
            </a:r>
            <a:r>
              <a:rPr lang="en-US" sz="3200" dirty="0"/>
              <a:t> </a:t>
            </a:r>
            <a:r>
              <a:rPr lang="en-US" sz="3200" dirty="0" err="1"/>
              <a:t>ish</a:t>
            </a:r>
            <a:r>
              <a:rPr lang="en-US" sz="3200" dirty="0"/>
              <a:t> </a:t>
            </a:r>
            <a:r>
              <a:rPr lang="en-US" sz="3200" dirty="0" err="1"/>
              <a:t>uslubini</a:t>
            </a:r>
            <a:r>
              <a:rPr lang="en-US" sz="3200" dirty="0"/>
              <a:t>, </a:t>
            </a:r>
            <a:r>
              <a:rPr lang="en-US" sz="3200" dirty="0" err="1"/>
              <a:t>mahsulotini</a:t>
            </a:r>
            <a:r>
              <a:rPr lang="en-US" sz="3200" dirty="0"/>
              <a:t> </a:t>
            </a:r>
            <a:r>
              <a:rPr lang="en-US" sz="3200" dirty="0" err="1"/>
              <a:t>yoki</a:t>
            </a:r>
            <a:r>
              <a:rPr lang="en-US" sz="3200" dirty="0"/>
              <a:t> </a:t>
            </a:r>
            <a:r>
              <a:rPr lang="en-US" sz="3200" dirty="0" err="1"/>
              <a:t>xizmat</a:t>
            </a:r>
            <a:r>
              <a:rPr lang="en-US" sz="3200" dirty="0"/>
              <a:t> </a:t>
            </a:r>
            <a:r>
              <a:rPr lang="en-US" sz="3200" dirty="0" err="1"/>
              <a:t>ko‘rsatish</a:t>
            </a:r>
            <a:r>
              <a:rPr lang="en-US" sz="3200" dirty="0"/>
              <a:t> </a:t>
            </a:r>
            <a:r>
              <a:rPr lang="en-US" sz="3200" dirty="0" err="1"/>
              <a:t>tarzini</a:t>
            </a:r>
            <a:r>
              <a:rPr lang="en-US" sz="3200" dirty="0"/>
              <a:t> </a:t>
            </a:r>
            <a:r>
              <a:rPr lang="en-US" sz="3200" b="1" dirty="0" err="1"/>
              <a:t>zamonga</a:t>
            </a:r>
            <a:r>
              <a:rPr lang="en-US" sz="3200" b="1" dirty="0"/>
              <a:t> </a:t>
            </a:r>
            <a:r>
              <a:rPr lang="en-US" sz="3200" b="1" dirty="0" err="1"/>
              <a:t>moslab</a:t>
            </a:r>
            <a:r>
              <a:rPr lang="en-US" sz="3200" b="1" dirty="0"/>
              <a:t> </a:t>
            </a:r>
            <a:r>
              <a:rPr lang="en-US" sz="3200" b="1" dirty="0" err="1"/>
              <a:t>yangilashidir</a:t>
            </a:r>
            <a:r>
              <a:rPr lang="en-US" sz="3200" dirty="0"/>
              <a:t>.</a:t>
            </a:r>
            <a:endParaRPr lang="ru-RU"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AutoShape 2" descr="Сформированное изображение">
            <a:extLst>
              <a:ext uri="{FF2B5EF4-FFF2-40B4-BE49-F238E27FC236}">
                <a16:creationId xmlns:a16="http://schemas.microsoft.com/office/drawing/2014/main" id="{078CCAE5-31C9-7DD4-C172-E73DC7ED719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 name="Рисунок 13">
            <a:extLst>
              <a:ext uri="{FF2B5EF4-FFF2-40B4-BE49-F238E27FC236}">
                <a16:creationId xmlns:a16="http://schemas.microsoft.com/office/drawing/2014/main" id="{512D2253-F576-7361-4C0E-974CE6EA8095}"/>
              </a:ext>
            </a:extLst>
          </p:cNvPr>
          <p:cNvPicPr>
            <a:picLocks noChangeAspect="1"/>
          </p:cNvPicPr>
          <p:nvPr/>
        </p:nvPicPr>
        <p:blipFill>
          <a:blip r:embed="rId4"/>
          <a:stretch>
            <a:fillRect/>
          </a:stretch>
        </p:blipFill>
        <p:spPr>
          <a:xfrm>
            <a:off x="4267200" y="3314700"/>
            <a:ext cx="8688012" cy="5782482"/>
          </a:xfrm>
          <a:prstGeom prst="rect">
            <a:avLst/>
          </a:prstGeom>
        </p:spPr>
      </p:pic>
    </p:spTree>
    <p:extLst>
      <p:ext uri="{BB962C8B-B14F-4D97-AF65-F5344CB8AC3E}">
        <p14:creationId xmlns:p14="http://schemas.microsoft.com/office/powerpoint/2010/main" val="3983896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err="1">
                <a:solidFill>
                  <a:srgbClr val="000000"/>
                </a:solidFill>
                <a:latin typeface="Open Sans"/>
                <a:ea typeface="Open Sans"/>
                <a:cs typeface="Open Sans"/>
                <a:sym typeface="Open Sans"/>
              </a:rPr>
              <a:t>Tranformation</a:t>
            </a:r>
            <a:endParaRPr lang="en-US" sz="4000" dirty="0">
              <a:solidFill>
                <a:srgbClr val="000000"/>
              </a:solidFill>
              <a:latin typeface="Open Sans"/>
              <a:ea typeface="Open Sans"/>
              <a:cs typeface="Open Sans"/>
              <a:sym typeface="Open Sans"/>
            </a:endParaRP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4" name="TextBox 3">
            <a:extLst>
              <a:ext uri="{FF2B5EF4-FFF2-40B4-BE49-F238E27FC236}">
                <a16:creationId xmlns:a16="http://schemas.microsoft.com/office/drawing/2014/main" id="{52F98238-97F5-5A96-8430-667A4F08D187}"/>
              </a:ext>
            </a:extLst>
          </p:cNvPr>
          <p:cNvSpPr txBox="1"/>
          <p:nvPr/>
        </p:nvSpPr>
        <p:spPr>
          <a:xfrm>
            <a:off x="1295400" y="2258809"/>
            <a:ext cx="15392400" cy="1864357"/>
          </a:xfrm>
          <a:prstGeom prst="rect">
            <a:avLst/>
          </a:prstGeom>
          <a:noFill/>
        </p:spPr>
        <p:txBody>
          <a:bodyPr wrap="square" rtlCol="0">
            <a:spAutoFit/>
          </a:bodyPr>
          <a:lstStyle/>
          <a:p>
            <a:pPr marL="571500" indent="-571500">
              <a:lnSpc>
                <a:spcPct val="107000"/>
              </a:lnSpc>
              <a:spcAft>
                <a:spcPts val="800"/>
              </a:spcAft>
              <a:buFont typeface="Wingdings" panose="05000000000000000000" pitchFamily="2" charset="2"/>
              <a:buChar char="Ø"/>
            </a:pP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Domain transformation –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yangi</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texnologiyalar</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orqali</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boshqa</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sohalarga</a:t>
            </a:r>
            <a:r>
              <a:rPr lang="en-US" sz="3200" kern="100" dirty="0">
                <a:effectLst/>
                <a:latin typeface="Open Sans" panose="020B0606030504020204" pitchFamily="34" charset="0"/>
                <a:ea typeface="Open Sans" panose="020B0606030504020204" pitchFamily="34" charset="0"/>
                <a:cs typeface="Open Sans" panose="020B0606030504020204" pitchFamily="34" charset="0"/>
              </a:rPr>
              <a:t> ham </a:t>
            </a:r>
            <a:r>
              <a:rPr lang="en-US" sz="3200" kern="100" dirty="0" err="1">
                <a:effectLst/>
                <a:latin typeface="Open Sans" panose="020B0606030504020204" pitchFamily="34" charset="0"/>
                <a:ea typeface="Open Sans" panose="020B0606030504020204" pitchFamily="34" charset="0"/>
                <a:cs typeface="Open Sans" panose="020B0606030504020204" pitchFamily="34" charset="0"/>
              </a:rPr>
              <a:t>kirish</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pPr marL="571500" indent="-571500">
              <a:buFont typeface="Wingdings" panose="05000000000000000000" pitchFamily="2" charset="2"/>
              <a:buChar char="Ø"/>
            </a:pPr>
            <a:endParaRPr lang="ru-RU" sz="40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AutoShape 2" descr="Сформированное изображение">
            <a:extLst>
              <a:ext uri="{FF2B5EF4-FFF2-40B4-BE49-F238E27FC236}">
                <a16:creationId xmlns:a16="http://schemas.microsoft.com/office/drawing/2014/main" id="{078CCAE5-31C9-7DD4-C172-E73DC7ED719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descr="Amazon AWS | Amazon Cloud Services Surat, India | Significant Infotech">
            <a:extLst>
              <a:ext uri="{FF2B5EF4-FFF2-40B4-BE49-F238E27FC236}">
                <a16:creationId xmlns:a16="http://schemas.microsoft.com/office/drawing/2014/main" id="{EDD8A212-2EA3-605E-7F40-6674363C6030}"/>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154" name="Picture 10" descr="What is Amazon Web Services">
            <a:extLst>
              <a:ext uri="{FF2B5EF4-FFF2-40B4-BE49-F238E27FC236}">
                <a16:creationId xmlns:a16="http://schemas.microsoft.com/office/drawing/2014/main" id="{952748C7-F17E-32D2-2004-76122C0169DA}"/>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7072313" y="3539889"/>
            <a:ext cx="10477500" cy="5715000"/>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The Everything, Everywhere, Every time Store” - Technology and Operations  Management">
            <a:extLst>
              <a:ext uri="{FF2B5EF4-FFF2-40B4-BE49-F238E27FC236}">
                <a16:creationId xmlns:a16="http://schemas.microsoft.com/office/drawing/2014/main" id="{9964C822-AA6B-E765-33D6-8ABC2FC9B2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968639"/>
            <a:ext cx="528637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84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8611" y="993736"/>
            <a:ext cx="8503177" cy="632545"/>
          </a:xfrm>
          <a:prstGeom prst="rect">
            <a:avLst/>
          </a:prstGeom>
        </p:spPr>
        <p:txBody>
          <a:bodyPr lIns="0" tIns="0" rIns="0" bIns="0" rtlCol="0" anchor="t">
            <a:spAutoFit/>
          </a:bodyPr>
          <a:lstStyle/>
          <a:p>
            <a:pPr algn="just">
              <a:lnSpc>
                <a:spcPts val="5228"/>
              </a:lnSpc>
              <a:spcBef>
                <a:spcPct val="0"/>
              </a:spcBef>
            </a:pPr>
            <a:r>
              <a:rPr lang="en-US" sz="4000" dirty="0" err="1">
                <a:solidFill>
                  <a:srgbClr val="000000"/>
                </a:solidFill>
                <a:latin typeface="Open Sans"/>
                <a:ea typeface="Open Sans"/>
                <a:cs typeface="Open Sans"/>
                <a:sym typeface="Open Sans"/>
              </a:rPr>
              <a:t>Tranformation</a:t>
            </a:r>
            <a:endParaRPr lang="en-US" sz="4000" dirty="0">
              <a:solidFill>
                <a:srgbClr val="000000"/>
              </a:solidFill>
              <a:latin typeface="Open Sans"/>
              <a:ea typeface="Open Sans"/>
              <a:cs typeface="Open Sans"/>
              <a:sym typeface="Open Sans"/>
            </a:endParaRPr>
          </a:p>
        </p:txBody>
      </p:sp>
      <p:sp>
        <p:nvSpPr>
          <p:cNvPr id="3" name="AutoShape 3"/>
          <p:cNvSpPr/>
          <p:nvPr/>
        </p:nvSpPr>
        <p:spPr>
          <a:xfrm>
            <a:off x="1028700" y="1592927"/>
            <a:ext cx="16230600" cy="0"/>
          </a:xfrm>
          <a:prstGeom prst="line">
            <a:avLst/>
          </a:prstGeom>
          <a:ln w="38100" cap="flat">
            <a:solidFill>
              <a:srgbClr val="000000"/>
            </a:solidFill>
            <a:prstDash val="solid"/>
            <a:headEnd type="none" w="sm" len="sm"/>
            <a:tailEnd type="none" w="sm" len="sm"/>
          </a:ln>
        </p:spPr>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4" name="TextBox 3">
            <a:extLst>
              <a:ext uri="{FF2B5EF4-FFF2-40B4-BE49-F238E27FC236}">
                <a16:creationId xmlns:a16="http://schemas.microsoft.com/office/drawing/2014/main" id="{52F98238-97F5-5A96-8430-667A4F08D187}"/>
              </a:ext>
            </a:extLst>
          </p:cNvPr>
          <p:cNvSpPr txBox="1"/>
          <p:nvPr/>
        </p:nvSpPr>
        <p:spPr>
          <a:xfrm>
            <a:off x="1295400" y="2258809"/>
            <a:ext cx="16230600" cy="1996059"/>
          </a:xfrm>
          <a:prstGeom prst="rect">
            <a:avLst/>
          </a:prstGeom>
          <a:noFill/>
        </p:spPr>
        <p:txBody>
          <a:bodyPr wrap="square" rtlCol="0">
            <a:spAutoFit/>
          </a:bodyPr>
          <a:lstStyle/>
          <a:p>
            <a:pPr marL="571500" indent="-571500">
              <a:lnSpc>
                <a:spcPct val="107000"/>
              </a:lnSpc>
              <a:spcAft>
                <a:spcPts val="800"/>
              </a:spcAft>
              <a:buFont typeface="Wingdings" panose="05000000000000000000" pitchFamily="2" charset="2"/>
              <a:buChar char="Ø"/>
            </a:pPr>
            <a:r>
              <a:rPr lang="en-US" sz="3600" b="1" kern="100" dirty="0" err="1">
                <a:effectLst/>
                <a:latin typeface="Open Sans" panose="020B0606030504020204" pitchFamily="34" charset="0"/>
                <a:ea typeface="Open Sans" panose="020B0606030504020204" pitchFamily="34" charset="0"/>
                <a:cs typeface="Open Sans" panose="020B0606030504020204" pitchFamily="34" charset="0"/>
              </a:rPr>
              <a:t>Organisational</a:t>
            </a:r>
            <a:r>
              <a:rPr lang="en-US" sz="3600" b="1" kern="100" dirty="0">
                <a:effectLst/>
                <a:latin typeface="Open Sans" panose="020B0606030504020204" pitchFamily="34" charset="0"/>
                <a:ea typeface="Open Sans" panose="020B0606030504020204" pitchFamily="34" charset="0"/>
                <a:cs typeface="Open Sans" panose="020B0606030504020204" pitchFamily="34" charset="0"/>
              </a:rPr>
              <a:t> and cultural transformation </a:t>
            </a:r>
            <a:r>
              <a:rPr lang="en-US" sz="3200" b="1" kern="100" dirty="0">
                <a:effectLst/>
                <a:latin typeface="Open Sans" panose="020B0606030504020204" pitchFamily="34" charset="0"/>
                <a:ea typeface="Open Sans" panose="020B0606030504020204" pitchFamily="34" charset="0"/>
                <a:cs typeface="Open Sans" panose="020B0606030504020204" pitchFamily="34" charset="0"/>
              </a:rPr>
              <a:t>– </a:t>
            </a:r>
            <a:r>
              <a:rPr lang="en-US" sz="3600" dirty="0" err="1">
                <a:effectLst/>
                <a:latin typeface="Open Sans" panose="020B0606030504020204" pitchFamily="34" charset="0"/>
                <a:ea typeface="Open Sans" panose="020B0606030504020204" pitchFamily="34" charset="0"/>
                <a:cs typeface="Open Sans" panose="020B0606030504020204" pitchFamily="34" charset="0"/>
              </a:rPr>
              <a:t>tashkilot</a:t>
            </a:r>
            <a:r>
              <a:rPr lang="en-US" sz="3600" dirty="0">
                <a:effectLst/>
                <a:latin typeface="Open Sans" panose="020B0606030504020204" pitchFamily="34" charset="0"/>
                <a:ea typeface="Open Sans" panose="020B0606030504020204" pitchFamily="34" charset="0"/>
                <a:cs typeface="Open Sans" panose="020B0606030504020204" pitchFamily="34" charset="0"/>
              </a:rPr>
              <a:t> </a:t>
            </a:r>
            <a:r>
              <a:rPr lang="en-US" sz="3600" dirty="0" err="1">
                <a:effectLst/>
                <a:latin typeface="Open Sans" panose="020B0606030504020204" pitchFamily="34" charset="0"/>
                <a:ea typeface="Open Sans" panose="020B0606030504020204" pitchFamily="34" charset="0"/>
                <a:cs typeface="Open Sans" panose="020B0606030504020204" pitchFamily="34" charset="0"/>
              </a:rPr>
              <a:t>madaniyatini</a:t>
            </a:r>
            <a:r>
              <a:rPr lang="en-US" sz="3600" dirty="0">
                <a:effectLst/>
                <a:latin typeface="Open Sans" panose="020B0606030504020204" pitchFamily="34" charset="0"/>
                <a:ea typeface="Open Sans" panose="020B0606030504020204" pitchFamily="34" charset="0"/>
                <a:cs typeface="Open Sans" panose="020B0606030504020204" pitchFamily="34" charset="0"/>
              </a:rPr>
              <a:t> </a:t>
            </a:r>
            <a:r>
              <a:rPr lang="en-US" sz="3600" dirty="0" err="1">
                <a:effectLst/>
                <a:latin typeface="Open Sans" panose="020B0606030504020204" pitchFamily="34" charset="0"/>
                <a:ea typeface="Open Sans" panose="020B0606030504020204" pitchFamily="34" charset="0"/>
                <a:cs typeface="Open Sans" panose="020B0606030504020204" pitchFamily="34" charset="0"/>
              </a:rPr>
              <a:t>va</a:t>
            </a:r>
            <a:r>
              <a:rPr lang="en-US" sz="3600" dirty="0">
                <a:effectLst/>
                <a:latin typeface="Open Sans" panose="020B0606030504020204" pitchFamily="34" charset="0"/>
                <a:ea typeface="Open Sans" panose="020B0606030504020204" pitchFamily="34" charset="0"/>
                <a:cs typeface="Open Sans" panose="020B0606030504020204" pitchFamily="34" charset="0"/>
              </a:rPr>
              <a:t> </a:t>
            </a:r>
            <a:r>
              <a:rPr lang="en-US" sz="3600" dirty="0" err="1">
                <a:effectLst/>
                <a:latin typeface="Open Sans" panose="020B0606030504020204" pitchFamily="34" charset="0"/>
                <a:ea typeface="Open Sans" panose="020B0606030504020204" pitchFamily="34" charset="0"/>
                <a:cs typeface="Open Sans" panose="020B0606030504020204" pitchFamily="34" charset="0"/>
              </a:rPr>
              <a:t>ish</a:t>
            </a:r>
            <a:r>
              <a:rPr lang="en-US" sz="3600" dirty="0">
                <a:effectLst/>
                <a:latin typeface="Open Sans" panose="020B0606030504020204" pitchFamily="34" charset="0"/>
                <a:ea typeface="Open Sans" panose="020B0606030504020204" pitchFamily="34" charset="0"/>
                <a:cs typeface="Open Sans" panose="020B0606030504020204" pitchFamily="34" charset="0"/>
              </a:rPr>
              <a:t> </a:t>
            </a:r>
            <a:r>
              <a:rPr lang="en-US" sz="3600" dirty="0" err="1">
                <a:effectLst/>
                <a:latin typeface="Open Sans" panose="020B0606030504020204" pitchFamily="34" charset="0"/>
                <a:ea typeface="Open Sans" panose="020B0606030504020204" pitchFamily="34" charset="0"/>
                <a:cs typeface="Open Sans" panose="020B0606030504020204" pitchFamily="34" charset="0"/>
              </a:rPr>
              <a:t>uslublarini</a:t>
            </a:r>
            <a:r>
              <a:rPr lang="en-US" sz="3600" dirty="0">
                <a:effectLst/>
                <a:latin typeface="Open Sans" panose="020B0606030504020204" pitchFamily="34" charset="0"/>
                <a:ea typeface="Open Sans" panose="020B0606030504020204" pitchFamily="34" charset="0"/>
                <a:cs typeface="Open Sans" panose="020B0606030504020204" pitchFamily="34" charset="0"/>
              </a:rPr>
              <a:t> </a:t>
            </a:r>
            <a:r>
              <a:rPr lang="en-US" sz="3600" dirty="0" err="1">
                <a:effectLst/>
                <a:latin typeface="Open Sans" panose="020B0606030504020204" pitchFamily="34" charset="0"/>
                <a:ea typeface="Open Sans" panose="020B0606030504020204" pitchFamily="34" charset="0"/>
                <a:cs typeface="Open Sans" panose="020B0606030504020204" pitchFamily="34" charset="0"/>
              </a:rPr>
              <a:t>o‘zgartirish</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ru-RU" sz="3200" kern="100" dirty="0">
              <a:effectLst/>
              <a:latin typeface="Open Sans" panose="020B0606030504020204" pitchFamily="34" charset="0"/>
              <a:ea typeface="Open Sans" panose="020B0606030504020204" pitchFamily="34" charset="0"/>
              <a:cs typeface="Open Sans" panose="020B0606030504020204" pitchFamily="34" charset="0"/>
            </a:endParaRPr>
          </a:p>
          <a:p>
            <a:pPr marL="571500" indent="-571500">
              <a:buFont typeface="Wingdings" panose="05000000000000000000" pitchFamily="2" charset="2"/>
              <a:buChar char="Ø"/>
            </a:pPr>
            <a:endParaRPr lang="ru-RU" sz="40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AutoShape 2" descr="Сформированное изображение">
            <a:extLst>
              <a:ext uri="{FF2B5EF4-FFF2-40B4-BE49-F238E27FC236}">
                <a16:creationId xmlns:a16="http://schemas.microsoft.com/office/drawing/2014/main" id="{078CCAE5-31C9-7DD4-C172-E73DC7ED719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descr="Amazon AWS | Amazon Cloud Services Surat, India | Significant Infotech">
            <a:extLst>
              <a:ext uri="{FF2B5EF4-FFF2-40B4-BE49-F238E27FC236}">
                <a16:creationId xmlns:a16="http://schemas.microsoft.com/office/drawing/2014/main" id="{EDD8A212-2EA3-605E-7F40-6674363C6030}"/>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170" name="Picture 2" descr="What is the Agile Development process?">
            <a:extLst>
              <a:ext uri="{FF2B5EF4-FFF2-40B4-BE49-F238E27FC236}">
                <a16:creationId xmlns:a16="http://schemas.microsoft.com/office/drawing/2014/main" id="{9B3471BC-C15E-332E-7228-BF0E5BBF425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5625"/>
          <a:stretch/>
        </p:blipFill>
        <p:spPr bwMode="auto">
          <a:xfrm>
            <a:off x="2661456" y="3866123"/>
            <a:ext cx="3880372" cy="523038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C8C4715-1DFE-6530-5AF9-F0EDB2DDD3B0}"/>
              </a:ext>
            </a:extLst>
          </p:cNvPr>
          <p:cNvSpPr txBox="1"/>
          <p:nvPr/>
        </p:nvSpPr>
        <p:spPr>
          <a:xfrm>
            <a:off x="9925654" y="8565185"/>
            <a:ext cx="5677077" cy="523220"/>
          </a:xfrm>
          <a:prstGeom prst="rect">
            <a:avLst/>
          </a:prstGeom>
          <a:noFill/>
        </p:spPr>
        <p:txBody>
          <a:bodyPr wrap="square" rtlCol="0">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 </a:t>
            </a:r>
            <a:r>
              <a:rPr lang="en-US" sz="2800" dirty="0" err="1">
                <a:latin typeface="Open Sans" panose="020B0606030504020204" pitchFamily="34" charset="0"/>
                <a:ea typeface="Open Sans" panose="020B0606030504020204" pitchFamily="34" charset="0"/>
                <a:cs typeface="Open Sans" panose="020B0606030504020204" pitchFamily="34" charset="0"/>
              </a:rPr>
              <a:t>Toyoto</a:t>
            </a:r>
            <a:r>
              <a:rPr lang="en-US" sz="2800" dirty="0">
                <a:latin typeface="Open Sans" panose="020B0606030504020204" pitchFamily="34" charset="0"/>
                <a:ea typeface="Open Sans" panose="020B0606030504020204" pitchFamily="34" charset="0"/>
                <a:cs typeface="Open Sans" panose="020B0606030504020204" pitchFamily="34" charset="0"/>
              </a:rPr>
              <a:t>, McDonalds, Nike, Intel</a:t>
            </a:r>
            <a:endParaRPr lang="ru-RU"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A9A82F35-76A4-3037-1FE9-10B7C3269649}"/>
              </a:ext>
            </a:extLst>
          </p:cNvPr>
          <p:cNvSpPr txBox="1"/>
          <p:nvPr/>
        </p:nvSpPr>
        <p:spPr>
          <a:xfrm>
            <a:off x="14416714" y="9358117"/>
            <a:ext cx="3352800" cy="646331"/>
          </a:xfrm>
          <a:prstGeom prst="rect">
            <a:avLst/>
          </a:prstGeom>
          <a:noFill/>
        </p:spPr>
        <p:txBody>
          <a:bodyPr wrap="square" rtlCol="0">
            <a:spAutoFit/>
          </a:bodyPr>
          <a:lstStyle/>
          <a:p>
            <a:r>
              <a:rPr lang="en-US" dirty="0">
                <a:hlinkClick r:id="rId5"/>
              </a:rPr>
              <a:t>Lean Manufacturing vs Agile (youtube.com)</a:t>
            </a:r>
            <a:endParaRPr lang="ru-RU" dirty="0"/>
          </a:p>
        </p:txBody>
      </p:sp>
      <p:pic>
        <p:nvPicPr>
          <p:cNvPr id="7174" name="Picture 6" descr="Lean Principles Stock Illustrations – 271 Lean Principles Stock  Illustrations, Vectors &amp; Clipart - Dreamstime">
            <a:extLst>
              <a:ext uri="{FF2B5EF4-FFF2-40B4-BE49-F238E27FC236}">
                <a16:creationId xmlns:a16="http://schemas.microsoft.com/office/drawing/2014/main" id="{19368B4F-381B-FC04-070A-6C212218A1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72612" y="3342903"/>
            <a:ext cx="5223855" cy="523038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9E5CB75-81E5-CFEB-E945-42682A1B5B7F}"/>
              </a:ext>
            </a:extLst>
          </p:cNvPr>
          <p:cNvSpPr txBox="1"/>
          <p:nvPr/>
        </p:nvSpPr>
        <p:spPr>
          <a:xfrm>
            <a:off x="2209800" y="8665498"/>
            <a:ext cx="5428287" cy="954107"/>
          </a:xfrm>
          <a:prstGeom prst="rect">
            <a:avLst/>
          </a:prstGeom>
          <a:noFill/>
        </p:spPr>
        <p:txBody>
          <a:bodyPr wrap="square" rtlCol="0">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Microsoft, Apple, Tesla, Google, Amazon</a:t>
            </a:r>
            <a:endParaRPr lang="ru-RU"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98097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1592927"/>
            <a:ext cx="16230600" cy="0"/>
          </a:xfrm>
          <a:prstGeom prst="line">
            <a:avLst/>
          </a:prstGeom>
          <a:ln w="38100" cap="flat">
            <a:solidFill>
              <a:srgbClr val="000000"/>
            </a:solidFill>
            <a:prstDash val="solid"/>
            <a:headEnd type="none" w="sm" len="sm"/>
            <a:tailEnd type="none" w="sm" len="sm"/>
          </a:ln>
        </p:spPr>
      </p:sp>
      <p:sp>
        <p:nvSpPr>
          <p:cNvPr id="3" name="TextBox 3"/>
          <p:cNvSpPr txBox="1"/>
          <p:nvPr/>
        </p:nvSpPr>
        <p:spPr>
          <a:xfrm>
            <a:off x="1028700" y="847725"/>
            <a:ext cx="16230600" cy="632545"/>
          </a:xfrm>
          <a:prstGeom prst="rect">
            <a:avLst/>
          </a:prstGeom>
        </p:spPr>
        <p:txBody>
          <a:bodyPr lIns="0" tIns="0" rIns="0" bIns="0" rtlCol="0" anchor="t">
            <a:spAutoFit/>
          </a:bodyPr>
          <a:lstStyle/>
          <a:p>
            <a:pPr algn="just">
              <a:lnSpc>
                <a:spcPts val="5228"/>
              </a:lnSpc>
              <a:spcBef>
                <a:spcPct val="0"/>
              </a:spcBef>
            </a:pPr>
            <a:r>
              <a:rPr lang="en-US" sz="4000" dirty="0">
                <a:solidFill>
                  <a:srgbClr val="000000"/>
                </a:solidFill>
                <a:latin typeface="Open Sans"/>
                <a:ea typeface="Open Sans"/>
                <a:cs typeface="Open Sans"/>
                <a:sym typeface="Open Sans"/>
              </a:rPr>
              <a:t>Innovation</a:t>
            </a:r>
            <a:r>
              <a:rPr lang="en-US" sz="4000" i="1" dirty="0">
                <a:solidFill>
                  <a:srgbClr val="000000"/>
                </a:solidFill>
                <a:latin typeface="Open Sans"/>
                <a:ea typeface="Open Sans"/>
                <a:cs typeface="Open Sans"/>
                <a:sym typeface="Open Sans"/>
              </a:rPr>
              <a:t> vs </a:t>
            </a:r>
            <a:r>
              <a:rPr lang="en-US" sz="4000" dirty="0">
                <a:solidFill>
                  <a:srgbClr val="000000"/>
                </a:solidFill>
                <a:latin typeface="Open Sans"/>
                <a:ea typeface="Open Sans"/>
                <a:cs typeface="Open Sans"/>
                <a:sym typeface="Open Sans"/>
              </a:rPr>
              <a:t>digital transformation</a:t>
            </a:r>
          </a:p>
        </p:txBody>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graphicFrame>
        <p:nvGraphicFramePr>
          <p:cNvPr id="9" name="Таблица 8">
            <a:extLst>
              <a:ext uri="{FF2B5EF4-FFF2-40B4-BE49-F238E27FC236}">
                <a16:creationId xmlns:a16="http://schemas.microsoft.com/office/drawing/2014/main" id="{9A65E80C-55FD-29ED-3CA9-D91E81EEE5A4}"/>
              </a:ext>
            </a:extLst>
          </p:cNvPr>
          <p:cNvGraphicFramePr>
            <a:graphicFrameLocks noGrp="1"/>
          </p:cNvGraphicFramePr>
          <p:nvPr>
            <p:extLst>
              <p:ext uri="{D42A27DB-BD31-4B8C-83A1-F6EECF244321}">
                <p14:modId xmlns:p14="http://schemas.microsoft.com/office/powerpoint/2010/main" val="3427485115"/>
              </p:ext>
            </p:extLst>
          </p:nvPr>
        </p:nvGraphicFramePr>
        <p:xfrm>
          <a:off x="457200" y="3405981"/>
          <a:ext cx="8229600" cy="365760"/>
        </p:xfrm>
        <a:graphic>
          <a:graphicData uri="http://schemas.openxmlformats.org/drawingml/2006/table">
            <a:tbl>
              <a:tblPr/>
              <a:tblGrid>
                <a:gridCol w="2743200">
                  <a:extLst>
                    <a:ext uri="{9D8B030D-6E8A-4147-A177-3AD203B41FA5}">
                      <a16:colId xmlns:a16="http://schemas.microsoft.com/office/drawing/2014/main" val="2342331354"/>
                    </a:ext>
                  </a:extLst>
                </a:gridCol>
                <a:gridCol w="2743200">
                  <a:extLst>
                    <a:ext uri="{9D8B030D-6E8A-4147-A177-3AD203B41FA5}">
                      <a16:colId xmlns:a16="http://schemas.microsoft.com/office/drawing/2014/main" val="2712697171"/>
                    </a:ext>
                  </a:extLst>
                </a:gridCol>
                <a:gridCol w="2743200">
                  <a:extLst>
                    <a:ext uri="{9D8B030D-6E8A-4147-A177-3AD203B41FA5}">
                      <a16:colId xmlns:a16="http://schemas.microsoft.com/office/drawing/2014/main" val="2213541017"/>
                    </a:ext>
                  </a:extLst>
                </a:gridCol>
              </a:tblGrid>
              <a:tr h="0">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it-IT" dirty="0"/>
                    </a:p>
                  </a:txBody>
                  <a:tcPr anchor="ctr">
                    <a:lnL>
                      <a:noFill/>
                    </a:lnL>
                    <a:lnR>
                      <a:noFill/>
                    </a:lnR>
                    <a:lnT>
                      <a:noFill/>
                    </a:lnT>
                    <a:lnB>
                      <a:noFill/>
                    </a:lnB>
                    <a:noFill/>
                  </a:tcPr>
                </a:tc>
                <a:extLst>
                  <a:ext uri="{0D108BD9-81ED-4DB2-BD59-A6C34878D82A}">
                    <a16:rowId xmlns:a16="http://schemas.microsoft.com/office/drawing/2014/main" val="773909091"/>
                  </a:ext>
                </a:extLst>
              </a:tr>
            </a:tbl>
          </a:graphicData>
        </a:graphic>
      </p:graphicFrame>
      <p:sp>
        <p:nvSpPr>
          <p:cNvPr id="13" name="TextBox 12">
            <a:extLst>
              <a:ext uri="{FF2B5EF4-FFF2-40B4-BE49-F238E27FC236}">
                <a16:creationId xmlns:a16="http://schemas.microsoft.com/office/drawing/2014/main" id="{9771D5FC-5F46-F577-20D4-26A008DD4D9D}"/>
              </a:ext>
            </a:extLst>
          </p:cNvPr>
          <p:cNvSpPr txBox="1"/>
          <p:nvPr/>
        </p:nvSpPr>
        <p:spPr>
          <a:xfrm>
            <a:off x="3081336" y="2027401"/>
            <a:ext cx="11896726" cy="1446550"/>
          </a:xfrm>
          <a:prstGeom prst="rect">
            <a:avLst/>
          </a:prstGeom>
          <a:noFill/>
        </p:spPr>
        <p:txBody>
          <a:bodyPr wrap="square">
            <a:spAutoFit/>
          </a:bodyPr>
          <a:lstStyle/>
          <a:p>
            <a:pPr marL="571500" indent="-571500" algn="ctr">
              <a:buFont typeface="Wingdings" panose="05000000000000000000" pitchFamily="2" charset="2"/>
              <a:buChar char="Ø"/>
            </a:pPr>
            <a:r>
              <a:rPr lang="en-US" sz="4400" b="1" dirty="0" err="1"/>
              <a:t>Innovatsiya</a:t>
            </a:r>
            <a:r>
              <a:rPr lang="en-US" sz="4400" b="1" dirty="0"/>
              <a:t> </a:t>
            </a:r>
            <a:r>
              <a:rPr lang="en-US" sz="4400" b="1" dirty="0" err="1"/>
              <a:t>va</a:t>
            </a:r>
            <a:r>
              <a:rPr lang="en-US" sz="4400" b="1" dirty="0"/>
              <a:t> </a:t>
            </a:r>
            <a:r>
              <a:rPr lang="en-US" sz="4400" b="1" dirty="0" err="1"/>
              <a:t>raqamli</a:t>
            </a:r>
            <a:r>
              <a:rPr lang="en-US" sz="4400" b="1" dirty="0"/>
              <a:t> </a:t>
            </a:r>
            <a:r>
              <a:rPr lang="en-US" sz="4400" b="1" dirty="0" err="1"/>
              <a:t>transformatsiyaning</a:t>
            </a:r>
            <a:r>
              <a:rPr lang="en-US" sz="4400" b="1" dirty="0"/>
              <a:t> </a:t>
            </a:r>
            <a:r>
              <a:rPr lang="en-US" sz="4400" b="1" dirty="0" err="1"/>
              <a:t>farqi</a:t>
            </a:r>
            <a:endParaRPr lang="en-US" sz="4400" b="1" dirty="0"/>
          </a:p>
        </p:txBody>
      </p:sp>
      <p:graphicFrame>
        <p:nvGraphicFramePr>
          <p:cNvPr id="17" name="Таблица 16">
            <a:extLst>
              <a:ext uri="{FF2B5EF4-FFF2-40B4-BE49-F238E27FC236}">
                <a16:creationId xmlns:a16="http://schemas.microsoft.com/office/drawing/2014/main" id="{A6C3B7BB-BC87-FBCB-E99C-3F926CD598D4}"/>
              </a:ext>
            </a:extLst>
          </p:cNvPr>
          <p:cNvGraphicFramePr>
            <a:graphicFrameLocks noGrp="1"/>
          </p:cNvGraphicFramePr>
          <p:nvPr>
            <p:extLst>
              <p:ext uri="{D42A27DB-BD31-4B8C-83A1-F6EECF244321}">
                <p14:modId xmlns:p14="http://schemas.microsoft.com/office/powerpoint/2010/main" val="3096764719"/>
              </p:ext>
            </p:extLst>
          </p:nvPr>
        </p:nvGraphicFramePr>
        <p:xfrm>
          <a:off x="2819399" y="3591857"/>
          <a:ext cx="12420601" cy="5660068"/>
        </p:xfrm>
        <a:graphic>
          <a:graphicData uri="http://schemas.openxmlformats.org/drawingml/2006/table">
            <a:tbl>
              <a:tblPr firstRow="1" bandRow="1">
                <a:tableStyleId>{21E4AEA4-8DFA-4A89-87EB-49C32662AFE0}</a:tableStyleId>
              </a:tblPr>
              <a:tblGrid>
                <a:gridCol w="2971801">
                  <a:extLst>
                    <a:ext uri="{9D8B030D-6E8A-4147-A177-3AD203B41FA5}">
                      <a16:colId xmlns:a16="http://schemas.microsoft.com/office/drawing/2014/main" val="1127527430"/>
                    </a:ext>
                  </a:extLst>
                </a:gridCol>
                <a:gridCol w="4572000">
                  <a:extLst>
                    <a:ext uri="{9D8B030D-6E8A-4147-A177-3AD203B41FA5}">
                      <a16:colId xmlns:a16="http://schemas.microsoft.com/office/drawing/2014/main" val="822841301"/>
                    </a:ext>
                  </a:extLst>
                </a:gridCol>
                <a:gridCol w="4876800">
                  <a:extLst>
                    <a:ext uri="{9D8B030D-6E8A-4147-A177-3AD203B41FA5}">
                      <a16:colId xmlns:a16="http://schemas.microsoft.com/office/drawing/2014/main" val="3522590122"/>
                    </a:ext>
                  </a:extLst>
                </a:gridCol>
              </a:tblGrid>
              <a:tr h="1275554">
                <a:tc>
                  <a:txBody>
                    <a:bodyPr/>
                    <a:lstStyle/>
                    <a:p>
                      <a:pPr algn="ctr"/>
                      <a:r>
                        <a:rPr lang="en-US" sz="3200" dirty="0" err="1"/>
                        <a:t>Asosiy</a:t>
                      </a:r>
                      <a:r>
                        <a:rPr lang="en-US" sz="3200" dirty="0"/>
                        <a:t> </a:t>
                      </a:r>
                      <a:r>
                        <a:rPr lang="en-US" sz="3200" dirty="0" err="1"/>
                        <a:t>farq</a:t>
                      </a:r>
                      <a:endParaRPr lang="ru-RU" sz="3200" dirty="0"/>
                    </a:p>
                  </a:txBody>
                  <a:tcPr/>
                </a:tc>
                <a:tc>
                  <a:txBody>
                    <a:bodyPr/>
                    <a:lstStyle/>
                    <a:p>
                      <a:pPr algn="ctr"/>
                      <a:r>
                        <a:rPr lang="en-US" sz="3200" dirty="0" err="1"/>
                        <a:t>Innovatsiya</a:t>
                      </a:r>
                      <a:endParaRPr lang="ru-RU" sz="3200" dirty="0"/>
                    </a:p>
                  </a:txBody>
                  <a:tcPr/>
                </a:tc>
                <a:tc>
                  <a:txBody>
                    <a:bodyPr/>
                    <a:lstStyle/>
                    <a:p>
                      <a:pPr algn="ctr"/>
                      <a:r>
                        <a:rPr lang="en-US" sz="3200" dirty="0" err="1"/>
                        <a:t>Raqamli</a:t>
                      </a:r>
                      <a:r>
                        <a:rPr lang="en-US" sz="3200" dirty="0"/>
                        <a:t> </a:t>
                      </a:r>
                      <a:r>
                        <a:rPr lang="en-US" sz="3200" dirty="0" err="1"/>
                        <a:t>transformatsiya</a:t>
                      </a:r>
                      <a:endParaRPr lang="ru-RU" sz="3200" dirty="0"/>
                    </a:p>
                  </a:txBody>
                  <a:tcPr/>
                </a:tc>
                <a:extLst>
                  <a:ext uri="{0D108BD9-81ED-4DB2-BD59-A6C34878D82A}">
                    <a16:rowId xmlns:a16="http://schemas.microsoft.com/office/drawing/2014/main" val="2421132897"/>
                  </a:ext>
                </a:extLst>
              </a:tr>
              <a:tr h="1275554">
                <a:tc>
                  <a:txBody>
                    <a:bodyPr/>
                    <a:lstStyle/>
                    <a:p>
                      <a:pPr algn="ctr"/>
                      <a:r>
                        <a:rPr lang="en-US" sz="3200" dirty="0"/>
                        <a:t>Nima?</a:t>
                      </a:r>
                      <a:endParaRPr lang="ru-RU" sz="3200" dirty="0"/>
                    </a:p>
                  </a:txBody>
                  <a:tcPr/>
                </a:tc>
                <a:tc>
                  <a:txBody>
                    <a:bodyPr/>
                    <a:lstStyle/>
                    <a:p>
                      <a:pPr algn="ctr"/>
                      <a:r>
                        <a:rPr lang="en-US" sz="3200" dirty="0" err="1"/>
                        <a:t>Yangi</a:t>
                      </a:r>
                      <a:r>
                        <a:rPr lang="en-US" sz="3200" dirty="0"/>
                        <a:t> </a:t>
                      </a:r>
                      <a:r>
                        <a:rPr lang="en-US" sz="3200" dirty="0" err="1"/>
                        <a:t>g‘oya</a:t>
                      </a:r>
                      <a:r>
                        <a:rPr lang="en-US" sz="3200" dirty="0"/>
                        <a:t>, </a:t>
                      </a:r>
                      <a:r>
                        <a:rPr lang="en-US" sz="3200" dirty="0" err="1"/>
                        <a:t>mahsulot</a:t>
                      </a:r>
                      <a:r>
                        <a:rPr lang="en-US" sz="3200" dirty="0"/>
                        <a:t> </a:t>
                      </a:r>
                      <a:r>
                        <a:rPr lang="en-US" sz="3200" dirty="0" err="1"/>
                        <a:t>yoki</a:t>
                      </a:r>
                      <a:r>
                        <a:rPr lang="en-US" sz="3200" dirty="0"/>
                        <a:t> </a:t>
                      </a:r>
                      <a:r>
                        <a:rPr lang="en-US" sz="3200" dirty="0" err="1"/>
                        <a:t>xizmat</a:t>
                      </a:r>
                      <a:endParaRPr lang="ru-RU" sz="3200" dirty="0"/>
                    </a:p>
                  </a:txBody>
                  <a:tcPr/>
                </a:tc>
                <a:tc>
                  <a:txBody>
                    <a:bodyPr/>
                    <a:lstStyle/>
                    <a:p>
                      <a:pPr algn="ctr"/>
                      <a:r>
                        <a:rPr lang="it-IT" sz="3200" dirty="0"/>
                        <a:t>Ish uslubini raqamli texnologiyalar orqali o‘zgartirish</a:t>
                      </a:r>
                      <a:endParaRPr lang="ru-RU" sz="3200" dirty="0"/>
                    </a:p>
                  </a:txBody>
                  <a:tcPr/>
                </a:tc>
                <a:extLst>
                  <a:ext uri="{0D108BD9-81ED-4DB2-BD59-A6C34878D82A}">
                    <a16:rowId xmlns:a16="http://schemas.microsoft.com/office/drawing/2014/main" val="250524055"/>
                  </a:ext>
                </a:extLst>
              </a:tr>
              <a:tr h="1275554">
                <a:tc>
                  <a:txBody>
                    <a:bodyPr/>
                    <a:lstStyle/>
                    <a:p>
                      <a:pPr algn="ctr"/>
                      <a:r>
                        <a:rPr lang="en-US" sz="3200" dirty="0" err="1"/>
                        <a:t>Misol</a:t>
                      </a:r>
                      <a:endParaRPr lang="ru-RU" sz="3200" dirty="0"/>
                    </a:p>
                  </a:txBody>
                  <a:tcPr/>
                </a:tc>
                <a:tc>
                  <a:txBody>
                    <a:bodyPr/>
                    <a:lstStyle/>
                    <a:p>
                      <a:pPr algn="ctr"/>
                      <a:r>
                        <a:rPr lang="en-US" sz="3200" dirty="0"/>
                        <a:t>Dron </a:t>
                      </a:r>
                      <a:r>
                        <a:rPr lang="en-US" sz="3200" dirty="0" err="1"/>
                        <a:t>yaratish</a:t>
                      </a:r>
                      <a:endParaRPr lang="ru-RU" sz="3200" dirty="0"/>
                    </a:p>
                  </a:txBody>
                  <a:tcPr anchor="ctr"/>
                </a:tc>
                <a:tc>
                  <a:txBody>
                    <a:bodyPr/>
                    <a:lstStyle/>
                    <a:p>
                      <a:pPr algn="ctr"/>
                      <a:r>
                        <a:rPr lang="es-ES" sz="3200" dirty="0"/>
                        <a:t>Qishloq xo‘jaligida dronlardan foydalanish</a:t>
                      </a:r>
                      <a:endParaRPr lang="ru-RU" sz="3200" dirty="0"/>
                    </a:p>
                  </a:txBody>
                  <a:tcPr/>
                </a:tc>
                <a:extLst>
                  <a:ext uri="{0D108BD9-81ED-4DB2-BD59-A6C34878D82A}">
                    <a16:rowId xmlns:a16="http://schemas.microsoft.com/office/drawing/2014/main" val="285188240"/>
                  </a:ext>
                </a:extLst>
              </a:tr>
              <a:tr h="1275554">
                <a:tc>
                  <a:txBody>
                    <a:bodyPr/>
                    <a:lstStyle/>
                    <a:p>
                      <a:pPr algn="ctr"/>
                      <a:r>
                        <a:rPr lang="en-US" sz="3200" dirty="0" err="1"/>
                        <a:t>Maqsad</a:t>
                      </a:r>
                      <a:endParaRPr lang="ru-RU" sz="3200" dirty="0"/>
                    </a:p>
                  </a:txBody>
                  <a:tcPr/>
                </a:tc>
                <a:tc>
                  <a:txBody>
                    <a:bodyPr/>
                    <a:lstStyle/>
                    <a:p>
                      <a:pPr algn="ctr"/>
                      <a:r>
                        <a:rPr lang="en-US" sz="3200" dirty="0" err="1"/>
                        <a:t>Yangi</a:t>
                      </a:r>
                      <a:r>
                        <a:rPr lang="en-US" sz="3200" dirty="0"/>
                        <a:t> </a:t>
                      </a:r>
                      <a:r>
                        <a:rPr lang="en-US" sz="3200" dirty="0" err="1"/>
                        <a:t>narsalarni</a:t>
                      </a:r>
                      <a:r>
                        <a:rPr lang="en-US" sz="3200" dirty="0"/>
                        <a:t> kashf </a:t>
                      </a:r>
                      <a:r>
                        <a:rPr lang="en-US" sz="3200" dirty="0" err="1"/>
                        <a:t>qilish</a:t>
                      </a:r>
                      <a:endParaRPr lang="ru-RU" sz="3200" dirty="0"/>
                    </a:p>
                  </a:txBody>
                  <a:tcPr/>
                </a:tc>
                <a:tc>
                  <a:txBody>
                    <a:bodyPr/>
                    <a:lstStyle/>
                    <a:p>
                      <a:pPr algn="ctr"/>
                      <a:r>
                        <a:rPr lang="en-US" sz="3200" dirty="0" err="1"/>
                        <a:t>Mavjud</a:t>
                      </a:r>
                      <a:r>
                        <a:rPr lang="en-US" sz="3200" dirty="0"/>
                        <a:t> </a:t>
                      </a:r>
                      <a:r>
                        <a:rPr lang="en-US" sz="3200" dirty="0" err="1"/>
                        <a:t>tizimlarni</a:t>
                      </a:r>
                      <a:r>
                        <a:rPr lang="en-US" sz="3200" dirty="0"/>
                        <a:t> </a:t>
                      </a:r>
                      <a:r>
                        <a:rPr lang="en-US" sz="3200" dirty="0" err="1"/>
                        <a:t>raqamlashtirish</a:t>
                      </a:r>
                      <a:r>
                        <a:rPr lang="en-US" sz="3200" dirty="0"/>
                        <a:t> </a:t>
                      </a:r>
                      <a:r>
                        <a:rPr lang="en-US" sz="3200" dirty="0" err="1"/>
                        <a:t>orqali</a:t>
                      </a:r>
                      <a:r>
                        <a:rPr lang="en-US" sz="3200" dirty="0"/>
                        <a:t> </a:t>
                      </a:r>
                      <a:r>
                        <a:rPr lang="en-US" sz="3200" dirty="0" err="1"/>
                        <a:t>yaxshilash</a:t>
                      </a:r>
                      <a:endParaRPr lang="ru-RU" sz="3200" dirty="0"/>
                    </a:p>
                  </a:txBody>
                  <a:tcPr/>
                </a:tc>
                <a:extLst>
                  <a:ext uri="{0D108BD9-81ED-4DB2-BD59-A6C34878D82A}">
                    <a16:rowId xmlns:a16="http://schemas.microsoft.com/office/drawing/2014/main" val="3638893939"/>
                  </a:ext>
                </a:extLst>
              </a:tr>
            </a:tbl>
          </a:graphicData>
        </a:graphic>
      </p:graphicFrame>
    </p:spTree>
    <p:extLst>
      <p:ext uri="{BB962C8B-B14F-4D97-AF65-F5344CB8AC3E}">
        <p14:creationId xmlns:p14="http://schemas.microsoft.com/office/powerpoint/2010/main" val="3765385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1592927"/>
            <a:ext cx="16230600" cy="0"/>
          </a:xfrm>
          <a:prstGeom prst="line">
            <a:avLst/>
          </a:prstGeom>
          <a:ln w="38100" cap="flat">
            <a:solidFill>
              <a:srgbClr val="000000"/>
            </a:solidFill>
            <a:prstDash val="solid"/>
            <a:headEnd type="none" w="sm" len="sm"/>
            <a:tailEnd type="none" w="sm" len="sm"/>
          </a:ln>
        </p:spPr>
      </p:sp>
      <p:sp>
        <p:nvSpPr>
          <p:cNvPr id="3" name="TextBox 3"/>
          <p:cNvSpPr txBox="1"/>
          <p:nvPr/>
        </p:nvSpPr>
        <p:spPr>
          <a:xfrm>
            <a:off x="1028700" y="847725"/>
            <a:ext cx="16230600" cy="623761"/>
          </a:xfrm>
          <a:prstGeom prst="rect">
            <a:avLst/>
          </a:prstGeom>
        </p:spPr>
        <p:txBody>
          <a:bodyPr lIns="0" tIns="0" rIns="0" bIns="0" rtlCol="0" anchor="t">
            <a:spAutoFit/>
          </a:bodyPr>
          <a:lstStyle/>
          <a:p>
            <a:pPr algn="just">
              <a:lnSpc>
                <a:spcPts val="5228"/>
              </a:lnSpc>
              <a:spcBef>
                <a:spcPct val="0"/>
              </a:spcBef>
            </a:pPr>
            <a:r>
              <a:rPr lang="en-US" sz="3734" dirty="0">
                <a:solidFill>
                  <a:srgbClr val="000000"/>
                </a:solidFill>
                <a:latin typeface="Open Sans"/>
                <a:ea typeface="Open Sans"/>
                <a:cs typeface="Open Sans"/>
                <a:sym typeface="Open Sans"/>
              </a:rPr>
              <a:t>Why?</a:t>
            </a:r>
          </a:p>
        </p:txBody>
      </p:sp>
      <p:sp>
        <p:nvSpPr>
          <p:cNvPr id="4" name="TextBox 4"/>
          <p:cNvSpPr txBox="1"/>
          <p:nvPr/>
        </p:nvSpPr>
        <p:spPr>
          <a:xfrm>
            <a:off x="1028700" y="2184574"/>
            <a:ext cx="15275543" cy="564257"/>
          </a:xfrm>
          <a:prstGeom prst="rect">
            <a:avLst/>
          </a:prstGeom>
        </p:spPr>
        <p:txBody>
          <a:bodyPr lIns="0" tIns="0" rIns="0" bIns="0" rtlCol="0" anchor="t">
            <a:spAutoFit/>
          </a:bodyPr>
          <a:lstStyle/>
          <a:p>
            <a:pPr marL="571500" indent="-571500" algn="l">
              <a:lnSpc>
                <a:spcPts val="4446"/>
              </a:lnSpc>
              <a:spcBef>
                <a:spcPct val="0"/>
              </a:spcBef>
              <a:buFont typeface="Wingdings" panose="05000000000000000000" pitchFamily="2" charset="2"/>
              <a:buChar char="Ø"/>
            </a:pPr>
            <a:r>
              <a:rPr lang="en-US" sz="4000" b="1" dirty="0">
                <a:solidFill>
                  <a:srgbClr val="000000"/>
                </a:solidFill>
                <a:latin typeface="Open Sans"/>
                <a:ea typeface="Open Sans"/>
                <a:cs typeface="Open Sans"/>
                <a:sym typeface="Open Sans"/>
              </a:rPr>
              <a:t>Nega </a:t>
            </a:r>
            <a:r>
              <a:rPr lang="en-US" sz="4000" b="1" dirty="0" err="1">
                <a:solidFill>
                  <a:srgbClr val="000000"/>
                </a:solidFill>
                <a:latin typeface="Open Sans"/>
                <a:ea typeface="Open Sans"/>
                <a:cs typeface="Open Sans"/>
                <a:sym typeface="Open Sans"/>
              </a:rPr>
              <a:t>bu</a:t>
            </a:r>
            <a:r>
              <a:rPr lang="en-US" sz="4000" b="1" dirty="0">
                <a:solidFill>
                  <a:srgbClr val="000000"/>
                </a:solidFill>
                <a:latin typeface="Open Sans"/>
                <a:ea typeface="Open Sans"/>
                <a:cs typeface="Open Sans"/>
                <a:sym typeface="Open Sans"/>
              </a:rPr>
              <a:t> fan </a:t>
            </a:r>
            <a:r>
              <a:rPr lang="en-US" sz="4000" b="1" dirty="0" err="1">
                <a:solidFill>
                  <a:srgbClr val="000000"/>
                </a:solidFill>
                <a:latin typeface="Open Sans"/>
                <a:ea typeface="Open Sans"/>
                <a:cs typeface="Open Sans"/>
                <a:sym typeface="Open Sans"/>
              </a:rPr>
              <a:t>muhim</a:t>
            </a:r>
            <a:r>
              <a:rPr lang="en-US" sz="4000" b="1" dirty="0">
                <a:solidFill>
                  <a:srgbClr val="000000"/>
                </a:solidFill>
                <a:latin typeface="Open Sans"/>
                <a:ea typeface="Open Sans"/>
                <a:cs typeface="Open Sans"/>
                <a:sym typeface="Open Sans"/>
              </a:rPr>
              <a:t>?</a:t>
            </a:r>
          </a:p>
        </p:txBody>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8" name="TextBox 7">
            <a:extLst>
              <a:ext uri="{FF2B5EF4-FFF2-40B4-BE49-F238E27FC236}">
                <a16:creationId xmlns:a16="http://schemas.microsoft.com/office/drawing/2014/main" id="{D362D487-1339-8939-AD1B-DB440C44F811}"/>
              </a:ext>
            </a:extLst>
          </p:cNvPr>
          <p:cNvSpPr txBox="1"/>
          <p:nvPr/>
        </p:nvSpPr>
        <p:spPr>
          <a:xfrm>
            <a:off x="1981200" y="3376809"/>
            <a:ext cx="7396163" cy="5452134"/>
          </a:xfrm>
          <a:prstGeom prst="rect">
            <a:avLst/>
          </a:prstGeom>
          <a:noFill/>
        </p:spPr>
        <p:txBody>
          <a:bodyPr wrap="square" rtlCol="0">
            <a:spAutoFit/>
          </a:bodyPr>
          <a:lstStyle/>
          <a:p>
            <a:pPr marL="342900" indent="-342900">
              <a:lnSpc>
                <a:spcPct val="107000"/>
              </a:lnSpc>
              <a:spcAft>
                <a:spcPts val="800"/>
              </a:spcAft>
              <a:buFont typeface="Wingdings" panose="05000000000000000000" pitchFamily="2" charset="2"/>
              <a:buChar char="ü"/>
            </a:pPr>
            <a:r>
              <a:rPr lang="en-US" sz="2800" b="1"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LO1</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Biznes</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transformatsiyasiga</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olib</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keluvch</a:t>
            </a:r>
            <a:r>
              <a:rPr lang="en-US" sz="2800" kern="100" dirty="0" err="1">
                <a:solidFill>
                  <a:srgbClr val="00B050"/>
                </a:solidFill>
                <a:latin typeface="Open Sans" panose="020B0606030504020204" pitchFamily="34" charset="0"/>
                <a:ea typeface="Open Sans" panose="020B0606030504020204" pitchFamily="34" charset="0"/>
                <a:cs typeface="Open Sans" panose="020B0606030504020204" pitchFamily="34" charset="0"/>
              </a:rPr>
              <a:t>i</a:t>
            </a:r>
            <a:r>
              <a:rPr lang="en-US" sz="2800" kern="100" dirty="0">
                <a:solidFill>
                  <a:srgbClr val="00B050"/>
                </a:solidFill>
                <a:latin typeface="Open Sans" panose="020B0606030504020204" pitchFamily="34" charset="0"/>
                <a:ea typeface="Open Sans" panose="020B0606030504020204" pitchFamily="34" charset="0"/>
                <a:cs typeface="Open Sans" panose="020B0606030504020204" pitchFamily="34" charset="0"/>
              </a:rPr>
              <a:t>,</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bozorni</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izdan</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chiqaruvchi</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omillar</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disruptiv</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omillar</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ni</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o‘rganish</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a:t>
            </a:r>
            <a:endParaRPr lang="ru-RU"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endParaRPr>
          </a:p>
          <a:p>
            <a:pPr marL="342900" indent="-342900">
              <a:lnSpc>
                <a:spcPct val="107000"/>
              </a:lnSpc>
              <a:spcAft>
                <a:spcPts val="800"/>
              </a:spcAft>
              <a:buFont typeface="Wingdings" panose="05000000000000000000" pitchFamily="2" charset="2"/>
              <a:buChar char="ü"/>
            </a:pPr>
            <a:r>
              <a:rPr lang="en-US" sz="2800" b="1"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LO2</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Raqamli</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transformatsiyaning</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turlarini</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 </a:t>
            </a:r>
            <a:r>
              <a:rPr lang="en-US" sz="2800" kern="100" dirty="0" err="1">
                <a:solidFill>
                  <a:srgbClr val="00B050"/>
                </a:solidFill>
                <a:effectLst/>
                <a:latin typeface="Open Sans" panose="020B0606030504020204" pitchFamily="34" charset="0"/>
                <a:ea typeface="Open Sans" panose="020B0606030504020204" pitchFamily="34" charset="0"/>
                <a:cs typeface="Open Sans" panose="020B0606030504020204" pitchFamily="34" charset="0"/>
              </a:rPr>
              <a:t>o‘rganish</a:t>
            </a:r>
            <a:r>
              <a:rPr lang="en-US"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rPr>
              <a:t>.</a:t>
            </a:r>
            <a:endParaRPr lang="ru-RU" sz="2800" kern="100" dirty="0">
              <a:solidFill>
                <a:srgbClr val="00B050"/>
              </a:solidFill>
              <a:effectLst/>
              <a:latin typeface="Open Sans" panose="020B0606030504020204" pitchFamily="34" charset="0"/>
              <a:ea typeface="Open Sans" panose="020B0606030504020204" pitchFamily="34" charset="0"/>
              <a:cs typeface="Open Sans" panose="020B0606030504020204" pitchFamily="34" charset="0"/>
            </a:endParaRPr>
          </a:p>
          <a:p>
            <a:pPr>
              <a:lnSpc>
                <a:spcPct val="107000"/>
              </a:lnSpc>
              <a:spcAft>
                <a:spcPts val="800"/>
              </a:spcAft>
            </a:pPr>
            <a:r>
              <a:rPr lang="en-US" sz="2400" b="1" kern="100" dirty="0">
                <a:effectLst/>
                <a:latin typeface="Open Sans" panose="020B0606030504020204" pitchFamily="34" charset="0"/>
                <a:ea typeface="Open Sans" panose="020B0606030504020204" pitchFamily="34" charset="0"/>
                <a:cs typeface="Open Sans" panose="020B0606030504020204" pitchFamily="34" charset="0"/>
              </a:rPr>
              <a:t>LO3</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Muvaffaqiyatli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raqamli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transformatsiyani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amalga</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oshirish</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uchun</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zarur</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bo‘lgan</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talablarni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o’rganish</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a:t>
            </a:r>
          </a:p>
          <a:p>
            <a:pPr>
              <a:lnSpc>
                <a:spcPct val="107000"/>
              </a:lnSpc>
              <a:spcAft>
                <a:spcPts val="800"/>
              </a:spcAft>
            </a:pP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b="1" kern="100" dirty="0">
                <a:effectLst/>
                <a:latin typeface="Open Sans" panose="020B0606030504020204" pitchFamily="34" charset="0"/>
                <a:ea typeface="Open Sans" panose="020B0606030504020204" pitchFamily="34" charset="0"/>
                <a:cs typeface="Open Sans" panose="020B0606030504020204" pitchFamily="34" charset="0"/>
              </a:rPr>
              <a:t>LO4</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Raqamli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transformatsiya</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jarayonida</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g‘oyalarni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himoya</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qilish</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usullarini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ko‘rib</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chiqish</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hamda</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ularning</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afzalliklari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va</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kamchiliklarini</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tahlil</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 </a:t>
            </a:r>
            <a:r>
              <a:rPr lang="en-US" sz="2400" kern="100" dirty="0" err="1">
                <a:effectLst/>
                <a:latin typeface="Open Sans" panose="020B0606030504020204" pitchFamily="34" charset="0"/>
                <a:ea typeface="Open Sans" panose="020B0606030504020204" pitchFamily="34" charset="0"/>
                <a:cs typeface="Open Sans" panose="020B0606030504020204" pitchFamily="34" charset="0"/>
              </a:rPr>
              <a:t>qilish</a:t>
            </a:r>
            <a:r>
              <a:rPr lang="en-US" sz="2400" kern="100" dirty="0">
                <a:effectLst/>
                <a:latin typeface="Open Sans" panose="020B0606030504020204" pitchFamily="34" charset="0"/>
                <a:ea typeface="Open Sans" panose="020B0606030504020204" pitchFamily="34" charset="0"/>
                <a:cs typeface="Open Sans" panose="020B0606030504020204" pitchFamily="34" charset="0"/>
              </a:rPr>
              <a:t>.</a:t>
            </a:r>
            <a:endParaRPr lang="ru-RU" sz="2400" kern="100" dirty="0">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2" descr="The Essence of OKRs by Andy Grove: a 2-minute overview on OKRs">
            <a:extLst>
              <a:ext uri="{FF2B5EF4-FFF2-40B4-BE49-F238E27FC236}">
                <a16:creationId xmlns:a16="http://schemas.microsoft.com/office/drawing/2014/main" id="{1798BF4E-CB17-C32A-6366-B2DFCBC0A3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2" y="2748831"/>
            <a:ext cx="4784126" cy="318941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2" name="TextBox 11">
            <a:extLst>
              <a:ext uri="{FF2B5EF4-FFF2-40B4-BE49-F238E27FC236}">
                <a16:creationId xmlns:a16="http://schemas.microsoft.com/office/drawing/2014/main" id="{502708CC-5389-C795-B688-55D70122E2C1}"/>
              </a:ext>
            </a:extLst>
          </p:cNvPr>
          <p:cNvSpPr txBox="1"/>
          <p:nvPr/>
        </p:nvSpPr>
        <p:spPr>
          <a:xfrm>
            <a:off x="10058400" y="6620097"/>
            <a:ext cx="8001000" cy="2215991"/>
          </a:xfrm>
          <a:prstGeom prst="rect">
            <a:avLst/>
          </a:prstGeom>
          <a:noFill/>
        </p:spPr>
        <p:txBody>
          <a:bodyPr wrap="square" rtlCol="0">
            <a:spAutoFit/>
          </a:bodyPr>
          <a:lstStyle/>
          <a:p>
            <a:r>
              <a:rPr lang="en-US" sz="4000" dirty="0"/>
              <a:t>“</a:t>
            </a:r>
            <a:r>
              <a:rPr lang="en-US" sz="4000" dirty="0" err="1"/>
              <a:t>Raqamli</a:t>
            </a:r>
            <a:r>
              <a:rPr lang="en-US" sz="4000" dirty="0"/>
              <a:t> </a:t>
            </a:r>
            <a:r>
              <a:rPr lang="en-US" sz="4000" dirty="0" err="1"/>
              <a:t>davrda</a:t>
            </a:r>
            <a:r>
              <a:rPr lang="en-US" sz="4000" dirty="0"/>
              <a:t> </a:t>
            </a:r>
            <a:r>
              <a:rPr lang="en-US" sz="4000" dirty="0" err="1"/>
              <a:t>faqat</a:t>
            </a:r>
            <a:r>
              <a:rPr lang="en-US" sz="4000" dirty="0"/>
              <a:t> </a:t>
            </a:r>
            <a:r>
              <a:rPr lang="en-US" sz="4000" dirty="0" err="1"/>
              <a:t>hushyor</a:t>
            </a:r>
            <a:r>
              <a:rPr lang="en-US" sz="4000" dirty="0"/>
              <a:t> </a:t>
            </a:r>
            <a:r>
              <a:rPr lang="en-US" sz="4000" dirty="0" err="1"/>
              <a:t>va</a:t>
            </a:r>
            <a:r>
              <a:rPr lang="en-US" sz="4000" dirty="0"/>
              <a:t> </a:t>
            </a:r>
            <a:r>
              <a:rPr lang="en-US" sz="4000" dirty="0" err="1"/>
              <a:t>doimiy</a:t>
            </a:r>
            <a:r>
              <a:rPr lang="en-US" sz="4000" dirty="0"/>
              <a:t> </a:t>
            </a:r>
            <a:r>
              <a:rPr lang="en-US" sz="4000" dirty="0" err="1"/>
              <a:t>harakatda</a:t>
            </a:r>
            <a:r>
              <a:rPr lang="en-US" sz="4000" dirty="0"/>
              <a:t> </a:t>
            </a:r>
            <a:r>
              <a:rPr lang="en-US" sz="4000" dirty="0" err="1"/>
              <a:t>bo‘lganlar</a:t>
            </a:r>
            <a:r>
              <a:rPr lang="en-US" sz="4000" dirty="0"/>
              <a:t> </a:t>
            </a:r>
            <a:r>
              <a:rPr lang="en-US" sz="4000" dirty="0" err="1"/>
              <a:t>omon</a:t>
            </a:r>
            <a:r>
              <a:rPr lang="en-US" sz="4000" dirty="0"/>
              <a:t> </a:t>
            </a:r>
            <a:r>
              <a:rPr lang="en-US" sz="4000" dirty="0" err="1"/>
              <a:t>qoladi</a:t>
            </a:r>
            <a:r>
              <a:rPr lang="en-US" sz="4000" dirty="0"/>
              <a:t>”. (Andy </a:t>
            </a:r>
            <a:r>
              <a:rPr lang="en-US" sz="4000" dirty="0" err="1"/>
              <a:t>Growe</a:t>
            </a:r>
            <a:r>
              <a:rPr lang="en-US" sz="4000" dirty="0"/>
              <a:t>)</a:t>
            </a:r>
            <a:endParaRPr lang="ru-RU" sz="4000" dirty="0"/>
          </a:p>
          <a:p>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1592927"/>
            <a:ext cx="16230600" cy="0"/>
          </a:xfrm>
          <a:prstGeom prst="line">
            <a:avLst/>
          </a:prstGeom>
          <a:ln w="38100" cap="flat">
            <a:solidFill>
              <a:srgbClr val="000000"/>
            </a:solidFill>
            <a:prstDash val="solid"/>
            <a:headEnd type="none" w="sm" len="sm"/>
            <a:tailEnd type="none" w="sm" len="sm"/>
          </a:ln>
        </p:spPr>
      </p:sp>
      <p:sp>
        <p:nvSpPr>
          <p:cNvPr id="3" name="TextBox 3"/>
          <p:cNvSpPr txBox="1"/>
          <p:nvPr/>
        </p:nvSpPr>
        <p:spPr>
          <a:xfrm>
            <a:off x="1047750" y="912757"/>
            <a:ext cx="16230600" cy="632545"/>
          </a:xfrm>
          <a:prstGeom prst="rect">
            <a:avLst/>
          </a:prstGeom>
        </p:spPr>
        <p:txBody>
          <a:bodyPr lIns="0" tIns="0" rIns="0" bIns="0" rtlCol="0" anchor="t">
            <a:spAutoFit/>
          </a:bodyPr>
          <a:lstStyle/>
          <a:p>
            <a:pPr algn="just">
              <a:lnSpc>
                <a:spcPts val="5228"/>
              </a:lnSpc>
              <a:spcBef>
                <a:spcPct val="0"/>
              </a:spcBef>
            </a:pPr>
            <a:r>
              <a:rPr lang="en-US" sz="4000" dirty="0">
                <a:solidFill>
                  <a:srgbClr val="000000"/>
                </a:solidFill>
                <a:latin typeface="Open Sans"/>
                <a:ea typeface="Open Sans"/>
                <a:cs typeface="Open Sans"/>
                <a:sym typeface="Open Sans"/>
              </a:rPr>
              <a:t>Task</a:t>
            </a:r>
          </a:p>
        </p:txBody>
      </p:sp>
      <p:grpSp>
        <p:nvGrpSpPr>
          <p:cNvPr id="5" name="Group 5"/>
          <p:cNvGrpSpPr/>
          <p:nvPr/>
        </p:nvGrpSpPr>
        <p:grpSpPr>
          <a:xfrm>
            <a:off x="13195926" y="442716"/>
            <a:ext cx="4063374" cy="1054961"/>
            <a:chOff x="0" y="0"/>
            <a:chExt cx="5417832" cy="1406615"/>
          </a:xfrm>
        </p:grpSpPr>
        <p:sp>
          <p:nvSpPr>
            <p:cNvPr id="6" name="Freeform 6"/>
            <p:cNvSpPr/>
            <p:nvPr/>
          </p:nvSpPr>
          <p:spPr>
            <a:xfrm>
              <a:off x="4011217" y="0"/>
              <a:ext cx="1406615" cy="1406615"/>
            </a:xfrm>
            <a:custGeom>
              <a:avLst/>
              <a:gdLst/>
              <a:ahLst/>
              <a:cxnLst/>
              <a:rect l="l" t="t" r="r" b="b"/>
              <a:pathLst>
                <a:path w="1406615" h="1406615">
                  <a:moveTo>
                    <a:pt x="0" y="0"/>
                  </a:moveTo>
                  <a:lnTo>
                    <a:pt x="1406615" y="0"/>
                  </a:lnTo>
                  <a:lnTo>
                    <a:pt x="1406615" y="1406615"/>
                  </a:lnTo>
                  <a:lnTo>
                    <a:pt x="0" y="1406615"/>
                  </a:lnTo>
                  <a:lnTo>
                    <a:pt x="0" y="0"/>
                  </a:lnTo>
                  <a:close/>
                </a:path>
              </a:pathLst>
            </a:custGeom>
            <a:blipFill>
              <a:blip r:embed="rId2"/>
              <a:stretch>
                <a:fillRect/>
              </a:stretch>
            </a:blipFill>
          </p:spPr>
        </p:sp>
        <p:sp>
          <p:nvSpPr>
            <p:cNvPr id="7" name="Freeform 7" descr="Professional Bodies That IINH Work Closely With"/>
            <p:cNvSpPr/>
            <p:nvPr/>
          </p:nvSpPr>
          <p:spPr>
            <a:xfrm>
              <a:off x="0" y="62772"/>
              <a:ext cx="3255435" cy="1343843"/>
            </a:xfrm>
            <a:custGeom>
              <a:avLst/>
              <a:gdLst/>
              <a:ahLst/>
              <a:cxnLst/>
              <a:rect l="l" t="t" r="r" b="b"/>
              <a:pathLst>
                <a:path w="3255435" h="1343843">
                  <a:moveTo>
                    <a:pt x="0" y="0"/>
                  </a:moveTo>
                  <a:lnTo>
                    <a:pt x="3255435" y="0"/>
                  </a:lnTo>
                  <a:lnTo>
                    <a:pt x="3255435" y="1343843"/>
                  </a:lnTo>
                  <a:lnTo>
                    <a:pt x="0" y="1343843"/>
                  </a:lnTo>
                  <a:lnTo>
                    <a:pt x="0" y="0"/>
                  </a:lnTo>
                  <a:close/>
                </a:path>
              </a:pathLst>
            </a:custGeom>
            <a:blipFill>
              <a:blip r:embed="rId3"/>
              <a:stretch>
                <a:fillRect/>
              </a:stretch>
            </a:blipFill>
          </p:spPr>
        </p:sp>
      </p:grpSp>
      <p:sp>
        <p:nvSpPr>
          <p:cNvPr id="4" name="TextBox 3">
            <a:extLst>
              <a:ext uri="{FF2B5EF4-FFF2-40B4-BE49-F238E27FC236}">
                <a16:creationId xmlns:a16="http://schemas.microsoft.com/office/drawing/2014/main" id="{A0A29CFA-E7BA-58DE-830E-5FECC7C9935F}"/>
              </a:ext>
            </a:extLst>
          </p:cNvPr>
          <p:cNvSpPr txBox="1"/>
          <p:nvPr/>
        </p:nvSpPr>
        <p:spPr>
          <a:xfrm>
            <a:off x="1371600" y="2324100"/>
            <a:ext cx="14039850" cy="2123658"/>
          </a:xfrm>
          <a:prstGeom prst="rect">
            <a:avLst/>
          </a:prstGeom>
          <a:noFill/>
        </p:spPr>
        <p:txBody>
          <a:bodyPr wrap="square" rtlCol="0">
            <a:spAutoFit/>
          </a:bodyPr>
          <a:lstStyle/>
          <a:p>
            <a:r>
              <a:rPr lang="en-US" sz="4400" b="1" dirty="0"/>
              <a:t>“</a:t>
            </a:r>
            <a:r>
              <a:rPr lang="en-US" sz="4400" b="1" dirty="0" err="1"/>
              <a:t>Innovatsiya</a:t>
            </a:r>
            <a:r>
              <a:rPr lang="en-US" sz="4400" b="1" dirty="0"/>
              <a:t> </a:t>
            </a:r>
            <a:r>
              <a:rPr lang="en-US" sz="4400" b="1" dirty="0" err="1"/>
              <a:t>detektivi</a:t>
            </a:r>
            <a:r>
              <a:rPr lang="en-US" sz="4400" b="1" dirty="0"/>
              <a:t>” – </a:t>
            </a:r>
            <a:r>
              <a:rPr lang="en-US" sz="4400" b="1" dirty="0" err="1"/>
              <a:t>Atrofimizdagi</a:t>
            </a:r>
            <a:r>
              <a:rPr lang="en-US" sz="4400" b="1" dirty="0"/>
              <a:t> </a:t>
            </a:r>
            <a:r>
              <a:rPr lang="en-US" sz="4400" b="1" dirty="0" err="1"/>
              <a:t>raqamli</a:t>
            </a:r>
            <a:r>
              <a:rPr lang="en-US" sz="4400" b="1" dirty="0"/>
              <a:t> </a:t>
            </a:r>
            <a:r>
              <a:rPr lang="en-US" sz="4400" b="1" dirty="0" err="1"/>
              <a:t>transformatsiyani</a:t>
            </a:r>
            <a:r>
              <a:rPr lang="en-US" sz="4400" b="1" dirty="0"/>
              <a:t> </a:t>
            </a:r>
            <a:r>
              <a:rPr lang="en-US" sz="4400" b="1" dirty="0" err="1"/>
              <a:t>aniqlang</a:t>
            </a:r>
            <a:r>
              <a:rPr lang="en-US" sz="4400" b="1" dirty="0"/>
              <a:t>!</a:t>
            </a:r>
            <a:endParaRPr lang="en-US" sz="4400" dirty="0"/>
          </a:p>
          <a:p>
            <a:endParaRPr lang="ru-RU" sz="4400" dirty="0"/>
          </a:p>
        </p:txBody>
      </p:sp>
      <p:sp>
        <p:nvSpPr>
          <p:cNvPr id="8" name="TextBox 7">
            <a:extLst>
              <a:ext uri="{FF2B5EF4-FFF2-40B4-BE49-F238E27FC236}">
                <a16:creationId xmlns:a16="http://schemas.microsoft.com/office/drawing/2014/main" id="{DBBA1A41-A700-E687-BA44-FEE9C6D8E45D}"/>
              </a:ext>
            </a:extLst>
          </p:cNvPr>
          <p:cNvSpPr txBox="1"/>
          <p:nvPr/>
        </p:nvSpPr>
        <p:spPr>
          <a:xfrm>
            <a:off x="1828800" y="4659730"/>
            <a:ext cx="10576886" cy="3539430"/>
          </a:xfrm>
          <a:prstGeom prst="rect">
            <a:avLst/>
          </a:prstGeom>
          <a:noFill/>
        </p:spPr>
        <p:txBody>
          <a:bodyPr wrap="square" rtlCol="0">
            <a:spAutoFit/>
          </a:bodyPr>
          <a:lstStyle/>
          <a:p>
            <a:r>
              <a:rPr lang="en-US" sz="3200" b="1" dirty="0" err="1"/>
              <a:t>Nimani</a:t>
            </a:r>
            <a:r>
              <a:rPr lang="en-US" sz="3200" b="1" dirty="0"/>
              <a:t> </a:t>
            </a:r>
            <a:r>
              <a:rPr lang="en-US" sz="3200" b="1" dirty="0" err="1"/>
              <a:t>aniqlaysiz</a:t>
            </a:r>
            <a:r>
              <a:rPr lang="en-US" sz="3200" b="1" dirty="0"/>
              <a:t>?</a:t>
            </a:r>
          </a:p>
          <a:p>
            <a:pPr>
              <a:buFont typeface="+mj-lt"/>
              <a:buAutoNum type="arabicPeriod"/>
            </a:pPr>
            <a:r>
              <a:rPr lang="en-US" sz="3200" dirty="0" err="1"/>
              <a:t>Ushbu</a:t>
            </a:r>
            <a:r>
              <a:rPr lang="en-US" sz="3200" dirty="0"/>
              <a:t> joy </a:t>
            </a:r>
            <a:r>
              <a:rPr lang="en-US" sz="3200" dirty="0" err="1"/>
              <a:t>yoki</a:t>
            </a:r>
            <a:r>
              <a:rPr lang="en-US" sz="3200" dirty="0"/>
              <a:t> </a:t>
            </a:r>
            <a:r>
              <a:rPr lang="en-US" sz="3200" dirty="0" err="1"/>
              <a:t>xizmatda</a:t>
            </a:r>
            <a:r>
              <a:rPr lang="en-US" sz="3200" dirty="0"/>
              <a:t> </a:t>
            </a:r>
            <a:r>
              <a:rPr lang="en-US" sz="3200" dirty="0" err="1"/>
              <a:t>qanday</a:t>
            </a:r>
            <a:r>
              <a:rPr lang="en-US" sz="3200" dirty="0"/>
              <a:t> </a:t>
            </a:r>
            <a:r>
              <a:rPr lang="en-US" sz="3200" dirty="0" err="1"/>
              <a:t>raqamli</a:t>
            </a:r>
            <a:r>
              <a:rPr lang="en-US" sz="3200" dirty="0"/>
              <a:t> </a:t>
            </a:r>
            <a:r>
              <a:rPr lang="en-US" sz="3200" dirty="0" err="1"/>
              <a:t>texnologiya</a:t>
            </a:r>
            <a:r>
              <a:rPr lang="en-US" sz="3200" dirty="0"/>
              <a:t> </a:t>
            </a:r>
            <a:r>
              <a:rPr lang="en-US" sz="3200" dirty="0" err="1"/>
              <a:t>ishlatilmoqda</a:t>
            </a:r>
            <a:r>
              <a:rPr lang="en-US" sz="3200" dirty="0"/>
              <a:t>?</a:t>
            </a:r>
            <a:br>
              <a:rPr lang="en-US" sz="3200" dirty="0"/>
            </a:br>
            <a:r>
              <a:rPr lang="en-US" sz="3200" dirty="0"/>
              <a:t>2. </a:t>
            </a:r>
            <a:r>
              <a:rPr lang="en-US" sz="3200" dirty="0" err="1"/>
              <a:t>Qanday</a:t>
            </a:r>
            <a:r>
              <a:rPr lang="en-US" sz="3200" dirty="0"/>
              <a:t> </a:t>
            </a:r>
            <a:r>
              <a:rPr lang="en-US" sz="3200" dirty="0" err="1"/>
              <a:t>muammoni</a:t>
            </a:r>
            <a:r>
              <a:rPr lang="en-US" sz="3200" dirty="0"/>
              <a:t> </a:t>
            </a:r>
            <a:r>
              <a:rPr lang="en-US" sz="3200" dirty="0" err="1"/>
              <a:t>hal</a:t>
            </a:r>
            <a:r>
              <a:rPr lang="en-US" sz="3200" dirty="0"/>
              <a:t> </a:t>
            </a:r>
            <a:r>
              <a:rPr lang="en-US" sz="3200" dirty="0" err="1"/>
              <a:t>qiladi</a:t>
            </a:r>
            <a:r>
              <a:rPr lang="en-US" sz="3200" dirty="0"/>
              <a:t>?</a:t>
            </a:r>
          </a:p>
          <a:p>
            <a:r>
              <a:rPr lang="en-US" sz="3200" dirty="0"/>
              <a:t>3. </a:t>
            </a:r>
            <a:r>
              <a:rPr lang="en-US" sz="3200" dirty="0" err="1"/>
              <a:t>Mijozlar</a:t>
            </a:r>
            <a:r>
              <a:rPr lang="en-US" sz="3200" dirty="0"/>
              <a:t> </a:t>
            </a:r>
            <a:r>
              <a:rPr lang="en-US" sz="3200" dirty="0" err="1"/>
              <a:t>uchun</a:t>
            </a:r>
            <a:r>
              <a:rPr lang="en-US" sz="3200" dirty="0"/>
              <a:t> </a:t>
            </a:r>
            <a:r>
              <a:rPr lang="en-US" sz="3200" dirty="0" err="1"/>
              <a:t>qanday</a:t>
            </a:r>
            <a:r>
              <a:rPr lang="en-US" sz="3200" dirty="0"/>
              <a:t> </a:t>
            </a:r>
            <a:r>
              <a:rPr lang="en-US" sz="3200" dirty="0" err="1"/>
              <a:t>qulaylik</a:t>
            </a:r>
            <a:r>
              <a:rPr lang="en-US" sz="3200" dirty="0"/>
              <a:t> </a:t>
            </a:r>
            <a:r>
              <a:rPr lang="en-US" sz="3200" dirty="0" err="1"/>
              <a:t>yaratadi</a:t>
            </a:r>
            <a:r>
              <a:rPr lang="en-US" sz="3200" dirty="0"/>
              <a:t>?</a:t>
            </a:r>
          </a:p>
          <a:p>
            <a:r>
              <a:rPr lang="en-US" sz="3200" dirty="0"/>
              <a:t>4. Ish </a:t>
            </a:r>
            <a:r>
              <a:rPr lang="en-US" sz="3200" dirty="0" err="1"/>
              <a:t>jarayonini</a:t>
            </a:r>
            <a:r>
              <a:rPr lang="en-US" sz="3200" dirty="0"/>
              <a:t> </a:t>
            </a:r>
            <a:r>
              <a:rPr lang="en-US" sz="3200" dirty="0" err="1"/>
              <a:t>qanday</a:t>
            </a:r>
            <a:r>
              <a:rPr lang="en-US" sz="3200" dirty="0"/>
              <a:t> </a:t>
            </a:r>
            <a:r>
              <a:rPr lang="en-US" sz="3200" dirty="0" err="1"/>
              <a:t>optimallashtiradi</a:t>
            </a:r>
            <a:r>
              <a:rPr lang="en-US" sz="3200" dirty="0"/>
              <a:t>?</a:t>
            </a:r>
          </a:p>
          <a:p>
            <a:endParaRPr lang="ru-RU" sz="3200" dirty="0"/>
          </a:p>
        </p:txBody>
      </p:sp>
      <p:pic>
        <p:nvPicPr>
          <p:cNvPr id="2050" name="Picture 2" descr="Finding idea, solution or search for new opportunity, discover new  invention idea, creativity, innovation or curiosity concept, detective man  hold bright lightbulb idea think to solve problem. 41952128 Vector Art at  Vecteezy">
            <a:extLst>
              <a:ext uri="{FF2B5EF4-FFF2-40B4-BE49-F238E27FC236}">
                <a16:creationId xmlns:a16="http://schemas.microsoft.com/office/drawing/2014/main" id="{217F47A5-F309-0C0B-AA71-A4AA7E24C90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38356" y="3208457"/>
            <a:ext cx="5911419" cy="3940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307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1211</TotalTime>
  <Words>462</Words>
  <Application>Microsoft Office PowerPoint</Application>
  <PresentationFormat>Произвольный</PresentationFormat>
  <Paragraphs>69</Paragraphs>
  <Slides>15</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15</vt:i4>
      </vt:variant>
    </vt:vector>
  </HeadingPairs>
  <TitlesOfParts>
    <vt:vector size="22" baseType="lpstr">
      <vt:lpstr>Open Sans</vt:lpstr>
      <vt:lpstr>Calibri</vt:lpstr>
      <vt:lpstr>Arial</vt:lpstr>
      <vt:lpstr>Open Sans Bold</vt:lpstr>
      <vt:lpstr>Lora</vt:lpstr>
      <vt:lpstr>Wingdings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(IoT)</dc:title>
  <cp:lastModifiedBy>User</cp:lastModifiedBy>
  <cp:revision>6</cp:revision>
  <dcterms:created xsi:type="dcterms:W3CDTF">2006-08-16T00:00:00Z</dcterms:created>
  <dcterms:modified xsi:type="dcterms:W3CDTF">2025-04-18T23:14:01Z</dcterms:modified>
  <dc:identifier>DAGbXi9j4Eg</dc:identifier>
</cp:coreProperties>
</file>