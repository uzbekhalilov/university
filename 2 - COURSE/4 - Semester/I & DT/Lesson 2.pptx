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Nunito" pitchFamily="2" charset="0"/>
      <p:regular r:id="rId17"/>
    </p:embeddedFont>
    <p:embeddedFont>
      <p:font typeface="Nunito Bold" charset="0"/>
      <p:regular r:id="rId18"/>
    </p:embeddedFont>
    <p:embeddedFont>
      <p:font typeface="Nunito Heavy" panose="020B0604020202020204" charset="0"/>
      <p:regular r:id="rId19"/>
    </p:embeddedFont>
    <p:embeddedFont>
      <p:font typeface="Nunito Semi-Bold" panose="020B0604020202020204" charset="0"/>
      <p:regular r:id="rId20"/>
    </p:embeddedFont>
    <p:embeddedFont>
      <p:font typeface="Nunito Ultra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0.png"/><Relationship Id="rId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8.png"/><Relationship Id="rId5" Type="http://schemas.openxmlformats.org/officeDocument/2006/relationships/image" Target="../media/image8.png"/><Relationship Id="rId15" Type="http://schemas.openxmlformats.org/officeDocument/2006/relationships/image" Target="../media/image32.png"/><Relationship Id="rId10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5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0.pn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2.pn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45.png"/><Relationship Id="rId4" Type="http://schemas.openxmlformats.org/officeDocument/2006/relationships/image" Target="../media/image7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7.png"/><Relationship Id="rId5" Type="http://schemas.openxmlformats.org/officeDocument/2006/relationships/image" Target="../media/image35.png"/><Relationship Id="rId10" Type="http://schemas.openxmlformats.org/officeDocument/2006/relationships/image" Target="../media/image46.png"/><Relationship Id="rId4" Type="http://schemas.openxmlformats.org/officeDocument/2006/relationships/image" Target="../media/image34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12" Type="http://schemas.openxmlformats.org/officeDocument/2006/relationships/image" Target="../media/image5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0.png"/><Relationship Id="rId5" Type="http://schemas.openxmlformats.org/officeDocument/2006/relationships/image" Target="../media/image8.png"/><Relationship Id="rId10" Type="http://schemas.openxmlformats.org/officeDocument/2006/relationships/image" Target="../media/image49.svg"/><Relationship Id="rId4" Type="http://schemas.openxmlformats.org/officeDocument/2006/relationships/image" Target="../media/image7.pn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12" Type="http://schemas.openxmlformats.org/officeDocument/2006/relationships/image" Target="../media/image5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0.png"/><Relationship Id="rId5" Type="http://schemas.openxmlformats.org/officeDocument/2006/relationships/image" Target="../media/image8.png"/><Relationship Id="rId10" Type="http://schemas.openxmlformats.org/officeDocument/2006/relationships/image" Target="../media/image53.png"/><Relationship Id="rId4" Type="http://schemas.openxmlformats.org/officeDocument/2006/relationships/image" Target="../media/image7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9.png"/><Relationship Id="rId10" Type="http://schemas.openxmlformats.org/officeDocument/2006/relationships/image" Target="../media/image28.png"/><Relationship Id="rId4" Type="http://schemas.openxmlformats.org/officeDocument/2006/relationships/image" Target="../media/image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4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36.png"/><Relationship Id="rId10" Type="http://schemas.openxmlformats.org/officeDocument/2006/relationships/image" Target="../media/image57.png"/><Relationship Id="rId4" Type="http://schemas.openxmlformats.org/officeDocument/2006/relationships/image" Target="../media/image7.png"/><Relationship Id="rId9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88296" y="4385191"/>
            <a:ext cx="19345450" cy="10290340"/>
            <a:chOff x="0" y="0"/>
            <a:chExt cx="25793934" cy="13720453"/>
          </a:xfrm>
        </p:grpSpPr>
        <p:sp>
          <p:nvSpPr>
            <p:cNvPr id="4" name="Freeform 4"/>
            <p:cNvSpPr/>
            <p:nvPr/>
          </p:nvSpPr>
          <p:spPr>
            <a:xfrm>
              <a:off x="7731799" y="2094750"/>
              <a:ext cx="9707462" cy="11625703"/>
            </a:xfrm>
            <a:custGeom>
              <a:avLst/>
              <a:gdLst/>
              <a:ahLst/>
              <a:cxnLst/>
              <a:rect l="l" t="t" r="r" b="b"/>
              <a:pathLst>
                <a:path w="9707462" h="11625703">
                  <a:moveTo>
                    <a:pt x="0" y="0"/>
                  </a:moveTo>
                  <a:lnTo>
                    <a:pt x="9707462" y="0"/>
                  </a:lnTo>
                  <a:lnTo>
                    <a:pt x="9707462" y="11625703"/>
                  </a:lnTo>
                  <a:lnTo>
                    <a:pt x="0" y="11625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1100670">
              <a:off x="2534027" y="6577071"/>
              <a:ext cx="2802372" cy="2697283"/>
            </a:xfrm>
            <a:custGeom>
              <a:avLst/>
              <a:gdLst/>
              <a:ahLst/>
              <a:cxnLst/>
              <a:rect l="l" t="t" r="r" b="b"/>
              <a:pathLst>
                <a:path w="2802372" h="2697283">
                  <a:moveTo>
                    <a:pt x="0" y="0"/>
                  </a:moveTo>
                  <a:lnTo>
                    <a:pt x="2802372" y="0"/>
                  </a:lnTo>
                  <a:lnTo>
                    <a:pt x="2802372" y="2697283"/>
                  </a:lnTo>
                  <a:lnTo>
                    <a:pt x="0" y="2697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58872"/>
              <a:ext cx="2712589" cy="2743453"/>
            </a:xfrm>
            <a:custGeom>
              <a:avLst/>
              <a:gdLst/>
              <a:ahLst/>
              <a:cxnLst/>
              <a:rect l="l" t="t" r="r" b="b"/>
              <a:pathLst>
                <a:path w="2712589" h="2743453">
                  <a:moveTo>
                    <a:pt x="0" y="0"/>
                  </a:moveTo>
                  <a:lnTo>
                    <a:pt x="2712589" y="0"/>
                  </a:lnTo>
                  <a:lnTo>
                    <a:pt x="2712589" y="2743452"/>
                  </a:lnTo>
                  <a:lnTo>
                    <a:pt x="0" y="2743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2301051">
              <a:off x="5193474" y="1454955"/>
              <a:ext cx="2242585" cy="3169731"/>
            </a:xfrm>
            <a:custGeom>
              <a:avLst/>
              <a:gdLst/>
              <a:ahLst/>
              <a:cxnLst/>
              <a:rect l="l" t="t" r="r" b="b"/>
              <a:pathLst>
                <a:path w="2242585" h="3169731">
                  <a:moveTo>
                    <a:pt x="0" y="0"/>
                  </a:moveTo>
                  <a:lnTo>
                    <a:pt x="2242585" y="0"/>
                  </a:lnTo>
                  <a:lnTo>
                    <a:pt x="2242585" y="3169731"/>
                  </a:lnTo>
                  <a:lnTo>
                    <a:pt x="0" y="3169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11347" y="4940821"/>
              <a:ext cx="1631053" cy="1631053"/>
            </a:xfrm>
            <a:custGeom>
              <a:avLst/>
              <a:gdLst/>
              <a:ahLst/>
              <a:cxnLst/>
              <a:rect l="l" t="t" r="r" b="b"/>
              <a:pathLst>
                <a:path w="1631053" h="1631053">
                  <a:moveTo>
                    <a:pt x="0" y="0"/>
                  </a:moveTo>
                  <a:lnTo>
                    <a:pt x="1631053" y="0"/>
                  </a:lnTo>
                  <a:lnTo>
                    <a:pt x="1631053" y="1631053"/>
                  </a:lnTo>
                  <a:lnTo>
                    <a:pt x="0" y="1631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>
              <a:off x="3935213" y="1618148"/>
              <a:ext cx="483006" cy="482403"/>
            </a:xfrm>
            <a:custGeom>
              <a:avLst/>
              <a:gdLst/>
              <a:ahLst/>
              <a:cxnLst/>
              <a:rect l="l" t="t" r="r" b="b"/>
              <a:pathLst>
                <a:path w="483006" h="482403">
                  <a:moveTo>
                    <a:pt x="0" y="0"/>
                  </a:moveTo>
                  <a:lnTo>
                    <a:pt x="483006" y="0"/>
                  </a:lnTo>
                  <a:lnTo>
                    <a:pt x="483006" y="482403"/>
                  </a:lnTo>
                  <a:lnTo>
                    <a:pt x="0" y="482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6350033" y="6348750"/>
              <a:ext cx="483006" cy="482403"/>
            </a:xfrm>
            <a:custGeom>
              <a:avLst/>
              <a:gdLst/>
              <a:ahLst/>
              <a:cxnLst/>
              <a:rect l="l" t="t" r="r" b="b"/>
              <a:pathLst>
                <a:path w="483006" h="482403">
                  <a:moveTo>
                    <a:pt x="0" y="0"/>
                  </a:moveTo>
                  <a:lnTo>
                    <a:pt x="483007" y="0"/>
                  </a:lnTo>
                  <a:lnTo>
                    <a:pt x="483007" y="482402"/>
                  </a:lnTo>
                  <a:lnTo>
                    <a:pt x="0" y="482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71864" y="4778538"/>
              <a:ext cx="324973" cy="324567"/>
            </a:xfrm>
            <a:custGeom>
              <a:avLst/>
              <a:gdLst/>
              <a:ahLst/>
              <a:cxnLst/>
              <a:rect l="l" t="t" r="r" b="b"/>
              <a:pathLst>
                <a:path w="324973" h="324567">
                  <a:moveTo>
                    <a:pt x="0" y="0"/>
                  </a:moveTo>
                  <a:lnTo>
                    <a:pt x="324973" y="0"/>
                  </a:lnTo>
                  <a:lnTo>
                    <a:pt x="324973" y="324567"/>
                  </a:lnTo>
                  <a:lnTo>
                    <a:pt x="0" y="32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3599469">
              <a:off x="8097774" y="3707377"/>
              <a:ext cx="776436" cy="803556"/>
            </a:xfrm>
            <a:custGeom>
              <a:avLst/>
              <a:gdLst/>
              <a:ahLst/>
              <a:cxnLst/>
              <a:rect l="l" t="t" r="r" b="b"/>
              <a:pathLst>
                <a:path w="776436" h="803556">
                  <a:moveTo>
                    <a:pt x="0" y="0"/>
                  </a:moveTo>
                  <a:lnTo>
                    <a:pt x="776435" y="0"/>
                  </a:lnTo>
                  <a:lnTo>
                    <a:pt x="776435" y="803556"/>
                  </a:lnTo>
                  <a:lnTo>
                    <a:pt x="0" y="80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3097605" y="0"/>
              <a:ext cx="2359323" cy="2356374"/>
            </a:xfrm>
            <a:custGeom>
              <a:avLst/>
              <a:gdLst/>
              <a:ahLst/>
              <a:cxnLst/>
              <a:rect l="l" t="t" r="r" b="b"/>
              <a:pathLst>
                <a:path w="2359323" h="2356374">
                  <a:moveTo>
                    <a:pt x="0" y="0"/>
                  </a:moveTo>
                  <a:lnTo>
                    <a:pt x="2359323" y="0"/>
                  </a:lnTo>
                  <a:lnTo>
                    <a:pt x="2359323" y="2356374"/>
                  </a:lnTo>
                  <a:lnTo>
                    <a:pt x="0" y="2356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721812" y="6204612"/>
              <a:ext cx="3088955" cy="3015592"/>
            </a:xfrm>
            <a:custGeom>
              <a:avLst/>
              <a:gdLst/>
              <a:ahLst/>
              <a:cxnLst/>
              <a:rect l="l" t="t" r="r" b="b"/>
              <a:pathLst>
                <a:path w="3088955" h="3015592">
                  <a:moveTo>
                    <a:pt x="0" y="0"/>
                  </a:moveTo>
                  <a:lnTo>
                    <a:pt x="3088955" y="0"/>
                  </a:lnTo>
                  <a:lnTo>
                    <a:pt x="3088955" y="3015593"/>
                  </a:lnTo>
                  <a:lnTo>
                    <a:pt x="0" y="3015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-3722613">
              <a:off x="19407983" y="1680084"/>
              <a:ext cx="2136753" cy="2613765"/>
            </a:xfrm>
            <a:custGeom>
              <a:avLst/>
              <a:gdLst/>
              <a:ahLst/>
              <a:cxnLst/>
              <a:rect l="l" t="t" r="r" b="b"/>
              <a:pathLst>
                <a:path w="2136753" h="2613765">
                  <a:moveTo>
                    <a:pt x="0" y="0"/>
                  </a:moveTo>
                  <a:lnTo>
                    <a:pt x="2136753" y="0"/>
                  </a:lnTo>
                  <a:lnTo>
                    <a:pt x="2136753" y="2613764"/>
                  </a:lnTo>
                  <a:lnTo>
                    <a:pt x="0" y="2613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10223540">
              <a:off x="23382148" y="4529285"/>
              <a:ext cx="2236535" cy="2288016"/>
            </a:xfrm>
            <a:custGeom>
              <a:avLst/>
              <a:gdLst/>
              <a:ahLst/>
              <a:cxnLst/>
              <a:rect l="l" t="t" r="r" b="b"/>
              <a:pathLst>
                <a:path w="2236535" h="2288016">
                  <a:moveTo>
                    <a:pt x="0" y="0"/>
                  </a:moveTo>
                  <a:lnTo>
                    <a:pt x="2236536" y="0"/>
                  </a:lnTo>
                  <a:lnTo>
                    <a:pt x="2236536" y="2288016"/>
                  </a:lnTo>
                  <a:lnTo>
                    <a:pt x="0" y="2288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7955830" y="7070949"/>
              <a:ext cx="483006" cy="482403"/>
            </a:xfrm>
            <a:custGeom>
              <a:avLst/>
              <a:gdLst/>
              <a:ahLst/>
              <a:cxnLst/>
              <a:rect l="l" t="t" r="r" b="b"/>
              <a:pathLst>
                <a:path w="483006" h="482403">
                  <a:moveTo>
                    <a:pt x="0" y="0"/>
                  </a:moveTo>
                  <a:lnTo>
                    <a:pt x="483007" y="0"/>
                  </a:lnTo>
                  <a:lnTo>
                    <a:pt x="483007" y="482403"/>
                  </a:lnTo>
                  <a:lnTo>
                    <a:pt x="0" y="482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6630280" y="3538401"/>
              <a:ext cx="483006" cy="482403"/>
            </a:xfrm>
            <a:custGeom>
              <a:avLst/>
              <a:gdLst/>
              <a:ahLst/>
              <a:cxnLst/>
              <a:rect l="l" t="t" r="r" b="b"/>
              <a:pathLst>
                <a:path w="483006" h="482403">
                  <a:moveTo>
                    <a:pt x="0" y="0"/>
                  </a:moveTo>
                  <a:lnTo>
                    <a:pt x="483007" y="0"/>
                  </a:lnTo>
                  <a:lnTo>
                    <a:pt x="483007" y="482402"/>
                  </a:lnTo>
                  <a:lnTo>
                    <a:pt x="0" y="482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2707199" y="3538401"/>
              <a:ext cx="499699" cy="499075"/>
            </a:xfrm>
            <a:custGeom>
              <a:avLst/>
              <a:gdLst/>
              <a:ahLst/>
              <a:cxnLst/>
              <a:rect l="l" t="t" r="r" b="b"/>
              <a:pathLst>
                <a:path w="499699" h="499075">
                  <a:moveTo>
                    <a:pt x="0" y="0"/>
                  </a:moveTo>
                  <a:lnTo>
                    <a:pt x="499699" y="0"/>
                  </a:lnTo>
                  <a:lnTo>
                    <a:pt x="499699" y="499074"/>
                  </a:lnTo>
                  <a:lnTo>
                    <a:pt x="0" y="49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7752068" y="4917104"/>
              <a:ext cx="1216538" cy="976272"/>
            </a:xfrm>
            <a:custGeom>
              <a:avLst/>
              <a:gdLst/>
              <a:ahLst/>
              <a:cxnLst/>
              <a:rect l="l" t="t" r="r" b="b"/>
              <a:pathLst>
                <a:path w="1216538" h="976272">
                  <a:moveTo>
                    <a:pt x="0" y="0"/>
                  </a:moveTo>
                  <a:lnTo>
                    <a:pt x="1216539" y="0"/>
                  </a:lnTo>
                  <a:lnTo>
                    <a:pt x="1216539" y="976272"/>
                  </a:lnTo>
                  <a:lnTo>
                    <a:pt x="0" y="976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800436" y="557594"/>
            <a:ext cx="4750412" cy="1211355"/>
          </a:xfrm>
          <a:custGeom>
            <a:avLst/>
            <a:gdLst/>
            <a:ahLst/>
            <a:cxnLst/>
            <a:rect l="l" t="t" r="r" b="b"/>
            <a:pathLst>
              <a:path w="4750412" h="1211355">
                <a:moveTo>
                  <a:pt x="0" y="0"/>
                </a:moveTo>
                <a:lnTo>
                  <a:pt x="4750412" y="0"/>
                </a:lnTo>
                <a:lnTo>
                  <a:pt x="4750412" y="1211355"/>
                </a:lnTo>
                <a:lnTo>
                  <a:pt x="0" y="121135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742317" y="161191"/>
            <a:ext cx="3215515" cy="3215515"/>
          </a:xfrm>
          <a:custGeom>
            <a:avLst/>
            <a:gdLst/>
            <a:ahLst/>
            <a:cxnLst/>
            <a:rect l="l" t="t" r="r" b="b"/>
            <a:pathLst>
              <a:path w="3215515" h="3215515">
                <a:moveTo>
                  <a:pt x="0" y="0"/>
                </a:moveTo>
                <a:lnTo>
                  <a:pt x="3215515" y="0"/>
                </a:lnTo>
                <a:lnTo>
                  <a:pt x="3215515" y="3215515"/>
                </a:lnTo>
                <a:lnTo>
                  <a:pt x="0" y="321551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820405" y="2664051"/>
            <a:ext cx="6647190" cy="2817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20"/>
              </a:lnSpc>
            </a:pPr>
            <a:r>
              <a:rPr lang="en-US" sz="7107" b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Innovation and Digital transformation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8947" y="2078962"/>
            <a:ext cx="5101901" cy="9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sz="3200" b="1">
                <a:solidFill>
                  <a:srgbClr val="127C1C"/>
                </a:solidFill>
                <a:latin typeface="Nunito Bold"/>
                <a:ea typeface="Nunito Bold"/>
                <a:cs typeface="Nunito Bold"/>
                <a:sym typeface="Nunito Bold"/>
              </a:rPr>
              <a:t>Lecturer: </a:t>
            </a:r>
          </a:p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3200" b="1">
                <a:solidFill>
                  <a:srgbClr val="202020"/>
                </a:solidFill>
                <a:latin typeface="Nunito Bold"/>
                <a:ea typeface="Nunito Bold"/>
                <a:cs typeface="Nunito Bold"/>
                <a:sym typeface="Nunito Bold"/>
              </a:rPr>
              <a:t>Nozima Raximova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02048" y="-492374"/>
            <a:ext cx="8718286" cy="11068469"/>
            <a:chOff x="0" y="0"/>
            <a:chExt cx="11624381" cy="14757958"/>
          </a:xfrm>
        </p:grpSpPr>
        <p:sp>
          <p:nvSpPr>
            <p:cNvPr id="4" name="Freeform 4"/>
            <p:cNvSpPr/>
            <p:nvPr/>
          </p:nvSpPr>
          <p:spPr>
            <a:xfrm>
              <a:off x="0" y="8458847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530565" y="2028099"/>
              <a:ext cx="9314004" cy="11153407"/>
            </a:xfrm>
            <a:custGeom>
              <a:avLst/>
              <a:gdLst/>
              <a:ahLst/>
              <a:cxnLst/>
              <a:rect l="l" t="t" r="r" b="b"/>
              <a:pathLst>
                <a:path w="9314004" h="11153407">
                  <a:moveTo>
                    <a:pt x="9314004" y="0"/>
                  </a:moveTo>
                  <a:lnTo>
                    <a:pt x="0" y="0"/>
                  </a:lnTo>
                  <a:lnTo>
                    <a:pt x="0" y="11153408"/>
                  </a:lnTo>
                  <a:lnTo>
                    <a:pt x="9314004" y="11153408"/>
                  </a:lnTo>
                  <a:lnTo>
                    <a:pt x="9314004" y="0"/>
                  </a:lnTo>
                  <a:close/>
                </a:path>
              </a:pathLst>
            </a:custGeom>
            <a:blipFill>
              <a:blip r:embed="rId4"/>
              <a:stretch>
                <a:fillRect b="-9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316081" y="3151358"/>
              <a:ext cx="520720" cy="520069"/>
            </a:xfrm>
            <a:custGeom>
              <a:avLst/>
              <a:gdLst/>
              <a:ahLst/>
              <a:cxnLst/>
              <a:rect l="l" t="t" r="r" b="b"/>
              <a:pathLst>
                <a:path w="520720" h="520069">
                  <a:moveTo>
                    <a:pt x="0" y="0"/>
                  </a:moveTo>
                  <a:lnTo>
                    <a:pt x="520720" y="0"/>
                  </a:lnTo>
                  <a:lnTo>
                    <a:pt x="520720" y="520069"/>
                  </a:lnTo>
                  <a:lnTo>
                    <a:pt x="0" y="52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223092" y="13757457"/>
              <a:ext cx="920246" cy="919096"/>
            </a:xfrm>
            <a:custGeom>
              <a:avLst/>
              <a:gdLst/>
              <a:ahLst/>
              <a:cxnLst/>
              <a:rect l="l" t="t" r="r" b="b"/>
              <a:pathLst>
                <a:path w="920246" h="919096">
                  <a:moveTo>
                    <a:pt x="0" y="0"/>
                  </a:moveTo>
                  <a:lnTo>
                    <a:pt x="920246" y="0"/>
                  </a:lnTo>
                  <a:lnTo>
                    <a:pt x="920246" y="919096"/>
                  </a:lnTo>
                  <a:lnTo>
                    <a:pt x="0" y="91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8964940" y="13000899"/>
              <a:ext cx="1759258" cy="1757059"/>
            </a:xfrm>
            <a:custGeom>
              <a:avLst/>
              <a:gdLst/>
              <a:ahLst/>
              <a:cxnLst/>
              <a:rect l="l" t="t" r="r" b="b"/>
              <a:pathLst>
                <a:path w="1759258" h="1757059">
                  <a:moveTo>
                    <a:pt x="0" y="0"/>
                  </a:moveTo>
                  <a:lnTo>
                    <a:pt x="1759258" y="0"/>
                  </a:lnTo>
                  <a:lnTo>
                    <a:pt x="1759258" y="1757059"/>
                  </a:lnTo>
                  <a:lnTo>
                    <a:pt x="0" y="17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3750179">
              <a:off x="9106153" y="1152461"/>
              <a:ext cx="1977593" cy="2419074"/>
            </a:xfrm>
            <a:custGeom>
              <a:avLst/>
              <a:gdLst/>
              <a:ahLst/>
              <a:cxnLst/>
              <a:rect l="l" t="t" r="r" b="b"/>
              <a:pathLst>
                <a:path w="1977593" h="2419074">
                  <a:moveTo>
                    <a:pt x="0" y="0"/>
                  </a:moveTo>
                  <a:lnTo>
                    <a:pt x="1977594" y="0"/>
                  </a:lnTo>
                  <a:lnTo>
                    <a:pt x="1977594" y="2419074"/>
                  </a:lnTo>
                  <a:lnTo>
                    <a:pt x="0" y="241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0" name="Freeform 10"/>
            <p:cNvSpPr/>
            <p:nvPr/>
          </p:nvSpPr>
          <p:spPr>
            <a:xfrm rot="-152080">
              <a:off x="41676" y="71163"/>
              <a:ext cx="3261561" cy="1956937"/>
            </a:xfrm>
            <a:custGeom>
              <a:avLst/>
              <a:gdLst/>
              <a:ahLst/>
              <a:cxnLst/>
              <a:rect l="l" t="t" r="r" b="b"/>
              <a:pathLst>
                <a:path w="3261561" h="1956937">
                  <a:moveTo>
                    <a:pt x="0" y="0"/>
                  </a:moveTo>
                  <a:lnTo>
                    <a:pt x="3261562" y="0"/>
                  </a:lnTo>
                  <a:lnTo>
                    <a:pt x="3261562" y="1956936"/>
                  </a:lnTo>
                  <a:lnTo>
                    <a:pt x="0" y="1956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2372073"/>
            <a:ext cx="1255120" cy="1145198"/>
            <a:chOff x="0" y="0"/>
            <a:chExt cx="1584663" cy="14458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84663" cy="1445879"/>
            </a:xfrm>
            <a:custGeom>
              <a:avLst/>
              <a:gdLst/>
              <a:ahLst/>
              <a:cxnLst/>
              <a:rect l="l" t="t" r="r" b="b"/>
              <a:pathLst>
                <a:path w="1584663" h="1445879">
                  <a:moveTo>
                    <a:pt x="0" y="0"/>
                  </a:moveTo>
                  <a:lnTo>
                    <a:pt x="1584663" y="0"/>
                  </a:lnTo>
                  <a:lnTo>
                    <a:pt x="1584663" y="1445879"/>
                  </a:lnTo>
                  <a:lnTo>
                    <a:pt x="0" y="1445879"/>
                  </a:lnTo>
                  <a:close/>
                </a:path>
              </a:pathLst>
            </a:custGeom>
            <a:solidFill>
              <a:srgbClr val="ABAFF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584663" cy="1455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6270" y="6155568"/>
            <a:ext cx="1255120" cy="1145198"/>
            <a:chOff x="0" y="0"/>
            <a:chExt cx="1584663" cy="14458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84663" cy="1445879"/>
            </a:xfrm>
            <a:custGeom>
              <a:avLst/>
              <a:gdLst/>
              <a:ahLst/>
              <a:cxnLst/>
              <a:rect l="l" t="t" r="r" b="b"/>
              <a:pathLst>
                <a:path w="1584663" h="1445879">
                  <a:moveTo>
                    <a:pt x="0" y="0"/>
                  </a:moveTo>
                  <a:lnTo>
                    <a:pt x="1584663" y="0"/>
                  </a:lnTo>
                  <a:lnTo>
                    <a:pt x="1584663" y="1445879"/>
                  </a:lnTo>
                  <a:lnTo>
                    <a:pt x="0" y="1445879"/>
                  </a:lnTo>
                  <a:close/>
                </a:path>
              </a:pathLst>
            </a:custGeom>
            <a:solidFill>
              <a:srgbClr val="ABAFFA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584663" cy="1455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7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89262" y="2346204"/>
            <a:ext cx="1254251" cy="1101813"/>
          </a:xfrm>
          <a:custGeom>
            <a:avLst/>
            <a:gdLst/>
            <a:ahLst/>
            <a:cxnLst/>
            <a:rect l="l" t="t" r="r" b="b"/>
            <a:pathLst>
              <a:path w="1254251" h="1101813">
                <a:moveTo>
                  <a:pt x="0" y="0"/>
                </a:moveTo>
                <a:lnTo>
                  <a:pt x="1254250" y="0"/>
                </a:lnTo>
                <a:lnTo>
                  <a:pt x="1254250" y="1101813"/>
                </a:lnTo>
                <a:lnTo>
                  <a:pt x="0" y="11018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13835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89262" y="5999712"/>
            <a:ext cx="1456909" cy="1456909"/>
          </a:xfrm>
          <a:custGeom>
            <a:avLst/>
            <a:gdLst/>
            <a:ahLst/>
            <a:cxnLst/>
            <a:rect l="l" t="t" r="r" b="b"/>
            <a:pathLst>
              <a:path w="1456909" h="1456909">
                <a:moveTo>
                  <a:pt x="0" y="0"/>
                </a:moveTo>
                <a:lnTo>
                  <a:pt x="1456908" y="0"/>
                </a:lnTo>
                <a:lnTo>
                  <a:pt x="1456908" y="1456909"/>
                </a:lnTo>
                <a:lnTo>
                  <a:pt x="0" y="14569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067245" y="2381598"/>
            <a:ext cx="7507248" cy="106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6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Homework: Atrofingizdagi raqamli</a:t>
            </a:r>
          </a:p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texnologiyani aniqlang.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12667" y="5153025"/>
            <a:ext cx="4837747" cy="533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"Qarama-qarshi ixtiro"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59617" y="6165093"/>
            <a:ext cx="5143847" cy="142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Maqsad: Muammolarga boshqa nuqtai nazardan qarash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84695" y="8068696"/>
            <a:ext cx="7076361" cy="701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Masalan: "Agar internet bo‘lmaganida axborotni </a:t>
            </a:r>
          </a:p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qanday tez yetkazgan bo‘lardik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91294" y="-744449"/>
            <a:ext cx="11204796" cy="4847324"/>
            <a:chOff x="0" y="0"/>
            <a:chExt cx="14939728" cy="6463098"/>
          </a:xfrm>
        </p:grpSpPr>
        <p:sp>
          <p:nvSpPr>
            <p:cNvPr id="4" name="Freeform 4"/>
            <p:cNvSpPr/>
            <p:nvPr/>
          </p:nvSpPr>
          <p:spPr>
            <a:xfrm>
              <a:off x="3436578" y="0"/>
              <a:ext cx="8006401" cy="4803840"/>
            </a:xfrm>
            <a:custGeom>
              <a:avLst/>
              <a:gdLst/>
              <a:ahLst/>
              <a:cxnLst/>
              <a:rect l="l" t="t" r="r" b="b"/>
              <a:pathLst>
                <a:path w="8006401" h="4803840">
                  <a:moveTo>
                    <a:pt x="0" y="0"/>
                  </a:moveTo>
                  <a:lnTo>
                    <a:pt x="8006401" y="0"/>
                  </a:lnTo>
                  <a:lnTo>
                    <a:pt x="8006401" y="4803840"/>
                  </a:lnTo>
                  <a:lnTo>
                    <a:pt x="0" y="4803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" name="Freeform 5"/>
            <p:cNvSpPr/>
            <p:nvPr/>
          </p:nvSpPr>
          <p:spPr>
            <a:xfrm>
              <a:off x="11442979" y="4160411"/>
              <a:ext cx="2443170" cy="2302687"/>
            </a:xfrm>
            <a:custGeom>
              <a:avLst/>
              <a:gdLst/>
              <a:ahLst/>
              <a:cxnLst/>
              <a:rect l="l" t="t" r="r" b="b"/>
              <a:pathLst>
                <a:path w="2443170" h="2302687">
                  <a:moveTo>
                    <a:pt x="0" y="0"/>
                  </a:moveTo>
                  <a:lnTo>
                    <a:pt x="2443169" y="0"/>
                  </a:lnTo>
                  <a:lnTo>
                    <a:pt x="2443169" y="2302687"/>
                  </a:lnTo>
                  <a:lnTo>
                    <a:pt x="0" y="2302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562492" y="3314937"/>
              <a:ext cx="1488904" cy="1488904"/>
            </a:xfrm>
            <a:custGeom>
              <a:avLst/>
              <a:gdLst/>
              <a:ahLst/>
              <a:cxnLst/>
              <a:rect l="l" t="t" r="r" b="b"/>
              <a:pathLst>
                <a:path w="1488904" h="1488904">
                  <a:moveTo>
                    <a:pt x="0" y="0"/>
                  </a:moveTo>
                  <a:lnTo>
                    <a:pt x="1488904" y="0"/>
                  </a:lnTo>
                  <a:lnTo>
                    <a:pt x="1488904" y="1488903"/>
                  </a:lnTo>
                  <a:lnTo>
                    <a:pt x="0" y="1488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193649" y="2829685"/>
              <a:ext cx="485859" cy="485251"/>
            </a:xfrm>
            <a:custGeom>
              <a:avLst/>
              <a:gdLst/>
              <a:ahLst/>
              <a:cxnLst/>
              <a:rect l="l" t="t" r="r" b="b"/>
              <a:pathLst>
                <a:path w="485859" h="485251">
                  <a:moveTo>
                    <a:pt x="0" y="0"/>
                  </a:moveTo>
                  <a:lnTo>
                    <a:pt x="485858" y="0"/>
                  </a:lnTo>
                  <a:lnTo>
                    <a:pt x="485858" y="485252"/>
                  </a:lnTo>
                  <a:lnTo>
                    <a:pt x="0" y="485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646648" y="5081880"/>
              <a:ext cx="586499" cy="585766"/>
            </a:xfrm>
            <a:custGeom>
              <a:avLst/>
              <a:gdLst/>
              <a:ahLst/>
              <a:cxnLst/>
              <a:rect l="l" t="t" r="r" b="b"/>
              <a:pathLst>
                <a:path w="586499" h="585766">
                  <a:moveTo>
                    <a:pt x="0" y="0"/>
                  </a:moveTo>
                  <a:lnTo>
                    <a:pt x="586499" y="0"/>
                  </a:lnTo>
                  <a:lnTo>
                    <a:pt x="586499" y="585765"/>
                  </a:lnTo>
                  <a:lnTo>
                    <a:pt x="0" y="585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9382171">
              <a:off x="12374612" y="507121"/>
              <a:ext cx="2156579" cy="2489557"/>
            </a:xfrm>
            <a:custGeom>
              <a:avLst/>
              <a:gdLst/>
              <a:ahLst/>
              <a:cxnLst/>
              <a:rect l="l" t="t" r="r" b="b"/>
              <a:pathLst>
                <a:path w="2156579" h="2489557">
                  <a:moveTo>
                    <a:pt x="0" y="0"/>
                  </a:moveTo>
                  <a:lnTo>
                    <a:pt x="2156578" y="0"/>
                  </a:lnTo>
                  <a:lnTo>
                    <a:pt x="2156578" y="2489557"/>
                  </a:lnTo>
                  <a:lnTo>
                    <a:pt x="0" y="2489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826302"/>
              <a:ext cx="926756" cy="925597"/>
            </a:xfrm>
            <a:custGeom>
              <a:avLst/>
              <a:gdLst/>
              <a:ahLst/>
              <a:cxnLst/>
              <a:rect l="l" t="t" r="r" b="b"/>
              <a:pathLst>
                <a:path w="926756" h="925597">
                  <a:moveTo>
                    <a:pt x="0" y="0"/>
                  </a:moveTo>
                  <a:lnTo>
                    <a:pt x="926756" y="0"/>
                  </a:lnTo>
                  <a:lnTo>
                    <a:pt x="926756" y="925598"/>
                  </a:lnTo>
                  <a:lnTo>
                    <a:pt x="0" y="925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7238620" y="4427582"/>
            <a:ext cx="3810759" cy="2872360"/>
          </a:xfrm>
          <a:custGeom>
            <a:avLst/>
            <a:gdLst/>
            <a:ahLst/>
            <a:cxnLst/>
            <a:rect l="l" t="t" r="r" b="b"/>
            <a:pathLst>
              <a:path w="3810759" h="2872360">
                <a:moveTo>
                  <a:pt x="0" y="0"/>
                </a:moveTo>
                <a:lnTo>
                  <a:pt x="3810760" y="0"/>
                </a:lnTo>
                <a:lnTo>
                  <a:pt x="3810760" y="2872360"/>
                </a:lnTo>
                <a:lnTo>
                  <a:pt x="0" y="28723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0" y="549427"/>
            <a:ext cx="11389580" cy="127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3"/>
              </a:lnSpc>
              <a:spcBef>
                <a:spcPct val="0"/>
              </a:spcBef>
            </a:pPr>
            <a:r>
              <a:rPr lang="en-US" sz="4299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Mavzu:</a:t>
            </a:r>
            <a:r>
              <a:rPr lang="en-US" sz="42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Innovatsiya – Bozordagi Raqobat Ustunligining Kaliti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378203" y="3700946"/>
            <a:ext cx="9368135" cy="106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600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Innovatsiya nima? </a:t>
            </a:r>
          </a:p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Innovatsiyaning turlari.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27027" y="3794710"/>
            <a:ext cx="4733330" cy="106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7"/>
              </a:lnSpc>
            </a:pPr>
            <a:r>
              <a:rPr lang="en-US" sz="3599" b="1">
                <a:solidFill>
                  <a:srgbClr val="74AD48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Innovatsiyani bozorga</a:t>
            </a:r>
          </a:p>
          <a:p>
            <a:pPr algn="ctr">
              <a:lnSpc>
                <a:spcPts val="4247"/>
              </a:lnSpc>
              <a:spcBef>
                <a:spcPct val="0"/>
              </a:spcBef>
            </a:pPr>
            <a:r>
              <a:rPr lang="en-US" sz="3599" b="1">
                <a:solidFill>
                  <a:srgbClr val="74AD48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ta’siri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309467"/>
            <a:ext cx="5815757" cy="106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600" b="1">
                <a:solidFill>
                  <a:srgbClr val="5E17E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Innovatsiya orqali raqobat </a:t>
            </a:r>
          </a:p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b="1">
                <a:solidFill>
                  <a:srgbClr val="5E17EB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ustunligini yaratish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27027" y="7309467"/>
            <a:ext cx="5034855" cy="106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600" b="1">
                <a:solidFill>
                  <a:srgbClr val="FF914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O’zbekiston misolida</a:t>
            </a:r>
          </a:p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b="1">
                <a:solidFill>
                  <a:srgbClr val="FF914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innovatsiya va raqobat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88420" y="-1154206"/>
            <a:ext cx="7543989" cy="11199157"/>
            <a:chOff x="0" y="0"/>
            <a:chExt cx="10058652" cy="14932209"/>
          </a:xfrm>
        </p:grpSpPr>
        <p:sp>
          <p:nvSpPr>
            <p:cNvPr id="4" name="Freeform 4"/>
            <p:cNvSpPr/>
            <p:nvPr/>
          </p:nvSpPr>
          <p:spPr>
            <a:xfrm rot="-1100670">
              <a:off x="5571982" y="1357890"/>
              <a:ext cx="1915805" cy="1843962"/>
            </a:xfrm>
            <a:custGeom>
              <a:avLst/>
              <a:gdLst/>
              <a:ahLst/>
              <a:cxnLst/>
              <a:rect l="l" t="t" r="r" b="b"/>
              <a:pathLst>
                <a:path w="1915805" h="1843962">
                  <a:moveTo>
                    <a:pt x="0" y="0"/>
                  </a:moveTo>
                  <a:lnTo>
                    <a:pt x="1915804" y="0"/>
                  </a:lnTo>
                  <a:lnTo>
                    <a:pt x="1915804" y="1843962"/>
                  </a:lnTo>
                  <a:lnTo>
                    <a:pt x="0" y="1843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592221">
              <a:off x="1074066" y="4368682"/>
              <a:ext cx="8512841" cy="6239069"/>
            </a:xfrm>
            <a:custGeom>
              <a:avLst/>
              <a:gdLst/>
              <a:ahLst/>
              <a:cxnLst/>
              <a:rect l="l" t="t" r="r" b="b"/>
              <a:pathLst>
                <a:path w="8512841" h="6239069">
                  <a:moveTo>
                    <a:pt x="0" y="0"/>
                  </a:moveTo>
                  <a:lnTo>
                    <a:pt x="8512840" y="0"/>
                  </a:lnTo>
                  <a:lnTo>
                    <a:pt x="8512840" y="6239069"/>
                  </a:lnTo>
                  <a:lnTo>
                    <a:pt x="0" y="6239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5051375" y="11706407"/>
              <a:ext cx="558222" cy="557524"/>
            </a:xfrm>
            <a:custGeom>
              <a:avLst/>
              <a:gdLst/>
              <a:ahLst/>
              <a:cxnLst/>
              <a:rect l="l" t="t" r="r" b="b"/>
              <a:pathLst>
                <a:path w="558222" h="557524">
                  <a:moveTo>
                    <a:pt x="0" y="0"/>
                  </a:moveTo>
                  <a:lnTo>
                    <a:pt x="558222" y="0"/>
                  </a:lnTo>
                  <a:lnTo>
                    <a:pt x="558222" y="557524"/>
                  </a:lnTo>
                  <a:lnTo>
                    <a:pt x="0" y="55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1363057" y="4735195"/>
              <a:ext cx="450420" cy="449857"/>
            </a:xfrm>
            <a:custGeom>
              <a:avLst/>
              <a:gdLst/>
              <a:ahLst/>
              <a:cxnLst/>
              <a:rect l="l" t="t" r="r" b="b"/>
              <a:pathLst>
                <a:path w="450420" h="449857">
                  <a:moveTo>
                    <a:pt x="0" y="0"/>
                  </a:moveTo>
                  <a:lnTo>
                    <a:pt x="450420" y="0"/>
                  </a:lnTo>
                  <a:lnTo>
                    <a:pt x="450420" y="449857"/>
                  </a:lnTo>
                  <a:lnTo>
                    <a:pt x="0" y="449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1777721">
              <a:off x="917072" y="454604"/>
              <a:ext cx="2339515" cy="1892083"/>
            </a:xfrm>
            <a:custGeom>
              <a:avLst/>
              <a:gdLst/>
              <a:ahLst/>
              <a:cxnLst/>
              <a:rect l="l" t="t" r="r" b="b"/>
              <a:pathLst>
                <a:path w="2339515" h="1892083">
                  <a:moveTo>
                    <a:pt x="0" y="0"/>
                  </a:moveTo>
                  <a:lnTo>
                    <a:pt x="2339515" y="0"/>
                  </a:lnTo>
                  <a:lnTo>
                    <a:pt x="2339515" y="1892083"/>
                  </a:lnTo>
                  <a:lnTo>
                    <a:pt x="0" y="1892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4239088">
              <a:off x="2622803" y="6672145"/>
              <a:ext cx="1310417" cy="2186241"/>
            </a:xfrm>
            <a:custGeom>
              <a:avLst/>
              <a:gdLst/>
              <a:ahLst/>
              <a:cxnLst/>
              <a:rect l="l" t="t" r="r" b="b"/>
              <a:pathLst>
                <a:path w="1310417" h="2186241">
                  <a:moveTo>
                    <a:pt x="0" y="0"/>
                  </a:moveTo>
                  <a:lnTo>
                    <a:pt x="1310417" y="0"/>
                  </a:lnTo>
                  <a:lnTo>
                    <a:pt x="1310417" y="2186241"/>
                  </a:lnTo>
                  <a:lnTo>
                    <a:pt x="0" y="2186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2633171">
              <a:off x="741300" y="11625057"/>
              <a:ext cx="2116348" cy="2991304"/>
            </a:xfrm>
            <a:custGeom>
              <a:avLst/>
              <a:gdLst/>
              <a:ahLst/>
              <a:cxnLst/>
              <a:rect l="l" t="t" r="r" b="b"/>
              <a:pathLst>
                <a:path w="2116348" h="2991304">
                  <a:moveTo>
                    <a:pt x="0" y="0"/>
                  </a:moveTo>
                  <a:lnTo>
                    <a:pt x="2116347" y="0"/>
                  </a:lnTo>
                  <a:lnTo>
                    <a:pt x="2116347" y="2991304"/>
                  </a:lnTo>
                  <a:lnTo>
                    <a:pt x="0" y="299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2456265">
              <a:off x="7351366" y="11238926"/>
              <a:ext cx="1899285" cy="2192537"/>
            </a:xfrm>
            <a:custGeom>
              <a:avLst/>
              <a:gdLst/>
              <a:ahLst/>
              <a:cxnLst/>
              <a:rect l="l" t="t" r="r" b="b"/>
              <a:pathLst>
                <a:path w="1899285" h="2192537">
                  <a:moveTo>
                    <a:pt x="0" y="0"/>
                  </a:moveTo>
                  <a:lnTo>
                    <a:pt x="1899285" y="0"/>
                  </a:lnTo>
                  <a:lnTo>
                    <a:pt x="1899285" y="2192537"/>
                  </a:lnTo>
                  <a:lnTo>
                    <a:pt x="0" y="219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7398408" y="4209331"/>
            <a:ext cx="1183822" cy="1183822"/>
          </a:xfrm>
          <a:custGeom>
            <a:avLst/>
            <a:gdLst/>
            <a:ahLst/>
            <a:cxnLst/>
            <a:rect l="l" t="t" r="r" b="b"/>
            <a:pathLst>
              <a:path w="1183822" h="1183822">
                <a:moveTo>
                  <a:pt x="0" y="0"/>
                </a:moveTo>
                <a:lnTo>
                  <a:pt x="1183822" y="0"/>
                </a:lnTo>
                <a:lnTo>
                  <a:pt x="1183822" y="1183822"/>
                </a:lnTo>
                <a:lnTo>
                  <a:pt x="0" y="11838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740151" y="4185114"/>
            <a:ext cx="1183868" cy="1183868"/>
          </a:xfrm>
          <a:custGeom>
            <a:avLst/>
            <a:gdLst/>
            <a:ahLst/>
            <a:cxnLst/>
            <a:rect l="l" t="t" r="r" b="b"/>
            <a:pathLst>
              <a:path w="1183868" h="1183868">
                <a:moveTo>
                  <a:pt x="0" y="0"/>
                </a:moveTo>
                <a:lnTo>
                  <a:pt x="1183868" y="0"/>
                </a:lnTo>
                <a:lnTo>
                  <a:pt x="1183868" y="1183868"/>
                </a:lnTo>
                <a:lnTo>
                  <a:pt x="0" y="11838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751604" y="7320633"/>
            <a:ext cx="1160962" cy="1160962"/>
          </a:xfrm>
          <a:custGeom>
            <a:avLst/>
            <a:gdLst/>
            <a:ahLst/>
            <a:cxnLst/>
            <a:rect l="l" t="t" r="r" b="b"/>
            <a:pathLst>
              <a:path w="1160962" h="1160962">
                <a:moveTo>
                  <a:pt x="0" y="0"/>
                </a:moveTo>
                <a:lnTo>
                  <a:pt x="1160962" y="0"/>
                </a:lnTo>
                <a:lnTo>
                  <a:pt x="1160962" y="1160962"/>
                </a:lnTo>
                <a:lnTo>
                  <a:pt x="0" y="11609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4999" y="409949"/>
            <a:ext cx="1547567" cy="1547567"/>
          </a:xfrm>
          <a:custGeom>
            <a:avLst/>
            <a:gdLst/>
            <a:ahLst/>
            <a:cxnLst/>
            <a:rect l="l" t="t" r="r" b="b"/>
            <a:pathLst>
              <a:path w="1547567" h="1547567">
                <a:moveTo>
                  <a:pt x="0" y="0"/>
                </a:moveTo>
                <a:lnTo>
                  <a:pt x="1547567" y="0"/>
                </a:lnTo>
                <a:lnTo>
                  <a:pt x="1547567" y="1547567"/>
                </a:lnTo>
                <a:lnTo>
                  <a:pt x="0" y="1547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520943" y="716853"/>
            <a:ext cx="7184903" cy="124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6"/>
              </a:lnSpc>
              <a:spcBef>
                <a:spcPct val="0"/>
              </a:spcBef>
            </a:pPr>
            <a:r>
              <a:rPr lang="en-US" sz="3200" b="1">
                <a:solidFill>
                  <a:srgbClr val="127C1C"/>
                </a:solidFill>
                <a:latin typeface="Nunito Heavy"/>
                <a:ea typeface="Nunito Heavy"/>
                <a:cs typeface="Nunito Heavy"/>
                <a:sym typeface="Nunito Heavy"/>
              </a:rPr>
              <a:t>Innovatsiya</a:t>
            </a:r>
            <a:r>
              <a:rPr lang="en-US" sz="3200" b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 – </a:t>
            </a:r>
            <a:r>
              <a:rPr lang="en-US" sz="3200">
                <a:solidFill>
                  <a:srgbClr val="3E3E3E"/>
                </a:solidFill>
                <a:latin typeface="Nunito"/>
                <a:ea typeface="Nunito"/>
                <a:cs typeface="Nunito"/>
                <a:sym typeface="Nunito"/>
              </a:rPr>
              <a:t>yangi g‘oya, mahsulot yoki jarayonni yaratish va uni amaliyotga joriy etish.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38783" y="2843591"/>
            <a:ext cx="11268670" cy="62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5"/>
              </a:lnSpc>
              <a:spcBef>
                <a:spcPct val="0"/>
              </a:spcBef>
            </a:pPr>
            <a:r>
              <a:rPr lang="en-US" sz="4200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Innovatsiyaning ta’sir darajasiga ko’ra turlari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49939" y="4607313"/>
            <a:ext cx="3084314" cy="39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Product innovation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36002" y="7604259"/>
            <a:ext cx="4220021" cy="39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Organisational innovation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4548733"/>
            <a:ext cx="3055441" cy="39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Process innovation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20331" y="7789216"/>
            <a:ext cx="3463826" cy="39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Marketing innovation</a:t>
            </a:r>
          </a:p>
        </p:txBody>
      </p:sp>
      <p:sp>
        <p:nvSpPr>
          <p:cNvPr id="22" name="Freeform 22"/>
          <p:cNvSpPr/>
          <p:nvPr/>
        </p:nvSpPr>
        <p:spPr>
          <a:xfrm>
            <a:off x="7437929" y="7207541"/>
            <a:ext cx="1144300" cy="1144300"/>
          </a:xfrm>
          <a:custGeom>
            <a:avLst/>
            <a:gdLst/>
            <a:ahLst/>
            <a:cxnLst/>
            <a:rect l="l" t="t" r="r" b="b"/>
            <a:pathLst>
              <a:path w="1144300" h="1144300">
                <a:moveTo>
                  <a:pt x="0" y="0"/>
                </a:moveTo>
                <a:lnTo>
                  <a:pt x="1144301" y="0"/>
                </a:lnTo>
                <a:lnTo>
                  <a:pt x="1144301" y="1144301"/>
                </a:lnTo>
                <a:lnTo>
                  <a:pt x="0" y="11443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19192" y="-2147084"/>
            <a:ext cx="9773136" cy="10412979"/>
            <a:chOff x="0" y="0"/>
            <a:chExt cx="13030848" cy="13883972"/>
          </a:xfrm>
        </p:grpSpPr>
        <p:sp>
          <p:nvSpPr>
            <p:cNvPr id="4" name="Freeform 4"/>
            <p:cNvSpPr/>
            <p:nvPr/>
          </p:nvSpPr>
          <p:spPr>
            <a:xfrm>
              <a:off x="3054280" y="0"/>
              <a:ext cx="9976568" cy="10557215"/>
            </a:xfrm>
            <a:custGeom>
              <a:avLst/>
              <a:gdLst/>
              <a:ahLst/>
              <a:cxnLst/>
              <a:rect l="l" t="t" r="r" b="b"/>
              <a:pathLst>
                <a:path w="9976568" h="10557215">
                  <a:moveTo>
                    <a:pt x="0" y="0"/>
                  </a:moveTo>
                  <a:lnTo>
                    <a:pt x="9976568" y="0"/>
                  </a:lnTo>
                  <a:lnTo>
                    <a:pt x="9976568" y="10557215"/>
                  </a:lnTo>
                  <a:lnTo>
                    <a:pt x="0" y="10557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587546" y="7655228"/>
              <a:ext cx="1583495" cy="1738274"/>
            </a:xfrm>
            <a:custGeom>
              <a:avLst/>
              <a:gdLst/>
              <a:ahLst/>
              <a:cxnLst/>
              <a:rect l="l" t="t" r="r" b="b"/>
              <a:pathLst>
                <a:path w="1583495" h="1738274">
                  <a:moveTo>
                    <a:pt x="0" y="0"/>
                  </a:moveTo>
                  <a:lnTo>
                    <a:pt x="1583495" y="0"/>
                  </a:lnTo>
                  <a:lnTo>
                    <a:pt x="1583495" y="1738274"/>
                  </a:lnTo>
                  <a:lnTo>
                    <a:pt x="0" y="1738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0034" t="-133257" b="-37408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8552701" y="12413005"/>
              <a:ext cx="1458845" cy="1470967"/>
            </a:xfrm>
            <a:custGeom>
              <a:avLst/>
              <a:gdLst/>
              <a:ahLst/>
              <a:cxnLst/>
              <a:rect l="l" t="t" r="r" b="b"/>
              <a:pathLst>
                <a:path w="1458845" h="1470967">
                  <a:moveTo>
                    <a:pt x="0" y="0"/>
                  </a:moveTo>
                  <a:lnTo>
                    <a:pt x="1458846" y="0"/>
                  </a:lnTo>
                  <a:lnTo>
                    <a:pt x="1458846" y="1470967"/>
                  </a:lnTo>
                  <a:lnTo>
                    <a:pt x="0" y="1470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512" r="-583867" b="-480192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5976021"/>
              <a:ext cx="396633" cy="396137"/>
            </a:xfrm>
            <a:custGeom>
              <a:avLst/>
              <a:gdLst/>
              <a:ahLst/>
              <a:cxnLst/>
              <a:rect l="l" t="t" r="r" b="b"/>
              <a:pathLst>
                <a:path w="396633" h="396137">
                  <a:moveTo>
                    <a:pt x="0" y="0"/>
                  </a:moveTo>
                  <a:lnTo>
                    <a:pt x="396633" y="0"/>
                  </a:lnTo>
                  <a:lnTo>
                    <a:pt x="396633" y="396136"/>
                  </a:lnTo>
                  <a:lnTo>
                    <a:pt x="0" y="39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657647" y="6853230"/>
              <a:ext cx="396633" cy="396137"/>
            </a:xfrm>
            <a:custGeom>
              <a:avLst/>
              <a:gdLst/>
              <a:ahLst/>
              <a:cxnLst/>
              <a:rect l="l" t="t" r="r" b="b"/>
              <a:pathLst>
                <a:path w="396633" h="396137">
                  <a:moveTo>
                    <a:pt x="0" y="0"/>
                  </a:moveTo>
                  <a:lnTo>
                    <a:pt x="396633" y="0"/>
                  </a:lnTo>
                  <a:lnTo>
                    <a:pt x="396633" y="396137"/>
                  </a:lnTo>
                  <a:lnTo>
                    <a:pt x="0" y="396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766257" y="11242007"/>
              <a:ext cx="266860" cy="266526"/>
            </a:xfrm>
            <a:custGeom>
              <a:avLst/>
              <a:gdLst/>
              <a:ahLst/>
              <a:cxnLst/>
              <a:rect l="l" t="t" r="r" b="b"/>
              <a:pathLst>
                <a:path w="266860" h="266526">
                  <a:moveTo>
                    <a:pt x="0" y="0"/>
                  </a:moveTo>
                  <a:lnTo>
                    <a:pt x="266860" y="0"/>
                  </a:lnTo>
                  <a:lnTo>
                    <a:pt x="266860" y="266526"/>
                  </a:lnTo>
                  <a:lnTo>
                    <a:pt x="0" y="266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0251619" y="11393586"/>
              <a:ext cx="485741" cy="485133"/>
            </a:xfrm>
            <a:custGeom>
              <a:avLst/>
              <a:gdLst/>
              <a:ahLst/>
              <a:cxnLst/>
              <a:rect l="l" t="t" r="r" b="b"/>
              <a:pathLst>
                <a:path w="485741" h="485133">
                  <a:moveTo>
                    <a:pt x="0" y="0"/>
                  </a:moveTo>
                  <a:lnTo>
                    <a:pt x="485740" y="0"/>
                  </a:lnTo>
                  <a:lnTo>
                    <a:pt x="485740" y="485134"/>
                  </a:lnTo>
                  <a:lnTo>
                    <a:pt x="0" y="485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1" name="Freeform 11"/>
          <p:cNvSpPr/>
          <p:nvPr/>
        </p:nvSpPr>
        <p:spPr>
          <a:xfrm>
            <a:off x="11748382" y="-270537"/>
            <a:ext cx="1357377" cy="1299237"/>
          </a:xfrm>
          <a:custGeom>
            <a:avLst/>
            <a:gdLst/>
            <a:ahLst/>
            <a:cxnLst/>
            <a:rect l="l" t="t" r="r" b="b"/>
            <a:pathLst>
              <a:path w="1357377" h="1299237">
                <a:moveTo>
                  <a:pt x="0" y="0"/>
                </a:moveTo>
                <a:lnTo>
                  <a:pt x="1357378" y="0"/>
                </a:lnTo>
                <a:lnTo>
                  <a:pt x="1357378" y="1299237"/>
                </a:lnTo>
                <a:lnTo>
                  <a:pt x="0" y="1299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2046" r="-282218" b="-645437"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0503424" y="6019492"/>
            <a:ext cx="3152299" cy="1934723"/>
          </a:xfrm>
          <a:custGeom>
            <a:avLst/>
            <a:gdLst/>
            <a:ahLst/>
            <a:cxnLst/>
            <a:rect l="l" t="t" r="r" b="b"/>
            <a:pathLst>
              <a:path w="3152299" h="1934723">
                <a:moveTo>
                  <a:pt x="0" y="0"/>
                </a:moveTo>
                <a:lnTo>
                  <a:pt x="3152298" y="0"/>
                </a:lnTo>
                <a:lnTo>
                  <a:pt x="3152298" y="1934723"/>
                </a:lnTo>
                <a:lnTo>
                  <a:pt x="0" y="19347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15631" y="7182714"/>
            <a:ext cx="4645081" cy="2438668"/>
          </a:xfrm>
          <a:custGeom>
            <a:avLst/>
            <a:gdLst/>
            <a:ahLst/>
            <a:cxnLst/>
            <a:rect l="l" t="t" r="r" b="b"/>
            <a:pathLst>
              <a:path w="4645081" h="2438668">
                <a:moveTo>
                  <a:pt x="0" y="0"/>
                </a:moveTo>
                <a:lnTo>
                  <a:pt x="4645081" y="0"/>
                </a:lnTo>
                <a:lnTo>
                  <a:pt x="4645081" y="2438668"/>
                </a:lnTo>
                <a:lnTo>
                  <a:pt x="0" y="24386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1085850"/>
            <a:ext cx="7184903" cy="2059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96"/>
              </a:lnSpc>
              <a:spcBef>
                <a:spcPct val="0"/>
              </a:spcBef>
            </a:pPr>
            <a:r>
              <a:rPr lang="en-US" sz="3200" b="1">
                <a:solidFill>
                  <a:srgbClr val="127C1C"/>
                </a:solidFill>
                <a:latin typeface="Nunito Bold"/>
                <a:ea typeface="Nunito Bold"/>
                <a:cs typeface="Nunito Bold"/>
                <a:sym typeface="Nunito Bold"/>
              </a:rPr>
              <a:t>Product innovation-</a:t>
            </a:r>
            <a:r>
              <a:rPr lang="en-US" sz="3200" b="1">
                <a:solidFill>
                  <a:srgbClr val="202020"/>
                </a:solidFill>
                <a:latin typeface="Nunito Bold"/>
                <a:ea typeface="Nunito Bold"/>
                <a:cs typeface="Nunito Bold"/>
                <a:sym typeface="Nunito Bold"/>
              </a:rPr>
              <a:t> Yangi mahsulot yaratish yoki mavjud mahsulotni sezilarli darajada yaxshilash. Bu, odatda, foydalanuvchi tajribasini yaxshilashga qaratilgan.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32278" y="8402048"/>
            <a:ext cx="9023445" cy="42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799" b="1">
                <a:solidFill>
                  <a:srgbClr val="127C1C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Apple – iPhone, iPad, MacBook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5314" y="5143500"/>
            <a:ext cx="9023445" cy="42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799" b="1">
                <a:solidFill>
                  <a:srgbClr val="127C1C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Tesla – Elektr transport vositalari (Model S, 3, X, Y)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79415" y="6029017"/>
            <a:ext cx="3809405" cy="34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(autopilot, AI boshqaruvi).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574" y="13372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011224" y="158898"/>
            <a:ext cx="8718286" cy="11068469"/>
            <a:chOff x="0" y="0"/>
            <a:chExt cx="11624381" cy="14757958"/>
          </a:xfrm>
        </p:grpSpPr>
        <p:sp>
          <p:nvSpPr>
            <p:cNvPr id="4" name="Freeform 4"/>
            <p:cNvSpPr/>
            <p:nvPr/>
          </p:nvSpPr>
          <p:spPr>
            <a:xfrm>
              <a:off x="0" y="8458847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316081" y="3151358"/>
              <a:ext cx="520720" cy="520069"/>
            </a:xfrm>
            <a:custGeom>
              <a:avLst/>
              <a:gdLst/>
              <a:ahLst/>
              <a:cxnLst/>
              <a:rect l="l" t="t" r="r" b="b"/>
              <a:pathLst>
                <a:path w="520720" h="520069">
                  <a:moveTo>
                    <a:pt x="0" y="0"/>
                  </a:moveTo>
                  <a:lnTo>
                    <a:pt x="520720" y="0"/>
                  </a:lnTo>
                  <a:lnTo>
                    <a:pt x="520720" y="520069"/>
                  </a:lnTo>
                  <a:lnTo>
                    <a:pt x="0" y="52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223092" y="13757457"/>
              <a:ext cx="920246" cy="919096"/>
            </a:xfrm>
            <a:custGeom>
              <a:avLst/>
              <a:gdLst/>
              <a:ahLst/>
              <a:cxnLst/>
              <a:rect l="l" t="t" r="r" b="b"/>
              <a:pathLst>
                <a:path w="920246" h="919096">
                  <a:moveTo>
                    <a:pt x="0" y="0"/>
                  </a:moveTo>
                  <a:lnTo>
                    <a:pt x="920246" y="0"/>
                  </a:lnTo>
                  <a:lnTo>
                    <a:pt x="920246" y="919096"/>
                  </a:lnTo>
                  <a:lnTo>
                    <a:pt x="0" y="91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8964940" y="13000899"/>
              <a:ext cx="1759258" cy="1757059"/>
            </a:xfrm>
            <a:custGeom>
              <a:avLst/>
              <a:gdLst/>
              <a:ahLst/>
              <a:cxnLst/>
              <a:rect l="l" t="t" r="r" b="b"/>
              <a:pathLst>
                <a:path w="1759258" h="1757059">
                  <a:moveTo>
                    <a:pt x="0" y="0"/>
                  </a:moveTo>
                  <a:lnTo>
                    <a:pt x="1759258" y="0"/>
                  </a:lnTo>
                  <a:lnTo>
                    <a:pt x="1759258" y="1757059"/>
                  </a:lnTo>
                  <a:lnTo>
                    <a:pt x="0" y="17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-3750179">
              <a:off x="9106153" y="1152461"/>
              <a:ext cx="1977593" cy="2419074"/>
            </a:xfrm>
            <a:custGeom>
              <a:avLst/>
              <a:gdLst/>
              <a:ahLst/>
              <a:cxnLst/>
              <a:rect l="l" t="t" r="r" b="b"/>
              <a:pathLst>
                <a:path w="1977593" h="2419074">
                  <a:moveTo>
                    <a:pt x="0" y="0"/>
                  </a:moveTo>
                  <a:lnTo>
                    <a:pt x="1977594" y="0"/>
                  </a:lnTo>
                  <a:lnTo>
                    <a:pt x="1977594" y="2419074"/>
                  </a:lnTo>
                  <a:lnTo>
                    <a:pt x="0" y="241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152080">
              <a:off x="41676" y="71163"/>
              <a:ext cx="3261561" cy="1956937"/>
            </a:xfrm>
            <a:custGeom>
              <a:avLst/>
              <a:gdLst/>
              <a:ahLst/>
              <a:cxnLst/>
              <a:rect l="l" t="t" r="r" b="b"/>
              <a:pathLst>
                <a:path w="3261561" h="1956937">
                  <a:moveTo>
                    <a:pt x="0" y="0"/>
                  </a:moveTo>
                  <a:lnTo>
                    <a:pt x="3261562" y="0"/>
                  </a:lnTo>
                  <a:lnTo>
                    <a:pt x="3261562" y="1956936"/>
                  </a:lnTo>
                  <a:lnTo>
                    <a:pt x="0" y="1956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181737" y="1028700"/>
            <a:ext cx="6794014" cy="9847598"/>
            <a:chOff x="0" y="0"/>
            <a:chExt cx="9058685" cy="13130131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2372931"/>
              <a:ext cx="9058685" cy="9793173"/>
            </a:xfrm>
            <a:custGeom>
              <a:avLst/>
              <a:gdLst/>
              <a:ahLst/>
              <a:cxnLst/>
              <a:rect l="l" t="t" r="r" b="b"/>
              <a:pathLst>
                <a:path w="9058685" h="9793173">
                  <a:moveTo>
                    <a:pt x="9058685" y="0"/>
                  </a:moveTo>
                  <a:lnTo>
                    <a:pt x="0" y="0"/>
                  </a:lnTo>
                  <a:lnTo>
                    <a:pt x="0" y="9793173"/>
                  </a:lnTo>
                  <a:lnTo>
                    <a:pt x="9058685" y="9793173"/>
                  </a:lnTo>
                  <a:lnTo>
                    <a:pt x="9058685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2" name="Freeform 12"/>
            <p:cNvSpPr/>
            <p:nvPr/>
          </p:nvSpPr>
          <p:spPr>
            <a:xfrm>
              <a:off x="2527934" y="1472836"/>
              <a:ext cx="621340" cy="620564"/>
            </a:xfrm>
            <a:custGeom>
              <a:avLst/>
              <a:gdLst/>
              <a:ahLst/>
              <a:cxnLst/>
              <a:rect l="l" t="t" r="r" b="b"/>
              <a:pathLst>
                <a:path w="621340" h="620564">
                  <a:moveTo>
                    <a:pt x="0" y="0"/>
                  </a:moveTo>
                  <a:lnTo>
                    <a:pt x="621340" y="0"/>
                  </a:lnTo>
                  <a:lnTo>
                    <a:pt x="621340" y="620563"/>
                  </a:lnTo>
                  <a:lnTo>
                    <a:pt x="0" y="62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8537936" y="6388935"/>
              <a:ext cx="520749" cy="520098"/>
            </a:xfrm>
            <a:custGeom>
              <a:avLst/>
              <a:gdLst/>
              <a:ahLst/>
              <a:cxnLst/>
              <a:rect l="l" t="t" r="r" b="b"/>
              <a:pathLst>
                <a:path w="520749" h="520098">
                  <a:moveTo>
                    <a:pt x="0" y="0"/>
                  </a:moveTo>
                  <a:lnTo>
                    <a:pt x="520749" y="0"/>
                  </a:lnTo>
                  <a:lnTo>
                    <a:pt x="520749" y="520098"/>
                  </a:lnTo>
                  <a:lnTo>
                    <a:pt x="0" y="520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2577968" y="12559539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7165084" y="0"/>
              <a:ext cx="1893601" cy="2185976"/>
            </a:xfrm>
            <a:custGeom>
              <a:avLst/>
              <a:gdLst/>
              <a:ahLst/>
              <a:cxnLst/>
              <a:rect l="l" t="t" r="r" b="b"/>
              <a:pathLst>
                <a:path w="1893601" h="2185976">
                  <a:moveTo>
                    <a:pt x="0" y="0"/>
                  </a:moveTo>
                  <a:lnTo>
                    <a:pt x="1893601" y="0"/>
                  </a:lnTo>
                  <a:lnTo>
                    <a:pt x="1893601" y="2185976"/>
                  </a:lnTo>
                  <a:lnTo>
                    <a:pt x="0" y="2185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620809" y="3267493"/>
            <a:ext cx="3311752" cy="2893644"/>
          </a:xfrm>
          <a:custGeom>
            <a:avLst/>
            <a:gdLst/>
            <a:ahLst/>
            <a:cxnLst/>
            <a:rect l="l" t="t" r="r" b="b"/>
            <a:pathLst>
              <a:path w="3311752" h="2893644">
                <a:moveTo>
                  <a:pt x="0" y="0"/>
                </a:moveTo>
                <a:lnTo>
                  <a:pt x="3311753" y="0"/>
                </a:lnTo>
                <a:lnTo>
                  <a:pt x="3311753" y="2893643"/>
                </a:lnTo>
                <a:lnTo>
                  <a:pt x="0" y="28936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027049" y="7617836"/>
            <a:ext cx="4576785" cy="1381385"/>
          </a:xfrm>
          <a:custGeom>
            <a:avLst/>
            <a:gdLst/>
            <a:ahLst/>
            <a:cxnLst/>
            <a:rect l="l" t="t" r="r" b="b"/>
            <a:pathLst>
              <a:path w="4576785" h="1381385">
                <a:moveTo>
                  <a:pt x="0" y="0"/>
                </a:moveTo>
                <a:lnTo>
                  <a:pt x="4576785" y="0"/>
                </a:lnTo>
                <a:lnTo>
                  <a:pt x="4576785" y="1381384"/>
                </a:lnTo>
                <a:lnTo>
                  <a:pt x="0" y="13813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1028700"/>
            <a:ext cx="9634718" cy="183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sz="3099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Process innovation</a:t>
            </a:r>
            <a:r>
              <a:rPr lang="en-US" sz="30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- Mahsulot yoki xizmatni ishlab chiqarish va yetkazib berish usullarini yaxshilash. Bu turdagi innovatsiyalar samaradorlikni oshiradi va xarajatlarni kamaytiradi.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31985" y="4432554"/>
            <a:ext cx="7591278" cy="1264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799" b="1">
                <a:solidFill>
                  <a:srgbClr val="F6950E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Lean manufacturing (kam xarajatli va yuqori sifatli ishlab chiqarish) jarayonlarini joriy qilgan.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7224505"/>
            <a:ext cx="4724554" cy="16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799" b="1">
                <a:solidFill>
                  <a:srgbClr val="127C1C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avtomatlashtirilgan ombor tizimlari va dron orqali yetkazib berish texnologiyalari.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11B3A0-567C-C473-353A-5395BC0533F4}"/>
              </a:ext>
            </a:extLst>
          </p:cNvPr>
          <p:cNvSpPr txBox="1"/>
          <p:nvPr/>
        </p:nvSpPr>
        <p:spPr>
          <a:xfrm>
            <a:off x="8077200" y="9125196"/>
            <a:ext cx="3048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Prime air</a:t>
            </a:r>
            <a:endParaRPr lang="ru-RU" sz="3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708661" y="-390734"/>
            <a:ext cx="8718286" cy="11068469"/>
            <a:chOff x="0" y="0"/>
            <a:chExt cx="11624381" cy="14757958"/>
          </a:xfrm>
        </p:grpSpPr>
        <p:sp>
          <p:nvSpPr>
            <p:cNvPr id="4" name="Freeform 4"/>
            <p:cNvSpPr/>
            <p:nvPr/>
          </p:nvSpPr>
          <p:spPr>
            <a:xfrm>
              <a:off x="0" y="8458847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316081" y="3151358"/>
              <a:ext cx="520720" cy="520069"/>
            </a:xfrm>
            <a:custGeom>
              <a:avLst/>
              <a:gdLst/>
              <a:ahLst/>
              <a:cxnLst/>
              <a:rect l="l" t="t" r="r" b="b"/>
              <a:pathLst>
                <a:path w="520720" h="520069">
                  <a:moveTo>
                    <a:pt x="0" y="0"/>
                  </a:moveTo>
                  <a:lnTo>
                    <a:pt x="520720" y="0"/>
                  </a:lnTo>
                  <a:lnTo>
                    <a:pt x="520720" y="520069"/>
                  </a:lnTo>
                  <a:lnTo>
                    <a:pt x="0" y="52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223092" y="13757457"/>
              <a:ext cx="920246" cy="919096"/>
            </a:xfrm>
            <a:custGeom>
              <a:avLst/>
              <a:gdLst/>
              <a:ahLst/>
              <a:cxnLst/>
              <a:rect l="l" t="t" r="r" b="b"/>
              <a:pathLst>
                <a:path w="920246" h="919096">
                  <a:moveTo>
                    <a:pt x="0" y="0"/>
                  </a:moveTo>
                  <a:lnTo>
                    <a:pt x="920246" y="0"/>
                  </a:lnTo>
                  <a:lnTo>
                    <a:pt x="920246" y="919096"/>
                  </a:lnTo>
                  <a:lnTo>
                    <a:pt x="0" y="91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8964940" y="13000899"/>
              <a:ext cx="1759258" cy="1757059"/>
            </a:xfrm>
            <a:custGeom>
              <a:avLst/>
              <a:gdLst/>
              <a:ahLst/>
              <a:cxnLst/>
              <a:rect l="l" t="t" r="r" b="b"/>
              <a:pathLst>
                <a:path w="1759258" h="1757059">
                  <a:moveTo>
                    <a:pt x="0" y="0"/>
                  </a:moveTo>
                  <a:lnTo>
                    <a:pt x="1759258" y="0"/>
                  </a:lnTo>
                  <a:lnTo>
                    <a:pt x="1759258" y="1757059"/>
                  </a:lnTo>
                  <a:lnTo>
                    <a:pt x="0" y="17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-3750179">
              <a:off x="9106153" y="1152461"/>
              <a:ext cx="1977593" cy="2419074"/>
            </a:xfrm>
            <a:custGeom>
              <a:avLst/>
              <a:gdLst/>
              <a:ahLst/>
              <a:cxnLst/>
              <a:rect l="l" t="t" r="r" b="b"/>
              <a:pathLst>
                <a:path w="1977593" h="2419074">
                  <a:moveTo>
                    <a:pt x="0" y="0"/>
                  </a:moveTo>
                  <a:lnTo>
                    <a:pt x="1977594" y="0"/>
                  </a:lnTo>
                  <a:lnTo>
                    <a:pt x="1977594" y="2419074"/>
                  </a:lnTo>
                  <a:lnTo>
                    <a:pt x="0" y="241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152080">
              <a:off x="41676" y="71163"/>
              <a:ext cx="3261561" cy="1956937"/>
            </a:xfrm>
            <a:custGeom>
              <a:avLst/>
              <a:gdLst/>
              <a:ahLst/>
              <a:cxnLst/>
              <a:rect l="l" t="t" r="r" b="b"/>
              <a:pathLst>
                <a:path w="3261561" h="1956937">
                  <a:moveTo>
                    <a:pt x="0" y="0"/>
                  </a:moveTo>
                  <a:lnTo>
                    <a:pt x="3261562" y="0"/>
                  </a:lnTo>
                  <a:lnTo>
                    <a:pt x="3261562" y="1956936"/>
                  </a:lnTo>
                  <a:lnTo>
                    <a:pt x="0" y="1956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181737" y="1028700"/>
            <a:ext cx="6794014" cy="9847598"/>
            <a:chOff x="0" y="0"/>
            <a:chExt cx="9058685" cy="13130131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2372931"/>
              <a:ext cx="9058685" cy="9793173"/>
            </a:xfrm>
            <a:custGeom>
              <a:avLst/>
              <a:gdLst/>
              <a:ahLst/>
              <a:cxnLst/>
              <a:rect l="l" t="t" r="r" b="b"/>
              <a:pathLst>
                <a:path w="9058685" h="9793173">
                  <a:moveTo>
                    <a:pt x="9058685" y="0"/>
                  </a:moveTo>
                  <a:lnTo>
                    <a:pt x="0" y="0"/>
                  </a:lnTo>
                  <a:lnTo>
                    <a:pt x="0" y="9793173"/>
                  </a:lnTo>
                  <a:lnTo>
                    <a:pt x="9058685" y="9793173"/>
                  </a:lnTo>
                  <a:lnTo>
                    <a:pt x="9058685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2" name="Freeform 12"/>
            <p:cNvSpPr/>
            <p:nvPr/>
          </p:nvSpPr>
          <p:spPr>
            <a:xfrm>
              <a:off x="2527934" y="1472836"/>
              <a:ext cx="621340" cy="620564"/>
            </a:xfrm>
            <a:custGeom>
              <a:avLst/>
              <a:gdLst/>
              <a:ahLst/>
              <a:cxnLst/>
              <a:rect l="l" t="t" r="r" b="b"/>
              <a:pathLst>
                <a:path w="621340" h="620564">
                  <a:moveTo>
                    <a:pt x="0" y="0"/>
                  </a:moveTo>
                  <a:lnTo>
                    <a:pt x="621340" y="0"/>
                  </a:lnTo>
                  <a:lnTo>
                    <a:pt x="621340" y="620563"/>
                  </a:lnTo>
                  <a:lnTo>
                    <a:pt x="0" y="620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8537936" y="6388935"/>
              <a:ext cx="520749" cy="520098"/>
            </a:xfrm>
            <a:custGeom>
              <a:avLst/>
              <a:gdLst/>
              <a:ahLst/>
              <a:cxnLst/>
              <a:rect l="l" t="t" r="r" b="b"/>
              <a:pathLst>
                <a:path w="520749" h="520098">
                  <a:moveTo>
                    <a:pt x="0" y="0"/>
                  </a:moveTo>
                  <a:lnTo>
                    <a:pt x="520749" y="0"/>
                  </a:lnTo>
                  <a:lnTo>
                    <a:pt x="520749" y="520098"/>
                  </a:lnTo>
                  <a:lnTo>
                    <a:pt x="0" y="520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2577968" y="12559539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7165084" y="0"/>
              <a:ext cx="1893601" cy="2185976"/>
            </a:xfrm>
            <a:custGeom>
              <a:avLst/>
              <a:gdLst/>
              <a:ahLst/>
              <a:cxnLst/>
              <a:rect l="l" t="t" r="r" b="b"/>
              <a:pathLst>
                <a:path w="1893601" h="2185976">
                  <a:moveTo>
                    <a:pt x="0" y="0"/>
                  </a:moveTo>
                  <a:lnTo>
                    <a:pt x="1893601" y="0"/>
                  </a:lnTo>
                  <a:lnTo>
                    <a:pt x="1893601" y="2185976"/>
                  </a:lnTo>
                  <a:lnTo>
                    <a:pt x="0" y="2185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7076056" y="3489134"/>
            <a:ext cx="2935168" cy="2916823"/>
          </a:xfrm>
          <a:custGeom>
            <a:avLst/>
            <a:gdLst/>
            <a:ahLst/>
            <a:cxnLst/>
            <a:rect l="l" t="t" r="r" b="b"/>
            <a:pathLst>
              <a:path w="2935168" h="2916823">
                <a:moveTo>
                  <a:pt x="0" y="0"/>
                </a:moveTo>
                <a:lnTo>
                  <a:pt x="2935168" y="0"/>
                </a:lnTo>
                <a:lnTo>
                  <a:pt x="2935168" y="2916823"/>
                </a:lnTo>
                <a:lnTo>
                  <a:pt x="0" y="2916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68646" y="6642973"/>
            <a:ext cx="4538528" cy="2615327"/>
          </a:xfrm>
          <a:custGeom>
            <a:avLst/>
            <a:gdLst/>
            <a:ahLst/>
            <a:cxnLst/>
            <a:rect l="l" t="t" r="r" b="b"/>
            <a:pathLst>
              <a:path w="4538528" h="2615327">
                <a:moveTo>
                  <a:pt x="0" y="0"/>
                </a:moveTo>
                <a:lnTo>
                  <a:pt x="4538528" y="0"/>
                </a:lnTo>
                <a:lnTo>
                  <a:pt x="4538528" y="2615327"/>
                </a:lnTo>
                <a:lnTo>
                  <a:pt x="0" y="26153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41266" y="1038225"/>
            <a:ext cx="9634718" cy="2133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Marketing innovation - </a:t>
            </a:r>
            <a:r>
              <a:rPr lang="en-US" sz="3600" b="1">
                <a:solidFill>
                  <a:srgbClr val="20202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Mahsulotni bozorga olib chiqish strategiyasida yangilik: narxlash, reklama, brending yoki sotuv kanallarini o‘zgartirish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09608" y="4156846"/>
            <a:ext cx="3843723" cy="1406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shaxsiylashtirilgan butilkalar (ism yozilgan) orqali mijoz jalb qilish strategiyasi.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22004" y="7590928"/>
            <a:ext cx="4630409" cy="105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raqamli platformalar orqali mijozlar bilan o‘zaro aloqani kuchaytiruvchi kampaniyalar.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8646" y="9267825"/>
            <a:ext cx="4538528" cy="34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Nike Run Club (mobil ilova)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41778" y="9267825"/>
            <a:ext cx="3603724" cy="34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Nike Training Club (NTC)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51396" y="-390734"/>
            <a:ext cx="8718286" cy="11068469"/>
            <a:chOff x="0" y="0"/>
            <a:chExt cx="11624381" cy="14757958"/>
          </a:xfrm>
        </p:grpSpPr>
        <p:sp>
          <p:nvSpPr>
            <p:cNvPr id="3" name="Freeform 3"/>
            <p:cNvSpPr/>
            <p:nvPr/>
          </p:nvSpPr>
          <p:spPr>
            <a:xfrm>
              <a:off x="0" y="8458847"/>
              <a:ext cx="571306" cy="570592"/>
            </a:xfrm>
            <a:custGeom>
              <a:avLst/>
              <a:gdLst/>
              <a:ahLst/>
              <a:cxnLst/>
              <a:rect l="l" t="t" r="r" b="b"/>
              <a:pathLst>
                <a:path w="571306" h="570592">
                  <a:moveTo>
                    <a:pt x="0" y="0"/>
                  </a:moveTo>
                  <a:lnTo>
                    <a:pt x="571306" y="0"/>
                  </a:lnTo>
                  <a:lnTo>
                    <a:pt x="571306" y="570592"/>
                  </a:lnTo>
                  <a:lnTo>
                    <a:pt x="0" y="57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530565" y="2028099"/>
              <a:ext cx="9314004" cy="11153407"/>
            </a:xfrm>
            <a:custGeom>
              <a:avLst/>
              <a:gdLst/>
              <a:ahLst/>
              <a:cxnLst/>
              <a:rect l="l" t="t" r="r" b="b"/>
              <a:pathLst>
                <a:path w="9314004" h="11153407">
                  <a:moveTo>
                    <a:pt x="9314004" y="0"/>
                  </a:moveTo>
                  <a:lnTo>
                    <a:pt x="0" y="0"/>
                  </a:lnTo>
                  <a:lnTo>
                    <a:pt x="0" y="11153408"/>
                  </a:lnTo>
                  <a:lnTo>
                    <a:pt x="9314004" y="11153408"/>
                  </a:lnTo>
                  <a:lnTo>
                    <a:pt x="9314004" y="0"/>
                  </a:lnTo>
                  <a:close/>
                </a:path>
              </a:pathLst>
            </a:custGeom>
            <a:blipFill>
              <a:blip r:embed="rId3"/>
              <a:stretch>
                <a:fillRect b="-9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316081" y="3151358"/>
              <a:ext cx="520720" cy="520069"/>
            </a:xfrm>
            <a:custGeom>
              <a:avLst/>
              <a:gdLst/>
              <a:ahLst/>
              <a:cxnLst/>
              <a:rect l="l" t="t" r="r" b="b"/>
              <a:pathLst>
                <a:path w="520720" h="520069">
                  <a:moveTo>
                    <a:pt x="0" y="0"/>
                  </a:moveTo>
                  <a:lnTo>
                    <a:pt x="520720" y="0"/>
                  </a:lnTo>
                  <a:lnTo>
                    <a:pt x="520720" y="520069"/>
                  </a:lnTo>
                  <a:lnTo>
                    <a:pt x="0" y="52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223092" y="13757457"/>
              <a:ext cx="920246" cy="919096"/>
            </a:xfrm>
            <a:custGeom>
              <a:avLst/>
              <a:gdLst/>
              <a:ahLst/>
              <a:cxnLst/>
              <a:rect l="l" t="t" r="r" b="b"/>
              <a:pathLst>
                <a:path w="920246" h="919096">
                  <a:moveTo>
                    <a:pt x="0" y="0"/>
                  </a:moveTo>
                  <a:lnTo>
                    <a:pt x="920246" y="0"/>
                  </a:lnTo>
                  <a:lnTo>
                    <a:pt x="920246" y="919096"/>
                  </a:lnTo>
                  <a:lnTo>
                    <a:pt x="0" y="919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8964940" y="13000899"/>
              <a:ext cx="1759258" cy="1757059"/>
            </a:xfrm>
            <a:custGeom>
              <a:avLst/>
              <a:gdLst/>
              <a:ahLst/>
              <a:cxnLst/>
              <a:rect l="l" t="t" r="r" b="b"/>
              <a:pathLst>
                <a:path w="1759258" h="1757059">
                  <a:moveTo>
                    <a:pt x="0" y="0"/>
                  </a:moveTo>
                  <a:lnTo>
                    <a:pt x="1759258" y="0"/>
                  </a:lnTo>
                  <a:lnTo>
                    <a:pt x="1759258" y="1757059"/>
                  </a:lnTo>
                  <a:lnTo>
                    <a:pt x="0" y="17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 rot="-3750179">
              <a:off x="9106153" y="1152461"/>
              <a:ext cx="1977593" cy="2419074"/>
            </a:xfrm>
            <a:custGeom>
              <a:avLst/>
              <a:gdLst/>
              <a:ahLst/>
              <a:cxnLst/>
              <a:rect l="l" t="t" r="r" b="b"/>
              <a:pathLst>
                <a:path w="1977593" h="2419074">
                  <a:moveTo>
                    <a:pt x="0" y="0"/>
                  </a:moveTo>
                  <a:lnTo>
                    <a:pt x="1977594" y="0"/>
                  </a:lnTo>
                  <a:lnTo>
                    <a:pt x="1977594" y="2419074"/>
                  </a:lnTo>
                  <a:lnTo>
                    <a:pt x="0" y="241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 rot="-152080">
              <a:off x="41676" y="71163"/>
              <a:ext cx="3261561" cy="1956937"/>
            </a:xfrm>
            <a:custGeom>
              <a:avLst/>
              <a:gdLst/>
              <a:ahLst/>
              <a:cxnLst/>
              <a:rect l="l" t="t" r="r" b="b"/>
              <a:pathLst>
                <a:path w="3261561" h="1956937">
                  <a:moveTo>
                    <a:pt x="0" y="0"/>
                  </a:moveTo>
                  <a:lnTo>
                    <a:pt x="3261562" y="0"/>
                  </a:lnTo>
                  <a:lnTo>
                    <a:pt x="3261562" y="1956936"/>
                  </a:lnTo>
                  <a:lnTo>
                    <a:pt x="0" y="1956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0" name="Freeform 10"/>
          <p:cNvSpPr/>
          <p:nvPr/>
        </p:nvSpPr>
        <p:spPr>
          <a:xfrm>
            <a:off x="877431" y="3849825"/>
            <a:ext cx="2587351" cy="2587351"/>
          </a:xfrm>
          <a:custGeom>
            <a:avLst/>
            <a:gdLst/>
            <a:ahLst/>
            <a:cxnLst/>
            <a:rect l="l" t="t" r="r" b="b"/>
            <a:pathLst>
              <a:path w="2587351" h="2587351">
                <a:moveTo>
                  <a:pt x="0" y="0"/>
                </a:moveTo>
                <a:lnTo>
                  <a:pt x="2587350" y="0"/>
                </a:lnTo>
                <a:lnTo>
                  <a:pt x="2587350" y="2587350"/>
                </a:lnTo>
                <a:lnTo>
                  <a:pt x="0" y="25873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735510" y="6237114"/>
            <a:ext cx="3338899" cy="3338899"/>
          </a:xfrm>
          <a:custGeom>
            <a:avLst/>
            <a:gdLst/>
            <a:ahLst/>
            <a:cxnLst/>
            <a:rect l="l" t="t" r="r" b="b"/>
            <a:pathLst>
              <a:path w="3338899" h="3338899">
                <a:moveTo>
                  <a:pt x="0" y="0"/>
                </a:moveTo>
                <a:lnTo>
                  <a:pt x="3338900" y="0"/>
                </a:lnTo>
                <a:lnTo>
                  <a:pt x="3338900" y="3338899"/>
                </a:lnTo>
                <a:lnTo>
                  <a:pt x="0" y="3338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77431" y="722764"/>
            <a:ext cx="7668063" cy="266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Organisational innovation</a:t>
            </a:r>
            <a:r>
              <a:rPr lang="en-US" sz="36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- Kompaniyaning ichki tuzilmasi, boshqaruv uslubi yoki tashkiliy madaniyatiga oid yangi yondashuvlar.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7142" y="4511294"/>
            <a:ext cx="7607574" cy="1264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xodimlar uchun erkin ish muhiti va "20% Time" (xodimlar vaqtining 20% ini o‘z loyihalariga bag‘ishlashi) siyosati.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1266" y="7229391"/>
            <a:ext cx="5782115" cy="168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an’anaviy ishlash vaqtlari o‘rniga natija asosida baholovchi tizim (results-oriented work environment).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19192" y="-961530"/>
            <a:ext cx="9773136" cy="10412979"/>
            <a:chOff x="0" y="0"/>
            <a:chExt cx="13030848" cy="13883972"/>
          </a:xfrm>
        </p:grpSpPr>
        <p:sp>
          <p:nvSpPr>
            <p:cNvPr id="4" name="Freeform 4"/>
            <p:cNvSpPr/>
            <p:nvPr/>
          </p:nvSpPr>
          <p:spPr>
            <a:xfrm>
              <a:off x="3054280" y="0"/>
              <a:ext cx="9976568" cy="10557215"/>
            </a:xfrm>
            <a:custGeom>
              <a:avLst/>
              <a:gdLst/>
              <a:ahLst/>
              <a:cxnLst/>
              <a:rect l="l" t="t" r="r" b="b"/>
              <a:pathLst>
                <a:path w="9976568" h="10557215">
                  <a:moveTo>
                    <a:pt x="0" y="0"/>
                  </a:moveTo>
                  <a:lnTo>
                    <a:pt x="9976568" y="0"/>
                  </a:lnTo>
                  <a:lnTo>
                    <a:pt x="9976568" y="10557215"/>
                  </a:lnTo>
                  <a:lnTo>
                    <a:pt x="0" y="10557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587546" y="7655228"/>
              <a:ext cx="1583495" cy="1738274"/>
            </a:xfrm>
            <a:custGeom>
              <a:avLst/>
              <a:gdLst/>
              <a:ahLst/>
              <a:cxnLst/>
              <a:rect l="l" t="t" r="r" b="b"/>
              <a:pathLst>
                <a:path w="1583495" h="1738274">
                  <a:moveTo>
                    <a:pt x="0" y="0"/>
                  </a:moveTo>
                  <a:lnTo>
                    <a:pt x="1583495" y="0"/>
                  </a:lnTo>
                  <a:lnTo>
                    <a:pt x="1583495" y="1738274"/>
                  </a:lnTo>
                  <a:lnTo>
                    <a:pt x="0" y="1738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0034" t="-133257" b="-37408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8552701" y="12413005"/>
              <a:ext cx="1458845" cy="1470967"/>
            </a:xfrm>
            <a:custGeom>
              <a:avLst/>
              <a:gdLst/>
              <a:ahLst/>
              <a:cxnLst/>
              <a:rect l="l" t="t" r="r" b="b"/>
              <a:pathLst>
                <a:path w="1458845" h="1470967">
                  <a:moveTo>
                    <a:pt x="0" y="0"/>
                  </a:moveTo>
                  <a:lnTo>
                    <a:pt x="1458846" y="0"/>
                  </a:lnTo>
                  <a:lnTo>
                    <a:pt x="1458846" y="1470967"/>
                  </a:lnTo>
                  <a:lnTo>
                    <a:pt x="0" y="1470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7512" r="-583867" b="-480192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5976021"/>
              <a:ext cx="396633" cy="396137"/>
            </a:xfrm>
            <a:custGeom>
              <a:avLst/>
              <a:gdLst/>
              <a:ahLst/>
              <a:cxnLst/>
              <a:rect l="l" t="t" r="r" b="b"/>
              <a:pathLst>
                <a:path w="396633" h="396137">
                  <a:moveTo>
                    <a:pt x="0" y="0"/>
                  </a:moveTo>
                  <a:lnTo>
                    <a:pt x="396633" y="0"/>
                  </a:lnTo>
                  <a:lnTo>
                    <a:pt x="396633" y="396136"/>
                  </a:lnTo>
                  <a:lnTo>
                    <a:pt x="0" y="39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657647" y="6853230"/>
              <a:ext cx="396633" cy="396137"/>
            </a:xfrm>
            <a:custGeom>
              <a:avLst/>
              <a:gdLst/>
              <a:ahLst/>
              <a:cxnLst/>
              <a:rect l="l" t="t" r="r" b="b"/>
              <a:pathLst>
                <a:path w="396633" h="396137">
                  <a:moveTo>
                    <a:pt x="0" y="0"/>
                  </a:moveTo>
                  <a:lnTo>
                    <a:pt x="396633" y="0"/>
                  </a:lnTo>
                  <a:lnTo>
                    <a:pt x="396633" y="396137"/>
                  </a:lnTo>
                  <a:lnTo>
                    <a:pt x="0" y="396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7766257" y="11242007"/>
              <a:ext cx="266860" cy="266526"/>
            </a:xfrm>
            <a:custGeom>
              <a:avLst/>
              <a:gdLst/>
              <a:ahLst/>
              <a:cxnLst/>
              <a:rect l="l" t="t" r="r" b="b"/>
              <a:pathLst>
                <a:path w="266860" h="266526">
                  <a:moveTo>
                    <a:pt x="0" y="0"/>
                  </a:moveTo>
                  <a:lnTo>
                    <a:pt x="266860" y="0"/>
                  </a:lnTo>
                  <a:lnTo>
                    <a:pt x="266860" y="266526"/>
                  </a:lnTo>
                  <a:lnTo>
                    <a:pt x="0" y="266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0251619" y="11393586"/>
              <a:ext cx="485741" cy="485133"/>
            </a:xfrm>
            <a:custGeom>
              <a:avLst/>
              <a:gdLst/>
              <a:ahLst/>
              <a:cxnLst/>
              <a:rect l="l" t="t" r="r" b="b"/>
              <a:pathLst>
                <a:path w="485741" h="485133">
                  <a:moveTo>
                    <a:pt x="0" y="0"/>
                  </a:moveTo>
                  <a:lnTo>
                    <a:pt x="485740" y="0"/>
                  </a:lnTo>
                  <a:lnTo>
                    <a:pt x="485740" y="485134"/>
                  </a:lnTo>
                  <a:lnTo>
                    <a:pt x="0" y="485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1" name="Freeform 11"/>
          <p:cNvSpPr/>
          <p:nvPr/>
        </p:nvSpPr>
        <p:spPr>
          <a:xfrm>
            <a:off x="11748382" y="-270537"/>
            <a:ext cx="1357377" cy="1299237"/>
          </a:xfrm>
          <a:custGeom>
            <a:avLst/>
            <a:gdLst/>
            <a:ahLst/>
            <a:cxnLst/>
            <a:rect l="l" t="t" r="r" b="b"/>
            <a:pathLst>
              <a:path w="1357377" h="1299237">
                <a:moveTo>
                  <a:pt x="0" y="0"/>
                </a:moveTo>
                <a:lnTo>
                  <a:pt x="1357378" y="0"/>
                </a:lnTo>
                <a:lnTo>
                  <a:pt x="1357378" y="1299237"/>
                </a:lnTo>
                <a:lnTo>
                  <a:pt x="0" y="1299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2046" r="-282218" b="-645437"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028700" y="6307559"/>
            <a:ext cx="1856344" cy="1856344"/>
          </a:xfrm>
          <a:custGeom>
            <a:avLst/>
            <a:gdLst/>
            <a:ahLst/>
            <a:cxnLst/>
            <a:rect l="l" t="t" r="r" b="b"/>
            <a:pathLst>
              <a:path w="1856344" h="1856344">
                <a:moveTo>
                  <a:pt x="0" y="0"/>
                </a:moveTo>
                <a:lnTo>
                  <a:pt x="1856344" y="0"/>
                </a:lnTo>
                <a:lnTo>
                  <a:pt x="1856344" y="1856344"/>
                </a:lnTo>
                <a:lnTo>
                  <a:pt x="0" y="18563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90443" y="7893980"/>
            <a:ext cx="2500453" cy="1656550"/>
          </a:xfrm>
          <a:custGeom>
            <a:avLst/>
            <a:gdLst/>
            <a:ahLst/>
            <a:cxnLst/>
            <a:rect l="l" t="t" r="r" b="b"/>
            <a:pathLst>
              <a:path w="2500453" h="1656550">
                <a:moveTo>
                  <a:pt x="0" y="0"/>
                </a:moveTo>
                <a:lnTo>
                  <a:pt x="2500453" y="0"/>
                </a:lnTo>
                <a:lnTo>
                  <a:pt x="2500453" y="1656551"/>
                </a:lnTo>
                <a:lnTo>
                  <a:pt x="0" y="16565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49278" y="698815"/>
            <a:ext cx="8766274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4800" b="1">
                <a:solidFill>
                  <a:srgbClr val="5141A2"/>
                </a:solidFill>
                <a:latin typeface="Nunito Bold"/>
                <a:ea typeface="Nunito Bold"/>
                <a:cs typeface="Nunito Bold"/>
                <a:sym typeface="Nunito Bold"/>
              </a:rPr>
              <a:t>Innovatsiyaning bozorga ta’siri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81462" y="2120014"/>
            <a:ext cx="6598173" cy="61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8"/>
              </a:lnSpc>
              <a:spcBef>
                <a:spcPct val="0"/>
              </a:spcBef>
            </a:pPr>
            <a:r>
              <a:rPr lang="en-US" sz="3641" b="1">
                <a:solidFill>
                  <a:srgbClr val="20202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Bozor raqobatini kuchaytiradi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72464" y="5076825"/>
            <a:ext cx="5332068" cy="61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8"/>
              </a:lnSpc>
              <a:spcBef>
                <a:spcPct val="0"/>
              </a:spcBef>
            </a:pPr>
            <a:r>
              <a:rPr lang="en-US" sz="3641" b="1">
                <a:solidFill>
                  <a:srgbClr val="20202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Narxlar va sifatga ta’siri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278" y="3625254"/>
            <a:ext cx="7889399" cy="619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8"/>
              </a:lnSpc>
              <a:spcBef>
                <a:spcPct val="0"/>
              </a:spcBef>
            </a:pPr>
            <a:r>
              <a:rPr lang="en-US" sz="3641" b="1">
                <a:solidFill>
                  <a:srgbClr val="20202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Iste’molchi ehtiyojlariga moslashuv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69663" y="7065996"/>
            <a:ext cx="6966645" cy="34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Netflix kompaniyasining oqimli video xizmatlari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5196" y="8731781"/>
            <a:ext cx="6694438" cy="348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Avtomobil sanoatida yangi standartlar yaratdi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279853" y="-444051"/>
            <a:ext cx="8655332" cy="11346827"/>
            <a:chOff x="0" y="0"/>
            <a:chExt cx="11540443" cy="15129103"/>
          </a:xfrm>
        </p:grpSpPr>
        <p:sp>
          <p:nvSpPr>
            <p:cNvPr id="4" name="Freeform 4"/>
            <p:cNvSpPr/>
            <p:nvPr/>
          </p:nvSpPr>
          <p:spPr>
            <a:xfrm>
              <a:off x="0" y="2899409"/>
              <a:ext cx="9332885" cy="9439074"/>
            </a:xfrm>
            <a:custGeom>
              <a:avLst/>
              <a:gdLst/>
              <a:ahLst/>
              <a:cxnLst/>
              <a:rect l="l" t="t" r="r" b="b"/>
              <a:pathLst>
                <a:path w="9332885" h="9439074">
                  <a:moveTo>
                    <a:pt x="0" y="0"/>
                  </a:moveTo>
                  <a:lnTo>
                    <a:pt x="9332885" y="0"/>
                  </a:lnTo>
                  <a:lnTo>
                    <a:pt x="9332885" y="9439074"/>
                  </a:lnTo>
                  <a:lnTo>
                    <a:pt x="0" y="943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187065" y="232860"/>
              <a:ext cx="866487" cy="865404"/>
            </a:xfrm>
            <a:custGeom>
              <a:avLst/>
              <a:gdLst/>
              <a:ahLst/>
              <a:cxnLst/>
              <a:rect l="l" t="t" r="r" b="b"/>
              <a:pathLst>
                <a:path w="866487" h="865404">
                  <a:moveTo>
                    <a:pt x="0" y="0"/>
                  </a:moveTo>
                  <a:lnTo>
                    <a:pt x="866487" y="0"/>
                  </a:lnTo>
                  <a:lnTo>
                    <a:pt x="866487" y="865404"/>
                  </a:lnTo>
                  <a:lnTo>
                    <a:pt x="0" y="865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0931574" y="7450068"/>
              <a:ext cx="608868" cy="608107"/>
            </a:xfrm>
            <a:custGeom>
              <a:avLst/>
              <a:gdLst/>
              <a:ahLst/>
              <a:cxnLst/>
              <a:rect l="l" t="t" r="r" b="b"/>
              <a:pathLst>
                <a:path w="608868" h="608107">
                  <a:moveTo>
                    <a:pt x="0" y="0"/>
                  </a:moveTo>
                  <a:lnTo>
                    <a:pt x="608869" y="0"/>
                  </a:lnTo>
                  <a:lnTo>
                    <a:pt x="608869" y="608108"/>
                  </a:lnTo>
                  <a:lnTo>
                    <a:pt x="0" y="608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4847754" y="12749791"/>
              <a:ext cx="693442" cy="692575"/>
            </a:xfrm>
            <a:custGeom>
              <a:avLst/>
              <a:gdLst/>
              <a:ahLst/>
              <a:cxnLst/>
              <a:rect l="l" t="t" r="r" b="b"/>
              <a:pathLst>
                <a:path w="693442" h="692575">
                  <a:moveTo>
                    <a:pt x="0" y="0"/>
                  </a:moveTo>
                  <a:lnTo>
                    <a:pt x="693441" y="0"/>
                  </a:lnTo>
                  <a:lnTo>
                    <a:pt x="693441" y="692575"/>
                  </a:lnTo>
                  <a:lnTo>
                    <a:pt x="0" y="692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702546" y="0"/>
              <a:ext cx="2725839" cy="3146711"/>
            </a:xfrm>
            <a:custGeom>
              <a:avLst/>
              <a:gdLst/>
              <a:ahLst/>
              <a:cxnLst/>
              <a:rect l="l" t="t" r="r" b="b"/>
              <a:pathLst>
                <a:path w="2725839" h="3146711">
                  <a:moveTo>
                    <a:pt x="0" y="0"/>
                  </a:moveTo>
                  <a:lnTo>
                    <a:pt x="2725839" y="0"/>
                  </a:lnTo>
                  <a:lnTo>
                    <a:pt x="2725839" y="3146711"/>
                  </a:lnTo>
                  <a:lnTo>
                    <a:pt x="0" y="314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3599469">
              <a:off x="8641692" y="12818053"/>
              <a:ext cx="1911159" cy="1977913"/>
            </a:xfrm>
            <a:custGeom>
              <a:avLst/>
              <a:gdLst/>
              <a:ahLst/>
              <a:cxnLst/>
              <a:rect l="l" t="t" r="r" b="b"/>
              <a:pathLst>
                <a:path w="1911159" h="1977913">
                  <a:moveTo>
                    <a:pt x="0" y="0"/>
                  </a:moveTo>
                  <a:lnTo>
                    <a:pt x="1911159" y="0"/>
                  </a:lnTo>
                  <a:lnTo>
                    <a:pt x="1911159" y="1977914"/>
                  </a:lnTo>
                  <a:lnTo>
                    <a:pt x="0" y="197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4988875" y="2402575"/>
            <a:ext cx="5573864" cy="5773305"/>
          </a:xfrm>
          <a:custGeom>
            <a:avLst/>
            <a:gdLst/>
            <a:ahLst/>
            <a:cxnLst/>
            <a:rect l="l" t="t" r="r" b="b"/>
            <a:pathLst>
              <a:path w="5573864" h="5773305">
                <a:moveTo>
                  <a:pt x="0" y="0"/>
                </a:moveTo>
                <a:lnTo>
                  <a:pt x="5573864" y="0"/>
                </a:lnTo>
                <a:lnTo>
                  <a:pt x="5573864" y="5773305"/>
                </a:lnTo>
                <a:lnTo>
                  <a:pt x="0" y="5773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-4799390">
            <a:off x="11732821" y="2375893"/>
            <a:ext cx="1073811" cy="3368820"/>
          </a:xfrm>
          <a:custGeom>
            <a:avLst/>
            <a:gdLst/>
            <a:ahLst/>
            <a:cxnLst/>
            <a:rect l="l" t="t" r="r" b="b"/>
            <a:pathLst>
              <a:path w="1073811" h="3368820">
                <a:moveTo>
                  <a:pt x="0" y="0"/>
                </a:moveTo>
                <a:lnTo>
                  <a:pt x="1073811" y="0"/>
                </a:lnTo>
                <a:lnTo>
                  <a:pt x="1073811" y="3368819"/>
                </a:lnTo>
                <a:lnTo>
                  <a:pt x="0" y="33688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176219" y="3610566"/>
            <a:ext cx="5199176" cy="255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0"/>
              </a:lnSpc>
              <a:spcBef>
                <a:spcPct val="0"/>
              </a:spcBef>
            </a:pPr>
            <a:r>
              <a:rPr lang="en-US" sz="2899" b="1">
                <a:solidFill>
                  <a:srgbClr val="3E3E3E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Birlamchi harakat qiluvchi afzalligi: Bozorga birinchi bo‘lib innovatsion mahsulot bilan kirgan kompaniyalar ko‘proq bozor ulushini egallaydi.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-2279853" y="203570"/>
            <a:ext cx="8655332" cy="11346827"/>
            <a:chOff x="0" y="0"/>
            <a:chExt cx="11540443" cy="15129103"/>
          </a:xfrm>
        </p:grpSpPr>
        <p:sp>
          <p:nvSpPr>
            <p:cNvPr id="14" name="Freeform 14"/>
            <p:cNvSpPr/>
            <p:nvPr/>
          </p:nvSpPr>
          <p:spPr>
            <a:xfrm>
              <a:off x="0" y="2899409"/>
              <a:ext cx="9332885" cy="9439074"/>
            </a:xfrm>
            <a:custGeom>
              <a:avLst/>
              <a:gdLst/>
              <a:ahLst/>
              <a:cxnLst/>
              <a:rect l="l" t="t" r="r" b="b"/>
              <a:pathLst>
                <a:path w="9332885" h="9439074">
                  <a:moveTo>
                    <a:pt x="0" y="0"/>
                  </a:moveTo>
                  <a:lnTo>
                    <a:pt x="9332885" y="0"/>
                  </a:lnTo>
                  <a:lnTo>
                    <a:pt x="9332885" y="9439074"/>
                  </a:lnTo>
                  <a:lnTo>
                    <a:pt x="0" y="943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3187065" y="232860"/>
              <a:ext cx="866487" cy="865404"/>
            </a:xfrm>
            <a:custGeom>
              <a:avLst/>
              <a:gdLst/>
              <a:ahLst/>
              <a:cxnLst/>
              <a:rect l="l" t="t" r="r" b="b"/>
              <a:pathLst>
                <a:path w="866487" h="865404">
                  <a:moveTo>
                    <a:pt x="0" y="0"/>
                  </a:moveTo>
                  <a:lnTo>
                    <a:pt x="866487" y="0"/>
                  </a:lnTo>
                  <a:lnTo>
                    <a:pt x="866487" y="865404"/>
                  </a:lnTo>
                  <a:lnTo>
                    <a:pt x="0" y="865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0931574" y="7450068"/>
              <a:ext cx="608868" cy="608107"/>
            </a:xfrm>
            <a:custGeom>
              <a:avLst/>
              <a:gdLst/>
              <a:ahLst/>
              <a:cxnLst/>
              <a:rect l="l" t="t" r="r" b="b"/>
              <a:pathLst>
                <a:path w="608868" h="608107">
                  <a:moveTo>
                    <a:pt x="0" y="0"/>
                  </a:moveTo>
                  <a:lnTo>
                    <a:pt x="608869" y="0"/>
                  </a:lnTo>
                  <a:lnTo>
                    <a:pt x="608869" y="608108"/>
                  </a:lnTo>
                  <a:lnTo>
                    <a:pt x="0" y="608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47754" y="12749791"/>
              <a:ext cx="693442" cy="692575"/>
            </a:xfrm>
            <a:custGeom>
              <a:avLst/>
              <a:gdLst/>
              <a:ahLst/>
              <a:cxnLst/>
              <a:rect l="l" t="t" r="r" b="b"/>
              <a:pathLst>
                <a:path w="693442" h="692575">
                  <a:moveTo>
                    <a:pt x="0" y="0"/>
                  </a:moveTo>
                  <a:lnTo>
                    <a:pt x="693441" y="0"/>
                  </a:lnTo>
                  <a:lnTo>
                    <a:pt x="693441" y="692575"/>
                  </a:lnTo>
                  <a:lnTo>
                    <a:pt x="0" y="692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8702546" y="0"/>
              <a:ext cx="2725839" cy="3146711"/>
            </a:xfrm>
            <a:custGeom>
              <a:avLst/>
              <a:gdLst/>
              <a:ahLst/>
              <a:cxnLst/>
              <a:rect l="l" t="t" r="r" b="b"/>
              <a:pathLst>
                <a:path w="2725839" h="3146711">
                  <a:moveTo>
                    <a:pt x="0" y="0"/>
                  </a:moveTo>
                  <a:lnTo>
                    <a:pt x="2725839" y="0"/>
                  </a:lnTo>
                  <a:lnTo>
                    <a:pt x="2725839" y="3146711"/>
                  </a:lnTo>
                  <a:lnTo>
                    <a:pt x="0" y="314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-3599469">
              <a:off x="8641692" y="12818053"/>
              <a:ext cx="1911159" cy="1977913"/>
            </a:xfrm>
            <a:custGeom>
              <a:avLst/>
              <a:gdLst/>
              <a:ahLst/>
              <a:cxnLst/>
              <a:rect l="l" t="t" r="r" b="b"/>
              <a:pathLst>
                <a:path w="1911159" h="1977913">
                  <a:moveTo>
                    <a:pt x="0" y="0"/>
                  </a:moveTo>
                  <a:lnTo>
                    <a:pt x="1911159" y="0"/>
                  </a:lnTo>
                  <a:lnTo>
                    <a:pt x="1911159" y="1977914"/>
                  </a:lnTo>
                  <a:lnTo>
                    <a:pt x="0" y="197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7499657" y="798023"/>
            <a:ext cx="8799208" cy="1265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4"/>
              </a:lnSpc>
              <a:spcBef>
                <a:spcPct val="0"/>
              </a:spcBef>
            </a:pPr>
            <a:r>
              <a:rPr lang="en-US" sz="4800" b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Innovatsiya orqali raqobat ustunligini yaratish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05676" y="5669365"/>
            <a:ext cx="6552019" cy="182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9"/>
              </a:lnSpc>
              <a:spcBef>
                <a:spcPct val="0"/>
              </a:spcBef>
            </a:pPr>
            <a:r>
              <a:rPr lang="en-US" sz="4135" b="1">
                <a:solidFill>
                  <a:srgbClr val="004AAD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VRIO tahlili (Value, Rarity, Imitability, Organization):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279853" y="-444051"/>
            <a:ext cx="8655332" cy="11346827"/>
            <a:chOff x="0" y="0"/>
            <a:chExt cx="11540443" cy="15129103"/>
          </a:xfrm>
        </p:grpSpPr>
        <p:sp>
          <p:nvSpPr>
            <p:cNvPr id="4" name="Freeform 4"/>
            <p:cNvSpPr/>
            <p:nvPr/>
          </p:nvSpPr>
          <p:spPr>
            <a:xfrm>
              <a:off x="0" y="2899409"/>
              <a:ext cx="9332885" cy="9439074"/>
            </a:xfrm>
            <a:custGeom>
              <a:avLst/>
              <a:gdLst/>
              <a:ahLst/>
              <a:cxnLst/>
              <a:rect l="l" t="t" r="r" b="b"/>
              <a:pathLst>
                <a:path w="9332885" h="9439074">
                  <a:moveTo>
                    <a:pt x="0" y="0"/>
                  </a:moveTo>
                  <a:lnTo>
                    <a:pt x="9332885" y="0"/>
                  </a:lnTo>
                  <a:lnTo>
                    <a:pt x="9332885" y="9439074"/>
                  </a:lnTo>
                  <a:lnTo>
                    <a:pt x="0" y="943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187065" y="232860"/>
              <a:ext cx="866487" cy="865404"/>
            </a:xfrm>
            <a:custGeom>
              <a:avLst/>
              <a:gdLst/>
              <a:ahLst/>
              <a:cxnLst/>
              <a:rect l="l" t="t" r="r" b="b"/>
              <a:pathLst>
                <a:path w="866487" h="865404">
                  <a:moveTo>
                    <a:pt x="0" y="0"/>
                  </a:moveTo>
                  <a:lnTo>
                    <a:pt x="866487" y="0"/>
                  </a:lnTo>
                  <a:lnTo>
                    <a:pt x="866487" y="865404"/>
                  </a:lnTo>
                  <a:lnTo>
                    <a:pt x="0" y="865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0931574" y="7450068"/>
              <a:ext cx="608868" cy="608107"/>
            </a:xfrm>
            <a:custGeom>
              <a:avLst/>
              <a:gdLst/>
              <a:ahLst/>
              <a:cxnLst/>
              <a:rect l="l" t="t" r="r" b="b"/>
              <a:pathLst>
                <a:path w="608868" h="608107">
                  <a:moveTo>
                    <a:pt x="0" y="0"/>
                  </a:moveTo>
                  <a:lnTo>
                    <a:pt x="608869" y="0"/>
                  </a:lnTo>
                  <a:lnTo>
                    <a:pt x="608869" y="608108"/>
                  </a:lnTo>
                  <a:lnTo>
                    <a:pt x="0" y="608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" name="Freeform 7"/>
            <p:cNvSpPr/>
            <p:nvPr/>
          </p:nvSpPr>
          <p:spPr>
            <a:xfrm>
              <a:off x="4847754" y="12749791"/>
              <a:ext cx="693442" cy="692575"/>
            </a:xfrm>
            <a:custGeom>
              <a:avLst/>
              <a:gdLst/>
              <a:ahLst/>
              <a:cxnLst/>
              <a:rect l="l" t="t" r="r" b="b"/>
              <a:pathLst>
                <a:path w="693442" h="692575">
                  <a:moveTo>
                    <a:pt x="0" y="0"/>
                  </a:moveTo>
                  <a:lnTo>
                    <a:pt x="693441" y="0"/>
                  </a:lnTo>
                  <a:lnTo>
                    <a:pt x="693441" y="692575"/>
                  </a:lnTo>
                  <a:lnTo>
                    <a:pt x="0" y="692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8702546" y="0"/>
              <a:ext cx="2725839" cy="3146711"/>
            </a:xfrm>
            <a:custGeom>
              <a:avLst/>
              <a:gdLst/>
              <a:ahLst/>
              <a:cxnLst/>
              <a:rect l="l" t="t" r="r" b="b"/>
              <a:pathLst>
                <a:path w="2725839" h="3146711">
                  <a:moveTo>
                    <a:pt x="0" y="0"/>
                  </a:moveTo>
                  <a:lnTo>
                    <a:pt x="2725839" y="0"/>
                  </a:lnTo>
                  <a:lnTo>
                    <a:pt x="2725839" y="3146711"/>
                  </a:lnTo>
                  <a:lnTo>
                    <a:pt x="0" y="314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-3599469">
              <a:off x="8641692" y="12818053"/>
              <a:ext cx="1911159" cy="1977913"/>
            </a:xfrm>
            <a:custGeom>
              <a:avLst/>
              <a:gdLst/>
              <a:ahLst/>
              <a:cxnLst/>
              <a:rect l="l" t="t" r="r" b="b"/>
              <a:pathLst>
                <a:path w="1911159" h="1977913">
                  <a:moveTo>
                    <a:pt x="0" y="0"/>
                  </a:moveTo>
                  <a:lnTo>
                    <a:pt x="1911159" y="0"/>
                  </a:lnTo>
                  <a:lnTo>
                    <a:pt x="1911159" y="1977914"/>
                  </a:lnTo>
                  <a:lnTo>
                    <a:pt x="0" y="197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-2279853" y="203570"/>
            <a:ext cx="8655332" cy="11346827"/>
            <a:chOff x="0" y="0"/>
            <a:chExt cx="11540443" cy="15129103"/>
          </a:xfrm>
        </p:grpSpPr>
        <p:sp>
          <p:nvSpPr>
            <p:cNvPr id="11" name="Freeform 11"/>
            <p:cNvSpPr/>
            <p:nvPr/>
          </p:nvSpPr>
          <p:spPr>
            <a:xfrm>
              <a:off x="0" y="2899409"/>
              <a:ext cx="9332885" cy="9439074"/>
            </a:xfrm>
            <a:custGeom>
              <a:avLst/>
              <a:gdLst/>
              <a:ahLst/>
              <a:cxnLst/>
              <a:rect l="l" t="t" r="r" b="b"/>
              <a:pathLst>
                <a:path w="9332885" h="9439074">
                  <a:moveTo>
                    <a:pt x="0" y="0"/>
                  </a:moveTo>
                  <a:lnTo>
                    <a:pt x="9332885" y="0"/>
                  </a:lnTo>
                  <a:lnTo>
                    <a:pt x="9332885" y="9439074"/>
                  </a:lnTo>
                  <a:lnTo>
                    <a:pt x="0" y="9439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3187065" y="232860"/>
              <a:ext cx="866487" cy="865404"/>
            </a:xfrm>
            <a:custGeom>
              <a:avLst/>
              <a:gdLst/>
              <a:ahLst/>
              <a:cxnLst/>
              <a:rect l="l" t="t" r="r" b="b"/>
              <a:pathLst>
                <a:path w="866487" h="865404">
                  <a:moveTo>
                    <a:pt x="0" y="0"/>
                  </a:moveTo>
                  <a:lnTo>
                    <a:pt x="866487" y="0"/>
                  </a:lnTo>
                  <a:lnTo>
                    <a:pt x="866487" y="865404"/>
                  </a:lnTo>
                  <a:lnTo>
                    <a:pt x="0" y="865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0931574" y="7450068"/>
              <a:ext cx="608868" cy="608107"/>
            </a:xfrm>
            <a:custGeom>
              <a:avLst/>
              <a:gdLst/>
              <a:ahLst/>
              <a:cxnLst/>
              <a:rect l="l" t="t" r="r" b="b"/>
              <a:pathLst>
                <a:path w="608868" h="608107">
                  <a:moveTo>
                    <a:pt x="0" y="0"/>
                  </a:moveTo>
                  <a:lnTo>
                    <a:pt x="608869" y="0"/>
                  </a:lnTo>
                  <a:lnTo>
                    <a:pt x="608869" y="608108"/>
                  </a:lnTo>
                  <a:lnTo>
                    <a:pt x="0" y="608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4" name="Freeform 14"/>
            <p:cNvSpPr/>
            <p:nvPr/>
          </p:nvSpPr>
          <p:spPr>
            <a:xfrm>
              <a:off x="4847754" y="12749791"/>
              <a:ext cx="693442" cy="692575"/>
            </a:xfrm>
            <a:custGeom>
              <a:avLst/>
              <a:gdLst/>
              <a:ahLst/>
              <a:cxnLst/>
              <a:rect l="l" t="t" r="r" b="b"/>
              <a:pathLst>
                <a:path w="693442" h="692575">
                  <a:moveTo>
                    <a:pt x="0" y="0"/>
                  </a:moveTo>
                  <a:lnTo>
                    <a:pt x="693441" y="0"/>
                  </a:lnTo>
                  <a:lnTo>
                    <a:pt x="693441" y="692575"/>
                  </a:lnTo>
                  <a:lnTo>
                    <a:pt x="0" y="692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8702546" y="0"/>
              <a:ext cx="2725839" cy="3146711"/>
            </a:xfrm>
            <a:custGeom>
              <a:avLst/>
              <a:gdLst/>
              <a:ahLst/>
              <a:cxnLst/>
              <a:rect l="l" t="t" r="r" b="b"/>
              <a:pathLst>
                <a:path w="2725839" h="3146711">
                  <a:moveTo>
                    <a:pt x="0" y="0"/>
                  </a:moveTo>
                  <a:lnTo>
                    <a:pt x="2725839" y="0"/>
                  </a:lnTo>
                  <a:lnTo>
                    <a:pt x="2725839" y="3146711"/>
                  </a:lnTo>
                  <a:lnTo>
                    <a:pt x="0" y="314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3599469">
              <a:off x="8641692" y="12818053"/>
              <a:ext cx="1911159" cy="1977913"/>
            </a:xfrm>
            <a:custGeom>
              <a:avLst/>
              <a:gdLst/>
              <a:ahLst/>
              <a:cxnLst/>
              <a:rect l="l" t="t" r="r" b="b"/>
              <a:pathLst>
                <a:path w="1911159" h="1977913">
                  <a:moveTo>
                    <a:pt x="0" y="0"/>
                  </a:moveTo>
                  <a:lnTo>
                    <a:pt x="1911159" y="0"/>
                  </a:lnTo>
                  <a:lnTo>
                    <a:pt x="1911159" y="1977914"/>
                  </a:lnTo>
                  <a:lnTo>
                    <a:pt x="0" y="1977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5255879" y="6674929"/>
            <a:ext cx="1376350" cy="2440337"/>
          </a:xfrm>
          <a:custGeom>
            <a:avLst/>
            <a:gdLst/>
            <a:ahLst/>
            <a:cxnLst/>
            <a:rect l="l" t="t" r="r" b="b"/>
            <a:pathLst>
              <a:path w="1376350" h="2440337">
                <a:moveTo>
                  <a:pt x="0" y="0"/>
                </a:moveTo>
                <a:lnTo>
                  <a:pt x="1376350" y="0"/>
                </a:lnTo>
                <a:lnTo>
                  <a:pt x="1376350" y="2440336"/>
                </a:lnTo>
                <a:lnTo>
                  <a:pt x="0" y="24403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362378" y="7304450"/>
            <a:ext cx="2305405" cy="1423578"/>
          </a:xfrm>
          <a:custGeom>
            <a:avLst/>
            <a:gdLst/>
            <a:ahLst/>
            <a:cxnLst/>
            <a:rect l="l" t="t" r="r" b="b"/>
            <a:pathLst>
              <a:path w="2305405" h="1423578">
                <a:moveTo>
                  <a:pt x="0" y="0"/>
                </a:moveTo>
                <a:lnTo>
                  <a:pt x="2305405" y="0"/>
                </a:lnTo>
                <a:lnTo>
                  <a:pt x="2305405" y="1423578"/>
                </a:lnTo>
                <a:lnTo>
                  <a:pt x="0" y="1423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499657" y="798023"/>
            <a:ext cx="8799208" cy="1265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4"/>
              </a:lnSpc>
              <a:spcBef>
                <a:spcPct val="0"/>
              </a:spcBef>
            </a:pPr>
            <a:r>
              <a:rPr lang="en-US" sz="4800" b="1">
                <a:solidFill>
                  <a:srgbClr val="3E3E3E"/>
                </a:solidFill>
                <a:latin typeface="Nunito Heavy"/>
                <a:ea typeface="Nunito Heavy"/>
                <a:cs typeface="Nunito Heavy"/>
                <a:sym typeface="Nunito Heavy"/>
              </a:rPr>
              <a:t>Innovatsiya orqali raqobat ustunligini yaratish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75479" y="2524110"/>
            <a:ext cx="9422271" cy="4150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2"/>
              </a:lnSpc>
              <a:spcBef>
                <a:spcPct val="0"/>
              </a:spcBef>
            </a:pPr>
            <a:r>
              <a:rPr lang="en-US" sz="3104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Qimmatli</a:t>
            </a:r>
            <a:r>
              <a:rPr lang="en-US" sz="3104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: Innovatsiya mijozlar uchun qiymat yaratadimi?</a:t>
            </a:r>
          </a:p>
          <a:p>
            <a:pPr algn="ctr">
              <a:lnSpc>
                <a:spcPts val="3662"/>
              </a:lnSpc>
              <a:spcBef>
                <a:spcPct val="0"/>
              </a:spcBef>
            </a:pPr>
            <a:r>
              <a:rPr lang="en-US" sz="3104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Noyob:</a:t>
            </a:r>
            <a:r>
              <a:rPr lang="en-US" sz="3104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Raqobatchilar tomonidan osonlikcha takrorlanmaydimi?</a:t>
            </a:r>
          </a:p>
          <a:p>
            <a:pPr algn="ctr">
              <a:lnSpc>
                <a:spcPts val="3662"/>
              </a:lnSpc>
              <a:spcBef>
                <a:spcPct val="0"/>
              </a:spcBef>
            </a:pPr>
            <a:r>
              <a:rPr lang="en-US" sz="3104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Qayta yaratilishi qiyin:</a:t>
            </a:r>
            <a:r>
              <a:rPr lang="en-US" sz="3104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Raqobatchilar uchun nusxalash qiyinmi?</a:t>
            </a:r>
          </a:p>
          <a:p>
            <a:pPr algn="ctr">
              <a:lnSpc>
                <a:spcPts val="3662"/>
              </a:lnSpc>
              <a:spcBef>
                <a:spcPct val="0"/>
              </a:spcBef>
            </a:pPr>
            <a:r>
              <a:rPr lang="en-US" sz="3104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Tashkilot tomonidan qo‘llab-quvvatlangan:</a:t>
            </a:r>
            <a:r>
              <a:rPr lang="en-US" sz="3104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Kompaniya innovatsiyani amalga oshirishga tayyormi?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37495" y="7141654"/>
            <a:ext cx="2462883" cy="1758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2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qidiruv algoritmi – noyob va qayta yaratilishi qiyin texnologiya.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29783" y="7667332"/>
            <a:ext cx="4299025" cy="809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5"/>
              </a:lnSpc>
              <a:spcBef>
                <a:spcPct val="0"/>
              </a:spcBef>
            </a:pPr>
            <a:r>
              <a:rPr lang="en-US" sz="2733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Amazon kompaniyasining </a:t>
            </a:r>
          </a:p>
          <a:p>
            <a:pPr algn="ctr">
              <a:lnSpc>
                <a:spcPts val="3225"/>
              </a:lnSpc>
              <a:spcBef>
                <a:spcPct val="0"/>
              </a:spcBef>
            </a:pPr>
            <a:r>
              <a:rPr lang="en-US" sz="2733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logistika tizimi</a:t>
            </a:r>
          </a:p>
        </p:txBody>
      </p:sp>
      <p:sp>
        <p:nvSpPr>
          <p:cNvPr id="23" name="Freeform 23"/>
          <p:cNvSpPr/>
          <p:nvPr/>
        </p:nvSpPr>
        <p:spPr>
          <a:xfrm rot="-3592066">
            <a:off x="15439328" y="5305526"/>
            <a:ext cx="716844" cy="2248921"/>
          </a:xfrm>
          <a:custGeom>
            <a:avLst/>
            <a:gdLst/>
            <a:ahLst/>
            <a:cxnLst/>
            <a:rect l="l" t="t" r="r" b="b"/>
            <a:pathLst>
              <a:path w="716844" h="2248921">
                <a:moveTo>
                  <a:pt x="0" y="0"/>
                </a:moveTo>
                <a:lnTo>
                  <a:pt x="716844" y="0"/>
                </a:lnTo>
                <a:lnTo>
                  <a:pt x="716844" y="2248921"/>
                </a:lnTo>
                <a:lnTo>
                  <a:pt x="0" y="22489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9689" y="2967588"/>
            <a:ext cx="1345629" cy="1571621"/>
            <a:chOff x="0" y="0"/>
            <a:chExt cx="1698935" cy="19842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8935" cy="1984263"/>
            </a:xfrm>
            <a:custGeom>
              <a:avLst/>
              <a:gdLst/>
              <a:ahLst/>
              <a:cxnLst/>
              <a:rect l="l" t="t" r="r" b="b"/>
              <a:pathLst>
                <a:path w="1698935" h="1984263">
                  <a:moveTo>
                    <a:pt x="0" y="0"/>
                  </a:moveTo>
                  <a:lnTo>
                    <a:pt x="1698935" y="0"/>
                  </a:lnTo>
                  <a:lnTo>
                    <a:pt x="1698935" y="1984263"/>
                  </a:lnTo>
                  <a:lnTo>
                    <a:pt x="0" y="1984263"/>
                  </a:lnTo>
                  <a:close/>
                </a:path>
              </a:pathLst>
            </a:custGeom>
            <a:solidFill>
              <a:srgbClr val="6FB42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98935" cy="1993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7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412504" y="4539208"/>
            <a:ext cx="0" cy="1415983"/>
          </a:xfrm>
          <a:prstGeom prst="line">
            <a:avLst/>
          </a:prstGeom>
          <a:ln w="38100" cap="flat">
            <a:solidFill>
              <a:srgbClr val="6FB42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819311" y="5916627"/>
            <a:ext cx="1436935" cy="1434662"/>
            <a:chOff x="0" y="0"/>
            <a:chExt cx="1814214" cy="18113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14214" cy="1811345"/>
            </a:xfrm>
            <a:custGeom>
              <a:avLst/>
              <a:gdLst/>
              <a:ahLst/>
              <a:cxnLst/>
              <a:rect l="l" t="t" r="r" b="b"/>
              <a:pathLst>
                <a:path w="1814214" h="1811345">
                  <a:moveTo>
                    <a:pt x="0" y="0"/>
                  </a:moveTo>
                  <a:lnTo>
                    <a:pt x="1814214" y="0"/>
                  </a:lnTo>
                  <a:lnTo>
                    <a:pt x="1814214" y="1811345"/>
                  </a:lnTo>
                  <a:lnTo>
                    <a:pt x="0" y="1811345"/>
                  </a:lnTo>
                  <a:close/>
                </a:path>
              </a:pathLst>
            </a:custGeom>
            <a:solidFill>
              <a:srgbClr val="6FB42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814214" cy="1820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7"/>
                </a:lnSpc>
              </a:pPr>
              <a:endParaRPr/>
            </a:p>
            <a:p>
              <a:pPr algn="ctr">
                <a:lnSpc>
                  <a:spcPts val="220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44011" y="-912157"/>
            <a:ext cx="7543989" cy="11199157"/>
            <a:chOff x="0" y="0"/>
            <a:chExt cx="10058652" cy="14932209"/>
          </a:xfrm>
        </p:grpSpPr>
        <p:sp>
          <p:nvSpPr>
            <p:cNvPr id="10" name="Freeform 10"/>
            <p:cNvSpPr/>
            <p:nvPr/>
          </p:nvSpPr>
          <p:spPr>
            <a:xfrm rot="-1100670">
              <a:off x="5571982" y="1357890"/>
              <a:ext cx="1915805" cy="1843962"/>
            </a:xfrm>
            <a:custGeom>
              <a:avLst/>
              <a:gdLst/>
              <a:ahLst/>
              <a:cxnLst/>
              <a:rect l="l" t="t" r="r" b="b"/>
              <a:pathLst>
                <a:path w="1915805" h="1843962">
                  <a:moveTo>
                    <a:pt x="0" y="0"/>
                  </a:moveTo>
                  <a:lnTo>
                    <a:pt x="1915804" y="0"/>
                  </a:lnTo>
                  <a:lnTo>
                    <a:pt x="1915804" y="1843962"/>
                  </a:lnTo>
                  <a:lnTo>
                    <a:pt x="0" y="1843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592221">
              <a:off x="1074066" y="4368682"/>
              <a:ext cx="8512841" cy="6239069"/>
            </a:xfrm>
            <a:custGeom>
              <a:avLst/>
              <a:gdLst/>
              <a:ahLst/>
              <a:cxnLst/>
              <a:rect l="l" t="t" r="r" b="b"/>
              <a:pathLst>
                <a:path w="8512841" h="6239069">
                  <a:moveTo>
                    <a:pt x="0" y="0"/>
                  </a:moveTo>
                  <a:lnTo>
                    <a:pt x="8512840" y="0"/>
                  </a:lnTo>
                  <a:lnTo>
                    <a:pt x="8512840" y="6239069"/>
                  </a:lnTo>
                  <a:lnTo>
                    <a:pt x="0" y="6239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5051375" y="11706407"/>
              <a:ext cx="558222" cy="557524"/>
            </a:xfrm>
            <a:custGeom>
              <a:avLst/>
              <a:gdLst/>
              <a:ahLst/>
              <a:cxnLst/>
              <a:rect l="l" t="t" r="r" b="b"/>
              <a:pathLst>
                <a:path w="558222" h="557524">
                  <a:moveTo>
                    <a:pt x="0" y="0"/>
                  </a:moveTo>
                  <a:lnTo>
                    <a:pt x="558222" y="0"/>
                  </a:lnTo>
                  <a:lnTo>
                    <a:pt x="558222" y="557524"/>
                  </a:lnTo>
                  <a:lnTo>
                    <a:pt x="0" y="55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63057" y="4735195"/>
              <a:ext cx="450420" cy="449857"/>
            </a:xfrm>
            <a:custGeom>
              <a:avLst/>
              <a:gdLst/>
              <a:ahLst/>
              <a:cxnLst/>
              <a:rect l="l" t="t" r="r" b="b"/>
              <a:pathLst>
                <a:path w="450420" h="449857">
                  <a:moveTo>
                    <a:pt x="0" y="0"/>
                  </a:moveTo>
                  <a:lnTo>
                    <a:pt x="450420" y="0"/>
                  </a:lnTo>
                  <a:lnTo>
                    <a:pt x="450420" y="449857"/>
                  </a:lnTo>
                  <a:lnTo>
                    <a:pt x="0" y="449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-1777721">
              <a:off x="917072" y="454604"/>
              <a:ext cx="2339515" cy="1892083"/>
            </a:xfrm>
            <a:custGeom>
              <a:avLst/>
              <a:gdLst/>
              <a:ahLst/>
              <a:cxnLst/>
              <a:rect l="l" t="t" r="r" b="b"/>
              <a:pathLst>
                <a:path w="2339515" h="1892083">
                  <a:moveTo>
                    <a:pt x="0" y="0"/>
                  </a:moveTo>
                  <a:lnTo>
                    <a:pt x="2339515" y="0"/>
                  </a:lnTo>
                  <a:lnTo>
                    <a:pt x="2339515" y="1892083"/>
                  </a:lnTo>
                  <a:lnTo>
                    <a:pt x="0" y="1892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4239088">
              <a:off x="2622803" y="6672145"/>
              <a:ext cx="1310417" cy="2186241"/>
            </a:xfrm>
            <a:custGeom>
              <a:avLst/>
              <a:gdLst/>
              <a:ahLst/>
              <a:cxnLst/>
              <a:rect l="l" t="t" r="r" b="b"/>
              <a:pathLst>
                <a:path w="1310417" h="2186241">
                  <a:moveTo>
                    <a:pt x="0" y="0"/>
                  </a:moveTo>
                  <a:lnTo>
                    <a:pt x="1310417" y="0"/>
                  </a:lnTo>
                  <a:lnTo>
                    <a:pt x="1310417" y="2186241"/>
                  </a:lnTo>
                  <a:lnTo>
                    <a:pt x="0" y="2186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2633171">
              <a:off x="741300" y="11625057"/>
              <a:ext cx="2116348" cy="2991304"/>
            </a:xfrm>
            <a:custGeom>
              <a:avLst/>
              <a:gdLst/>
              <a:ahLst/>
              <a:cxnLst/>
              <a:rect l="l" t="t" r="r" b="b"/>
              <a:pathLst>
                <a:path w="2116348" h="2991304">
                  <a:moveTo>
                    <a:pt x="0" y="0"/>
                  </a:moveTo>
                  <a:lnTo>
                    <a:pt x="2116347" y="0"/>
                  </a:lnTo>
                  <a:lnTo>
                    <a:pt x="2116347" y="2991304"/>
                  </a:lnTo>
                  <a:lnTo>
                    <a:pt x="0" y="2991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2456265">
              <a:off x="7351366" y="11238926"/>
              <a:ext cx="1899285" cy="2192537"/>
            </a:xfrm>
            <a:custGeom>
              <a:avLst/>
              <a:gdLst/>
              <a:ahLst/>
              <a:cxnLst/>
              <a:rect l="l" t="t" r="r" b="b"/>
              <a:pathLst>
                <a:path w="1899285" h="2192537">
                  <a:moveTo>
                    <a:pt x="0" y="0"/>
                  </a:moveTo>
                  <a:lnTo>
                    <a:pt x="1899285" y="0"/>
                  </a:lnTo>
                  <a:lnTo>
                    <a:pt x="1899285" y="2192537"/>
                  </a:lnTo>
                  <a:lnTo>
                    <a:pt x="0" y="219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716916" y="3033101"/>
            <a:ext cx="1391174" cy="1391174"/>
          </a:xfrm>
          <a:custGeom>
            <a:avLst/>
            <a:gdLst/>
            <a:ahLst/>
            <a:cxnLst/>
            <a:rect l="l" t="t" r="r" b="b"/>
            <a:pathLst>
              <a:path w="1391174" h="1391174">
                <a:moveTo>
                  <a:pt x="0" y="0"/>
                </a:moveTo>
                <a:lnTo>
                  <a:pt x="1391175" y="0"/>
                </a:lnTo>
                <a:lnTo>
                  <a:pt x="1391175" y="1391174"/>
                </a:lnTo>
                <a:lnTo>
                  <a:pt x="0" y="1391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19311" y="6062509"/>
            <a:ext cx="1288780" cy="1288780"/>
          </a:xfrm>
          <a:custGeom>
            <a:avLst/>
            <a:gdLst/>
            <a:ahLst/>
            <a:cxnLst/>
            <a:rect l="l" t="t" r="r" b="b"/>
            <a:pathLst>
              <a:path w="1288780" h="1288780">
                <a:moveTo>
                  <a:pt x="0" y="0"/>
                </a:moveTo>
                <a:lnTo>
                  <a:pt x="1288780" y="0"/>
                </a:lnTo>
                <a:lnTo>
                  <a:pt x="1288780" y="1288781"/>
                </a:lnTo>
                <a:lnTo>
                  <a:pt x="0" y="12887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9630" y="1237098"/>
            <a:ext cx="12731591" cy="717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4"/>
              </a:lnSpc>
              <a:spcBef>
                <a:spcPct val="0"/>
              </a:spcBef>
            </a:pPr>
            <a:r>
              <a:rPr lang="en-US" sz="4800" b="1">
                <a:solidFill>
                  <a:srgbClr val="127C1C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O‘zbekiston misolida innovatsiya va raqobat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74092" y="3330742"/>
            <a:ext cx="9147929" cy="845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IT Park – startaplar va texnologik kompaniyalar uchun</a:t>
            </a:r>
          </a:p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innovatsion muhit yaratish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55141" y="6211303"/>
            <a:ext cx="10546081" cy="845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“Yashil iqtisodiyot” dasturlari – ekologik toza texnologiyalarni </a:t>
            </a:r>
          </a:p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joriy etish orqali raqobatbardoshlikni oshirish.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84437" y="-806291"/>
            <a:ext cx="8024066" cy="11833694"/>
            <a:chOff x="0" y="0"/>
            <a:chExt cx="10698755" cy="15778259"/>
          </a:xfrm>
        </p:grpSpPr>
        <p:sp>
          <p:nvSpPr>
            <p:cNvPr id="4" name="Freeform 4"/>
            <p:cNvSpPr/>
            <p:nvPr/>
          </p:nvSpPr>
          <p:spPr>
            <a:xfrm>
              <a:off x="1330886" y="3296672"/>
              <a:ext cx="8942809" cy="9136970"/>
            </a:xfrm>
            <a:custGeom>
              <a:avLst/>
              <a:gdLst/>
              <a:ahLst/>
              <a:cxnLst/>
              <a:rect l="l" t="t" r="r" b="b"/>
              <a:pathLst>
                <a:path w="8942809" h="9136970">
                  <a:moveTo>
                    <a:pt x="0" y="0"/>
                  </a:moveTo>
                  <a:lnTo>
                    <a:pt x="8942810" y="0"/>
                  </a:lnTo>
                  <a:lnTo>
                    <a:pt x="8942810" y="9136969"/>
                  </a:lnTo>
                  <a:lnTo>
                    <a:pt x="0" y="9136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78278" y="11141281"/>
              <a:ext cx="505216" cy="504585"/>
            </a:xfrm>
            <a:custGeom>
              <a:avLst/>
              <a:gdLst/>
              <a:ahLst/>
              <a:cxnLst/>
              <a:rect l="l" t="t" r="r" b="b"/>
              <a:pathLst>
                <a:path w="505216" h="504585">
                  <a:moveTo>
                    <a:pt x="0" y="0"/>
                  </a:moveTo>
                  <a:lnTo>
                    <a:pt x="505217" y="0"/>
                  </a:lnTo>
                  <a:lnTo>
                    <a:pt x="505217" y="504585"/>
                  </a:lnTo>
                  <a:lnTo>
                    <a:pt x="0" y="504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390256" y="8711599"/>
              <a:ext cx="505216" cy="504585"/>
            </a:xfrm>
            <a:custGeom>
              <a:avLst/>
              <a:gdLst/>
              <a:ahLst/>
              <a:cxnLst/>
              <a:rect l="l" t="t" r="r" b="b"/>
              <a:pathLst>
                <a:path w="505216" h="504585">
                  <a:moveTo>
                    <a:pt x="0" y="0"/>
                  </a:moveTo>
                  <a:lnTo>
                    <a:pt x="505216" y="0"/>
                  </a:lnTo>
                  <a:lnTo>
                    <a:pt x="505216" y="504585"/>
                  </a:lnTo>
                  <a:lnTo>
                    <a:pt x="0" y="504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3542270" y="4489560"/>
              <a:ext cx="522677" cy="522023"/>
            </a:xfrm>
            <a:custGeom>
              <a:avLst/>
              <a:gdLst/>
              <a:ahLst/>
              <a:cxnLst/>
              <a:rect l="l" t="t" r="r" b="b"/>
              <a:pathLst>
                <a:path w="522677" h="522023">
                  <a:moveTo>
                    <a:pt x="0" y="0"/>
                  </a:moveTo>
                  <a:lnTo>
                    <a:pt x="522677" y="0"/>
                  </a:lnTo>
                  <a:lnTo>
                    <a:pt x="522677" y="522024"/>
                  </a:lnTo>
                  <a:lnTo>
                    <a:pt x="0" y="522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2558731">
              <a:off x="442332" y="1810183"/>
              <a:ext cx="2282326" cy="2196738"/>
            </a:xfrm>
            <a:custGeom>
              <a:avLst/>
              <a:gdLst/>
              <a:ahLst/>
              <a:cxnLst/>
              <a:rect l="l" t="t" r="r" b="b"/>
              <a:pathLst>
                <a:path w="2282326" h="2196738">
                  <a:moveTo>
                    <a:pt x="0" y="0"/>
                  </a:moveTo>
                  <a:lnTo>
                    <a:pt x="2282325" y="0"/>
                  </a:lnTo>
                  <a:lnTo>
                    <a:pt x="2282325" y="2196738"/>
                  </a:lnTo>
                  <a:lnTo>
                    <a:pt x="0" y="2196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7838767" y="590111"/>
              <a:ext cx="2509885" cy="2029869"/>
            </a:xfrm>
            <a:custGeom>
              <a:avLst/>
              <a:gdLst/>
              <a:ahLst/>
              <a:cxnLst/>
              <a:rect l="l" t="t" r="r" b="b"/>
              <a:pathLst>
                <a:path w="2509885" h="2029869">
                  <a:moveTo>
                    <a:pt x="0" y="0"/>
                  </a:moveTo>
                  <a:lnTo>
                    <a:pt x="2509885" y="0"/>
                  </a:lnTo>
                  <a:lnTo>
                    <a:pt x="2509885" y="2029869"/>
                  </a:lnTo>
                  <a:lnTo>
                    <a:pt x="0" y="2029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688318" y="13419455"/>
              <a:ext cx="2376628" cy="2358804"/>
            </a:xfrm>
            <a:custGeom>
              <a:avLst/>
              <a:gdLst/>
              <a:ahLst/>
              <a:cxnLst/>
              <a:rect l="l" t="t" r="r" b="b"/>
              <a:pathLst>
                <a:path w="2376628" h="2358804">
                  <a:moveTo>
                    <a:pt x="0" y="0"/>
                  </a:moveTo>
                  <a:lnTo>
                    <a:pt x="2376629" y="0"/>
                  </a:lnTo>
                  <a:lnTo>
                    <a:pt x="2376629" y="2358804"/>
                  </a:lnTo>
                  <a:lnTo>
                    <a:pt x="0" y="2358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7542751" y="12433641"/>
              <a:ext cx="3101917" cy="3074775"/>
            </a:xfrm>
            <a:custGeom>
              <a:avLst/>
              <a:gdLst/>
              <a:ahLst/>
              <a:cxnLst/>
              <a:rect l="l" t="t" r="r" b="b"/>
              <a:pathLst>
                <a:path w="3101917" h="3074775">
                  <a:moveTo>
                    <a:pt x="0" y="0"/>
                  </a:moveTo>
                  <a:lnTo>
                    <a:pt x="3101917" y="0"/>
                  </a:lnTo>
                  <a:lnTo>
                    <a:pt x="3101917" y="3074775"/>
                  </a:lnTo>
                  <a:lnTo>
                    <a:pt x="0" y="3074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304068" y="2114990"/>
            <a:ext cx="2341721" cy="62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5"/>
              </a:lnSpc>
              <a:spcBef>
                <a:spcPct val="0"/>
              </a:spcBef>
            </a:pPr>
            <a:r>
              <a:rPr lang="en-US" sz="4200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Muammo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02438" y="2114990"/>
            <a:ext cx="2306075" cy="629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5"/>
              </a:lnSpc>
              <a:spcBef>
                <a:spcPct val="0"/>
              </a:spcBef>
            </a:pPr>
            <a:r>
              <a:rPr lang="en-US" sz="4200" b="1">
                <a:solidFill>
                  <a:srgbClr val="127C1C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Yechim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06595" y="3373912"/>
            <a:ext cx="4185562" cy="9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Moliyalashtirishning yetarli emasligi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63712" y="5120081"/>
            <a:ext cx="4222433" cy="47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Kadrlar yetishmasligi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25364" y="3135787"/>
            <a:ext cx="5139902" cy="9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venchur kapital va grantlar orqali hal etish.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60424" y="4797552"/>
            <a:ext cx="5319983" cy="95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6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ta’lim tizimini innovatsiyaga yo‘naltirish.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sp>
        <p:nvSpPr>
          <p:cNvPr id="3" name="Freeform 3"/>
          <p:cNvSpPr/>
          <p:nvPr/>
        </p:nvSpPr>
        <p:spPr>
          <a:xfrm rot="158938">
            <a:off x="1094156" y="3226226"/>
            <a:ext cx="3990732" cy="2924811"/>
          </a:xfrm>
          <a:custGeom>
            <a:avLst/>
            <a:gdLst/>
            <a:ahLst/>
            <a:cxnLst/>
            <a:rect l="l" t="t" r="r" b="b"/>
            <a:pathLst>
              <a:path w="3990732" h="2924811">
                <a:moveTo>
                  <a:pt x="0" y="0"/>
                </a:moveTo>
                <a:lnTo>
                  <a:pt x="3990731" y="0"/>
                </a:lnTo>
                <a:lnTo>
                  <a:pt x="3990731" y="2924811"/>
                </a:lnTo>
                <a:lnTo>
                  <a:pt x="0" y="2924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810506" y="1788353"/>
            <a:ext cx="1867614" cy="85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8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TASK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43197" y="3893484"/>
            <a:ext cx="5319963" cy="1887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5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O’zingiz tanlagan kompaniyangizni </a:t>
            </a:r>
            <a:r>
              <a:rPr lang="en-US" sz="4200" b="1">
                <a:solidFill>
                  <a:srgbClr val="FF3131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VRIO</a:t>
            </a:r>
            <a:r>
              <a:rPr lang="en-US" sz="4200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 tahlil qiling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86599" y="6502476"/>
            <a:ext cx="5176562" cy="106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(3 -4 Slayd orqali presentation)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2" r="-28711" b="-2943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241577" y="3486136"/>
            <a:ext cx="19912862" cy="10912724"/>
            <a:chOff x="0" y="0"/>
            <a:chExt cx="26550483" cy="14550299"/>
          </a:xfrm>
        </p:grpSpPr>
        <p:sp>
          <p:nvSpPr>
            <p:cNvPr id="4" name="Freeform 4"/>
            <p:cNvSpPr/>
            <p:nvPr/>
          </p:nvSpPr>
          <p:spPr>
            <a:xfrm>
              <a:off x="7958576" y="2583608"/>
              <a:ext cx="9992187" cy="11966691"/>
            </a:xfrm>
            <a:custGeom>
              <a:avLst/>
              <a:gdLst/>
              <a:ahLst/>
              <a:cxnLst/>
              <a:rect l="l" t="t" r="r" b="b"/>
              <a:pathLst>
                <a:path w="9992187" h="11966691">
                  <a:moveTo>
                    <a:pt x="0" y="0"/>
                  </a:moveTo>
                  <a:lnTo>
                    <a:pt x="9992187" y="0"/>
                  </a:lnTo>
                  <a:lnTo>
                    <a:pt x="9992187" y="11966691"/>
                  </a:lnTo>
                  <a:lnTo>
                    <a:pt x="0" y="11966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1100670">
              <a:off x="2608351" y="6769980"/>
              <a:ext cx="2884567" cy="2776396"/>
            </a:xfrm>
            <a:custGeom>
              <a:avLst/>
              <a:gdLst/>
              <a:ahLst/>
              <a:cxnLst/>
              <a:rect l="l" t="t" r="r" b="b"/>
              <a:pathLst>
                <a:path w="2884567" h="2776396">
                  <a:moveTo>
                    <a:pt x="0" y="0"/>
                  </a:moveTo>
                  <a:lnTo>
                    <a:pt x="2884567" y="0"/>
                  </a:lnTo>
                  <a:lnTo>
                    <a:pt x="2884567" y="2776396"/>
                  </a:lnTo>
                  <a:lnTo>
                    <a:pt x="0" y="2776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60598"/>
              <a:ext cx="2792150" cy="2823919"/>
            </a:xfrm>
            <a:custGeom>
              <a:avLst/>
              <a:gdLst/>
              <a:ahLst/>
              <a:cxnLst/>
              <a:rect l="l" t="t" r="r" b="b"/>
              <a:pathLst>
                <a:path w="2792150" h="2823919">
                  <a:moveTo>
                    <a:pt x="0" y="0"/>
                  </a:moveTo>
                  <a:lnTo>
                    <a:pt x="2792150" y="0"/>
                  </a:lnTo>
                  <a:lnTo>
                    <a:pt x="2792150" y="2823920"/>
                  </a:lnTo>
                  <a:lnTo>
                    <a:pt x="0" y="2823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2301051">
              <a:off x="5345801" y="1497629"/>
              <a:ext cx="2308361" cy="3262701"/>
            </a:xfrm>
            <a:custGeom>
              <a:avLst/>
              <a:gdLst/>
              <a:ahLst/>
              <a:cxnLst/>
              <a:rect l="l" t="t" r="r" b="b"/>
              <a:pathLst>
                <a:path w="2308361" h="3262701">
                  <a:moveTo>
                    <a:pt x="0" y="0"/>
                  </a:moveTo>
                  <a:lnTo>
                    <a:pt x="2308361" y="0"/>
                  </a:lnTo>
                  <a:lnTo>
                    <a:pt x="2308361" y="3262701"/>
                  </a:lnTo>
                  <a:lnTo>
                    <a:pt x="0" y="3262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20479" y="5085738"/>
              <a:ext cx="1678893" cy="1678893"/>
            </a:xfrm>
            <a:custGeom>
              <a:avLst/>
              <a:gdLst/>
              <a:ahLst/>
              <a:cxnLst/>
              <a:rect l="l" t="t" r="r" b="b"/>
              <a:pathLst>
                <a:path w="1678893" h="1678893">
                  <a:moveTo>
                    <a:pt x="0" y="0"/>
                  </a:moveTo>
                  <a:lnTo>
                    <a:pt x="1678893" y="0"/>
                  </a:lnTo>
                  <a:lnTo>
                    <a:pt x="1678893" y="1678893"/>
                  </a:lnTo>
                  <a:lnTo>
                    <a:pt x="0" y="1678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9" name="Freeform 9"/>
            <p:cNvSpPr/>
            <p:nvPr/>
          </p:nvSpPr>
          <p:spPr>
            <a:xfrm>
              <a:off x="4050635" y="1665609"/>
              <a:ext cx="497173" cy="496552"/>
            </a:xfrm>
            <a:custGeom>
              <a:avLst/>
              <a:gdLst/>
              <a:ahLst/>
              <a:cxnLst/>
              <a:rect l="l" t="t" r="r" b="b"/>
              <a:pathLst>
                <a:path w="497173" h="496552">
                  <a:moveTo>
                    <a:pt x="0" y="0"/>
                  </a:moveTo>
                  <a:lnTo>
                    <a:pt x="497173" y="0"/>
                  </a:lnTo>
                  <a:lnTo>
                    <a:pt x="497173" y="496552"/>
                  </a:lnTo>
                  <a:lnTo>
                    <a:pt x="0" y="496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6536283" y="6534962"/>
              <a:ext cx="497173" cy="496552"/>
            </a:xfrm>
            <a:custGeom>
              <a:avLst/>
              <a:gdLst/>
              <a:ahLst/>
              <a:cxnLst/>
              <a:rect l="l" t="t" r="r" b="b"/>
              <a:pathLst>
                <a:path w="497173" h="496552">
                  <a:moveTo>
                    <a:pt x="0" y="0"/>
                  </a:moveTo>
                  <a:lnTo>
                    <a:pt x="497173" y="0"/>
                  </a:lnTo>
                  <a:lnTo>
                    <a:pt x="497173" y="496551"/>
                  </a:lnTo>
                  <a:lnTo>
                    <a:pt x="0" y="496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1" name="Freeform 11"/>
            <p:cNvSpPr/>
            <p:nvPr/>
          </p:nvSpPr>
          <p:spPr>
            <a:xfrm>
              <a:off x="3470763" y="4918695"/>
              <a:ext cx="334505" cy="334086"/>
            </a:xfrm>
            <a:custGeom>
              <a:avLst/>
              <a:gdLst/>
              <a:ahLst/>
              <a:cxnLst/>
              <a:rect l="l" t="t" r="r" b="b"/>
              <a:pathLst>
                <a:path w="334505" h="334086">
                  <a:moveTo>
                    <a:pt x="0" y="0"/>
                  </a:moveTo>
                  <a:lnTo>
                    <a:pt x="334504" y="0"/>
                  </a:lnTo>
                  <a:lnTo>
                    <a:pt x="334504" y="334086"/>
                  </a:lnTo>
                  <a:lnTo>
                    <a:pt x="0" y="334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3599469">
              <a:off x="8335286" y="3816116"/>
              <a:ext cx="799209" cy="827124"/>
            </a:xfrm>
            <a:custGeom>
              <a:avLst/>
              <a:gdLst/>
              <a:ahLst/>
              <a:cxnLst/>
              <a:rect l="l" t="t" r="r" b="b"/>
              <a:pathLst>
                <a:path w="799209" h="827124">
                  <a:moveTo>
                    <a:pt x="0" y="0"/>
                  </a:moveTo>
                  <a:lnTo>
                    <a:pt x="799209" y="0"/>
                  </a:lnTo>
                  <a:lnTo>
                    <a:pt x="799209" y="827125"/>
                  </a:lnTo>
                  <a:lnTo>
                    <a:pt x="0" y="827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3775070" y="0"/>
              <a:ext cx="2428523" cy="2425488"/>
            </a:xfrm>
            <a:custGeom>
              <a:avLst/>
              <a:gdLst/>
              <a:ahLst/>
              <a:cxnLst/>
              <a:rect l="l" t="t" r="r" b="b"/>
              <a:pathLst>
                <a:path w="2428523" h="2425488">
                  <a:moveTo>
                    <a:pt x="0" y="0"/>
                  </a:moveTo>
                  <a:lnTo>
                    <a:pt x="2428523" y="0"/>
                  </a:lnTo>
                  <a:lnTo>
                    <a:pt x="2428523" y="2425488"/>
                  </a:lnTo>
                  <a:lnTo>
                    <a:pt x="0" y="242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20300263" y="6386597"/>
              <a:ext cx="3179555" cy="3104041"/>
            </a:xfrm>
            <a:custGeom>
              <a:avLst/>
              <a:gdLst/>
              <a:ahLst/>
              <a:cxnLst/>
              <a:rect l="l" t="t" r="r" b="b"/>
              <a:pathLst>
                <a:path w="3179555" h="3104041">
                  <a:moveTo>
                    <a:pt x="0" y="0"/>
                  </a:moveTo>
                  <a:lnTo>
                    <a:pt x="3179556" y="0"/>
                  </a:lnTo>
                  <a:lnTo>
                    <a:pt x="3179556" y="3104041"/>
                  </a:lnTo>
                  <a:lnTo>
                    <a:pt x="0" y="31040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-3722613">
              <a:off x="19977229" y="1729361"/>
              <a:ext cx="2199425" cy="2690428"/>
            </a:xfrm>
            <a:custGeom>
              <a:avLst/>
              <a:gdLst/>
              <a:ahLst/>
              <a:cxnLst/>
              <a:rect l="l" t="t" r="r" b="b"/>
              <a:pathLst>
                <a:path w="2199425" h="2690428">
                  <a:moveTo>
                    <a:pt x="0" y="0"/>
                  </a:moveTo>
                  <a:lnTo>
                    <a:pt x="2199425" y="0"/>
                  </a:lnTo>
                  <a:lnTo>
                    <a:pt x="2199425" y="2690428"/>
                  </a:lnTo>
                  <a:lnTo>
                    <a:pt x="0" y="2690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-10223540">
              <a:off x="24067959" y="4662132"/>
              <a:ext cx="2302134" cy="2355124"/>
            </a:xfrm>
            <a:custGeom>
              <a:avLst/>
              <a:gdLst/>
              <a:ahLst/>
              <a:cxnLst/>
              <a:rect l="l" t="t" r="r" b="b"/>
              <a:pathLst>
                <a:path w="2302134" h="2355124">
                  <a:moveTo>
                    <a:pt x="0" y="0"/>
                  </a:moveTo>
                  <a:lnTo>
                    <a:pt x="2302134" y="0"/>
                  </a:lnTo>
                  <a:lnTo>
                    <a:pt x="2302134" y="2355124"/>
                  </a:lnTo>
                  <a:lnTo>
                    <a:pt x="0" y="2355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482484" y="7278344"/>
              <a:ext cx="497173" cy="496552"/>
            </a:xfrm>
            <a:custGeom>
              <a:avLst/>
              <a:gdLst/>
              <a:ahLst/>
              <a:cxnLst/>
              <a:rect l="l" t="t" r="r" b="b"/>
              <a:pathLst>
                <a:path w="497173" h="496552">
                  <a:moveTo>
                    <a:pt x="0" y="0"/>
                  </a:moveTo>
                  <a:lnTo>
                    <a:pt x="497173" y="0"/>
                  </a:lnTo>
                  <a:lnTo>
                    <a:pt x="497173" y="496551"/>
                  </a:lnTo>
                  <a:lnTo>
                    <a:pt x="0" y="496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7118055" y="3642184"/>
              <a:ext cx="497173" cy="496552"/>
            </a:xfrm>
            <a:custGeom>
              <a:avLst/>
              <a:gdLst/>
              <a:ahLst/>
              <a:cxnLst/>
              <a:rect l="l" t="t" r="r" b="b"/>
              <a:pathLst>
                <a:path w="497173" h="496552">
                  <a:moveTo>
                    <a:pt x="0" y="0"/>
                  </a:moveTo>
                  <a:lnTo>
                    <a:pt x="497173" y="0"/>
                  </a:lnTo>
                  <a:lnTo>
                    <a:pt x="497173" y="496552"/>
                  </a:lnTo>
                  <a:lnTo>
                    <a:pt x="0" y="496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3373213" y="3642184"/>
              <a:ext cx="514356" cy="513713"/>
            </a:xfrm>
            <a:custGeom>
              <a:avLst/>
              <a:gdLst/>
              <a:ahLst/>
              <a:cxnLst/>
              <a:rect l="l" t="t" r="r" b="b"/>
              <a:pathLst>
                <a:path w="514356" h="513713">
                  <a:moveTo>
                    <a:pt x="0" y="0"/>
                  </a:moveTo>
                  <a:lnTo>
                    <a:pt x="514355" y="0"/>
                  </a:lnTo>
                  <a:lnTo>
                    <a:pt x="514355" y="513713"/>
                  </a:lnTo>
                  <a:lnTo>
                    <a:pt x="0" y="513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8272746" y="5061325"/>
              <a:ext cx="1252220" cy="1004906"/>
            </a:xfrm>
            <a:custGeom>
              <a:avLst/>
              <a:gdLst/>
              <a:ahLst/>
              <a:cxnLst/>
              <a:rect l="l" t="t" r="r" b="b"/>
              <a:pathLst>
                <a:path w="1252220" h="1004906">
                  <a:moveTo>
                    <a:pt x="0" y="0"/>
                  </a:moveTo>
                  <a:lnTo>
                    <a:pt x="1252220" y="0"/>
                  </a:lnTo>
                  <a:lnTo>
                    <a:pt x="1252220" y="1004906"/>
                  </a:lnTo>
                  <a:lnTo>
                    <a:pt x="0" y="1004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5784056" y="1431305"/>
            <a:ext cx="6719888" cy="131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83"/>
              </a:lnSpc>
              <a:spcBef>
                <a:spcPct val="0"/>
              </a:spcBef>
            </a:pPr>
            <a:r>
              <a:rPr lang="en-US" sz="8799" b="1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506</Words>
  <Application>Microsoft Office PowerPoint</Application>
  <PresentationFormat>Произвольный</PresentationFormat>
  <Paragraphs>72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Nunito Heavy</vt:lpstr>
      <vt:lpstr>Nunito Semi-Bold</vt:lpstr>
      <vt:lpstr>Nunito</vt:lpstr>
      <vt:lpstr>Nunito Bold</vt:lpstr>
      <vt:lpstr>Nunito Ultra-Bold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project</dc:title>
  <cp:lastModifiedBy>J.JASURBEK@outlook.com</cp:lastModifiedBy>
  <cp:revision>2</cp:revision>
  <dcterms:created xsi:type="dcterms:W3CDTF">2006-08-16T00:00:00Z</dcterms:created>
  <dcterms:modified xsi:type="dcterms:W3CDTF">2025-04-25T05:21:40Z</dcterms:modified>
  <dc:identifier>DAGYZ6h3AlA</dc:identifier>
</cp:coreProperties>
</file>