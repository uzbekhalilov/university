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7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9" r:id="rId13"/>
    <p:sldId id="271" r:id="rId14"/>
    <p:sldId id="270" r:id="rId15"/>
    <p:sldId id="265" r:id="rId16"/>
    <p:sldId id="268" r:id="rId17"/>
  </p:sldIdLst>
  <p:sldSz cx="14630400" cy="8229600"/>
  <p:notesSz cx="8229600" cy="146304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libri Light" panose="020F0302020204030204" pitchFamily="34" charset="0"/>
      <p:regular r:id="rId23"/>
      <p:italic r:id="rId2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769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86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04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84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93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75241" y="905138"/>
            <a:ext cx="10029832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Mavzu</a:t>
            </a:r>
            <a:r>
              <a:rPr lang="en-US" sz="44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: </a:t>
            </a:r>
            <a:r>
              <a:rPr lang="en-US" sz="4450" b="1" dirty="0" err="1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Raqamli</a:t>
            </a:r>
            <a:r>
              <a:rPr lang="en-US" sz="44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 transformatsiya uchun yangi operatsion modelni rivojlantirish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56693" y="1254847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93790" y="6873240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0641" y="7552894"/>
            <a:ext cx="283475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Arimo Bold" pitchFamily="34" charset="-122"/>
                <a:cs typeface="Arial" panose="020B0604020202020204" pitchFamily="34" charset="0"/>
              </a:rPr>
              <a:t>Lecturer: </a:t>
            </a:r>
            <a:r>
              <a:rPr lang="en-US" sz="2200" b="1" dirty="0" err="1">
                <a:solidFill>
                  <a:srgbClr val="2A2742"/>
                </a:solidFill>
                <a:latin typeface="Arial" panose="020B0604020202020204" pitchFamily="34" charset="0"/>
                <a:ea typeface="Arimo Bold" pitchFamily="34" charset="-122"/>
                <a:cs typeface="Arial" panose="020B0604020202020204" pitchFamily="34" charset="0"/>
              </a:rPr>
              <a:t>Nozima</a:t>
            </a: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Arimo Bold" pitchFamily="34" charset="-122"/>
                <a:cs typeface="Arial" panose="020B0604020202020204" pitchFamily="34" charset="0"/>
              </a:rPr>
              <a:t> Raximova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Digital Transformation and Leadership Programme | Nanyang Business School |  NTU Singapore">
            <a:extLst>
              <a:ext uri="{FF2B5EF4-FFF2-40B4-BE49-F238E27FC236}">
                <a16:creationId xmlns:a16="http://schemas.microsoft.com/office/drawing/2014/main" id="{FFD7B3F7-DE68-4BDE-8B87-1E9A62396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618" y="3349931"/>
            <a:ext cx="8132781" cy="4879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93791" y="3442811"/>
            <a:ext cx="385351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3200" dirty="0">
              <a:latin typeface="+mj-lt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93790" y="6873240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1026" name="Picture 2" descr="Why Homework Is Important - TigerCampus Hong Kong">
            <a:extLst>
              <a:ext uri="{FF2B5EF4-FFF2-40B4-BE49-F238E27FC236}">
                <a16:creationId xmlns:a16="http://schemas.microsoft.com/office/drawing/2014/main" id="{7662CD77-02A3-41E8-85FB-3D9CE3D40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261" y="642433"/>
            <a:ext cx="7673511" cy="336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515AD8-3E39-46AD-A3F3-105EEC53B216}"/>
              </a:ext>
            </a:extLst>
          </p:cNvPr>
          <p:cNvSpPr txBox="1"/>
          <p:nvPr/>
        </p:nvSpPr>
        <p:spPr>
          <a:xfrm>
            <a:off x="12597205" y="7779565"/>
            <a:ext cx="194713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ru-RU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268B90-B2A8-4F0E-9F68-A23DE8F4916B}"/>
              </a:ext>
            </a:extLst>
          </p:cNvPr>
          <p:cNvSpPr txBox="1"/>
          <p:nvPr/>
        </p:nvSpPr>
        <p:spPr>
          <a:xfrm>
            <a:off x="514092" y="987295"/>
            <a:ext cx="510347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+mj-lt"/>
                <a:cs typeface="Arial" panose="020B0604020202020204" pitchFamily="34" charset="0"/>
              </a:rPr>
              <a:t>Raqamli</a:t>
            </a:r>
            <a:r>
              <a:rPr lang="en-US" sz="32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+mj-lt"/>
                <a:cs typeface="Arial" panose="020B0604020202020204" pitchFamily="34" charset="0"/>
              </a:rPr>
              <a:t>transformatsiyada</a:t>
            </a:r>
            <a:r>
              <a:rPr lang="en-US" sz="32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+mj-lt"/>
                <a:cs typeface="Arial" panose="020B0604020202020204" pitchFamily="34" charset="0"/>
              </a:rPr>
              <a:t>odamlarning</a:t>
            </a:r>
            <a:r>
              <a:rPr lang="en-US" sz="32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+mj-lt"/>
                <a:cs typeface="Arial" panose="020B0604020202020204" pitchFamily="34" charset="0"/>
              </a:rPr>
              <a:t>madaniyati</a:t>
            </a:r>
            <a:r>
              <a:rPr lang="en-US" sz="32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+mj-lt"/>
                <a:cs typeface="Arial" panose="020B0604020202020204" pitchFamily="34" charset="0"/>
              </a:rPr>
              <a:t>texnologiyadan</a:t>
            </a:r>
            <a:r>
              <a:rPr lang="en-US" sz="3200" dirty="0">
                <a:latin typeface="+mj-lt"/>
                <a:cs typeface="Arial" panose="020B0604020202020204" pitchFamily="34" charset="0"/>
              </a:rPr>
              <a:t> ham </a:t>
            </a:r>
            <a:r>
              <a:rPr lang="en-US" sz="3200" dirty="0" err="1">
                <a:latin typeface="+mj-lt"/>
                <a:cs typeface="Arial" panose="020B0604020202020204" pitchFamily="34" charset="0"/>
              </a:rPr>
              <a:t>muhimmi</a:t>
            </a:r>
            <a:r>
              <a:rPr lang="en-US" sz="3200" dirty="0">
                <a:latin typeface="+mj-lt"/>
                <a:cs typeface="Arial" panose="020B0604020202020204" pitchFamily="34" charset="0"/>
              </a:rPr>
              <a:t>?"</a:t>
            </a:r>
            <a:endParaRPr lang="en-US" sz="3200" b="1" dirty="0">
              <a:solidFill>
                <a:srgbClr val="000000"/>
              </a:solidFill>
              <a:latin typeface="+mj-lt"/>
              <a:ea typeface="Nunito Ultra-Bold"/>
              <a:cs typeface="Arial" panose="020B0604020202020204" pitchFamily="34" charset="0"/>
              <a:sym typeface="Nunito Ultra-Bold"/>
            </a:endParaRPr>
          </a:p>
          <a:p>
            <a:r>
              <a:rPr lang="en-US" sz="3200" dirty="0">
                <a:solidFill>
                  <a:srgbClr val="FF0000"/>
                </a:solidFill>
                <a:latin typeface="+mj-lt"/>
                <a:ea typeface="Nunito"/>
                <a:cs typeface="Arial" panose="020B0604020202020204" pitchFamily="34" charset="0"/>
                <a:sym typeface="Nunito"/>
              </a:rPr>
              <a:t>(80 – 100 </a:t>
            </a:r>
            <a:r>
              <a:rPr lang="en-US" sz="3200" dirty="0" err="1">
                <a:solidFill>
                  <a:srgbClr val="FF0000"/>
                </a:solidFill>
                <a:latin typeface="+mj-lt"/>
                <a:ea typeface="Nunito"/>
                <a:cs typeface="Arial" panose="020B0604020202020204" pitchFamily="34" charset="0"/>
                <a:sym typeface="Nunito"/>
              </a:rPr>
              <a:t>so’zdan</a:t>
            </a:r>
            <a:r>
              <a:rPr lang="en-US" sz="3200" dirty="0">
                <a:solidFill>
                  <a:srgbClr val="FF0000"/>
                </a:solidFill>
                <a:latin typeface="+mj-lt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+mj-lt"/>
                <a:ea typeface="Nunito"/>
                <a:cs typeface="Arial" panose="020B0604020202020204" pitchFamily="34" charset="0"/>
                <a:sym typeface="Nunito"/>
              </a:rPr>
              <a:t>iborat</a:t>
            </a:r>
            <a:r>
              <a:rPr lang="en-US" sz="3200" dirty="0">
                <a:solidFill>
                  <a:srgbClr val="FF0000"/>
                </a:solidFill>
                <a:latin typeface="+mj-lt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+mj-lt"/>
                <a:ea typeface="Nunito"/>
                <a:cs typeface="Arial" panose="020B0604020202020204" pitchFamily="34" charset="0"/>
                <a:sym typeface="Nunito"/>
              </a:rPr>
              <a:t>essey</a:t>
            </a:r>
            <a:r>
              <a:rPr lang="en-US" sz="3200" dirty="0">
                <a:solidFill>
                  <a:srgbClr val="FF0000"/>
                </a:solidFill>
                <a:latin typeface="+mj-lt"/>
                <a:ea typeface="Nunito"/>
                <a:cs typeface="Arial" panose="020B0604020202020204" pitchFamily="34" charset="0"/>
                <a:sym typeface="Nunito"/>
              </a:rPr>
              <a:t>)</a:t>
            </a:r>
          </a:p>
          <a:p>
            <a:endParaRPr lang="ru-RU" sz="320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1028" name="Picture 4" descr="15+ Thousand Debate Cartoon Royalty-Free Images, Stock Photos &amp; Pictures |  Shutterstock">
            <a:extLst>
              <a:ext uri="{FF2B5EF4-FFF2-40B4-BE49-F238E27FC236}">
                <a16:creationId xmlns:a16="http://schemas.microsoft.com/office/drawing/2014/main" id="{27C8D162-D3D2-43FE-929B-F982155E4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77" y="4350067"/>
            <a:ext cx="4675542" cy="334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DA3820-8BB2-4CAB-BF23-B73127E3A835}"/>
              </a:ext>
            </a:extLst>
          </p:cNvPr>
          <p:cNvSpPr txBox="1"/>
          <p:nvPr/>
        </p:nvSpPr>
        <p:spPr>
          <a:xfrm>
            <a:off x="5582315" y="4304971"/>
            <a:ext cx="65922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+mj-lt"/>
              </a:rPr>
              <a:t>"</a:t>
            </a:r>
            <a:r>
              <a:rPr lang="en-US" sz="4000" b="1" dirty="0" err="1">
                <a:latin typeface="+mj-lt"/>
              </a:rPr>
              <a:t>Texnologiyani</a:t>
            </a:r>
            <a:r>
              <a:rPr lang="en-US" sz="4000" b="1" dirty="0">
                <a:latin typeface="+mj-lt"/>
              </a:rPr>
              <a:t> </a:t>
            </a:r>
            <a:r>
              <a:rPr lang="en-US" sz="4000" b="1" dirty="0" err="1">
                <a:latin typeface="+mj-lt"/>
              </a:rPr>
              <a:t>qabul</a:t>
            </a:r>
            <a:r>
              <a:rPr lang="en-US" sz="4000" b="1" dirty="0">
                <a:latin typeface="+mj-lt"/>
              </a:rPr>
              <a:t> </a:t>
            </a:r>
            <a:r>
              <a:rPr lang="en-US" sz="4000" b="1" dirty="0" err="1">
                <a:latin typeface="+mj-lt"/>
              </a:rPr>
              <a:t>qilish</a:t>
            </a:r>
            <a:r>
              <a:rPr lang="en-US" sz="4000" b="1" dirty="0">
                <a:latin typeface="+mj-lt"/>
              </a:rPr>
              <a:t> </a:t>
            </a:r>
            <a:r>
              <a:rPr lang="en-US" sz="4000" b="1" dirty="0" err="1">
                <a:latin typeface="+mj-lt"/>
              </a:rPr>
              <a:t>yoki</a:t>
            </a:r>
            <a:r>
              <a:rPr lang="en-US" sz="4000" b="1" dirty="0">
                <a:latin typeface="+mj-lt"/>
              </a:rPr>
              <a:t> </a:t>
            </a:r>
            <a:r>
              <a:rPr lang="en-US" sz="4000" b="1" dirty="0" err="1">
                <a:latin typeface="+mj-lt"/>
              </a:rPr>
              <a:t>inkor</a:t>
            </a:r>
            <a:r>
              <a:rPr lang="en-US" sz="4000" b="1" dirty="0">
                <a:latin typeface="+mj-lt"/>
              </a:rPr>
              <a:t> </a:t>
            </a:r>
            <a:r>
              <a:rPr lang="en-US" sz="4000" b="1" dirty="0" err="1">
                <a:latin typeface="+mj-lt"/>
              </a:rPr>
              <a:t>etish</a:t>
            </a:r>
            <a:r>
              <a:rPr lang="en-US" sz="4000" b="1" dirty="0">
                <a:latin typeface="+mj-lt"/>
              </a:rPr>
              <a:t>?"</a:t>
            </a:r>
            <a:endParaRPr lang="ru-RU" sz="4000" b="1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B9D0D9-41D5-4188-9965-398C01E6202C}"/>
              </a:ext>
            </a:extLst>
          </p:cNvPr>
          <p:cNvSpPr txBox="1"/>
          <p:nvPr/>
        </p:nvSpPr>
        <p:spPr>
          <a:xfrm>
            <a:off x="5897261" y="5830645"/>
            <a:ext cx="43332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FF0000"/>
                </a:solidFill>
                <a:latin typeface="+mj-lt"/>
              </a:rPr>
              <a:t>Maqsad</a:t>
            </a:r>
            <a:r>
              <a:rPr lang="en-US" sz="2800" dirty="0" err="1">
                <a:latin typeface="+mj-lt"/>
              </a:rPr>
              <a:t>:Talabalar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raqamli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transformatsiyaning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foydalari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va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xavf-xatarlarini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muhokama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qilishadi</a:t>
            </a:r>
            <a:r>
              <a:rPr lang="en-US" sz="2800" dirty="0">
                <a:latin typeface="+mj-lt"/>
              </a:rPr>
              <a:t>.</a:t>
            </a:r>
            <a:endParaRPr lang="ru-RU" sz="2800" dirty="0">
              <a:latin typeface="+mj-lt"/>
            </a:endParaRPr>
          </a:p>
        </p:txBody>
      </p:sp>
      <p:sp>
        <p:nvSpPr>
          <p:cNvPr id="10" name="Облачко с текстом: овальное 9">
            <a:extLst>
              <a:ext uri="{FF2B5EF4-FFF2-40B4-BE49-F238E27FC236}">
                <a16:creationId xmlns:a16="http://schemas.microsoft.com/office/drawing/2014/main" id="{701D97E2-75B4-46E3-B492-EE72822E3DB2}"/>
              </a:ext>
            </a:extLst>
          </p:cNvPr>
          <p:cNvSpPr/>
          <p:nvPr/>
        </p:nvSpPr>
        <p:spPr>
          <a:xfrm>
            <a:off x="10101432" y="5257324"/>
            <a:ext cx="4146192" cy="2186968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+mj-lt"/>
              </a:rPr>
              <a:t>Bu </a:t>
            </a:r>
            <a:r>
              <a:rPr lang="en-US" sz="2000" dirty="0" err="1">
                <a:latin typeface="+mj-lt"/>
              </a:rPr>
              <a:t>o'yin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sizni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raqamli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transformatsiyaning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barcha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jihatlarini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o'ylashga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undaydi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va</a:t>
            </a:r>
            <a:r>
              <a:rPr lang="en-US" sz="2000" dirty="0">
                <a:latin typeface="+mj-lt"/>
              </a:rPr>
              <a:t>  </a:t>
            </a:r>
            <a:r>
              <a:rPr lang="en-US" sz="2000" dirty="0" err="1">
                <a:latin typeface="+mj-lt"/>
              </a:rPr>
              <a:t>muammoni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turli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nuqtai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nazarlardan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ko'rishga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o'rgatadi</a:t>
            </a:r>
            <a:r>
              <a:rPr lang="en-US" sz="2000" dirty="0">
                <a:latin typeface="+mj-lt"/>
              </a:rPr>
              <a:t>.</a:t>
            </a:r>
            <a:endParaRPr lang="ru-RU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21501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39539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+mj-lt"/>
                <a:ea typeface="Outfit Extra Bold" pitchFamily="34" charset="-122"/>
                <a:cs typeface="Outfit Extra Bold" pitchFamily="34" charset="-120"/>
              </a:rPr>
              <a:t>Raqamli transformatsiya uchun yangi operatsion modelni rivojlantirish</a:t>
            </a:r>
            <a:endParaRPr lang="en-US" sz="4450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7781435" y="1480083"/>
            <a:ext cx="6477000" cy="838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800" b="1" dirty="0" err="1">
                <a:latin typeface="+mj-lt"/>
              </a:rPr>
              <a:t>Operatsion</a:t>
            </a:r>
            <a:r>
              <a:rPr lang="en-US" sz="2800" b="1" dirty="0">
                <a:latin typeface="+mj-lt"/>
              </a:rPr>
              <a:t> model </a:t>
            </a:r>
            <a:r>
              <a:rPr lang="en-US" sz="2800" dirty="0">
                <a:latin typeface="+mj-lt"/>
              </a:rPr>
              <a:t>– </a:t>
            </a:r>
            <a:r>
              <a:rPr lang="en-US" sz="2800" dirty="0" err="1">
                <a:latin typeface="+mj-lt"/>
              </a:rPr>
              <a:t>bu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tashkilot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qanday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qilib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o‘z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xizmat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yoki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mahsulotlarini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yetkazishini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belgilovchi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biznes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jarayonlar</a:t>
            </a:r>
            <a:r>
              <a:rPr lang="en-US" sz="2800" dirty="0">
                <a:latin typeface="+mj-lt"/>
              </a:rPr>
              <a:t>, </a:t>
            </a:r>
            <a:r>
              <a:rPr lang="en-US" sz="2800" dirty="0" err="1">
                <a:latin typeface="+mj-lt"/>
              </a:rPr>
              <a:t>texnologiyalar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va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resurslar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tizimidir</a:t>
            </a:r>
            <a:r>
              <a:rPr lang="en-US" sz="2800" dirty="0">
                <a:latin typeface="+mj-lt"/>
              </a:rPr>
              <a:t>.</a:t>
            </a:r>
            <a:endParaRPr lang="ru-RU" sz="2800" dirty="0">
              <a:latin typeface="+mj-lt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2800" dirty="0">
              <a:latin typeface="+mj-lt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93790" y="6873240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E0AA4-CB3C-48D0-8009-60E42144F3DB}"/>
              </a:ext>
            </a:extLst>
          </p:cNvPr>
          <p:cNvSpPr txBox="1"/>
          <p:nvPr/>
        </p:nvSpPr>
        <p:spPr>
          <a:xfrm>
            <a:off x="532750" y="3701190"/>
            <a:ext cx="74227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+mj-lt"/>
              </a:rPr>
              <a:t>Raqamli</a:t>
            </a:r>
            <a:r>
              <a:rPr lang="en-US" sz="2800" b="1" dirty="0">
                <a:latin typeface="+mj-lt"/>
              </a:rPr>
              <a:t> </a:t>
            </a:r>
            <a:r>
              <a:rPr lang="en-US" sz="2800" b="1" dirty="0" err="1">
                <a:latin typeface="+mj-lt"/>
              </a:rPr>
              <a:t>operatsion</a:t>
            </a:r>
            <a:r>
              <a:rPr lang="en-US" sz="2800" b="1" dirty="0">
                <a:latin typeface="+mj-lt"/>
              </a:rPr>
              <a:t> model:</a:t>
            </a:r>
            <a:br>
              <a:rPr lang="en-US" sz="2800" dirty="0">
                <a:latin typeface="+mj-lt"/>
              </a:rPr>
            </a:br>
            <a:r>
              <a:rPr lang="en-US" sz="2800" dirty="0" err="1">
                <a:latin typeface="+mj-lt"/>
              </a:rPr>
              <a:t>Raqamli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transformatsiya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jarayonida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kompaniyaning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operatsion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modeli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raqamlashtiriladi</a:t>
            </a:r>
            <a:r>
              <a:rPr lang="en-US" sz="2800" dirty="0">
                <a:latin typeface="+mj-lt"/>
              </a:rPr>
              <a:t>. </a:t>
            </a:r>
            <a:r>
              <a:rPr lang="ru-RU" sz="2800" dirty="0" err="1">
                <a:latin typeface="+mj-lt"/>
              </a:rPr>
              <a:t>Bu</a:t>
            </a:r>
            <a:r>
              <a:rPr lang="ru-RU" sz="2800" dirty="0">
                <a:latin typeface="+mj-lt"/>
              </a:rPr>
              <a:t> </a:t>
            </a:r>
            <a:r>
              <a:rPr lang="ru-RU" sz="2800" dirty="0" err="1">
                <a:latin typeface="+mj-lt"/>
              </a:rPr>
              <a:t>quyidagilarni</a:t>
            </a:r>
            <a:r>
              <a:rPr lang="ru-RU" sz="2800" dirty="0">
                <a:latin typeface="+mj-lt"/>
              </a:rPr>
              <a:t> </a:t>
            </a:r>
            <a:r>
              <a:rPr lang="ru-RU" sz="2800" dirty="0" err="1">
                <a:latin typeface="+mj-lt"/>
              </a:rPr>
              <a:t>o‘z</a:t>
            </a:r>
            <a:r>
              <a:rPr lang="ru-RU" sz="2800" dirty="0">
                <a:latin typeface="+mj-lt"/>
              </a:rPr>
              <a:t> </a:t>
            </a:r>
            <a:r>
              <a:rPr lang="ru-RU" sz="2800" dirty="0" err="1">
                <a:latin typeface="+mj-lt"/>
              </a:rPr>
              <a:t>ichiga</a:t>
            </a:r>
            <a:r>
              <a:rPr lang="ru-RU" sz="2800" dirty="0">
                <a:latin typeface="+mj-lt"/>
              </a:rPr>
              <a:t> </a:t>
            </a:r>
            <a:r>
              <a:rPr lang="ru-RU" sz="2800" dirty="0" err="1">
                <a:latin typeface="+mj-lt"/>
              </a:rPr>
              <a:t>oladi</a:t>
            </a:r>
            <a:r>
              <a:rPr lang="ru-RU" sz="2800" dirty="0">
                <a:latin typeface="+mj-lt"/>
              </a:rPr>
              <a:t>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2800" dirty="0" err="1">
                <a:latin typeface="+mj-lt"/>
              </a:rPr>
              <a:t>Avtomatlashtirilgan</a:t>
            </a:r>
            <a:r>
              <a:rPr lang="ru-RU" sz="2800" dirty="0">
                <a:latin typeface="+mj-lt"/>
              </a:rPr>
              <a:t> </a:t>
            </a:r>
            <a:r>
              <a:rPr lang="ru-RU" sz="2800" dirty="0" err="1">
                <a:latin typeface="+mj-lt"/>
              </a:rPr>
              <a:t>ish</a:t>
            </a:r>
            <a:r>
              <a:rPr lang="ru-RU" sz="2800" dirty="0">
                <a:latin typeface="+mj-lt"/>
              </a:rPr>
              <a:t> </a:t>
            </a:r>
            <a:r>
              <a:rPr lang="ru-RU" sz="2800" dirty="0" err="1">
                <a:latin typeface="+mj-lt"/>
              </a:rPr>
              <a:t>jarayonlari</a:t>
            </a:r>
            <a:r>
              <a:rPr lang="en-US" sz="2800" dirty="0">
                <a:latin typeface="+mj-lt"/>
              </a:rPr>
              <a:t> - </a:t>
            </a:r>
            <a:r>
              <a:rPr lang="en-US" sz="2800" b="1" dirty="0">
                <a:latin typeface="+mj-lt"/>
              </a:rPr>
              <a:t>Amazon</a:t>
            </a:r>
            <a:endParaRPr lang="ru-RU" sz="2800" b="1" dirty="0">
              <a:latin typeface="+mj-lt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2800" dirty="0" err="1">
                <a:latin typeface="+mj-lt"/>
              </a:rPr>
              <a:t>Ma’lumotlarga</a:t>
            </a:r>
            <a:r>
              <a:rPr lang="ru-RU" sz="2800" dirty="0">
                <a:latin typeface="+mj-lt"/>
              </a:rPr>
              <a:t> </a:t>
            </a:r>
            <a:r>
              <a:rPr lang="ru-RU" sz="2800" dirty="0" err="1">
                <a:latin typeface="+mj-lt"/>
              </a:rPr>
              <a:t>asoslangan</a:t>
            </a:r>
            <a:r>
              <a:rPr lang="ru-RU" sz="2800" dirty="0">
                <a:latin typeface="+mj-lt"/>
              </a:rPr>
              <a:t> </a:t>
            </a:r>
            <a:r>
              <a:rPr lang="ru-RU" sz="2800" dirty="0" err="1">
                <a:latin typeface="+mj-lt"/>
              </a:rPr>
              <a:t>qarorlar</a:t>
            </a:r>
            <a:r>
              <a:rPr lang="en-US" sz="2800" dirty="0">
                <a:latin typeface="+mj-lt"/>
              </a:rPr>
              <a:t> - </a:t>
            </a:r>
            <a:r>
              <a:rPr lang="en-US" sz="2800" b="1" dirty="0">
                <a:latin typeface="+mj-lt"/>
              </a:rPr>
              <a:t>Netflix</a:t>
            </a:r>
            <a:endParaRPr lang="ru-RU" sz="2800" b="1" dirty="0">
              <a:latin typeface="+mj-lt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2800" dirty="0" err="1">
                <a:latin typeface="+mj-lt"/>
              </a:rPr>
              <a:t>Moslashuvchan</a:t>
            </a:r>
            <a:r>
              <a:rPr lang="ru-RU" sz="2800" dirty="0">
                <a:latin typeface="+mj-lt"/>
              </a:rPr>
              <a:t> IT </a:t>
            </a:r>
            <a:r>
              <a:rPr lang="ru-RU" sz="2800" dirty="0" err="1">
                <a:latin typeface="+mj-lt"/>
              </a:rPr>
              <a:t>infratuzilmasi</a:t>
            </a:r>
            <a:r>
              <a:rPr lang="en-US" sz="2800" dirty="0">
                <a:latin typeface="+mj-lt"/>
              </a:rPr>
              <a:t> - </a:t>
            </a:r>
            <a:r>
              <a:rPr lang="en-US" sz="2800" b="1" dirty="0">
                <a:latin typeface="+mj-lt"/>
              </a:rPr>
              <a:t>Spotify</a:t>
            </a:r>
            <a:endParaRPr lang="ru-RU" sz="2800" b="1" dirty="0">
              <a:latin typeface="+mj-lt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2800" dirty="0" err="1">
                <a:latin typeface="+mj-lt"/>
              </a:rPr>
              <a:t>Yangi</a:t>
            </a:r>
            <a:r>
              <a:rPr lang="ru-RU" sz="2800" dirty="0">
                <a:latin typeface="+mj-lt"/>
              </a:rPr>
              <a:t> </a:t>
            </a:r>
            <a:r>
              <a:rPr lang="ru-RU" sz="2800" dirty="0" err="1">
                <a:latin typeface="+mj-lt"/>
              </a:rPr>
              <a:t>xizmatlar</a:t>
            </a:r>
            <a:r>
              <a:rPr lang="ru-RU" sz="2800" dirty="0">
                <a:latin typeface="+mj-lt"/>
              </a:rPr>
              <a:t> </a:t>
            </a:r>
            <a:r>
              <a:rPr lang="ru-RU" sz="2800" dirty="0" err="1">
                <a:latin typeface="+mj-lt"/>
              </a:rPr>
              <a:t>yaratish</a:t>
            </a:r>
            <a:r>
              <a:rPr lang="ru-RU" sz="2800" dirty="0">
                <a:latin typeface="+mj-lt"/>
              </a:rPr>
              <a:t> </a:t>
            </a:r>
            <a:r>
              <a:rPr lang="ru-RU" sz="2800" dirty="0" err="1">
                <a:latin typeface="+mj-lt"/>
              </a:rPr>
              <a:t>tezligi</a:t>
            </a:r>
            <a:r>
              <a:rPr lang="en-US" sz="2800" dirty="0">
                <a:latin typeface="+mj-lt"/>
              </a:rPr>
              <a:t>- </a:t>
            </a:r>
            <a:r>
              <a:rPr lang="en-US" sz="2800" b="1" dirty="0">
                <a:latin typeface="+mj-lt"/>
              </a:rPr>
              <a:t>Uber</a:t>
            </a:r>
            <a:endParaRPr lang="ru-RU" sz="2800" b="1" dirty="0">
              <a:latin typeface="+mj-lt"/>
            </a:endParaRPr>
          </a:p>
          <a:p>
            <a:endParaRPr lang="ru-RU" sz="2800" dirty="0">
              <a:latin typeface="+mj-lt"/>
            </a:endParaRPr>
          </a:p>
        </p:txBody>
      </p:sp>
      <p:pic>
        <p:nvPicPr>
          <p:cNvPr id="3076" name="Picture 4" descr="A 2020 forecast on the banking and payments industry">
            <a:extLst>
              <a:ext uri="{FF2B5EF4-FFF2-40B4-BE49-F238E27FC236}">
                <a16:creationId xmlns:a16="http://schemas.microsoft.com/office/drawing/2014/main" id="{3108F3D8-9888-4F77-A01B-0364CF033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4038600"/>
            <a:ext cx="6477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9969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3912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Raqamli transformatsiyaning zarurligi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310562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17306" y="3183493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Bozor sharoitining o'zgarishi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017306" y="4028242"/>
            <a:ext cx="289941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Tez o'zgarayotgan iqtisodiy va texnologik muhit kompaniyalarni yangicha yondashuvni qabul qilishga majbur qiladi.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200203" y="310562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37319" y="3183493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Mijozlar talablarining o'zgarishi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937319" y="4028242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Texnologiya rivojlanishi natijasida mijozlar tezkor, shaxsiylashtirilgan va sifatli xizmatlar kutadi.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80190" y="629638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7306" y="6374249"/>
            <a:ext cx="52441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Raqobatbardoshlikni oshirish zaruriyati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017306" y="6864667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Raqamli imkoniyatlarni qo‘llash orqali kompaniyalar yirik raqobatda ustunlikka erishishi mumkin.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46946D-2702-4D16-BB22-F0AAB9E154FD}"/>
              </a:ext>
            </a:extLst>
          </p:cNvPr>
          <p:cNvSpPr txBox="1"/>
          <p:nvPr/>
        </p:nvSpPr>
        <p:spPr>
          <a:xfrm>
            <a:off x="12769328" y="7726560"/>
            <a:ext cx="186107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551" y="828549"/>
            <a:ext cx="122909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Yangi operatsion modelning asosiy elementlari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59186"/>
            <a:ext cx="35398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Mijozlarga yo'naltirilganlik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94551" y="326190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Har bir jarayon va qaror mijoz ehtiyojlariga moslashtiriladi.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99521" y="2823448"/>
            <a:ext cx="62447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Ma'lumotlarga asoslangan qarorlar qabul qilish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375892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Strategiyalar va amaliyotlar aniq tahlil qilingan ma'lumotlarga tayangan holda yaratiladi.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170765"/>
            <a:ext cx="50970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Avtomatlashtirish va optimallashtirish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75190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Jarayonlar avtomatlashtiriladi, resurslar samarali boshqariladi.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5677287"/>
            <a:ext cx="39987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Tezkorlik va moslashuvchanlik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610399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Tez o'zgaruvchan muhitda moslashish va yangi imkoniyatlarni tezda qo‘lga kiritish.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3A8A45-783B-4D16-8806-20C8B0AB5718}"/>
              </a:ext>
            </a:extLst>
          </p:cNvPr>
          <p:cNvSpPr txBox="1"/>
          <p:nvPr/>
        </p:nvSpPr>
        <p:spPr>
          <a:xfrm>
            <a:off x="12683266" y="7744896"/>
            <a:ext cx="194713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Netflix - Free download and install on Windows | Microsoft Store">
            <a:extLst>
              <a:ext uri="{FF2B5EF4-FFF2-40B4-BE49-F238E27FC236}">
                <a16:creationId xmlns:a16="http://schemas.microsoft.com/office/drawing/2014/main" id="{FD9B874A-9121-497C-BB41-B8DEE9AC9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543" y="3673746"/>
            <a:ext cx="2410609" cy="1333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s Uber really worth billions of dollars?">
            <a:extLst>
              <a:ext uri="{FF2B5EF4-FFF2-40B4-BE49-F238E27FC236}">
                <a16:creationId xmlns:a16="http://schemas.microsoft.com/office/drawing/2014/main" id="{09C64B58-A852-478C-AF38-117737F76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8235" y="4160674"/>
            <a:ext cx="2410609" cy="1355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VID-19 Response">
            <a:extLst>
              <a:ext uri="{FF2B5EF4-FFF2-40B4-BE49-F238E27FC236}">
                <a16:creationId xmlns:a16="http://schemas.microsoft.com/office/drawing/2014/main" id="{6C96A672-899E-4FE1-9838-41A5F758E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0576" y="6621030"/>
            <a:ext cx="2145926" cy="1430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 different GPT, GPT3, GPT 3.5, GPT turbo and GPT 4 | Blog">
            <a:extLst>
              <a:ext uri="{FF2B5EF4-FFF2-40B4-BE49-F238E27FC236}">
                <a16:creationId xmlns:a16="http://schemas.microsoft.com/office/drawing/2014/main" id="{06F25CF5-4390-4261-AAF8-DB6D10C1F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543" y="6226350"/>
            <a:ext cx="2641338" cy="1689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55990"/>
            <a:ext cx="70826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Mijozlarga yo'naltirilganlik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304931"/>
            <a:ext cx="3664863" cy="2756654"/>
          </a:xfrm>
          <a:prstGeom prst="roundRect">
            <a:avLst>
              <a:gd name="adj" fmla="val 3456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539365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Mijozlar tajribasini yaxshilash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28224" y="3384113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Shaxsiylashtirilgan xizmatlar va a'lo sifat mijozlarni qoniqtiradi.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685467" y="2304931"/>
            <a:ext cx="3664863" cy="2756654"/>
          </a:xfrm>
          <a:prstGeom prst="roundRect">
            <a:avLst>
              <a:gd name="adj" fmla="val 3456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2539365"/>
            <a:ext cx="3195995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Mijozlar bilan aloqalarni mustahkamlash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19901" y="373844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Muntazam kommunikatsiya va mijozlarga xizmat ko‘rsatish innovatsiyalari.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90" y="5288399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522833"/>
            <a:ext cx="40412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Mijozlar ehtiyojlarini qondirish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28224" y="601325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Doimiy tahlil va moslashuv orqali mijozlarning o‘zgaruvchan talablariga javob berish.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1BB7A3-9FBE-481C-8803-3E3CD2086A5C}"/>
              </a:ext>
            </a:extLst>
          </p:cNvPr>
          <p:cNvSpPr txBox="1"/>
          <p:nvPr/>
        </p:nvSpPr>
        <p:spPr>
          <a:xfrm>
            <a:off x="12554174" y="7680960"/>
            <a:ext cx="195789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8784" y="902018"/>
            <a:ext cx="7646432" cy="1337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Ma'lumotlarga asoslangan qarorlar qabul qilish</a:t>
            </a:r>
            <a:endParaRPr lang="en-US" sz="4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84" y="2559963"/>
            <a:ext cx="1069658" cy="12836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39315" y="2773799"/>
            <a:ext cx="4365784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Ma'lumotlarni yig'ish va tahlil qilish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139315" y="3236357"/>
            <a:ext cx="6255901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Katta ma'lumotlar bazalari va ilg‘or tahliliy vositalar ishlatiladi.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84" y="3843576"/>
            <a:ext cx="1069658" cy="19090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39315" y="4057412"/>
            <a:ext cx="6255901" cy="668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Ma'lumotlarga asoslangan strategiyalarni ishlab chiqish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2139315" y="4854178"/>
            <a:ext cx="6255901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Axborot asosida raqamli strategiyalar aniqlanadi va ishlab chiqiladi.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784" y="5752624"/>
            <a:ext cx="1069658" cy="15748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39315" y="5966460"/>
            <a:ext cx="6131838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Ma'lumotlarga asoslangan qarorlarni qabul qilish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139315" y="6429018"/>
            <a:ext cx="6255901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Qarorlar aniq faktlar va tendentsiyalar analiziga asoslanadi, xatolar kamayadi.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693E51-C778-4B59-AF63-13653982669D}"/>
              </a:ext>
            </a:extLst>
          </p:cNvPr>
          <p:cNvSpPr txBox="1"/>
          <p:nvPr/>
        </p:nvSpPr>
        <p:spPr>
          <a:xfrm>
            <a:off x="12683266" y="7734748"/>
            <a:ext cx="194713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4117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Avtomatlashtirish va optimallashtirish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535341" y="2598896"/>
            <a:ext cx="30480" cy="4789527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</p:sp>
      <p:sp>
        <p:nvSpPr>
          <p:cNvPr id="5" name="Shape 2"/>
          <p:cNvSpPr/>
          <p:nvPr/>
        </p:nvSpPr>
        <p:spPr>
          <a:xfrm>
            <a:off x="6760012" y="2838807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</p:sp>
      <p:sp>
        <p:nvSpPr>
          <p:cNvPr id="6" name="Shape 3"/>
          <p:cNvSpPr/>
          <p:nvPr/>
        </p:nvSpPr>
        <p:spPr>
          <a:xfrm>
            <a:off x="6280190" y="25988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65260" y="264140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1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669411" y="2676763"/>
            <a:ext cx="50605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Biznes jarayonlarini avtomatlashtirish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69411" y="3167182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Qayta takrorlanadigan vazifalarni avtomatlash orqali samaradorlik oshiriladi.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760012" y="4586526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</p:sp>
      <p:sp>
        <p:nvSpPr>
          <p:cNvPr id="11" name="Shape 8"/>
          <p:cNvSpPr/>
          <p:nvPr/>
        </p:nvSpPr>
        <p:spPr>
          <a:xfrm>
            <a:off x="6280190" y="43466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65260" y="438912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2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669411" y="4424482"/>
            <a:ext cx="45991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Resurslardan samarali foydalanish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669411" y="4914900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Texnologiyalar resurslarni tejamkor boshqarishga yordam beradi.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760012" y="6334244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</p:sp>
      <p:sp>
        <p:nvSpPr>
          <p:cNvPr id="16" name="Shape 13"/>
          <p:cNvSpPr/>
          <p:nvPr/>
        </p:nvSpPr>
        <p:spPr>
          <a:xfrm>
            <a:off x="6280190" y="609433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65260" y="613683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3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669411" y="6172200"/>
            <a:ext cx="54552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Ishlab chiqarish xarajatlarini kamaytirish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669411" y="6662618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Avtomatlashtirish natijasida xarajatlar pasayadi va sifati yaxshilanadi.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ABA717-EC7E-4885-B8B1-0045A6125028}"/>
              </a:ext>
            </a:extLst>
          </p:cNvPr>
          <p:cNvSpPr txBox="1"/>
          <p:nvPr/>
        </p:nvSpPr>
        <p:spPr>
          <a:xfrm>
            <a:off x="12729924" y="7659445"/>
            <a:ext cx="1900476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80006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Tezkorlik va moslashuvchanlik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910727"/>
            <a:ext cx="3785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O'zgarishlarga tez moslashish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1411" y="420909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1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37790" y="2593658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Yangi imkoniyatlarni tezda aniqlash va foydalanish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7790" y="3438406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Bozor tendensiyalarini kuzatib, yangi yo‘nalishlar tez qabul qilinadi.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70307" y="3258026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2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937790" y="4864775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Innovatsiyalarni rag'batlantirish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937790" y="5709523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Yangi texnologiyalarni qo‘llash va eksperimentlar qilish madaniyati yaratiladi.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94533" y="5984200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3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BBBA3B-C447-458C-8222-8F4EAACD8FA7}"/>
              </a:ext>
            </a:extLst>
          </p:cNvPr>
          <p:cNvSpPr txBox="1"/>
          <p:nvPr/>
        </p:nvSpPr>
        <p:spPr>
          <a:xfrm>
            <a:off x="12726296" y="7680960"/>
            <a:ext cx="190410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F6B48C4-343B-4739-8DA5-DD4A7DCCFEF8}"/>
              </a:ext>
            </a:extLst>
          </p:cNvPr>
          <p:cNvSpPr/>
          <p:nvPr/>
        </p:nvSpPr>
        <p:spPr>
          <a:xfrm>
            <a:off x="907256" y="4864775"/>
            <a:ext cx="378523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Zara (Inditex) – </a:t>
            </a:r>
            <a:r>
              <a:rPr lang="en-US" b="1" dirty="0" err="1"/>
              <a:t>Moslashuvchan</a:t>
            </a:r>
            <a:r>
              <a:rPr lang="en-US" b="1" dirty="0"/>
              <a:t> </a:t>
            </a:r>
            <a:r>
              <a:rPr lang="en-US" b="1" dirty="0" err="1"/>
              <a:t>ishlab</a:t>
            </a:r>
            <a:r>
              <a:rPr lang="en-US" b="1" dirty="0"/>
              <a:t> </a:t>
            </a:r>
            <a:r>
              <a:rPr lang="en-US" b="1" dirty="0" err="1"/>
              <a:t>chiqarish</a:t>
            </a:r>
            <a:r>
              <a:rPr lang="en-US" b="1" dirty="0"/>
              <a:t> </a:t>
            </a:r>
            <a:r>
              <a:rPr lang="en-US" b="1" dirty="0" err="1"/>
              <a:t>modeli</a:t>
            </a:r>
            <a:endParaRPr lang="en-US" b="1" dirty="0"/>
          </a:p>
          <a:p>
            <a:r>
              <a:rPr lang="en-US" dirty="0"/>
              <a:t>Zara </a:t>
            </a:r>
            <a:r>
              <a:rPr lang="en-US" dirty="0" err="1"/>
              <a:t>raqobatchilardan</a:t>
            </a:r>
            <a:r>
              <a:rPr lang="en-US" dirty="0"/>
              <a:t> </a:t>
            </a:r>
            <a:r>
              <a:rPr lang="en-US" dirty="0" err="1"/>
              <a:t>farqli</a:t>
            </a:r>
            <a:r>
              <a:rPr lang="en-US" dirty="0"/>
              <a:t> </a:t>
            </a:r>
            <a:r>
              <a:rPr lang="en-US" dirty="0" err="1"/>
              <a:t>ravishda</a:t>
            </a:r>
            <a:r>
              <a:rPr lang="en-US" dirty="0"/>
              <a:t> </a:t>
            </a:r>
            <a:r>
              <a:rPr lang="en-US" dirty="0" err="1"/>
              <a:t>yangi</a:t>
            </a:r>
            <a:r>
              <a:rPr lang="en-US" dirty="0"/>
              <a:t> </a:t>
            </a:r>
            <a:r>
              <a:rPr lang="en-US" dirty="0" err="1"/>
              <a:t>kiyim</a:t>
            </a:r>
            <a:r>
              <a:rPr lang="en-US" dirty="0"/>
              <a:t> </a:t>
            </a:r>
            <a:r>
              <a:rPr lang="en-US" dirty="0" err="1"/>
              <a:t>kolleksiyalarini</a:t>
            </a:r>
            <a:r>
              <a:rPr lang="en-US" dirty="0"/>
              <a:t> </a:t>
            </a:r>
            <a:r>
              <a:rPr lang="en-US" dirty="0" err="1"/>
              <a:t>bozorda</a:t>
            </a:r>
            <a:r>
              <a:rPr lang="en-US" dirty="0"/>
              <a:t> </a:t>
            </a:r>
            <a:r>
              <a:rPr lang="en-US" b="1" dirty="0"/>
              <a:t>2-3 </a:t>
            </a:r>
            <a:r>
              <a:rPr lang="en-US" b="1" dirty="0" err="1"/>
              <a:t>haftada</a:t>
            </a:r>
            <a:r>
              <a:rPr lang="en-US" dirty="0"/>
              <a:t> </a:t>
            </a:r>
            <a:r>
              <a:rPr lang="en-US" dirty="0" err="1"/>
              <a:t>paydo</a:t>
            </a:r>
            <a:r>
              <a:rPr lang="en-US" dirty="0"/>
              <a:t> </a:t>
            </a:r>
            <a:r>
              <a:rPr lang="en-US" dirty="0" err="1"/>
              <a:t>qilishga</a:t>
            </a:r>
            <a:r>
              <a:rPr lang="en-US" dirty="0"/>
              <a:t> </a:t>
            </a:r>
            <a:r>
              <a:rPr lang="en-US" dirty="0" err="1"/>
              <a:t>qodir</a:t>
            </a:r>
            <a:r>
              <a:rPr lang="en-US" dirty="0"/>
              <a:t>. </a:t>
            </a:r>
            <a:r>
              <a:rPr lang="en-US" dirty="0" err="1"/>
              <a:t>Ular</a:t>
            </a:r>
            <a:r>
              <a:rPr lang="en-US" dirty="0"/>
              <a:t> </a:t>
            </a:r>
            <a:r>
              <a:rPr lang="en-US" dirty="0" err="1"/>
              <a:t>ishlab</a:t>
            </a:r>
            <a:r>
              <a:rPr lang="en-US" dirty="0"/>
              <a:t> </a:t>
            </a:r>
            <a:r>
              <a:rPr lang="en-US" dirty="0" err="1"/>
              <a:t>chiqarish</a:t>
            </a:r>
            <a:r>
              <a:rPr lang="en-US" dirty="0"/>
              <a:t> </a:t>
            </a:r>
            <a:r>
              <a:rPr lang="en-US" dirty="0" err="1"/>
              <a:t>zanjirining</a:t>
            </a:r>
            <a:r>
              <a:rPr lang="en-US" dirty="0"/>
              <a:t>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qismini</a:t>
            </a:r>
            <a:r>
              <a:rPr lang="en-US" dirty="0"/>
              <a:t> </a:t>
            </a:r>
            <a:r>
              <a:rPr lang="en-US" dirty="0" err="1"/>
              <a:t>Ispaniyada</a:t>
            </a:r>
            <a:r>
              <a:rPr lang="en-US" dirty="0"/>
              <a:t> </a:t>
            </a:r>
            <a:r>
              <a:rPr lang="en-US" dirty="0" err="1"/>
              <a:t>saqlab</a:t>
            </a:r>
            <a:r>
              <a:rPr lang="en-US" dirty="0"/>
              <a:t>, </a:t>
            </a:r>
            <a:r>
              <a:rPr lang="en-US" dirty="0" err="1"/>
              <a:t>dizayn</a:t>
            </a:r>
            <a:r>
              <a:rPr lang="en-US" dirty="0"/>
              <a:t>, </a:t>
            </a:r>
            <a:r>
              <a:rPr lang="en-US" dirty="0" err="1"/>
              <a:t>tikuv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yetkazib</a:t>
            </a:r>
            <a:r>
              <a:rPr lang="en-US" dirty="0"/>
              <a:t> </a:t>
            </a:r>
            <a:r>
              <a:rPr lang="en-US" dirty="0" err="1"/>
              <a:t>berish</a:t>
            </a:r>
            <a:r>
              <a:rPr lang="en-US" dirty="0"/>
              <a:t> </a:t>
            </a:r>
            <a:r>
              <a:rPr lang="en-US" dirty="0" err="1"/>
              <a:t>jarayonlarini</a:t>
            </a:r>
            <a:r>
              <a:rPr lang="en-US" dirty="0"/>
              <a:t> </a:t>
            </a:r>
            <a:r>
              <a:rPr lang="en-US" dirty="0" err="1"/>
              <a:t>markazlashtirgan</a:t>
            </a:r>
            <a:r>
              <a:rPr lang="en-US" dirty="0"/>
              <a:t>.</a:t>
            </a:r>
          </a:p>
        </p:txBody>
      </p:sp>
      <p:pic>
        <p:nvPicPr>
          <p:cNvPr id="1026" name="Picture 2" descr="ZARA Care">
            <a:extLst>
              <a:ext uri="{FF2B5EF4-FFF2-40B4-BE49-F238E27FC236}">
                <a16:creationId xmlns:a16="http://schemas.microsoft.com/office/drawing/2014/main" id="{42FF4BBA-EBF6-4D58-8BD2-68E3501C4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66" y="2108500"/>
            <a:ext cx="1762062" cy="1762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516"/>
            <a:ext cx="1463040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10928"/>
            <a:ext cx="103524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Yangi operatsion modelning afzalliklari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69951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579" y="4794528"/>
            <a:ext cx="240350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Samaradorlikning oshishi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587579" y="5639276"/>
            <a:ext cx="22542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Jarayonlar soddalashtiriladi, vaqt va resurslar tejiladi.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5278" y="4699516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19067" y="4794528"/>
            <a:ext cx="225432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Mijozlar tajribasining yaxshilanishi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4919067" y="5993606"/>
            <a:ext cx="225432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Mijozlar ehtiyojlari aniqroq qondiriladi va ular bilan mustahkam aloqalar o‘rnatiladi.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4699516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50674" y="4794528"/>
            <a:ext cx="225432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Raqobatbardoshlikning oshishi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8250674" y="5639276"/>
            <a:ext cx="225432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Bozorda yuqori pozitsiyaga erishish va innovatsion yechimlar bilan ajralib turish.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8491" y="4699516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582281" y="4794528"/>
            <a:ext cx="225432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Daromadning oshishi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1582281" y="5639276"/>
            <a:ext cx="225432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Optimallashtirilgan jarayonlar va yaxshilangan xizmatlar natijasida moliyaviy o‘sish.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0807B1-5016-455F-ACB0-F0556445D1B6}"/>
              </a:ext>
            </a:extLst>
          </p:cNvPr>
          <p:cNvSpPr txBox="1"/>
          <p:nvPr/>
        </p:nvSpPr>
        <p:spPr>
          <a:xfrm>
            <a:off x="12709445" y="7774543"/>
            <a:ext cx="1936376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200" y="517956"/>
            <a:ext cx="7772400" cy="1836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Raqamli transformatsiyani amalga oshirish bo'yicha maslahatlar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172200" y="2669977"/>
            <a:ext cx="440769" cy="440769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45662" y="2706707"/>
            <a:ext cx="293846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08827" y="2737247"/>
            <a:ext cx="480036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Yuqori rahbariyatning qo'llab-quvvatlashi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08827" y="3160871"/>
            <a:ext cx="7135773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Boshqaruv darajasida qat'iy qo‘llab-quvvatlash raqamli o‘zgarishlarni muvaffaqiyatli amalga oshirishning kalitidir.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172200" y="4179689"/>
            <a:ext cx="440769" cy="440769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45662" y="4216420"/>
            <a:ext cx="293846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2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808827" y="4246959"/>
            <a:ext cx="2948345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O'zgarishlarni boshqarish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08827" y="4670584"/>
            <a:ext cx="7135773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Jarayonlarni qadam-baqadam rejalashtirish va </a:t>
            </a:r>
            <a:r>
              <a:rPr lang="en-US" sz="20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xodimlarni</a:t>
            </a:r>
            <a:r>
              <a:rPr lang="en-US" sz="20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</a:t>
            </a:r>
            <a:br>
              <a:rPr lang="en-US" sz="20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</a:br>
            <a:r>
              <a:rPr lang="en-US" sz="20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jalb</a:t>
            </a:r>
            <a:r>
              <a:rPr lang="en-US" sz="20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qilish zarur.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172200" y="5375910"/>
            <a:ext cx="440769" cy="440769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45662" y="5412641"/>
            <a:ext cx="293846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3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808827" y="5443180"/>
            <a:ext cx="3983593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Xodimlarni o'qitish va rivojlantirish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08827" y="5866805"/>
            <a:ext cx="7135773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Yangi ko‘nikmalarni egallash uchun doimiy ta'lim va professional </a:t>
            </a:r>
            <a:br>
              <a:rPr lang="en-US" sz="20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</a:br>
            <a:r>
              <a:rPr lang="en-US" sz="200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o‘sish</a:t>
            </a:r>
            <a:r>
              <a:rPr lang="en-US" sz="20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 muhimdir.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172200" y="6572131"/>
            <a:ext cx="440769" cy="440769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45662" y="6608862"/>
            <a:ext cx="293846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4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808827" y="6639401"/>
            <a:ext cx="3521393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Texnologiyalarni to'g'ri tanlash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808827" y="7063026"/>
            <a:ext cx="7135773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Biznes ehtiyojlariga mos, zamonaviy va integratsiya qilinadigan yechimlar tanlanishi kerak.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EF855A-C5A4-472C-B249-E82B4912B95F}"/>
              </a:ext>
            </a:extLst>
          </p:cNvPr>
          <p:cNvSpPr txBox="1"/>
          <p:nvPr/>
        </p:nvSpPr>
        <p:spPr>
          <a:xfrm>
            <a:off x="12672508" y="7711644"/>
            <a:ext cx="195789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0FF4CC32-9E7C-4DEE-8B3F-EC60A9F4657D}"/>
              </a:ext>
            </a:extLst>
          </p:cNvPr>
          <p:cNvSpPr txBox="1"/>
          <p:nvPr/>
        </p:nvSpPr>
        <p:spPr>
          <a:xfrm>
            <a:off x="7659446" y="213950"/>
            <a:ext cx="5249731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Yangi</a:t>
            </a:r>
            <a:r>
              <a:rPr lang="en-US" sz="2400" b="1" dirty="0"/>
              <a:t> </a:t>
            </a:r>
            <a:r>
              <a:rPr lang="en-US" sz="2400" b="1" dirty="0" err="1"/>
              <a:t>operatsion</a:t>
            </a:r>
            <a:r>
              <a:rPr lang="en-US" sz="2400" b="1" dirty="0"/>
              <a:t> </a:t>
            </a:r>
            <a:r>
              <a:rPr lang="en-US" sz="2400" b="1" dirty="0" err="1"/>
              <a:t>modelni</a:t>
            </a:r>
            <a:r>
              <a:rPr lang="en-US" sz="2400" b="1" dirty="0"/>
              <a:t> </a:t>
            </a:r>
            <a:r>
              <a:rPr lang="en-US" sz="2400" b="1" dirty="0" err="1"/>
              <a:t>joriy</a:t>
            </a:r>
            <a:r>
              <a:rPr lang="en-US" sz="2400" b="1" dirty="0"/>
              <a:t> </a:t>
            </a:r>
            <a:r>
              <a:rPr lang="en-US" sz="2400" b="1" dirty="0" err="1"/>
              <a:t>etish</a:t>
            </a:r>
            <a:r>
              <a:rPr lang="en-US" sz="2400" b="1" dirty="0"/>
              <a:t> </a:t>
            </a:r>
            <a:r>
              <a:rPr lang="en-US" sz="2400" b="1" dirty="0" err="1"/>
              <a:t>bosqichlari</a:t>
            </a:r>
            <a:endParaRPr lang="ru-RU" sz="2400" dirty="0"/>
          </a:p>
          <a:p>
            <a:r>
              <a:rPr lang="en-US" sz="2400" b="1" dirty="0"/>
              <a:t>1.</a:t>
            </a:r>
            <a:r>
              <a:rPr lang="ru-RU" sz="2400" b="1" dirty="0"/>
              <a:t> </a:t>
            </a:r>
            <a:r>
              <a:rPr lang="ru-RU" sz="2400" b="1" dirty="0" err="1"/>
              <a:t>Tahlil</a:t>
            </a:r>
            <a:r>
              <a:rPr lang="ru-RU" sz="2400" b="1" dirty="0"/>
              <a:t> </a:t>
            </a:r>
            <a:r>
              <a:rPr lang="ru-RU" sz="2400" b="1" dirty="0" err="1"/>
              <a:t>va</a:t>
            </a:r>
            <a:r>
              <a:rPr lang="ru-RU" sz="2400" b="1" dirty="0"/>
              <a:t> </a:t>
            </a:r>
            <a:r>
              <a:rPr lang="ru-RU" sz="2400" b="1" dirty="0" err="1"/>
              <a:t>baholash</a:t>
            </a:r>
            <a:r>
              <a:rPr lang="ru-RU" sz="2400" b="1" dirty="0"/>
              <a:t> (</a:t>
            </a:r>
            <a:r>
              <a:rPr lang="ru-RU" sz="2400" b="1" dirty="0" err="1"/>
              <a:t>Assessment</a:t>
            </a:r>
            <a:r>
              <a:rPr lang="ru-RU" sz="2400" b="1" dirty="0"/>
              <a:t>)</a:t>
            </a:r>
            <a:endParaRPr lang="ru-RU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Amaldagi</a:t>
            </a:r>
            <a:r>
              <a:rPr lang="en-US" sz="2400" dirty="0"/>
              <a:t> </a:t>
            </a:r>
            <a:r>
              <a:rPr lang="en-US" sz="2400" dirty="0" err="1"/>
              <a:t>operatsion</a:t>
            </a:r>
            <a:r>
              <a:rPr lang="en-US" sz="2400" dirty="0"/>
              <a:t> </a:t>
            </a:r>
            <a:r>
              <a:rPr lang="en-US" sz="2400" dirty="0" err="1"/>
              <a:t>modelni</a:t>
            </a:r>
            <a:r>
              <a:rPr lang="en-US" sz="2400" dirty="0"/>
              <a:t> </a:t>
            </a:r>
            <a:r>
              <a:rPr lang="en-US" sz="2400" dirty="0" err="1"/>
              <a:t>tahlil</a:t>
            </a:r>
            <a:r>
              <a:rPr lang="en-US" sz="2400" dirty="0"/>
              <a:t> </a:t>
            </a:r>
            <a:r>
              <a:rPr lang="en-US" sz="2400" dirty="0" err="1"/>
              <a:t>qilish</a:t>
            </a:r>
            <a:r>
              <a:rPr lang="en-US" sz="2400" dirty="0"/>
              <a:t>, </a:t>
            </a:r>
            <a:r>
              <a:rPr lang="en-US" sz="2400" dirty="0" err="1"/>
              <a:t>kamchiliklarni</a:t>
            </a:r>
            <a:r>
              <a:rPr lang="en-US" sz="2400" dirty="0"/>
              <a:t> </a:t>
            </a:r>
            <a:r>
              <a:rPr lang="en-US" sz="2400" dirty="0" err="1"/>
              <a:t>aniqlash</a:t>
            </a:r>
            <a:r>
              <a:rPr lang="en-US" sz="2400" dirty="0"/>
              <a:t>.</a:t>
            </a:r>
            <a:endParaRPr lang="ru-RU" sz="2400" dirty="0"/>
          </a:p>
          <a:p>
            <a:r>
              <a:rPr lang="ru-RU" sz="2400" b="1" dirty="0"/>
              <a:t>2. </a:t>
            </a:r>
            <a:r>
              <a:rPr lang="ru-RU" sz="2400" b="1" dirty="0" err="1"/>
              <a:t>Strategiyani</a:t>
            </a:r>
            <a:r>
              <a:rPr lang="ru-RU" sz="2400" b="1" dirty="0"/>
              <a:t> </a:t>
            </a:r>
            <a:r>
              <a:rPr lang="ru-RU" sz="2400" b="1" dirty="0" err="1"/>
              <a:t>ishlab</a:t>
            </a:r>
            <a:r>
              <a:rPr lang="ru-RU" sz="2400" b="1" dirty="0"/>
              <a:t> </a:t>
            </a:r>
            <a:r>
              <a:rPr lang="ru-RU" sz="2400" b="1" dirty="0" err="1"/>
              <a:t>chiqish</a:t>
            </a:r>
            <a:endParaRPr lang="ru-RU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O‘zgarish</a:t>
            </a:r>
            <a:r>
              <a:rPr lang="en-US" sz="2400" dirty="0"/>
              <a:t> </a:t>
            </a:r>
            <a:r>
              <a:rPr lang="en-US" sz="2400" dirty="0" err="1"/>
              <a:t>maqsadlari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ustuvor</a:t>
            </a:r>
            <a:r>
              <a:rPr lang="en-US" sz="2400" dirty="0"/>
              <a:t> </a:t>
            </a:r>
            <a:r>
              <a:rPr lang="en-US" sz="2400" dirty="0" err="1"/>
              <a:t>yo‘nalishlarini</a:t>
            </a:r>
            <a:r>
              <a:rPr lang="en-US" sz="2400" dirty="0"/>
              <a:t> </a:t>
            </a:r>
            <a:r>
              <a:rPr lang="en-US" sz="2400" dirty="0" err="1"/>
              <a:t>belgilash</a:t>
            </a:r>
            <a:r>
              <a:rPr lang="en-US" sz="2400" dirty="0"/>
              <a:t>.</a:t>
            </a:r>
            <a:endParaRPr lang="ru-RU" sz="2400" dirty="0"/>
          </a:p>
          <a:p>
            <a:r>
              <a:rPr lang="ru-RU" sz="2400" b="1" dirty="0"/>
              <a:t>3. </a:t>
            </a:r>
            <a:r>
              <a:rPr lang="ru-RU" sz="2400" b="1" dirty="0" err="1"/>
              <a:t>Texnologiyani</a:t>
            </a:r>
            <a:r>
              <a:rPr lang="ru-RU" sz="2400" b="1" dirty="0"/>
              <a:t> </a:t>
            </a:r>
            <a:r>
              <a:rPr lang="ru-RU" sz="2400" b="1" dirty="0" err="1"/>
              <a:t>tanlash</a:t>
            </a:r>
            <a:endParaRPr lang="ru-RU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Zarur</a:t>
            </a:r>
            <a:r>
              <a:rPr lang="en-US" sz="2400" dirty="0"/>
              <a:t> </a:t>
            </a:r>
            <a:r>
              <a:rPr lang="en-US" sz="2400" dirty="0" err="1"/>
              <a:t>raqamli</a:t>
            </a:r>
            <a:r>
              <a:rPr lang="en-US" sz="2400" dirty="0"/>
              <a:t> </a:t>
            </a:r>
            <a:r>
              <a:rPr lang="en-US" sz="2400" dirty="0" err="1"/>
              <a:t>vositalar</a:t>
            </a:r>
            <a:r>
              <a:rPr lang="en-US" sz="2400" dirty="0"/>
              <a:t>, </a:t>
            </a:r>
            <a:r>
              <a:rPr lang="en-US" sz="2400" dirty="0" err="1"/>
              <a:t>platformalar</a:t>
            </a:r>
            <a:r>
              <a:rPr lang="en-US" sz="2400" dirty="0"/>
              <a:t>, </a:t>
            </a:r>
            <a:r>
              <a:rPr lang="en-US" sz="2400" dirty="0" err="1"/>
              <a:t>infratuzilma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xavfsizlik</a:t>
            </a:r>
            <a:r>
              <a:rPr lang="en-US" sz="2400" dirty="0"/>
              <a:t> </a:t>
            </a:r>
            <a:r>
              <a:rPr lang="en-US" sz="2400" dirty="0" err="1"/>
              <a:t>yechimlarini</a:t>
            </a:r>
            <a:r>
              <a:rPr lang="en-US" sz="2400" dirty="0"/>
              <a:t> </a:t>
            </a:r>
            <a:r>
              <a:rPr lang="en-US" sz="2400" dirty="0" err="1"/>
              <a:t>tanlash</a:t>
            </a:r>
            <a:r>
              <a:rPr lang="en-US" sz="2400" dirty="0"/>
              <a:t>.</a:t>
            </a:r>
            <a:endParaRPr lang="ru-RU" sz="2400" dirty="0"/>
          </a:p>
          <a:p>
            <a:r>
              <a:rPr lang="ru-RU" sz="2400" b="1" dirty="0"/>
              <a:t>4. </a:t>
            </a:r>
            <a:r>
              <a:rPr lang="ru-RU" sz="2400" b="1" dirty="0" err="1"/>
              <a:t>Jarayonlarni</a:t>
            </a:r>
            <a:r>
              <a:rPr lang="ru-RU" sz="2400" b="1" dirty="0"/>
              <a:t> </a:t>
            </a:r>
            <a:r>
              <a:rPr lang="ru-RU" sz="2400" b="1" dirty="0" err="1"/>
              <a:t>qayta</a:t>
            </a:r>
            <a:r>
              <a:rPr lang="ru-RU" sz="2400" b="1" dirty="0"/>
              <a:t> </a:t>
            </a:r>
            <a:r>
              <a:rPr lang="ru-RU" sz="2400" b="1" dirty="0" err="1"/>
              <a:t>loyihalash</a:t>
            </a:r>
            <a:endParaRPr lang="ru-RU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Ish</a:t>
            </a:r>
            <a:r>
              <a:rPr lang="en-US" sz="2400" dirty="0"/>
              <a:t> </a:t>
            </a:r>
            <a:r>
              <a:rPr lang="en-US" sz="2400" dirty="0" err="1"/>
              <a:t>jarayonlarini</a:t>
            </a:r>
            <a:r>
              <a:rPr lang="en-US" sz="2400" dirty="0"/>
              <a:t> </a:t>
            </a:r>
            <a:r>
              <a:rPr lang="en-US" sz="2400" dirty="0" err="1"/>
              <a:t>raqamlashtirish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avtomatlashtirishga</a:t>
            </a:r>
            <a:r>
              <a:rPr lang="en-US" sz="2400" dirty="0"/>
              <a:t> </a:t>
            </a:r>
            <a:r>
              <a:rPr lang="en-US" sz="2400" dirty="0" err="1"/>
              <a:t>moslashtirish</a:t>
            </a:r>
            <a:r>
              <a:rPr lang="en-US" sz="2400" dirty="0"/>
              <a:t>.</a:t>
            </a:r>
            <a:endParaRPr lang="ru-RU" sz="2400" dirty="0"/>
          </a:p>
          <a:p>
            <a:r>
              <a:rPr lang="ru-RU" sz="2400" b="1" dirty="0"/>
              <a:t>5. </a:t>
            </a:r>
            <a:r>
              <a:rPr lang="ru-RU" sz="2400" b="1" dirty="0" err="1"/>
              <a:t>Xodimlarni</a:t>
            </a:r>
            <a:r>
              <a:rPr lang="ru-RU" sz="2400" b="1" dirty="0"/>
              <a:t> </a:t>
            </a:r>
            <a:r>
              <a:rPr lang="ru-RU" sz="2400" b="1" dirty="0" err="1"/>
              <a:t>tayyorlash</a:t>
            </a:r>
            <a:endParaRPr lang="ru-RU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O‘qitish</a:t>
            </a:r>
            <a:r>
              <a:rPr lang="en-US" sz="2400" dirty="0"/>
              <a:t>, </a:t>
            </a:r>
            <a:r>
              <a:rPr lang="en-US" sz="2400" dirty="0" err="1"/>
              <a:t>malaka</a:t>
            </a:r>
            <a:r>
              <a:rPr lang="en-US" sz="2400" dirty="0"/>
              <a:t> </a:t>
            </a:r>
            <a:r>
              <a:rPr lang="en-US" sz="2400" dirty="0" err="1"/>
              <a:t>oshirish</a:t>
            </a:r>
            <a:r>
              <a:rPr lang="en-US" sz="2400" dirty="0"/>
              <a:t>, </a:t>
            </a:r>
            <a:r>
              <a:rPr lang="en-US" sz="2400" dirty="0" err="1"/>
              <a:t>raqamli</a:t>
            </a:r>
            <a:r>
              <a:rPr lang="en-US" sz="2400" dirty="0"/>
              <a:t> </a:t>
            </a:r>
            <a:r>
              <a:rPr lang="en-US" sz="2400" dirty="0" err="1"/>
              <a:t>savodxonlikni</a:t>
            </a:r>
            <a:r>
              <a:rPr lang="en-US" sz="2400" dirty="0"/>
              <a:t> </a:t>
            </a:r>
            <a:r>
              <a:rPr lang="en-US" sz="2400" dirty="0" err="1"/>
              <a:t>rivojlantirish</a:t>
            </a:r>
            <a:r>
              <a:rPr lang="en-US" sz="2400" dirty="0"/>
              <a:t>.</a:t>
            </a:r>
            <a:endParaRPr lang="ru-RU" sz="2400" dirty="0"/>
          </a:p>
          <a:p>
            <a:r>
              <a:rPr lang="ru-RU" sz="2400" b="1" dirty="0"/>
              <a:t>6. </a:t>
            </a:r>
            <a:r>
              <a:rPr lang="ru-RU" sz="2400" b="1" dirty="0" err="1"/>
              <a:t>Monitoring</a:t>
            </a:r>
            <a:r>
              <a:rPr lang="ru-RU" sz="2400" b="1" dirty="0"/>
              <a:t> </a:t>
            </a:r>
            <a:r>
              <a:rPr lang="ru-RU" sz="2400" b="1" dirty="0" err="1"/>
              <a:t>va</a:t>
            </a:r>
            <a:r>
              <a:rPr lang="ru-RU" sz="2400" b="1" dirty="0"/>
              <a:t> </a:t>
            </a:r>
            <a:r>
              <a:rPr lang="ru-RU" sz="2400" b="1" dirty="0" err="1"/>
              <a:t>tahlil</a:t>
            </a:r>
            <a:endParaRPr lang="ru-RU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Natijalarni</a:t>
            </a:r>
            <a:r>
              <a:rPr lang="en-US" sz="2400" dirty="0"/>
              <a:t> </a:t>
            </a:r>
            <a:r>
              <a:rPr lang="en-US" sz="2400" dirty="0" err="1"/>
              <a:t>o‘lchash</a:t>
            </a:r>
            <a:r>
              <a:rPr lang="en-US" sz="2400" dirty="0"/>
              <a:t>, real </a:t>
            </a:r>
            <a:r>
              <a:rPr lang="en-US" sz="2400" dirty="0" err="1"/>
              <a:t>vaqtli</a:t>
            </a:r>
            <a:r>
              <a:rPr lang="en-US" sz="2400" dirty="0"/>
              <a:t> </a:t>
            </a:r>
            <a:r>
              <a:rPr lang="en-US" sz="2400" dirty="0" err="1"/>
              <a:t>ko‘rsatkichlar</a:t>
            </a:r>
            <a:r>
              <a:rPr lang="en-US" sz="2400" dirty="0"/>
              <a:t> </a:t>
            </a:r>
            <a:r>
              <a:rPr lang="en-US" sz="2400" dirty="0" err="1"/>
              <a:t>orqali</a:t>
            </a:r>
            <a:r>
              <a:rPr lang="en-US" sz="2400" dirty="0"/>
              <a:t> </a:t>
            </a:r>
            <a:r>
              <a:rPr lang="en-US" sz="2400" dirty="0" err="1"/>
              <a:t>takomillashtirish</a:t>
            </a:r>
            <a:r>
              <a:rPr lang="en-US" sz="2400" dirty="0"/>
              <a:t>.</a:t>
            </a:r>
            <a:endParaRPr lang="ru-RU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ru-RU" sz="2400" dirty="0"/>
          </a:p>
          <a:p>
            <a:endParaRPr lang="ru-RU" sz="2400" dirty="0"/>
          </a:p>
        </p:txBody>
      </p:sp>
      <p:pic>
        <p:nvPicPr>
          <p:cNvPr id="3074" name="Picture 2" descr="250,600+ Cloud Computing Business Stock Photos, Pictures &amp; Royalty-Free  Images - iStock | Technology, Cloud computing security, Data center">
            <a:extLst>
              <a:ext uri="{FF2B5EF4-FFF2-40B4-BE49-F238E27FC236}">
                <a16:creationId xmlns:a16="http://schemas.microsoft.com/office/drawing/2014/main" id="{2AF8947E-B451-4B8D-A84D-FC1FC5BB9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26642"/>
            <a:ext cx="7174679" cy="402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9C7E5E5-4CF2-4115-A66E-8083FB7F6EBC}"/>
              </a:ext>
            </a:extLst>
          </p:cNvPr>
          <p:cNvSpPr txBox="1"/>
          <p:nvPr/>
        </p:nvSpPr>
        <p:spPr>
          <a:xfrm>
            <a:off x="12532659" y="7616414"/>
            <a:ext cx="1957892" cy="53788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2050" name="Picture 2" descr="Yandex: Owner of 'Russia's Google' pulls out of home country - BBC News">
            <a:extLst>
              <a:ext uri="{FF2B5EF4-FFF2-40B4-BE49-F238E27FC236}">
                <a16:creationId xmlns:a16="http://schemas.microsoft.com/office/drawing/2014/main" id="{9FA2700E-4821-481B-A89C-5DEC90836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341" y="4932381"/>
            <a:ext cx="5249731" cy="2952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8882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52BD627A-F076-463B-8D03-DFE93AA00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369046"/>
              </p:ext>
            </p:extLst>
          </p:nvPr>
        </p:nvGraphicFramePr>
        <p:xfrm>
          <a:off x="774551" y="1368157"/>
          <a:ext cx="12558918" cy="52021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86306">
                  <a:extLst>
                    <a:ext uri="{9D8B030D-6E8A-4147-A177-3AD203B41FA5}">
                      <a16:colId xmlns:a16="http://schemas.microsoft.com/office/drawing/2014/main" val="806664430"/>
                    </a:ext>
                  </a:extLst>
                </a:gridCol>
                <a:gridCol w="4186306">
                  <a:extLst>
                    <a:ext uri="{9D8B030D-6E8A-4147-A177-3AD203B41FA5}">
                      <a16:colId xmlns:a16="http://schemas.microsoft.com/office/drawing/2014/main" val="2473316598"/>
                    </a:ext>
                  </a:extLst>
                </a:gridCol>
                <a:gridCol w="4186306">
                  <a:extLst>
                    <a:ext uri="{9D8B030D-6E8A-4147-A177-3AD203B41FA5}">
                      <a16:colId xmlns:a16="http://schemas.microsoft.com/office/drawing/2014/main" val="293016568"/>
                    </a:ext>
                  </a:extLst>
                </a:gridCol>
              </a:tblGrid>
              <a:tr h="102711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err="1">
                          <a:effectLst/>
                        </a:rPr>
                        <a:t>Kompaniya</a:t>
                      </a:r>
                      <a:endParaRPr lang="ru-RU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Raqamli model o‘zgarishi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Natija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89450592"/>
                  </a:ext>
                </a:extLst>
              </a:tr>
              <a:tr h="1027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General Electric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IoT va sanoat internetini joriy etdi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Uskunalarni real vaqtli nazorat qilish imkoniyati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1445039"/>
                  </a:ext>
                </a:extLst>
              </a:tr>
              <a:tr h="15426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 dirty="0" err="1">
                          <a:effectLst/>
                        </a:rPr>
                        <a:t>Starbucks</a:t>
                      </a:r>
                      <a:endParaRPr lang="ru-RU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Mobil ilova orqali buyurtma va to‘lov tizimi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Mijoz tajribasi yaxshilandi, sodiqlik oshdi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43815493"/>
                  </a:ext>
                </a:extLst>
              </a:tr>
              <a:tr h="15426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effectLst/>
                        </a:rPr>
                        <a:t>Zara (Inditex)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Omni-channel savdo va real vaqtli zaxira boshqaruvi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</a:rPr>
                        <a:t>Savdo</a:t>
                      </a:r>
                      <a:r>
                        <a:rPr lang="en-US" sz="3200" dirty="0">
                          <a:effectLst/>
                        </a:rPr>
                        <a:t> </a:t>
                      </a:r>
                      <a:r>
                        <a:rPr lang="en-US" sz="3200" dirty="0" err="1">
                          <a:effectLst/>
                        </a:rPr>
                        <a:t>samaradorligi</a:t>
                      </a:r>
                      <a:r>
                        <a:rPr lang="en-US" sz="3200" dirty="0">
                          <a:effectLst/>
                        </a:rPr>
                        <a:t> </a:t>
                      </a:r>
                      <a:r>
                        <a:rPr lang="en-US" sz="3200" dirty="0" err="1">
                          <a:effectLst/>
                        </a:rPr>
                        <a:t>oshdi</a:t>
                      </a:r>
                      <a:r>
                        <a:rPr lang="en-US" sz="3200" dirty="0">
                          <a:effectLst/>
                        </a:rPr>
                        <a:t>, </a:t>
                      </a:r>
                      <a:r>
                        <a:rPr lang="en-US" sz="3200" dirty="0" err="1">
                          <a:effectLst/>
                        </a:rPr>
                        <a:t>zaxira</a:t>
                      </a:r>
                      <a:r>
                        <a:rPr lang="en-US" sz="3200" dirty="0">
                          <a:effectLst/>
                        </a:rPr>
                        <a:t> </a:t>
                      </a:r>
                      <a:r>
                        <a:rPr lang="en-US" sz="3200" dirty="0" err="1">
                          <a:effectLst/>
                        </a:rPr>
                        <a:t>ortiqlari</a:t>
                      </a:r>
                      <a:r>
                        <a:rPr lang="en-US" sz="3200" dirty="0">
                          <a:effectLst/>
                        </a:rPr>
                        <a:t> </a:t>
                      </a:r>
                      <a:r>
                        <a:rPr lang="en-US" sz="3200" dirty="0" err="1">
                          <a:effectLst/>
                        </a:rPr>
                        <a:t>kamaydi</a:t>
                      </a:r>
                      <a:endParaRPr lang="ru-RU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1561367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05EF08B-98BA-45E5-BD3A-A13E7E98A672}"/>
              </a:ext>
            </a:extLst>
          </p:cNvPr>
          <p:cNvSpPr txBox="1"/>
          <p:nvPr/>
        </p:nvSpPr>
        <p:spPr>
          <a:xfrm>
            <a:off x="12726296" y="7691718"/>
            <a:ext cx="1828800" cy="44106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4898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5E62DCE-6BAC-4D88-BA6D-238257A69F1D}"/>
              </a:ext>
            </a:extLst>
          </p:cNvPr>
          <p:cNvSpPr/>
          <p:nvPr/>
        </p:nvSpPr>
        <p:spPr>
          <a:xfrm>
            <a:off x="1920240" y="2258534"/>
            <a:ext cx="10789920" cy="42014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Savol-javob</a:t>
            </a:r>
            <a:r>
              <a:rPr lang="ru-RU" sz="4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40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va</a:t>
            </a:r>
            <a:r>
              <a:rPr lang="ru-RU" sz="4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40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muhokama</a:t>
            </a:r>
            <a:endParaRPr lang="ru-RU" sz="4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Sizningcha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O‘zbekistonda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qaysi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sohalarda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raqamli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operatsion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model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joriy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etilishi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eng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dolzarb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?</a:t>
            </a:r>
            <a:endParaRPr lang="ru-RU" sz="4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Siz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ishlayotgan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yoki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tanish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tashkilotda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bu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model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qanday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ko‘rinishda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amalga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oshirilgan</a:t>
            </a:r>
            <a:r>
              <a:rPr lang="en-U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?</a:t>
            </a:r>
            <a:endParaRPr lang="ru-RU" sz="4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B418B9-DB59-4003-B3D0-04F0C47EE4D9}"/>
              </a:ext>
            </a:extLst>
          </p:cNvPr>
          <p:cNvSpPr txBox="1"/>
          <p:nvPr/>
        </p:nvSpPr>
        <p:spPr>
          <a:xfrm>
            <a:off x="12710160" y="7648687"/>
            <a:ext cx="1920240" cy="58091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9010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8356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Xulosa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293250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Raqamli transformatsiya bugungi kunda har qanday biznes uchun zarur bo‘lib, o‘zgarishlarga moslashish va innovatsiyalarni qabul qilishni talab qiladi.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27636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Yangi operatsion model muvaffaqiyat kaliti hisoblanadi. U mijozlarga yo'naltirilgan, ma'lumotlarga asoslangan va tezkor moslashuvchan bo‘lishi shart.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62022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O'zgarishlardan qo'rqmang, ularga tayyor bo'ling va raqamli kelajakni yaratishda oldinga intiling!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2E64BF-3A77-4477-B3DD-6EA950682463}"/>
              </a:ext>
            </a:extLst>
          </p:cNvPr>
          <p:cNvSpPr txBox="1"/>
          <p:nvPr/>
        </p:nvSpPr>
        <p:spPr>
          <a:xfrm>
            <a:off x="12715539" y="7767021"/>
            <a:ext cx="1839557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89394" y="431287"/>
            <a:ext cx="70377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b="1" dirty="0"/>
              <a:t>“</a:t>
            </a:r>
            <a:r>
              <a:rPr lang="en-US" sz="4400" b="1" dirty="0" err="1"/>
              <a:t>Raqamli</a:t>
            </a:r>
            <a:r>
              <a:rPr lang="en-US" sz="4400" b="1" dirty="0"/>
              <a:t> </a:t>
            </a:r>
            <a:r>
              <a:rPr lang="en-US" sz="4400" b="1" dirty="0" err="1"/>
              <a:t>transformatsiyada</a:t>
            </a:r>
            <a:r>
              <a:rPr lang="en-US" sz="4400" b="1" dirty="0"/>
              <a:t> </a:t>
            </a:r>
            <a:br>
              <a:rPr lang="en-US" sz="4400" b="1" dirty="0"/>
            </a:br>
            <a:r>
              <a:rPr lang="en-US" sz="4400" b="1" dirty="0" err="1"/>
              <a:t>kompaniya</a:t>
            </a:r>
            <a:r>
              <a:rPr lang="en-US" sz="4400" b="1" dirty="0"/>
              <a:t> </a:t>
            </a:r>
            <a:r>
              <a:rPr lang="en-US" sz="4400" b="1" dirty="0" err="1"/>
              <a:t>uchun</a:t>
            </a:r>
            <a:r>
              <a:rPr lang="en-US" sz="4400" b="1" dirty="0"/>
              <a:t> </a:t>
            </a:r>
            <a:r>
              <a:rPr lang="en-US" sz="4400" b="1" dirty="0" err="1"/>
              <a:t>yangi</a:t>
            </a:r>
            <a:br>
              <a:rPr lang="en-US" sz="4400" b="1" dirty="0"/>
            </a:br>
            <a:r>
              <a:rPr lang="en-US" sz="4400" b="1" dirty="0"/>
              <a:t> </a:t>
            </a:r>
            <a:r>
              <a:rPr lang="en-US" sz="4400" b="1" dirty="0" err="1"/>
              <a:t>operatsion</a:t>
            </a:r>
            <a:r>
              <a:rPr lang="en-US" sz="4400" b="1" dirty="0"/>
              <a:t> </a:t>
            </a:r>
            <a:r>
              <a:rPr lang="en-US" sz="4400" b="1" dirty="0" err="1"/>
              <a:t>modelni</a:t>
            </a:r>
            <a:r>
              <a:rPr lang="en-US" sz="4400" b="1" dirty="0"/>
              <a:t> </a:t>
            </a:r>
            <a:r>
              <a:rPr lang="en-US" sz="4400" b="1" dirty="0" err="1"/>
              <a:t>ishlab</a:t>
            </a:r>
            <a:r>
              <a:rPr lang="en-US" sz="4400" b="1" dirty="0"/>
              <a:t> </a:t>
            </a:r>
            <a:r>
              <a:rPr lang="en-US" sz="4400" b="1" dirty="0" err="1"/>
              <a:t>chiqish</a:t>
            </a:r>
            <a:r>
              <a:rPr lang="en-US" sz="4400" b="1" dirty="0"/>
              <a:t>”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293250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2E64BF-3A77-4477-B3DD-6EA950682463}"/>
              </a:ext>
            </a:extLst>
          </p:cNvPr>
          <p:cNvSpPr txBox="1"/>
          <p:nvPr/>
        </p:nvSpPr>
        <p:spPr>
          <a:xfrm>
            <a:off x="12715539" y="7767021"/>
            <a:ext cx="1839557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 descr="Task - Free education icons">
            <a:extLst>
              <a:ext uri="{FF2B5EF4-FFF2-40B4-BE49-F238E27FC236}">
                <a16:creationId xmlns:a16="http://schemas.microsoft.com/office/drawing/2014/main" id="{857E39EA-A679-4D62-A481-EAB566CFB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081" y="1140066"/>
            <a:ext cx="5757134" cy="575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C4DA7C-B995-40CB-B045-DF93154D720B}"/>
              </a:ext>
            </a:extLst>
          </p:cNvPr>
          <p:cNvSpPr txBox="1"/>
          <p:nvPr/>
        </p:nvSpPr>
        <p:spPr>
          <a:xfrm>
            <a:off x="589394" y="2753958"/>
            <a:ext cx="82749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600" dirty="0" err="1"/>
              <a:t>Siz</a:t>
            </a:r>
            <a:r>
              <a:rPr lang="en-US" sz="3600" dirty="0"/>
              <a:t> </a:t>
            </a:r>
            <a:r>
              <a:rPr lang="en-US" sz="3600" dirty="0" err="1"/>
              <a:t>tanlagan</a:t>
            </a:r>
            <a:r>
              <a:rPr lang="en-US" sz="3600" dirty="0"/>
              <a:t> real </a:t>
            </a:r>
            <a:r>
              <a:rPr lang="en-US" sz="3600" dirty="0" err="1"/>
              <a:t>yoki</a:t>
            </a:r>
            <a:r>
              <a:rPr lang="en-US" sz="3600" dirty="0"/>
              <a:t> </a:t>
            </a:r>
            <a:r>
              <a:rPr lang="en-US" sz="3600" dirty="0" err="1"/>
              <a:t>faraziy</a:t>
            </a:r>
            <a:r>
              <a:rPr lang="en-US" sz="3600" dirty="0"/>
              <a:t> </a:t>
            </a:r>
            <a:r>
              <a:rPr lang="en-US" sz="3600" dirty="0" err="1"/>
              <a:t>bir</a:t>
            </a:r>
            <a:r>
              <a:rPr lang="en-US" sz="3600" dirty="0"/>
              <a:t> </a:t>
            </a:r>
            <a:r>
              <a:rPr lang="en-US" sz="3600" dirty="0" err="1"/>
              <a:t>kompaniya</a:t>
            </a:r>
            <a:r>
              <a:rPr lang="en-US" sz="3600" dirty="0"/>
              <a:t> </a:t>
            </a:r>
            <a:r>
              <a:rPr lang="en-US" sz="3600" dirty="0" err="1"/>
              <a:t>misolida</a:t>
            </a:r>
            <a:endParaRPr lang="en-US" sz="3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600" dirty="0" err="1"/>
              <a:t>Yangi</a:t>
            </a:r>
            <a:r>
              <a:rPr lang="en-US" sz="3600" dirty="0"/>
              <a:t> </a:t>
            </a:r>
            <a:r>
              <a:rPr lang="en-US" sz="3600" dirty="0" err="1"/>
              <a:t>raqamli</a:t>
            </a:r>
            <a:r>
              <a:rPr lang="en-US" sz="3600" dirty="0"/>
              <a:t> </a:t>
            </a:r>
            <a:r>
              <a:rPr lang="en-US" sz="3600" dirty="0" err="1"/>
              <a:t>operatsion</a:t>
            </a:r>
            <a:r>
              <a:rPr lang="en-US" sz="3600" dirty="0"/>
              <a:t> </a:t>
            </a:r>
            <a:r>
              <a:rPr lang="en-US" sz="3600" dirty="0" err="1"/>
              <a:t>modelni</a:t>
            </a:r>
            <a:r>
              <a:rPr lang="en-US" sz="3600" dirty="0"/>
              <a:t> </a:t>
            </a:r>
            <a:r>
              <a:rPr lang="en-US" sz="3600" dirty="0" err="1"/>
              <a:t>taklif</a:t>
            </a:r>
            <a:r>
              <a:rPr lang="en-US" sz="3600" dirty="0"/>
              <a:t> </a:t>
            </a:r>
            <a:r>
              <a:rPr lang="en-US" sz="3600" dirty="0" err="1"/>
              <a:t>qiling</a:t>
            </a:r>
            <a:endParaRPr lang="en-US" sz="3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600" dirty="0" err="1"/>
              <a:t>Modelning</a:t>
            </a:r>
            <a:r>
              <a:rPr lang="en-US" sz="3600" dirty="0"/>
              <a:t> </a:t>
            </a:r>
            <a:r>
              <a:rPr lang="en-US" sz="3600" dirty="0" err="1"/>
              <a:t>afzalliklarini</a:t>
            </a:r>
            <a:r>
              <a:rPr lang="en-US" sz="3600" dirty="0"/>
              <a:t> </a:t>
            </a:r>
            <a:r>
              <a:rPr lang="en-US" sz="3600" dirty="0" err="1"/>
              <a:t>asoslang</a:t>
            </a:r>
            <a:endParaRPr lang="en-US" sz="3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600" dirty="0" err="1"/>
              <a:t>Vizual</a:t>
            </a:r>
            <a:r>
              <a:rPr lang="en-US" sz="3600" dirty="0"/>
              <a:t> </a:t>
            </a:r>
            <a:r>
              <a:rPr lang="en-US" sz="3600" dirty="0" err="1"/>
              <a:t>diagramma</a:t>
            </a:r>
            <a:r>
              <a:rPr lang="en-US" sz="3600" dirty="0"/>
              <a:t> </a:t>
            </a:r>
            <a:r>
              <a:rPr lang="en-US" sz="3600" dirty="0" err="1"/>
              <a:t>yoki</a:t>
            </a:r>
            <a:r>
              <a:rPr lang="en-US" sz="3600" dirty="0"/>
              <a:t> </a:t>
            </a:r>
            <a:r>
              <a:rPr lang="en-US" sz="3600" dirty="0" err="1"/>
              <a:t>sxema</a:t>
            </a:r>
            <a:r>
              <a:rPr lang="en-US" sz="3600" dirty="0"/>
              <a:t> </a:t>
            </a:r>
            <a:r>
              <a:rPr lang="en-US" sz="3600" dirty="0" err="1"/>
              <a:t>chizing</a:t>
            </a:r>
            <a:r>
              <a:rPr lang="en-US" sz="3600" dirty="0"/>
              <a:t> </a:t>
            </a:r>
            <a:endParaRPr lang="ru-RU" sz="3600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56C410A-ED2C-445B-B0BF-036A6BE3DD94}"/>
              </a:ext>
            </a:extLst>
          </p:cNvPr>
          <p:cNvSpPr/>
          <p:nvPr/>
        </p:nvSpPr>
        <p:spPr>
          <a:xfrm>
            <a:off x="793790" y="6454588"/>
            <a:ext cx="3410174" cy="10327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Ta’lim</a:t>
            </a:r>
            <a:br>
              <a:rPr lang="en-US" dirty="0"/>
            </a:br>
            <a:r>
              <a:rPr lang="en-US" dirty="0" err="1"/>
              <a:t>Sog’liqni</a:t>
            </a:r>
            <a:r>
              <a:rPr lang="en-US" dirty="0"/>
              <a:t> </a:t>
            </a:r>
            <a:r>
              <a:rPr lang="en-US" dirty="0" err="1"/>
              <a:t>saqlash</a:t>
            </a:r>
            <a:br>
              <a:rPr lang="en-US" dirty="0"/>
            </a:br>
            <a:r>
              <a:rPr lang="en-US" dirty="0" err="1"/>
              <a:t>Logistika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9C50C3-87ED-47F9-BFB2-9BDAC6E22E98}"/>
              </a:ext>
            </a:extLst>
          </p:cNvPr>
          <p:cNvSpPr txBox="1"/>
          <p:nvPr/>
        </p:nvSpPr>
        <p:spPr>
          <a:xfrm>
            <a:off x="4991548" y="6454588"/>
            <a:ext cx="30444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PPT – 4 </a:t>
            </a:r>
            <a:r>
              <a:rPr lang="en-US" sz="4000" b="1" dirty="0" err="1"/>
              <a:t>dona</a:t>
            </a:r>
            <a:r>
              <a:rPr lang="en-US" sz="4000" b="1" dirty="0"/>
              <a:t> </a:t>
            </a:r>
            <a:r>
              <a:rPr lang="en-US" sz="4000" b="1" dirty="0" err="1"/>
              <a:t>slayd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386626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898</Words>
  <Application>Microsoft Office PowerPoint</Application>
  <PresentationFormat>Произвольный</PresentationFormat>
  <Paragraphs>140</Paragraphs>
  <Slides>16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Calibri</vt:lpstr>
      <vt:lpstr>Symbol</vt:lpstr>
      <vt:lpstr>Arial</vt:lpstr>
      <vt:lpstr>Wingdings</vt:lpstr>
      <vt:lpstr>Calibri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17</cp:revision>
  <dcterms:created xsi:type="dcterms:W3CDTF">2025-04-29T05:01:22Z</dcterms:created>
  <dcterms:modified xsi:type="dcterms:W3CDTF">2025-05-06T08:53:09Z</dcterms:modified>
</cp:coreProperties>
</file>