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60" r:id="rId3"/>
    <p:sldMasterId id="2147483670" r:id="rId4"/>
  </p:sldMasterIdLst>
  <p:sldIdLst>
    <p:sldId id="256" r:id="rId5"/>
    <p:sldId id="281" r:id="rId6"/>
    <p:sldId id="257" r:id="rId7"/>
    <p:sldId id="287" r:id="rId8"/>
    <p:sldId id="288" r:id="rId9"/>
    <p:sldId id="289" r:id="rId10"/>
    <p:sldId id="272" r:id="rId11"/>
    <p:sldId id="284" r:id="rId12"/>
    <p:sldId id="273" r:id="rId13"/>
    <p:sldId id="279" r:id="rId14"/>
    <p:sldId id="285" r:id="rId15"/>
    <p:sldId id="280" r:id="rId16"/>
    <p:sldId id="274" r:id="rId17"/>
    <p:sldId id="286" r:id="rId18"/>
    <p:sldId id="275" r:id="rId19"/>
    <p:sldId id="259" r:id="rId20"/>
    <p:sldId id="276" r:id="rId21"/>
    <p:sldId id="277" r:id="rId22"/>
    <p:sldId id="260" r:id="rId23"/>
    <p:sldId id="283" r:id="rId24"/>
    <p:sldId id="270" r:id="rId25"/>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2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FECB4D8-DB02-4DC6-A0A2-4F2EBAE1DC90}" styleName="Средний стиль 1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Средний стиль 1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85BE263C-DBD7-4A20-BB59-AAB30ACAA65A}" styleName="Средний стиль 3 — акцент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327600" y="240480"/>
            <a:ext cx="553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27600" y="200880"/>
            <a:ext cx="4593600" cy="3173040"/>
          </a:xfrm>
          <a:prstGeom prst="rect">
            <a:avLst/>
          </a:prstGeom>
          <a:noFill/>
          <a:ln w="0">
            <a:noFill/>
          </a:ln>
        </p:spPr>
        <p:txBody>
          <a:bodyPr lIns="91440" tIns="91440" rIns="91440" bIns="91440" anchor="t">
            <a:noAutofit/>
          </a:bodyPr>
          <a:lstStyle/>
          <a:p>
            <a:pPr indent="0">
              <a:buNone/>
            </a:pPr>
            <a:r>
              <a:rPr lang="fr-FR" sz="4500" b="0" strike="noStrike" spc="-1">
                <a:solidFill>
                  <a:schemeClr val="dk1"/>
                </a:solidFill>
                <a:latin typeface="Arial"/>
              </a:rPr>
              <a:t>Click to edit the title text format</a:t>
            </a:r>
          </a:p>
        </p:txBody>
      </p:sp>
      <p:sp>
        <p:nvSpPr>
          <p:cNvPr id="3" name="PlaceHolder 2"/>
          <p:cNvSpPr>
            <a:spLocks noGrp="1"/>
          </p:cNvSpPr>
          <p:nvPr>
            <p:ph type="body"/>
          </p:nvPr>
        </p:nvSpPr>
        <p:spPr>
          <a:xfrm>
            <a:off x="5363640" y="0"/>
            <a:ext cx="378036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026000" y="1046160"/>
            <a:ext cx="7674840" cy="92628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27600" y="209160"/>
            <a:ext cx="4669560" cy="1027440"/>
          </a:xfrm>
          <a:prstGeom prst="rect">
            <a:avLst/>
          </a:prstGeom>
          <a:noFill/>
          <a:ln w="0">
            <a:noFill/>
          </a:ln>
        </p:spPr>
        <p:txBody>
          <a:bodyPr lIns="91440" tIns="91440" rIns="91440" bIns="91440" anchor="b">
            <a:noAutofit/>
          </a:bodyPr>
          <a:lstStyle/>
          <a:p>
            <a:pPr indent="0">
              <a:buNone/>
            </a:pPr>
            <a:r>
              <a:rPr lang="fr-FR" sz="2600" b="0" strike="noStrike" spc="-1">
                <a:solidFill>
                  <a:schemeClr val="dk1"/>
                </a:solidFill>
                <a:latin typeface="Arial"/>
              </a:rPr>
              <a:t>Click to edit the title text format</a:t>
            </a:r>
          </a:p>
        </p:txBody>
      </p:sp>
      <p:sp>
        <p:nvSpPr>
          <p:cNvPr id="14" name="PlaceHolder 2"/>
          <p:cNvSpPr>
            <a:spLocks noGrp="1"/>
          </p:cNvSpPr>
          <p:nvPr>
            <p:ph type="body"/>
          </p:nvPr>
        </p:nvSpPr>
        <p:spPr>
          <a:xfrm>
            <a:off x="5230800" y="0"/>
            <a:ext cx="3912840" cy="515088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27" name="PlaceHolder 1"/>
          <p:cNvSpPr>
            <a:spLocks noGrp="1"/>
          </p:cNvSpPr>
          <p:nvPr>
            <p:ph type="body"/>
          </p:nvPr>
        </p:nvSpPr>
        <p:spPr>
          <a:xfrm>
            <a:off x="0" y="0"/>
            <a:ext cx="3493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28" name="PlaceHolder 2"/>
          <p:cNvSpPr>
            <a:spLocks noGrp="1"/>
          </p:cNvSpPr>
          <p:nvPr>
            <p:ph type="title"/>
          </p:nvPr>
        </p:nvSpPr>
        <p:spPr>
          <a:xfrm>
            <a:off x="3636000" y="2769120"/>
            <a:ext cx="4794480" cy="183456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29" name="PlaceHolder 3"/>
          <p:cNvSpPr>
            <a:spLocks noGrp="1"/>
          </p:cNvSpPr>
          <p:nvPr>
            <p:ph type="title"/>
          </p:nvPr>
        </p:nvSpPr>
        <p:spPr>
          <a:xfrm>
            <a:off x="3636000" y="290520"/>
            <a:ext cx="1366920" cy="633240"/>
          </a:xfrm>
          <a:prstGeom prst="rect">
            <a:avLst/>
          </a:prstGeom>
          <a:noFill/>
          <a:ln w="0">
            <a:noFill/>
          </a:ln>
        </p:spPr>
        <p:txBody>
          <a:bodyPr lIns="91440" tIns="91440" rIns="91440" bIns="91440" anchor="ctr">
            <a:noAutofit/>
          </a:bodyPr>
          <a:lstStyle/>
          <a:p>
            <a:pPr indent="0">
              <a:lnSpc>
                <a:spcPct val="100000"/>
              </a:lnSpc>
              <a:buNone/>
            </a:pPr>
            <a:r>
              <a:rPr lang="fr-FR" sz="6000" b="0" strike="noStrike" spc="-1">
                <a:solidFill>
                  <a:schemeClr val="lt1"/>
                </a:solidFill>
                <a:latin typeface="Carattere"/>
                <a:ea typeface="Carattere"/>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Google Shape;122;p28"/>
          <p:cNvCxnSpPr/>
          <p:nvPr/>
        </p:nvCxnSpPr>
        <p:spPr>
          <a:xfrm>
            <a:off x="-5040" y="4126680"/>
            <a:ext cx="9182160" cy="360"/>
          </a:xfrm>
          <a:prstGeom prst="straightConnector1">
            <a:avLst/>
          </a:prstGeom>
          <a:ln w="9525">
            <a:solidFill>
              <a:srgbClr val="2B3D2D"/>
            </a:solidFill>
            <a:round/>
          </a:ln>
        </p:spPr>
      </p:cxnSp>
      <p:pic>
        <p:nvPicPr>
          <p:cNvPr id="55" name="Google Shape;123;p28"/>
          <p:cNvPicPr/>
          <p:nvPr/>
        </p:nvPicPr>
        <p:blipFill>
          <a:blip r:embed="rId2"/>
          <a:srcRect l="13313" r="37692"/>
          <a:stretch/>
        </p:blipFill>
        <p:spPr>
          <a:xfrm>
            <a:off x="5363640" y="0"/>
            <a:ext cx="3780360" cy="5143320"/>
          </a:xfrm>
          <a:prstGeom prst="rect">
            <a:avLst/>
          </a:prstGeom>
          <a:ln w="0">
            <a:noFill/>
          </a:ln>
        </p:spPr>
      </p:pic>
      <p:sp>
        <p:nvSpPr>
          <p:cNvPr id="56" name="PlaceHolder 1"/>
          <p:cNvSpPr>
            <a:spLocks noGrp="1"/>
          </p:cNvSpPr>
          <p:nvPr>
            <p:ph type="title"/>
          </p:nvPr>
        </p:nvSpPr>
        <p:spPr>
          <a:xfrm>
            <a:off x="324000" y="178560"/>
            <a:ext cx="5248800" cy="3171600"/>
          </a:xfrm>
          <a:prstGeom prst="rect">
            <a:avLst/>
          </a:prstGeom>
          <a:noFill/>
          <a:ln w="0">
            <a:noFill/>
          </a:ln>
        </p:spPr>
        <p:txBody>
          <a:bodyPr lIns="91440" tIns="91440" rIns="91440" bIns="91440" anchor="t">
            <a:normAutofit/>
          </a:bodyPr>
          <a:lstStyle/>
          <a:p>
            <a:pPr>
              <a:lnSpc>
                <a:spcPct val="100000"/>
              </a:lnSpc>
              <a:tabLst>
                <a:tab pos="0" algn="l"/>
              </a:tabLst>
            </a:pPr>
            <a:r>
              <a:rPr lang="en-US" sz="3600" b="1" dirty="0" err="1"/>
              <a:t>Ma’lumotlarga</a:t>
            </a:r>
            <a:r>
              <a:rPr lang="en-US" sz="3600" b="1" dirty="0"/>
              <a:t> </a:t>
            </a:r>
            <a:r>
              <a:rPr lang="en-US" sz="3600" b="1" dirty="0" err="1"/>
              <a:t>asoslangan</a:t>
            </a:r>
            <a:r>
              <a:rPr lang="en-US" sz="3600" b="1" dirty="0"/>
              <a:t> </a:t>
            </a:r>
            <a:r>
              <a:rPr lang="en-US" sz="3600" b="1" dirty="0" err="1"/>
              <a:t>qaror</a:t>
            </a:r>
            <a:r>
              <a:rPr lang="en-US" sz="3600" b="1" dirty="0"/>
              <a:t> </a:t>
            </a:r>
            <a:r>
              <a:rPr lang="en-US" sz="3600" b="1" dirty="0" err="1"/>
              <a:t>qabul</a:t>
            </a:r>
            <a:r>
              <a:rPr lang="en-US" sz="3600" b="1" dirty="0"/>
              <a:t> </a:t>
            </a:r>
            <a:r>
              <a:rPr lang="en-US" sz="3600" b="1" dirty="0" err="1"/>
              <a:t>qilish</a:t>
            </a:r>
            <a:endParaRPr lang="fr-FR" sz="3600" b="0" strike="noStrike" spc="-1" dirty="0">
              <a:solidFill>
                <a:schemeClr val="dk1"/>
              </a:solidFill>
              <a:latin typeface="Arial"/>
            </a:endParaRPr>
          </a:p>
        </p:txBody>
      </p:sp>
      <p:sp>
        <p:nvSpPr>
          <p:cNvPr id="57" name="PlaceHolder 2"/>
          <p:cNvSpPr>
            <a:spLocks noGrp="1"/>
          </p:cNvSpPr>
          <p:nvPr>
            <p:ph type="subTitle"/>
          </p:nvPr>
        </p:nvSpPr>
        <p:spPr>
          <a:xfrm>
            <a:off x="324000" y="4210200"/>
            <a:ext cx="4590720" cy="51408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600" b="0" strike="noStrike" spc="-1" dirty="0">
                <a:solidFill>
                  <a:schemeClr val="dk1"/>
                </a:solidFill>
                <a:ea typeface="Open Sans"/>
              </a:rPr>
              <a:t>Raqamli Transformatsiyani Moliyalashtirish Bilan Bog'liq</a:t>
            </a:r>
            <a:endParaRPr lang="en-US" sz="1600" b="0" strike="noStrike" spc="-1" dirty="0">
              <a:solidFill>
                <a:srgbClr val="000000"/>
              </a:solidFill>
            </a:endParaRPr>
          </a:p>
        </p:txBody>
      </p:sp>
      <p:sp>
        <p:nvSpPr>
          <p:cNvPr id="2" name="TextBox 1">
            <a:extLst>
              <a:ext uri="{FF2B5EF4-FFF2-40B4-BE49-F238E27FC236}">
                <a16:creationId xmlns:a16="http://schemas.microsoft.com/office/drawing/2014/main" id="{C594320F-B3B9-4C40-8B4D-BB7CB9E07496}"/>
              </a:ext>
            </a:extLst>
          </p:cNvPr>
          <p:cNvSpPr txBox="1"/>
          <p:nvPr/>
        </p:nvSpPr>
        <p:spPr>
          <a:xfrm>
            <a:off x="324000" y="3700800"/>
            <a:ext cx="3153600" cy="369332"/>
          </a:xfrm>
          <a:prstGeom prst="rect">
            <a:avLst/>
          </a:prstGeom>
          <a:noFill/>
        </p:spPr>
        <p:txBody>
          <a:bodyPr wrap="square" rtlCol="0">
            <a:spAutoFit/>
          </a:bodyPr>
          <a:lstStyle/>
          <a:p>
            <a:r>
              <a:rPr lang="en-US" dirty="0"/>
              <a:t>Lecturer: </a:t>
            </a:r>
            <a:r>
              <a:rPr lang="en-US" dirty="0" err="1"/>
              <a:t>Nozima</a:t>
            </a:r>
            <a:r>
              <a:rPr lang="en-US" dirty="0"/>
              <a:t> </a:t>
            </a:r>
            <a:r>
              <a:rPr lang="en-US" dirty="0" err="1"/>
              <a:t>Raximova</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Task - Free education icons">
            <a:extLst>
              <a:ext uri="{FF2B5EF4-FFF2-40B4-BE49-F238E27FC236}">
                <a16:creationId xmlns:a16="http://schemas.microsoft.com/office/drawing/2014/main" id="{F5360848-7036-4982-8FE5-697D18270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6799" y="620027"/>
            <a:ext cx="4203405" cy="42034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E8FE861-81B4-492F-9A41-B90C97B250FB}"/>
              </a:ext>
            </a:extLst>
          </p:cNvPr>
          <p:cNvSpPr txBox="1"/>
          <p:nvPr/>
        </p:nvSpPr>
        <p:spPr>
          <a:xfrm>
            <a:off x="475200" y="684000"/>
            <a:ext cx="4203404" cy="1569660"/>
          </a:xfrm>
          <a:prstGeom prst="rect">
            <a:avLst/>
          </a:prstGeom>
          <a:noFill/>
        </p:spPr>
        <p:txBody>
          <a:bodyPr wrap="square" rtlCol="0">
            <a:spAutoFit/>
          </a:bodyPr>
          <a:lstStyle/>
          <a:p>
            <a:r>
              <a:rPr lang="en-US" sz="2400" b="1" dirty="0" err="1"/>
              <a:t>Raqamli</a:t>
            </a:r>
            <a:r>
              <a:rPr lang="en-US" sz="2400" b="1" dirty="0"/>
              <a:t> </a:t>
            </a:r>
            <a:r>
              <a:rPr lang="en-US" sz="2400" b="1" dirty="0" err="1"/>
              <a:t>transformatsiyada</a:t>
            </a:r>
            <a:r>
              <a:rPr lang="en-US" sz="2400" b="1" dirty="0"/>
              <a:t> </a:t>
            </a:r>
            <a:br>
              <a:rPr lang="en-US" sz="2400" b="1" dirty="0"/>
            </a:br>
            <a:r>
              <a:rPr lang="en-US" sz="2400" b="1" dirty="0" err="1"/>
              <a:t>kompaniya</a:t>
            </a:r>
            <a:r>
              <a:rPr lang="en-US" sz="2400" b="1" dirty="0"/>
              <a:t> </a:t>
            </a:r>
            <a:r>
              <a:rPr lang="en-US" sz="2400" b="1" dirty="0" err="1"/>
              <a:t>uchun</a:t>
            </a:r>
            <a:r>
              <a:rPr lang="en-US" sz="2400" b="1" dirty="0"/>
              <a:t> </a:t>
            </a:r>
            <a:r>
              <a:rPr lang="en-US" sz="2400" b="1" dirty="0" err="1"/>
              <a:t>yangi</a:t>
            </a:r>
            <a:r>
              <a:rPr lang="en-US" sz="2400" b="1" dirty="0"/>
              <a:t> </a:t>
            </a:r>
            <a:r>
              <a:rPr lang="en-US" sz="2400" b="1" dirty="0" err="1"/>
              <a:t>operatsion</a:t>
            </a:r>
            <a:r>
              <a:rPr lang="en-US" sz="2400" b="1" dirty="0"/>
              <a:t> </a:t>
            </a:r>
            <a:r>
              <a:rPr lang="en-US" sz="2400" b="1" dirty="0" err="1"/>
              <a:t>modelni</a:t>
            </a:r>
            <a:r>
              <a:rPr lang="en-US" sz="2400" b="1" dirty="0"/>
              <a:t> </a:t>
            </a:r>
            <a:r>
              <a:rPr lang="en-US" sz="2400" b="1" dirty="0" err="1"/>
              <a:t>ishlab</a:t>
            </a:r>
            <a:r>
              <a:rPr lang="en-US" sz="2400" b="1" dirty="0"/>
              <a:t> </a:t>
            </a:r>
            <a:r>
              <a:rPr lang="en-US" sz="2400" b="1" dirty="0" err="1"/>
              <a:t>chiqish</a:t>
            </a:r>
            <a:endParaRPr lang="ru-RU" sz="2400" dirty="0"/>
          </a:p>
        </p:txBody>
      </p:sp>
      <p:sp>
        <p:nvSpPr>
          <p:cNvPr id="4" name="Прямоугольник: скругленные углы 3">
            <a:extLst>
              <a:ext uri="{FF2B5EF4-FFF2-40B4-BE49-F238E27FC236}">
                <a16:creationId xmlns:a16="http://schemas.microsoft.com/office/drawing/2014/main" id="{E58E1935-8820-49EA-A161-BCEE8AAFC23C}"/>
              </a:ext>
            </a:extLst>
          </p:cNvPr>
          <p:cNvSpPr/>
          <p:nvPr/>
        </p:nvSpPr>
        <p:spPr>
          <a:xfrm>
            <a:off x="353281" y="3565524"/>
            <a:ext cx="3049614" cy="969908"/>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Ta’lim</a:t>
            </a:r>
            <a:br>
              <a:rPr lang="en-US" dirty="0">
                <a:solidFill>
                  <a:schemeClr val="tx1"/>
                </a:solidFill>
              </a:rPr>
            </a:br>
            <a:r>
              <a:rPr lang="en-US" dirty="0" err="1">
                <a:solidFill>
                  <a:schemeClr val="tx1"/>
                </a:solidFill>
              </a:rPr>
              <a:t>Sog’liqni</a:t>
            </a:r>
            <a:r>
              <a:rPr lang="en-US" dirty="0">
                <a:solidFill>
                  <a:schemeClr val="tx1"/>
                </a:solidFill>
              </a:rPr>
              <a:t> </a:t>
            </a:r>
            <a:r>
              <a:rPr lang="en-US" dirty="0" err="1">
                <a:solidFill>
                  <a:schemeClr val="tx1"/>
                </a:solidFill>
              </a:rPr>
              <a:t>saqlash</a:t>
            </a:r>
            <a:br>
              <a:rPr lang="en-US" dirty="0">
                <a:solidFill>
                  <a:schemeClr val="tx1"/>
                </a:solidFill>
              </a:rPr>
            </a:br>
            <a:r>
              <a:rPr lang="en-US" dirty="0" err="1">
                <a:solidFill>
                  <a:schemeClr val="tx1"/>
                </a:solidFill>
              </a:rPr>
              <a:t>Logistika</a:t>
            </a:r>
            <a:endParaRPr lang="ru-RU" dirty="0">
              <a:solidFill>
                <a:schemeClr val="tx1"/>
              </a:solidFill>
            </a:endParaRPr>
          </a:p>
        </p:txBody>
      </p:sp>
    </p:spTree>
    <p:extLst>
      <p:ext uri="{BB962C8B-B14F-4D97-AF65-F5344CB8AC3E}">
        <p14:creationId xmlns:p14="http://schemas.microsoft.com/office/powerpoint/2010/main" val="2009750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2"/>
          <p:cNvSpPr>
            <a:spLocks noGrp="1"/>
          </p:cNvSpPr>
          <p:nvPr>
            <p:ph type="subTitle"/>
          </p:nvPr>
        </p:nvSpPr>
        <p:spPr>
          <a:xfrm>
            <a:off x="1028880" y="2331360"/>
            <a:ext cx="6574320" cy="2190240"/>
          </a:xfrm>
          <a:prstGeom prst="rect">
            <a:avLst/>
          </a:prstGeom>
          <a:noFill/>
          <a:ln w="0">
            <a:noFill/>
          </a:ln>
        </p:spPr>
        <p:txBody>
          <a:bodyPr lIns="91440" tIns="91440" rIns="91440" bIns="91440" anchor="t">
            <a:normAutofit/>
          </a:bodyPr>
          <a:lstStyle/>
          <a:p>
            <a:pPr marL="0" indent="0">
              <a:buNone/>
            </a:pPr>
            <a:r>
              <a:rPr lang="en-US" dirty="0"/>
              <a:t>Bu — </a:t>
            </a:r>
            <a:r>
              <a:rPr lang="en-US" dirty="0" err="1"/>
              <a:t>qarorlar</a:t>
            </a:r>
            <a:r>
              <a:rPr lang="en-US" dirty="0"/>
              <a:t> </a:t>
            </a:r>
            <a:r>
              <a:rPr lang="en-US" dirty="0" err="1"/>
              <a:t>shaxsiy</a:t>
            </a:r>
            <a:r>
              <a:rPr lang="en-US" dirty="0"/>
              <a:t> </a:t>
            </a:r>
            <a:r>
              <a:rPr lang="en-US" dirty="0" err="1"/>
              <a:t>fikr</a:t>
            </a:r>
            <a:r>
              <a:rPr lang="en-US" dirty="0"/>
              <a:t> </a:t>
            </a:r>
            <a:r>
              <a:rPr lang="en-US" dirty="0" err="1"/>
              <a:t>yoki</a:t>
            </a:r>
            <a:r>
              <a:rPr lang="en-US" dirty="0"/>
              <a:t> </a:t>
            </a:r>
            <a:r>
              <a:rPr lang="en-US" dirty="0" err="1"/>
              <a:t>tajribaga</a:t>
            </a:r>
            <a:r>
              <a:rPr lang="en-US" dirty="0"/>
              <a:t> </a:t>
            </a:r>
            <a:r>
              <a:rPr lang="en-US" dirty="0" err="1"/>
              <a:t>emas</a:t>
            </a:r>
            <a:r>
              <a:rPr lang="en-US" dirty="0"/>
              <a:t>, </a:t>
            </a:r>
            <a:r>
              <a:rPr lang="en-US" b="1" dirty="0" err="1"/>
              <a:t>aniq</a:t>
            </a:r>
            <a:r>
              <a:rPr lang="en-US" b="1" dirty="0"/>
              <a:t> </a:t>
            </a:r>
            <a:r>
              <a:rPr lang="en-US" b="1" dirty="0" err="1"/>
              <a:t>ma’lumotlar</a:t>
            </a:r>
            <a:r>
              <a:rPr lang="en-US" b="1" dirty="0"/>
              <a:t>, </a:t>
            </a:r>
            <a:r>
              <a:rPr lang="en-US" b="1" dirty="0" err="1"/>
              <a:t>statistik</a:t>
            </a:r>
            <a:r>
              <a:rPr lang="en-US" b="1" dirty="0"/>
              <a:t> </a:t>
            </a:r>
            <a:r>
              <a:rPr lang="en-US" b="1" dirty="0" err="1"/>
              <a:t>tahlil</a:t>
            </a:r>
            <a:r>
              <a:rPr lang="en-US" b="1" dirty="0"/>
              <a:t> </a:t>
            </a:r>
            <a:r>
              <a:rPr lang="en-US" b="1" dirty="0" err="1"/>
              <a:t>va</a:t>
            </a:r>
            <a:r>
              <a:rPr lang="en-US" b="1" dirty="0"/>
              <a:t> </a:t>
            </a:r>
            <a:r>
              <a:rPr lang="en-US" b="1" dirty="0" err="1"/>
              <a:t>algoritmlarga</a:t>
            </a:r>
            <a:r>
              <a:rPr lang="en-US" dirty="0"/>
              <a:t> </a:t>
            </a:r>
            <a:r>
              <a:rPr lang="en-US" dirty="0" err="1"/>
              <a:t>asoslangan</a:t>
            </a:r>
            <a:r>
              <a:rPr lang="en-US" dirty="0"/>
              <a:t> </a:t>
            </a:r>
            <a:r>
              <a:rPr lang="en-US" dirty="0" err="1"/>
              <a:t>holda</a:t>
            </a:r>
            <a:r>
              <a:rPr lang="en-US" dirty="0"/>
              <a:t> </a:t>
            </a:r>
            <a:r>
              <a:rPr lang="en-US" dirty="0" err="1"/>
              <a:t>qabul</a:t>
            </a:r>
            <a:r>
              <a:rPr lang="en-US" dirty="0"/>
              <a:t> </a:t>
            </a:r>
            <a:r>
              <a:rPr lang="en-US" dirty="0" err="1"/>
              <a:t>qilinadigan</a:t>
            </a:r>
            <a:r>
              <a:rPr lang="en-US" dirty="0"/>
              <a:t> </a:t>
            </a:r>
            <a:r>
              <a:rPr lang="en-US" dirty="0" err="1"/>
              <a:t>boshqaruv</a:t>
            </a:r>
            <a:r>
              <a:rPr lang="en-US" dirty="0"/>
              <a:t> </a:t>
            </a:r>
            <a:r>
              <a:rPr lang="en-US" dirty="0" err="1"/>
              <a:t>yondashuvidir</a:t>
            </a:r>
            <a:r>
              <a:rPr lang="en-US" dirty="0"/>
              <a:t>.</a:t>
            </a:r>
            <a:endParaRPr lang="ru-RU" dirty="0"/>
          </a:p>
          <a:p>
            <a:pPr indent="0" algn="ctr">
              <a:buNone/>
            </a:pPr>
            <a:endParaRPr lang="en-US" sz="1200" b="0" strike="noStrike" spc="-1" dirty="0">
              <a:solidFill>
                <a:schemeClr val="dk1"/>
              </a:solidFill>
              <a:latin typeface="Open Sans"/>
              <a:ea typeface="Open Sans"/>
            </a:endParaRPr>
          </a:p>
        </p:txBody>
      </p:sp>
      <p:cxnSp>
        <p:nvCxnSpPr>
          <p:cNvPr id="60" name="Google Shape;177;p33"/>
          <p:cNvCxnSpPr/>
          <p:nvPr/>
        </p:nvCxnSpPr>
        <p:spPr>
          <a:xfrm>
            <a:off x="-5040" y="2017440"/>
            <a:ext cx="9182160" cy="360"/>
          </a:xfrm>
          <a:prstGeom prst="straightConnector1">
            <a:avLst/>
          </a:prstGeom>
          <a:ln w="9525">
            <a:solidFill>
              <a:srgbClr val="2B3D2D"/>
            </a:solidFill>
            <a:round/>
          </a:ln>
        </p:spPr>
      </p:cxnSp>
      <p:sp>
        <p:nvSpPr>
          <p:cNvPr id="2" name="TextBox 1">
            <a:extLst>
              <a:ext uri="{FF2B5EF4-FFF2-40B4-BE49-F238E27FC236}">
                <a16:creationId xmlns:a16="http://schemas.microsoft.com/office/drawing/2014/main" id="{E0414B02-5EFE-446E-AEB7-BB3B533F09B3}"/>
              </a:ext>
            </a:extLst>
          </p:cNvPr>
          <p:cNvSpPr txBox="1"/>
          <p:nvPr/>
        </p:nvSpPr>
        <p:spPr>
          <a:xfrm>
            <a:off x="474480" y="100800"/>
            <a:ext cx="8835120" cy="2554545"/>
          </a:xfrm>
          <a:prstGeom prst="rect">
            <a:avLst/>
          </a:prstGeom>
          <a:noFill/>
        </p:spPr>
        <p:txBody>
          <a:bodyPr wrap="square" rtlCol="0">
            <a:spAutoFit/>
          </a:bodyPr>
          <a:lstStyle/>
          <a:p>
            <a:r>
              <a:rPr lang="en-US" sz="4000" b="1" dirty="0" err="1"/>
              <a:t>Ma’lumotlarga</a:t>
            </a:r>
            <a:r>
              <a:rPr lang="en-US" sz="4000" b="1" dirty="0"/>
              <a:t> </a:t>
            </a:r>
            <a:r>
              <a:rPr lang="en-US" sz="4000" b="1" dirty="0" err="1"/>
              <a:t>asoslangan</a:t>
            </a:r>
            <a:r>
              <a:rPr lang="en-US" sz="4000" b="1" dirty="0"/>
              <a:t> </a:t>
            </a:r>
            <a:r>
              <a:rPr lang="en-US" sz="4000" b="1" dirty="0" err="1"/>
              <a:t>qaror</a:t>
            </a:r>
            <a:r>
              <a:rPr lang="en-US" sz="4000" b="1" dirty="0"/>
              <a:t> </a:t>
            </a:r>
            <a:r>
              <a:rPr lang="en-US" sz="4000" b="1" dirty="0" err="1"/>
              <a:t>qabul</a:t>
            </a:r>
            <a:r>
              <a:rPr lang="en-US" sz="4000" b="1" dirty="0"/>
              <a:t> </a:t>
            </a:r>
            <a:r>
              <a:rPr lang="en-US" sz="4000" b="1" dirty="0" err="1"/>
              <a:t>qilish</a:t>
            </a:r>
            <a:r>
              <a:rPr lang="en-US" sz="4000" b="1" dirty="0"/>
              <a:t> (Data-driven decision making)</a:t>
            </a:r>
            <a:endParaRPr lang="ru-RU" sz="4000" dirty="0"/>
          </a:p>
          <a:p>
            <a:endParaRPr lang="ru-RU"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81CA375D-4A24-485A-8FC8-494B875A0B51}"/>
              </a:ext>
            </a:extLst>
          </p:cNvPr>
          <p:cNvGraphicFramePr>
            <a:graphicFrameLocks noGrp="1"/>
          </p:cNvGraphicFramePr>
          <p:nvPr>
            <p:extLst>
              <p:ext uri="{D42A27DB-BD31-4B8C-83A1-F6EECF244321}">
                <p14:modId xmlns:p14="http://schemas.microsoft.com/office/powerpoint/2010/main" val="4060780612"/>
              </p:ext>
            </p:extLst>
          </p:nvPr>
        </p:nvGraphicFramePr>
        <p:xfrm>
          <a:off x="280800" y="482400"/>
          <a:ext cx="8406000" cy="4219197"/>
        </p:xfrm>
        <a:graphic>
          <a:graphicData uri="http://schemas.openxmlformats.org/drawingml/2006/table">
            <a:tbl>
              <a:tblPr>
                <a:tableStyleId>{D7AC3CCA-C797-4891-BE02-D94E43425B78}</a:tableStyleId>
              </a:tblPr>
              <a:tblGrid>
                <a:gridCol w="4203000">
                  <a:extLst>
                    <a:ext uri="{9D8B030D-6E8A-4147-A177-3AD203B41FA5}">
                      <a16:colId xmlns:a16="http://schemas.microsoft.com/office/drawing/2014/main" val="126617126"/>
                    </a:ext>
                  </a:extLst>
                </a:gridCol>
                <a:gridCol w="4203000">
                  <a:extLst>
                    <a:ext uri="{9D8B030D-6E8A-4147-A177-3AD203B41FA5}">
                      <a16:colId xmlns:a16="http://schemas.microsoft.com/office/drawing/2014/main" val="2519894638"/>
                    </a:ext>
                  </a:extLst>
                </a:gridCol>
              </a:tblGrid>
              <a:tr h="649107">
                <a:tc>
                  <a:txBody>
                    <a:bodyPr/>
                    <a:lstStyle/>
                    <a:p>
                      <a:r>
                        <a:rPr lang="en-US" sz="2400" b="1" dirty="0" err="1"/>
                        <a:t>Sabab</a:t>
                      </a:r>
                      <a:endParaRPr lang="en-US" sz="2400" b="1" dirty="0"/>
                    </a:p>
                  </a:txBody>
                  <a:tcPr anchor="ctr"/>
                </a:tc>
                <a:tc>
                  <a:txBody>
                    <a:bodyPr/>
                    <a:lstStyle/>
                    <a:p>
                      <a:r>
                        <a:rPr lang="en-US" sz="2400" b="1" dirty="0" err="1"/>
                        <a:t>Izoh</a:t>
                      </a:r>
                      <a:endParaRPr lang="en-US" sz="2400" b="1" dirty="0"/>
                    </a:p>
                  </a:txBody>
                  <a:tcPr anchor="ctr"/>
                </a:tc>
                <a:extLst>
                  <a:ext uri="{0D108BD9-81ED-4DB2-BD59-A6C34878D82A}">
                    <a16:rowId xmlns:a16="http://schemas.microsoft.com/office/drawing/2014/main" val="2108530010"/>
                  </a:ext>
                </a:extLst>
              </a:tr>
              <a:tr h="1135938">
                <a:tc>
                  <a:txBody>
                    <a:bodyPr/>
                    <a:lstStyle/>
                    <a:p>
                      <a:r>
                        <a:rPr lang="ru-RU"/>
                        <a:t>✅ </a:t>
                      </a:r>
                      <a:r>
                        <a:rPr lang="en-US"/>
                        <a:t>Ob’ektivlik</a:t>
                      </a:r>
                    </a:p>
                  </a:txBody>
                  <a:tcPr anchor="ctr"/>
                </a:tc>
                <a:tc>
                  <a:txBody>
                    <a:bodyPr/>
                    <a:lstStyle/>
                    <a:p>
                      <a:r>
                        <a:rPr lang="en-US"/>
                        <a:t>Qarorlar hissiyotlarga emas, aniq dalillarga asoslanadi</a:t>
                      </a:r>
                    </a:p>
                  </a:txBody>
                  <a:tcPr anchor="ctr"/>
                </a:tc>
                <a:extLst>
                  <a:ext uri="{0D108BD9-81ED-4DB2-BD59-A6C34878D82A}">
                    <a16:rowId xmlns:a16="http://schemas.microsoft.com/office/drawing/2014/main" val="4206414262"/>
                  </a:ext>
                </a:extLst>
              </a:tr>
              <a:tr h="1135938">
                <a:tc>
                  <a:txBody>
                    <a:bodyPr/>
                    <a:lstStyle/>
                    <a:p>
                      <a:r>
                        <a:rPr lang="ru-RU" dirty="0"/>
                        <a:t>✅ </a:t>
                      </a:r>
                      <a:r>
                        <a:rPr lang="en-US" dirty="0" err="1"/>
                        <a:t>Natijaviylik</a:t>
                      </a:r>
                      <a:endParaRPr lang="en-US" dirty="0"/>
                    </a:p>
                  </a:txBody>
                  <a:tcPr anchor="ctr"/>
                </a:tc>
                <a:tc>
                  <a:txBody>
                    <a:bodyPr/>
                    <a:lstStyle/>
                    <a:p>
                      <a:r>
                        <a:rPr lang="nn-NO" dirty="0"/>
                        <a:t>Ma’lumotlarga qarab to‘g‘ri strategiya tanlanadi</a:t>
                      </a:r>
                    </a:p>
                  </a:txBody>
                  <a:tcPr anchor="ctr"/>
                </a:tc>
                <a:extLst>
                  <a:ext uri="{0D108BD9-81ED-4DB2-BD59-A6C34878D82A}">
                    <a16:rowId xmlns:a16="http://schemas.microsoft.com/office/drawing/2014/main" val="2737348027"/>
                  </a:ext>
                </a:extLst>
              </a:tr>
              <a:tr h="649107">
                <a:tc>
                  <a:txBody>
                    <a:bodyPr/>
                    <a:lstStyle/>
                    <a:p>
                      <a:r>
                        <a:rPr lang="ru-RU" dirty="0"/>
                        <a:t>✅ </a:t>
                      </a:r>
                      <a:r>
                        <a:rPr lang="en-US" dirty="0" err="1"/>
                        <a:t>Risklarni</a:t>
                      </a:r>
                      <a:r>
                        <a:rPr lang="en-US" dirty="0"/>
                        <a:t> </a:t>
                      </a:r>
                      <a:r>
                        <a:rPr lang="en-US" dirty="0" err="1"/>
                        <a:t>kamaytirish</a:t>
                      </a:r>
                      <a:endParaRPr lang="en-US" dirty="0"/>
                    </a:p>
                  </a:txBody>
                  <a:tcPr anchor="ctr"/>
                </a:tc>
                <a:tc>
                  <a:txBody>
                    <a:bodyPr/>
                    <a:lstStyle/>
                    <a:p>
                      <a:r>
                        <a:rPr lang="en-US"/>
                        <a:t>Noto‘g‘ri qarorlar ehtimoli pasayadi</a:t>
                      </a:r>
                    </a:p>
                  </a:txBody>
                  <a:tcPr anchor="ctr"/>
                </a:tc>
                <a:extLst>
                  <a:ext uri="{0D108BD9-81ED-4DB2-BD59-A6C34878D82A}">
                    <a16:rowId xmlns:a16="http://schemas.microsoft.com/office/drawing/2014/main" val="3864182260"/>
                  </a:ext>
                </a:extLst>
              </a:tr>
              <a:tr h="649107">
                <a:tc>
                  <a:txBody>
                    <a:bodyPr/>
                    <a:lstStyle/>
                    <a:p>
                      <a:r>
                        <a:rPr lang="ru-RU" dirty="0"/>
                        <a:t>✅ </a:t>
                      </a:r>
                      <a:r>
                        <a:rPr lang="en-US" dirty="0" err="1"/>
                        <a:t>Doimiy</a:t>
                      </a:r>
                      <a:r>
                        <a:rPr lang="en-US" dirty="0"/>
                        <a:t> </a:t>
                      </a:r>
                      <a:r>
                        <a:rPr lang="en-US" dirty="0" err="1"/>
                        <a:t>yaxshilanish</a:t>
                      </a:r>
                      <a:endParaRPr lang="en-US" dirty="0"/>
                    </a:p>
                  </a:txBody>
                  <a:tcPr anchor="ctr"/>
                </a:tc>
                <a:tc>
                  <a:txBody>
                    <a:bodyPr/>
                    <a:lstStyle/>
                    <a:p>
                      <a:r>
                        <a:rPr lang="en-US" dirty="0" err="1"/>
                        <a:t>Tahlil</a:t>
                      </a:r>
                      <a:r>
                        <a:rPr lang="en-US" dirty="0"/>
                        <a:t> </a:t>
                      </a:r>
                      <a:r>
                        <a:rPr lang="en-US" dirty="0" err="1"/>
                        <a:t>orqali</a:t>
                      </a:r>
                      <a:r>
                        <a:rPr lang="en-US" dirty="0"/>
                        <a:t> </a:t>
                      </a:r>
                      <a:r>
                        <a:rPr lang="en-US" dirty="0" err="1"/>
                        <a:t>doimiy</a:t>
                      </a:r>
                      <a:r>
                        <a:rPr lang="en-US" dirty="0"/>
                        <a:t> </a:t>
                      </a:r>
                      <a:r>
                        <a:rPr lang="en-US" dirty="0" err="1"/>
                        <a:t>o‘sishga</a:t>
                      </a:r>
                      <a:r>
                        <a:rPr lang="en-US" dirty="0"/>
                        <a:t> </a:t>
                      </a:r>
                      <a:r>
                        <a:rPr lang="en-US" dirty="0" err="1"/>
                        <a:t>erishiladi</a:t>
                      </a:r>
                      <a:endParaRPr lang="en-US" dirty="0"/>
                    </a:p>
                  </a:txBody>
                  <a:tcPr anchor="ctr"/>
                </a:tc>
                <a:extLst>
                  <a:ext uri="{0D108BD9-81ED-4DB2-BD59-A6C34878D82A}">
                    <a16:rowId xmlns:a16="http://schemas.microsoft.com/office/drawing/2014/main" val="261649871"/>
                  </a:ext>
                </a:extLst>
              </a:tr>
            </a:tbl>
          </a:graphicData>
        </a:graphic>
      </p:graphicFrame>
    </p:spTree>
    <p:extLst>
      <p:ext uri="{BB962C8B-B14F-4D97-AF65-F5344CB8AC3E}">
        <p14:creationId xmlns:p14="http://schemas.microsoft.com/office/powerpoint/2010/main" val="1590231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DE85448-4B12-4CD3-90E8-FB02784086A2}"/>
              </a:ext>
            </a:extLst>
          </p:cNvPr>
          <p:cNvSpPr/>
          <p:nvPr/>
        </p:nvSpPr>
        <p:spPr>
          <a:xfrm>
            <a:off x="1004400" y="291391"/>
            <a:ext cx="7135200" cy="4750018"/>
          </a:xfrm>
          <a:prstGeom prst="rect">
            <a:avLst/>
          </a:prstGeom>
        </p:spPr>
        <p:txBody>
          <a:bodyPr wrap="square">
            <a:spAutoFit/>
          </a:bodyPr>
          <a:lstStyle/>
          <a:p>
            <a:pPr>
              <a:lnSpc>
                <a:spcPct val="150000"/>
              </a:lnSpc>
            </a:pPr>
            <a:r>
              <a:rPr lang="en-US" sz="2400" b="1" dirty="0" err="1">
                <a:solidFill>
                  <a:schemeClr val="accent1"/>
                </a:solidFill>
              </a:rPr>
              <a:t>Qanday</a:t>
            </a:r>
            <a:r>
              <a:rPr lang="en-US" sz="2400" b="1" dirty="0">
                <a:solidFill>
                  <a:schemeClr val="accent1"/>
                </a:solidFill>
              </a:rPr>
              <a:t> </a:t>
            </a:r>
            <a:r>
              <a:rPr lang="en-US" sz="2400" b="1" dirty="0" err="1">
                <a:solidFill>
                  <a:schemeClr val="accent1"/>
                </a:solidFill>
              </a:rPr>
              <a:t>amalga</a:t>
            </a:r>
            <a:r>
              <a:rPr lang="en-US" sz="2400" b="1" dirty="0">
                <a:solidFill>
                  <a:schemeClr val="accent1"/>
                </a:solidFill>
              </a:rPr>
              <a:t> </a:t>
            </a:r>
            <a:r>
              <a:rPr lang="en-US" sz="2400" b="1" dirty="0" err="1">
                <a:solidFill>
                  <a:schemeClr val="accent1"/>
                </a:solidFill>
              </a:rPr>
              <a:t>oshiriladi</a:t>
            </a:r>
            <a:r>
              <a:rPr lang="en-US" sz="2400" b="1" dirty="0">
                <a:solidFill>
                  <a:schemeClr val="accent1"/>
                </a:solidFill>
              </a:rPr>
              <a:t>?</a:t>
            </a:r>
          </a:p>
          <a:p>
            <a:pPr>
              <a:lnSpc>
                <a:spcPct val="150000"/>
              </a:lnSpc>
              <a:buFont typeface="+mj-lt"/>
              <a:buAutoNum type="arabicPeriod"/>
            </a:pPr>
            <a:r>
              <a:rPr lang="en-US" b="1" dirty="0" err="1">
                <a:solidFill>
                  <a:schemeClr val="accent1"/>
                </a:solidFill>
              </a:rPr>
              <a:t>Ma’lumotlarni</a:t>
            </a:r>
            <a:r>
              <a:rPr lang="en-US" b="1" dirty="0">
                <a:solidFill>
                  <a:schemeClr val="accent1"/>
                </a:solidFill>
              </a:rPr>
              <a:t> </a:t>
            </a:r>
            <a:r>
              <a:rPr lang="en-US" b="1" dirty="0" err="1">
                <a:solidFill>
                  <a:schemeClr val="accent1"/>
                </a:solidFill>
              </a:rPr>
              <a:t>yig‘ish</a:t>
            </a:r>
            <a:r>
              <a:rPr lang="en-US" dirty="0">
                <a:solidFill>
                  <a:schemeClr val="accent1"/>
                </a:solidFill>
              </a:rPr>
              <a:t> – </a:t>
            </a:r>
            <a:r>
              <a:rPr lang="en-US" dirty="0" err="1">
                <a:solidFill>
                  <a:schemeClr val="accent1"/>
                </a:solidFill>
              </a:rPr>
              <a:t>savdolar</a:t>
            </a:r>
            <a:r>
              <a:rPr lang="en-US" dirty="0">
                <a:solidFill>
                  <a:schemeClr val="accent1"/>
                </a:solidFill>
              </a:rPr>
              <a:t>, </a:t>
            </a:r>
            <a:r>
              <a:rPr lang="en-US" dirty="0" err="1">
                <a:solidFill>
                  <a:schemeClr val="accent1"/>
                </a:solidFill>
              </a:rPr>
              <a:t>mijozlar</a:t>
            </a:r>
            <a:r>
              <a:rPr lang="en-US" dirty="0">
                <a:solidFill>
                  <a:schemeClr val="accent1"/>
                </a:solidFill>
              </a:rPr>
              <a:t>, </a:t>
            </a:r>
            <a:r>
              <a:rPr lang="en-US" dirty="0" err="1">
                <a:solidFill>
                  <a:schemeClr val="accent1"/>
                </a:solidFill>
              </a:rPr>
              <a:t>xodimlar</a:t>
            </a:r>
            <a:r>
              <a:rPr lang="en-US" dirty="0">
                <a:solidFill>
                  <a:schemeClr val="accent1"/>
                </a:solidFill>
              </a:rPr>
              <a:t>, </a:t>
            </a:r>
            <a:r>
              <a:rPr lang="en-US" dirty="0" err="1">
                <a:solidFill>
                  <a:schemeClr val="accent1"/>
                </a:solidFill>
              </a:rPr>
              <a:t>bozor</a:t>
            </a:r>
            <a:r>
              <a:rPr lang="en-US" dirty="0">
                <a:solidFill>
                  <a:schemeClr val="accent1"/>
                </a:solidFill>
              </a:rPr>
              <a:t> </a:t>
            </a:r>
            <a:r>
              <a:rPr lang="en-US" dirty="0" err="1">
                <a:solidFill>
                  <a:schemeClr val="accent1"/>
                </a:solidFill>
              </a:rPr>
              <a:t>haqida</a:t>
            </a:r>
            <a:r>
              <a:rPr lang="en-US" dirty="0">
                <a:solidFill>
                  <a:schemeClr val="accent1"/>
                </a:solidFill>
              </a:rPr>
              <a:t> </a:t>
            </a:r>
            <a:r>
              <a:rPr lang="en-US" dirty="0" err="1">
                <a:solidFill>
                  <a:schemeClr val="accent1"/>
                </a:solidFill>
              </a:rPr>
              <a:t>ma’lumotlar</a:t>
            </a:r>
            <a:r>
              <a:rPr lang="en-US" dirty="0">
                <a:solidFill>
                  <a:schemeClr val="accent1"/>
                </a:solidFill>
              </a:rPr>
              <a:t>;</a:t>
            </a:r>
          </a:p>
          <a:p>
            <a:pPr>
              <a:lnSpc>
                <a:spcPct val="150000"/>
              </a:lnSpc>
              <a:buFont typeface="+mj-lt"/>
              <a:buAutoNum type="arabicPeriod"/>
            </a:pPr>
            <a:r>
              <a:rPr lang="en-US" b="1" dirty="0" err="1">
                <a:solidFill>
                  <a:schemeClr val="accent1"/>
                </a:solidFill>
              </a:rPr>
              <a:t>Ma’lumotlarni</a:t>
            </a:r>
            <a:r>
              <a:rPr lang="en-US" b="1" dirty="0">
                <a:solidFill>
                  <a:schemeClr val="accent1"/>
                </a:solidFill>
              </a:rPr>
              <a:t> </a:t>
            </a:r>
            <a:r>
              <a:rPr lang="en-US" b="1" dirty="0" err="1">
                <a:solidFill>
                  <a:schemeClr val="accent1"/>
                </a:solidFill>
              </a:rPr>
              <a:t>tozalash</a:t>
            </a:r>
            <a:r>
              <a:rPr lang="en-US" b="1" dirty="0">
                <a:solidFill>
                  <a:schemeClr val="accent1"/>
                </a:solidFill>
              </a:rPr>
              <a:t> </a:t>
            </a:r>
            <a:r>
              <a:rPr lang="en-US" b="1" dirty="0" err="1">
                <a:solidFill>
                  <a:schemeClr val="accent1"/>
                </a:solidFill>
              </a:rPr>
              <a:t>va</a:t>
            </a:r>
            <a:r>
              <a:rPr lang="en-US" b="1" dirty="0">
                <a:solidFill>
                  <a:schemeClr val="accent1"/>
                </a:solidFill>
              </a:rPr>
              <a:t> </a:t>
            </a:r>
            <a:r>
              <a:rPr lang="en-US" b="1" dirty="0" err="1">
                <a:solidFill>
                  <a:schemeClr val="accent1"/>
                </a:solidFill>
              </a:rPr>
              <a:t>tahlil</a:t>
            </a:r>
            <a:r>
              <a:rPr lang="en-US" b="1" dirty="0">
                <a:solidFill>
                  <a:schemeClr val="accent1"/>
                </a:solidFill>
              </a:rPr>
              <a:t> </a:t>
            </a:r>
            <a:r>
              <a:rPr lang="en-US" b="1" dirty="0" err="1">
                <a:solidFill>
                  <a:schemeClr val="accent1"/>
                </a:solidFill>
              </a:rPr>
              <a:t>qilish</a:t>
            </a:r>
            <a:r>
              <a:rPr lang="en-US" dirty="0">
                <a:solidFill>
                  <a:schemeClr val="accent1"/>
                </a:solidFill>
              </a:rPr>
              <a:t> – </a:t>
            </a:r>
            <a:r>
              <a:rPr lang="en-US" dirty="0" err="1">
                <a:solidFill>
                  <a:schemeClr val="accent1"/>
                </a:solidFill>
              </a:rPr>
              <a:t>kerakli</a:t>
            </a:r>
            <a:r>
              <a:rPr lang="en-US" dirty="0">
                <a:solidFill>
                  <a:schemeClr val="accent1"/>
                </a:solidFill>
              </a:rPr>
              <a:t> </a:t>
            </a:r>
            <a:r>
              <a:rPr lang="en-US" dirty="0" err="1">
                <a:solidFill>
                  <a:schemeClr val="accent1"/>
                </a:solidFill>
              </a:rPr>
              <a:t>joylarini</a:t>
            </a:r>
            <a:r>
              <a:rPr lang="en-US" dirty="0">
                <a:solidFill>
                  <a:schemeClr val="accent1"/>
                </a:solidFill>
              </a:rPr>
              <a:t> </a:t>
            </a:r>
            <a:r>
              <a:rPr lang="en-US" dirty="0" err="1">
                <a:solidFill>
                  <a:schemeClr val="accent1"/>
                </a:solidFill>
              </a:rPr>
              <a:t>ajratib</a:t>
            </a:r>
            <a:r>
              <a:rPr lang="en-US" dirty="0">
                <a:solidFill>
                  <a:schemeClr val="accent1"/>
                </a:solidFill>
              </a:rPr>
              <a:t> </a:t>
            </a:r>
            <a:r>
              <a:rPr lang="en-US" dirty="0" err="1">
                <a:solidFill>
                  <a:schemeClr val="accent1"/>
                </a:solidFill>
              </a:rPr>
              <a:t>olish</a:t>
            </a:r>
            <a:r>
              <a:rPr lang="en-US" dirty="0">
                <a:solidFill>
                  <a:schemeClr val="accent1"/>
                </a:solidFill>
              </a:rPr>
              <a:t>;</a:t>
            </a:r>
          </a:p>
          <a:p>
            <a:pPr>
              <a:lnSpc>
                <a:spcPct val="150000"/>
              </a:lnSpc>
              <a:buFont typeface="+mj-lt"/>
              <a:buAutoNum type="arabicPeriod"/>
            </a:pPr>
            <a:r>
              <a:rPr lang="en-US" b="1" dirty="0" err="1">
                <a:solidFill>
                  <a:schemeClr val="accent1"/>
                </a:solidFill>
              </a:rPr>
              <a:t>Vizualizatsiya</a:t>
            </a:r>
            <a:r>
              <a:rPr lang="en-US" b="1" dirty="0">
                <a:solidFill>
                  <a:schemeClr val="accent1"/>
                </a:solidFill>
              </a:rPr>
              <a:t> </a:t>
            </a:r>
            <a:r>
              <a:rPr lang="en-US" b="1" dirty="0" err="1">
                <a:solidFill>
                  <a:schemeClr val="accent1"/>
                </a:solidFill>
              </a:rPr>
              <a:t>qilish</a:t>
            </a:r>
            <a:r>
              <a:rPr lang="en-US" dirty="0">
                <a:solidFill>
                  <a:schemeClr val="accent1"/>
                </a:solidFill>
              </a:rPr>
              <a:t> – Power BI, Excel, Google Data Studio </a:t>
            </a:r>
            <a:r>
              <a:rPr lang="en-US" dirty="0" err="1">
                <a:solidFill>
                  <a:schemeClr val="accent1"/>
                </a:solidFill>
              </a:rPr>
              <a:t>orqali</a:t>
            </a:r>
            <a:r>
              <a:rPr lang="en-US" dirty="0">
                <a:solidFill>
                  <a:schemeClr val="accent1"/>
                </a:solidFill>
              </a:rPr>
              <a:t> </a:t>
            </a:r>
            <a:r>
              <a:rPr lang="en-US" dirty="0" err="1">
                <a:solidFill>
                  <a:schemeClr val="accent1"/>
                </a:solidFill>
              </a:rPr>
              <a:t>grafiklarda</a:t>
            </a:r>
            <a:r>
              <a:rPr lang="en-US" dirty="0">
                <a:solidFill>
                  <a:schemeClr val="accent1"/>
                </a:solidFill>
              </a:rPr>
              <a:t> </a:t>
            </a:r>
            <a:r>
              <a:rPr lang="en-US" dirty="0" err="1">
                <a:solidFill>
                  <a:schemeClr val="accent1"/>
                </a:solidFill>
              </a:rPr>
              <a:t>ko‘rsatish</a:t>
            </a:r>
            <a:r>
              <a:rPr lang="en-US" dirty="0">
                <a:solidFill>
                  <a:schemeClr val="accent1"/>
                </a:solidFill>
              </a:rPr>
              <a:t>;</a:t>
            </a:r>
          </a:p>
          <a:p>
            <a:pPr>
              <a:lnSpc>
                <a:spcPct val="150000"/>
              </a:lnSpc>
              <a:buFont typeface="+mj-lt"/>
              <a:buAutoNum type="arabicPeriod"/>
            </a:pPr>
            <a:r>
              <a:rPr lang="en-US" b="1" dirty="0">
                <a:solidFill>
                  <a:schemeClr val="accent1"/>
                </a:solidFill>
              </a:rPr>
              <a:t>Trend </a:t>
            </a:r>
            <a:r>
              <a:rPr lang="en-US" b="1" dirty="0" err="1">
                <a:solidFill>
                  <a:schemeClr val="accent1"/>
                </a:solidFill>
              </a:rPr>
              <a:t>va</a:t>
            </a:r>
            <a:r>
              <a:rPr lang="en-US" b="1" dirty="0">
                <a:solidFill>
                  <a:schemeClr val="accent1"/>
                </a:solidFill>
              </a:rPr>
              <a:t> </a:t>
            </a:r>
            <a:r>
              <a:rPr lang="en-US" b="1" dirty="0" err="1">
                <a:solidFill>
                  <a:schemeClr val="accent1"/>
                </a:solidFill>
              </a:rPr>
              <a:t>xulosalarni</a:t>
            </a:r>
            <a:r>
              <a:rPr lang="en-US" b="1" dirty="0">
                <a:solidFill>
                  <a:schemeClr val="accent1"/>
                </a:solidFill>
              </a:rPr>
              <a:t> </a:t>
            </a:r>
            <a:r>
              <a:rPr lang="en-US" b="1" dirty="0" err="1">
                <a:solidFill>
                  <a:schemeClr val="accent1"/>
                </a:solidFill>
              </a:rPr>
              <a:t>aniqlash</a:t>
            </a:r>
            <a:r>
              <a:rPr lang="en-US" dirty="0">
                <a:solidFill>
                  <a:schemeClr val="accent1"/>
                </a:solidFill>
              </a:rPr>
              <a:t> – </a:t>
            </a:r>
            <a:r>
              <a:rPr lang="en-US" dirty="0" err="1">
                <a:solidFill>
                  <a:schemeClr val="accent1"/>
                </a:solidFill>
              </a:rPr>
              <a:t>nimaga</a:t>
            </a:r>
            <a:r>
              <a:rPr lang="en-US" dirty="0">
                <a:solidFill>
                  <a:schemeClr val="accent1"/>
                </a:solidFill>
              </a:rPr>
              <a:t> </a:t>
            </a:r>
            <a:r>
              <a:rPr lang="en-US" dirty="0" err="1">
                <a:solidFill>
                  <a:schemeClr val="accent1"/>
                </a:solidFill>
              </a:rPr>
              <a:t>e’tibor</a:t>
            </a:r>
            <a:r>
              <a:rPr lang="en-US" dirty="0">
                <a:solidFill>
                  <a:schemeClr val="accent1"/>
                </a:solidFill>
              </a:rPr>
              <a:t> </a:t>
            </a:r>
            <a:r>
              <a:rPr lang="en-US" dirty="0" err="1">
                <a:solidFill>
                  <a:schemeClr val="accent1"/>
                </a:solidFill>
              </a:rPr>
              <a:t>qaratish</a:t>
            </a:r>
            <a:r>
              <a:rPr lang="en-US" dirty="0">
                <a:solidFill>
                  <a:schemeClr val="accent1"/>
                </a:solidFill>
              </a:rPr>
              <a:t> </a:t>
            </a:r>
            <a:r>
              <a:rPr lang="en-US" dirty="0" err="1">
                <a:solidFill>
                  <a:schemeClr val="accent1"/>
                </a:solidFill>
              </a:rPr>
              <a:t>kerakligini</a:t>
            </a:r>
            <a:r>
              <a:rPr lang="en-US" dirty="0">
                <a:solidFill>
                  <a:schemeClr val="accent1"/>
                </a:solidFill>
              </a:rPr>
              <a:t> </a:t>
            </a:r>
            <a:r>
              <a:rPr lang="en-US" dirty="0" err="1">
                <a:solidFill>
                  <a:schemeClr val="accent1"/>
                </a:solidFill>
              </a:rPr>
              <a:t>tushunish</a:t>
            </a:r>
            <a:r>
              <a:rPr lang="en-US" dirty="0">
                <a:solidFill>
                  <a:schemeClr val="accent1"/>
                </a:solidFill>
              </a:rPr>
              <a:t>;</a:t>
            </a:r>
          </a:p>
          <a:p>
            <a:pPr>
              <a:lnSpc>
                <a:spcPct val="150000"/>
              </a:lnSpc>
              <a:buFont typeface="+mj-lt"/>
              <a:buAutoNum type="arabicPeriod"/>
            </a:pPr>
            <a:r>
              <a:rPr lang="en-US" b="1" dirty="0" err="1">
                <a:solidFill>
                  <a:schemeClr val="accent1"/>
                </a:solidFill>
              </a:rPr>
              <a:t>Qaror</a:t>
            </a:r>
            <a:r>
              <a:rPr lang="en-US" b="1" dirty="0">
                <a:solidFill>
                  <a:schemeClr val="accent1"/>
                </a:solidFill>
              </a:rPr>
              <a:t> </a:t>
            </a:r>
            <a:r>
              <a:rPr lang="en-US" b="1" dirty="0" err="1">
                <a:solidFill>
                  <a:schemeClr val="accent1"/>
                </a:solidFill>
              </a:rPr>
              <a:t>qabul</a:t>
            </a:r>
            <a:r>
              <a:rPr lang="en-US" b="1" dirty="0">
                <a:solidFill>
                  <a:schemeClr val="accent1"/>
                </a:solidFill>
              </a:rPr>
              <a:t> </a:t>
            </a:r>
            <a:r>
              <a:rPr lang="en-US" b="1" dirty="0" err="1">
                <a:solidFill>
                  <a:schemeClr val="accent1"/>
                </a:solidFill>
              </a:rPr>
              <a:t>qilish</a:t>
            </a:r>
            <a:r>
              <a:rPr lang="en-US" dirty="0">
                <a:solidFill>
                  <a:schemeClr val="accent1"/>
                </a:solidFill>
              </a:rPr>
              <a:t> – </a:t>
            </a:r>
            <a:r>
              <a:rPr lang="en-US" dirty="0" err="1">
                <a:solidFill>
                  <a:schemeClr val="accent1"/>
                </a:solidFill>
              </a:rPr>
              <a:t>tahlil</a:t>
            </a:r>
            <a:r>
              <a:rPr lang="en-US" dirty="0">
                <a:solidFill>
                  <a:schemeClr val="accent1"/>
                </a:solidFill>
              </a:rPr>
              <a:t> </a:t>
            </a:r>
            <a:r>
              <a:rPr lang="en-US" dirty="0" err="1">
                <a:solidFill>
                  <a:schemeClr val="accent1"/>
                </a:solidFill>
              </a:rPr>
              <a:t>asosida</a:t>
            </a:r>
            <a:r>
              <a:rPr lang="en-US" dirty="0">
                <a:solidFill>
                  <a:schemeClr val="accent1"/>
                </a:solidFill>
              </a:rPr>
              <a:t> </a:t>
            </a:r>
            <a:r>
              <a:rPr lang="en-US" dirty="0" err="1">
                <a:solidFill>
                  <a:schemeClr val="accent1"/>
                </a:solidFill>
              </a:rPr>
              <a:t>strategik</a:t>
            </a:r>
            <a:r>
              <a:rPr lang="en-US" dirty="0">
                <a:solidFill>
                  <a:schemeClr val="accent1"/>
                </a:solidFill>
              </a:rPr>
              <a:t> harakat </a:t>
            </a:r>
            <a:r>
              <a:rPr lang="en-US" dirty="0" err="1">
                <a:solidFill>
                  <a:schemeClr val="accent1"/>
                </a:solidFill>
              </a:rPr>
              <a:t>rejasini</a:t>
            </a:r>
            <a:r>
              <a:rPr lang="en-US" dirty="0">
                <a:solidFill>
                  <a:schemeClr val="accent1"/>
                </a:solidFill>
              </a:rPr>
              <a:t> </a:t>
            </a:r>
            <a:r>
              <a:rPr lang="en-US" dirty="0" err="1">
                <a:solidFill>
                  <a:schemeClr val="accent1"/>
                </a:solidFill>
              </a:rPr>
              <a:t>tuzish</a:t>
            </a:r>
            <a:r>
              <a:rPr lang="en-US" dirty="0">
                <a:solidFill>
                  <a:schemeClr val="accent1"/>
                </a:solidFill>
              </a:rPr>
              <a:t>.</a:t>
            </a:r>
          </a:p>
        </p:txBody>
      </p:sp>
    </p:spTree>
    <p:extLst>
      <p:ext uri="{BB962C8B-B14F-4D97-AF65-F5344CB8AC3E}">
        <p14:creationId xmlns:p14="http://schemas.microsoft.com/office/powerpoint/2010/main" val="1720980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За два месяца в Узбекистан завезли более 80 тонн кофе — Новости Дарё">
            <a:extLst>
              <a:ext uri="{FF2B5EF4-FFF2-40B4-BE49-F238E27FC236}">
                <a16:creationId xmlns:a16="http://schemas.microsoft.com/office/drawing/2014/main" id="{3C1C6270-2788-4635-892B-40CCB21879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660850"/>
            <a:ext cx="4413600" cy="24826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FA15739-ADE1-485A-A7AD-278C0EC2F2D8}"/>
              </a:ext>
            </a:extLst>
          </p:cNvPr>
          <p:cNvSpPr txBox="1"/>
          <p:nvPr/>
        </p:nvSpPr>
        <p:spPr>
          <a:xfrm>
            <a:off x="4572000" y="460800"/>
            <a:ext cx="4413600" cy="3416320"/>
          </a:xfrm>
          <a:prstGeom prst="rect">
            <a:avLst/>
          </a:prstGeom>
          <a:noFill/>
        </p:spPr>
        <p:txBody>
          <a:bodyPr wrap="square" rtlCol="0">
            <a:spAutoFit/>
          </a:bodyPr>
          <a:lstStyle/>
          <a:p>
            <a:r>
              <a:rPr lang="en-US" b="1" dirty="0" err="1"/>
              <a:t>Misol</a:t>
            </a:r>
            <a:r>
              <a:rPr lang="en-US" b="1" dirty="0"/>
              <a:t>:</a:t>
            </a:r>
          </a:p>
          <a:p>
            <a:r>
              <a:rPr lang="en-US" dirty="0"/>
              <a:t>Agar </a:t>
            </a:r>
            <a:r>
              <a:rPr lang="en-US" dirty="0" err="1"/>
              <a:t>bir</a:t>
            </a:r>
            <a:r>
              <a:rPr lang="en-US" dirty="0"/>
              <a:t> </a:t>
            </a:r>
            <a:r>
              <a:rPr lang="en-US" dirty="0" err="1"/>
              <a:t>do‘kon</a:t>
            </a:r>
            <a:r>
              <a:rPr lang="en-US" dirty="0"/>
              <a:t> </a:t>
            </a:r>
            <a:r>
              <a:rPr lang="en-US" dirty="0" err="1"/>
              <a:t>egasi</a:t>
            </a:r>
            <a:r>
              <a:rPr lang="en-US" dirty="0"/>
              <a:t> Power BI </a:t>
            </a:r>
            <a:r>
              <a:rPr lang="en-US" dirty="0" err="1"/>
              <a:t>orqali</a:t>
            </a:r>
            <a:r>
              <a:rPr lang="en-US" dirty="0"/>
              <a:t> </a:t>
            </a:r>
            <a:r>
              <a:rPr lang="en-US" dirty="0" err="1"/>
              <a:t>ko‘rsa</a:t>
            </a:r>
            <a:r>
              <a:rPr lang="en-US" dirty="0"/>
              <a:t>, </a:t>
            </a:r>
            <a:r>
              <a:rPr lang="en-US" dirty="0" err="1"/>
              <a:t>eng</a:t>
            </a:r>
            <a:r>
              <a:rPr lang="en-US" dirty="0"/>
              <a:t> </a:t>
            </a:r>
            <a:r>
              <a:rPr lang="en-US" dirty="0" err="1"/>
              <a:t>ko‘p</a:t>
            </a:r>
            <a:r>
              <a:rPr lang="en-US" dirty="0"/>
              <a:t> </a:t>
            </a:r>
            <a:r>
              <a:rPr lang="en-US" dirty="0" err="1"/>
              <a:t>sotilgan</a:t>
            </a:r>
            <a:r>
              <a:rPr lang="en-US" dirty="0"/>
              <a:t> </a:t>
            </a:r>
            <a:r>
              <a:rPr lang="en-US" dirty="0" err="1"/>
              <a:t>mahsulot</a:t>
            </a:r>
            <a:r>
              <a:rPr lang="en-US" dirty="0"/>
              <a:t> — </a:t>
            </a:r>
            <a:r>
              <a:rPr lang="en-US" dirty="0" err="1"/>
              <a:t>qahva</a:t>
            </a:r>
            <a:r>
              <a:rPr lang="en-US" dirty="0"/>
              <a:t> </a:t>
            </a:r>
            <a:r>
              <a:rPr lang="en-US" dirty="0" err="1"/>
              <a:t>ekan</a:t>
            </a:r>
            <a:r>
              <a:rPr lang="en-US" dirty="0"/>
              <a:t>, u:</a:t>
            </a:r>
          </a:p>
          <a:p>
            <a:pPr marL="285750" indent="-285750">
              <a:buFont typeface="Wingdings" panose="05000000000000000000" pitchFamily="2" charset="2"/>
              <a:buChar char="Ø"/>
            </a:pPr>
            <a:r>
              <a:rPr lang="en-US" dirty="0" err="1"/>
              <a:t>Ko‘proq</a:t>
            </a:r>
            <a:r>
              <a:rPr lang="en-US" dirty="0"/>
              <a:t> </a:t>
            </a:r>
            <a:r>
              <a:rPr lang="en-US" dirty="0" err="1"/>
              <a:t>qahva</a:t>
            </a:r>
            <a:r>
              <a:rPr lang="en-US" dirty="0"/>
              <a:t> </a:t>
            </a:r>
            <a:r>
              <a:rPr lang="en-US" dirty="0" err="1"/>
              <a:t>zaxirasi</a:t>
            </a:r>
            <a:r>
              <a:rPr lang="en-US" dirty="0"/>
              <a:t> </a:t>
            </a:r>
            <a:r>
              <a:rPr lang="en-US" dirty="0" err="1"/>
              <a:t>qiladi</a:t>
            </a:r>
            <a:r>
              <a:rPr lang="en-US" dirty="0"/>
              <a:t>,</a:t>
            </a:r>
          </a:p>
          <a:p>
            <a:pPr marL="285750" indent="-285750">
              <a:buFont typeface="Wingdings" panose="05000000000000000000" pitchFamily="2" charset="2"/>
              <a:buChar char="Ø"/>
            </a:pPr>
            <a:r>
              <a:rPr lang="en-US" dirty="0" err="1"/>
              <a:t>Marketingni</a:t>
            </a:r>
            <a:r>
              <a:rPr lang="en-US" dirty="0"/>
              <a:t> </a:t>
            </a:r>
            <a:r>
              <a:rPr lang="en-US" dirty="0" err="1"/>
              <a:t>aynan</a:t>
            </a:r>
            <a:r>
              <a:rPr lang="en-US" dirty="0"/>
              <a:t> </a:t>
            </a:r>
            <a:r>
              <a:rPr lang="en-US" dirty="0" err="1"/>
              <a:t>qahva</a:t>
            </a:r>
            <a:r>
              <a:rPr lang="en-US" dirty="0"/>
              <a:t> </a:t>
            </a:r>
            <a:r>
              <a:rPr lang="en-US" dirty="0" err="1"/>
              <a:t>atrofida</a:t>
            </a:r>
            <a:r>
              <a:rPr lang="en-US" dirty="0"/>
              <a:t> </a:t>
            </a:r>
            <a:r>
              <a:rPr lang="en-US" dirty="0" err="1"/>
              <a:t>yo‘naltiradi</a:t>
            </a:r>
            <a:r>
              <a:rPr lang="en-US" dirty="0"/>
              <a:t>,</a:t>
            </a:r>
          </a:p>
          <a:p>
            <a:pPr marL="285750" indent="-285750">
              <a:buFont typeface="Wingdings" panose="05000000000000000000" pitchFamily="2" charset="2"/>
              <a:buChar char="Ø"/>
            </a:pPr>
            <a:r>
              <a:rPr lang="en-US" dirty="0" err="1"/>
              <a:t>Chegirmalar</a:t>
            </a:r>
            <a:r>
              <a:rPr lang="en-US" dirty="0"/>
              <a:t> </a:t>
            </a:r>
            <a:r>
              <a:rPr lang="en-US" dirty="0" err="1"/>
              <a:t>va</a:t>
            </a:r>
            <a:r>
              <a:rPr lang="en-US" dirty="0"/>
              <a:t> </a:t>
            </a:r>
            <a:r>
              <a:rPr lang="en-US" dirty="0" err="1"/>
              <a:t>aksiyalarni</a:t>
            </a:r>
            <a:r>
              <a:rPr lang="en-US" dirty="0"/>
              <a:t> </a:t>
            </a:r>
            <a:r>
              <a:rPr lang="en-US" dirty="0" err="1"/>
              <a:t>shu</a:t>
            </a:r>
            <a:r>
              <a:rPr lang="en-US" dirty="0"/>
              <a:t> </a:t>
            </a:r>
            <a:r>
              <a:rPr lang="en-US" dirty="0" err="1"/>
              <a:t>mahsulotda</a:t>
            </a:r>
            <a:r>
              <a:rPr lang="en-US" dirty="0"/>
              <a:t> </a:t>
            </a:r>
            <a:r>
              <a:rPr lang="en-US" dirty="0" err="1"/>
              <a:t>o‘tkazadi</a:t>
            </a:r>
            <a:r>
              <a:rPr lang="en-US" dirty="0"/>
              <a:t>.</a:t>
            </a:r>
          </a:p>
          <a:p>
            <a:r>
              <a:rPr lang="en-US" dirty="0"/>
              <a:t>Bu </a:t>
            </a:r>
            <a:r>
              <a:rPr lang="en-US" b="1" dirty="0" err="1"/>
              <a:t>ma’lumotga</a:t>
            </a:r>
            <a:r>
              <a:rPr lang="en-US" b="1" dirty="0"/>
              <a:t> </a:t>
            </a:r>
            <a:r>
              <a:rPr lang="en-US" b="1" dirty="0" err="1"/>
              <a:t>asoslangan</a:t>
            </a:r>
            <a:r>
              <a:rPr lang="en-US" b="1" dirty="0"/>
              <a:t> </a:t>
            </a:r>
            <a:r>
              <a:rPr lang="en-US" b="1" dirty="0" err="1"/>
              <a:t>qaror</a:t>
            </a:r>
            <a:r>
              <a:rPr lang="en-US" dirty="0"/>
              <a:t> </a:t>
            </a:r>
            <a:r>
              <a:rPr lang="en-US" dirty="0" err="1"/>
              <a:t>bo‘ladi</a:t>
            </a:r>
            <a:r>
              <a:rPr lang="en-US" dirty="0"/>
              <a:t>.</a:t>
            </a:r>
          </a:p>
          <a:p>
            <a:endParaRPr lang="ru-RU" dirty="0"/>
          </a:p>
        </p:txBody>
      </p:sp>
    </p:spTree>
    <p:extLst>
      <p:ext uri="{BB962C8B-B14F-4D97-AF65-F5344CB8AC3E}">
        <p14:creationId xmlns:p14="http://schemas.microsoft.com/office/powerpoint/2010/main" val="2853977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В каком регионе Узбекистан запустят пошив Zara и Columbia">
            <a:extLst>
              <a:ext uri="{FF2B5EF4-FFF2-40B4-BE49-F238E27FC236}">
                <a16:creationId xmlns:a16="http://schemas.microsoft.com/office/drawing/2014/main" id="{6A9D7F45-0438-4A25-930D-16BCF7F503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0250" y="0"/>
            <a:ext cx="51435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251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89B2BDE-93F9-4119-A55A-8E95F471FB58}"/>
              </a:ext>
            </a:extLst>
          </p:cNvPr>
          <p:cNvSpPr/>
          <p:nvPr/>
        </p:nvSpPr>
        <p:spPr>
          <a:xfrm>
            <a:off x="946800" y="493394"/>
            <a:ext cx="6980400" cy="4493538"/>
          </a:xfrm>
          <a:prstGeom prst="rect">
            <a:avLst/>
          </a:prstGeom>
        </p:spPr>
        <p:txBody>
          <a:bodyPr wrap="square">
            <a:spAutoFit/>
          </a:bodyPr>
          <a:lstStyle/>
          <a:p>
            <a:r>
              <a:rPr lang="en-US" sz="2200" b="1" dirty="0" err="1">
                <a:solidFill>
                  <a:schemeClr val="accent1"/>
                </a:solidFill>
              </a:rPr>
              <a:t>Qisqacha</a:t>
            </a:r>
            <a:r>
              <a:rPr lang="en-US" sz="2200" b="1" dirty="0">
                <a:solidFill>
                  <a:schemeClr val="accent1"/>
                </a:solidFill>
              </a:rPr>
              <a:t> </a:t>
            </a:r>
            <a:r>
              <a:rPr lang="en-US" sz="2200" b="1" dirty="0" err="1">
                <a:solidFill>
                  <a:schemeClr val="accent1"/>
                </a:solidFill>
              </a:rPr>
              <a:t>tarixiy</a:t>
            </a:r>
            <a:r>
              <a:rPr lang="en-US" sz="2200" b="1" dirty="0">
                <a:solidFill>
                  <a:schemeClr val="accent1"/>
                </a:solidFill>
              </a:rPr>
              <a:t> </a:t>
            </a:r>
            <a:r>
              <a:rPr lang="en-US" sz="2200" b="1" dirty="0" err="1">
                <a:solidFill>
                  <a:schemeClr val="accent1"/>
                </a:solidFill>
              </a:rPr>
              <a:t>rivojlanishi</a:t>
            </a:r>
            <a:r>
              <a:rPr lang="en-US" sz="2200" b="1" dirty="0">
                <a:solidFill>
                  <a:schemeClr val="accent1"/>
                </a:solidFill>
              </a:rPr>
              <a:t>:</a:t>
            </a:r>
          </a:p>
          <a:p>
            <a:pPr>
              <a:buFont typeface="Arial" panose="020B0604020202020204" pitchFamily="34" charset="0"/>
              <a:buChar char="•"/>
            </a:pPr>
            <a:r>
              <a:rPr lang="en-US" sz="2200" b="1" dirty="0">
                <a:solidFill>
                  <a:schemeClr val="accent1"/>
                </a:solidFill>
              </a:rPr>
              <a:t>1975</a:t>
            </a:r>
            <a:r>
              <a:rPr lang="en-US" sz="2200" dirty="0">
                <a:solidFill>
                  <a:schemeClr val="accent1"/>
                </a:solidFill>
              </a:rPr>
              <a:t> — </a:t>
            </a:r>
            <a:r>
              <a:rPr lang="en-US" sz="2200" dirty="0" err="1">
                <a:solidFill>
                  <a:schemeClr val="accent1"/>
                </a:solidFill>
              </a:rPr>
              <a:t>Birinchi</a:t>
            </a:r>
            <a:r>
              <a:rPr lang="en-US" sz="2200" dirty="0">
                <a:solidFill>
                  <a:schemeClr val="accent1"/>
                </a:solidFill>
              </a:rPr>
              <a:t> ZARA </a:t>
            </a:r>
            <a:r>
              <a:rPr lang="en-US" sz="2200" dirty="0" err="1">
                <a:solidFill>
                  <a:schemeClr val="accent1"/>
                </a:solidFill>
              </a:rPr>
              <a:t>do‘koni</a:t>
            </a:r>
            <a:r>
              <a:rPr lang="en-US" sz="2200" dirty="0">
                <a:solidFill>
                  <a:schemeClr val="accent1"/>
                </a:solidFill>
              </a:rPr>
              <a:t> </a:t>
            </a:r>
            <a:r>
              <a:rPr lang="en-US" sz="2200" dirty="0" err="1">
                <a:solidFill>
                  <a:schemeClr val="accent1"/>
                </a:solidFill>
              </a:rPr>
              <a:t>Ispaniyada</a:t>
            </a:r>
            <a:r>
              <a:rPr lang="en-US" sz="2200" dirty="0">
                <a:solidFill>
                  <a:schemeClr val="accent1"/>
                </a:solidFill>
              </a:rPr>
              <a:t> </a:t>
            </a:r>
            <a:r>
              <a:rPr lang="en-US" sz="2200" dirty="0" err="1">
                <a:solidFill>
                  <a:schemeClr val="accent1"/>
                </a:solidFill>
              </a:rPr>
              <a:t>ochildi</a:t>
            </a:r>
            <a:r>
              <a:rPr lang="en-US" sz="2200" dirty="0">
                <a:solidFill>
                  <a:schemeClr val="accent1"/>
                </a:solidFill>
              </a:rPr>
              <a:t>.</a:t>
            </a:r>
          </a:p>
          <a:p>
            <a:pPr>
              <a:buFont typeface="Arial" panose="020B0604020202020204" pitchFamily="34" charset="0"/>
              <a:buChar char="•"/>
            </a:pPr>
            <a:r>
              <a:rPr lang="en-US" sz="2200" b="1" dirty="0">
                <a:solidFill>
                  <a:schemeClr val="accent1"/>
                </a:solidFill>
              </a:rPr>
              <a:t>1980-yillar</a:t>
            </a:r>
            <a:r>
              <a:rPr lang="en-US" sz="2200" dirty="0">
                <a:solidFill>
                  <a:schemeClr val="accent1"/>
                </a:solidFill>
              </a:rPr>
              <a:t> — ZARA </a:t>
            </a:r>
            <a:r>
              <a:rPr lang="en-US" sz="2200" dirty="0" err="1">
                <a:solidFill>
                  <a:schemeClr val="accent1"/>
                </a:solidFill>
              </a:rPr>
              <a:t>o‘zining</a:t>
            </a:r>
            <a:r>
              <a:rPr lang="en-US" sz="2200" dirty="0">
                <a:solidFill>
                  <a:schemeClr val="accent1"/>
                </a:solidFill>
              </a:rPr>
              <a:t> “</a:t>
            </a:r>
            <a:r>
              <a:rPr lang="en-US" sz="2200" dirty="0" err="1">
                <a:solidFill>
                  <a:schemeClr val="accent1"/>
                </a:solidFill>
              </a:rPr>
              <a:t>tez</a:t>
            </a:r>
            <a:r>
              <a:rPr lang="en-US" sz="2200" dirty="0">
                <a:solidFill>
                  <a:schemeClr val="accent1"/>
                </a:solidFill>
              </a:rPr>
              <a:t> </a:t>
            </a:r>
            <a:r>
              <a:rPr lang="en-US" sz="2200" dirty="0" err="1">
                <a:solidFill>
                  <a:schemeClr val="accent1"/>
                </a:solidFill>
              </a:rPr>
              <a:t>moda</a:t>
            </a:r>
            <a:r>
              <a:rPr lang="en-US" sz="2200" dirty="0">
                <a:solidFill>
                  <a:schemeClr val="accent1"/>
                </a:solidFill>
              </a:rPr>
              <a:t>” (fast fashion) </a:t>
            </a:r>
            <a:r>
              <a:rPr lang="en-US" sz="2200" dirty="0" err="1">
                <a:solidFill>
                  <a:schemeClr val="accent1"/>
                </a:solidFill>
              </a:rPr>
              <a:t>yondashuvi</a:t>
            </a:r>
            <a:r>
              <a:rPr lang="en-US" sz="2200" dirty="0">
                <a:solidFill>
                  <a:schemeClr val="accent1"/>
                </a:solidFill>
              </a:rPr>
              <a:t> </a:t>
            </a:r>
            <a:r>
              <a:rPr lang="en-US" sz="2200" dirty="0" err="1">
                <a:solidFill>
                  <a:schemeClr val="accent1"/>
                </a:solidFill>
              </a:rPr>
              <a:t>bilan</a:t>
            </a:r>
            <a:r>
              <a:rPr lang="en-US" sz="2200" dirty="0">
                <a:solidFill>
                  <a:schemeClr val="accent1"/>
                </a:solidFill>
              </a:rPr>
              <a:t> </a:t>
            </a:r>
            <a:r>
              <a:rPr lang="en-US" sz="2200" dirty="0" err="1">
                <a:solidFill>
                  <a:schemeClr val="accent1"/>
                </a:solidFill>
              </a:rPr>
              <a:t>mashhur</a:t>
            </a:r>
            <a:r>
              <a:rPr lang="en-US" sz="2200" dirty="0">
                <a:solidFill>
                  <a:schemeClr val="accent1"/>
                </a:solidFill>
              </a:rPr>
              <a:t> </a:t>
            </a:r>
            <a:r>
              <a:rPr lang="en-US" sz="2200" dirty="0" err="1">
                <a:solidFill>
                  <a:schemeClr val="accent1"/>
                </a:solidFill>
              </a:rPr>
              <a:t>bo‘ldi</a:t>
            </a:r>
            <a:r>
              <a:rPr lang="en-US" sz="2200" dirty="0">
                <a:solidFill>
                  <a:schemeClr val="accent1"/>
                </a:solidFill>
              </a:rPr>
              <a:t> — </a:t>
            </a:r>
            <a:r>
              <a:rPr lang="en-US" sz="2200" dirty="0" err="1">
                <a:solidFill>
                  <a:schemeClr val="accent1"/>
                </a:solidFill>
              </a:rPr>
              <a:t>ya’ni</a:t>
            </a:r>
            <a:r>
              <a:rPr lang="en-US" sz="2200" dirty="0">
                <a:solidFill>
                  <a:schemeClr val="accent1"/>
                </a:solidFill>
              </a:rPr>
              <a:t>, </a:t>
            </a:r>
            <a:r>
              <a:rPr lang="en-US" sz="2200" dirty="0" err="1">
                <a:solidFill>
                  <a:schemeClr val="accent1"/>
                </a:solidFill>
              </a:rPr>
              <a:t>ommabop</a:t>
            </a:r>
            <a:r>
              <a:rPr lang="en-US" sz="2200" dirty="0">
                <a:solidFill>
                  <a:schemeClr val="accent1"/>
                </a:solidFill>
              </a:rPr>
              <a:t> </a:t>
            </a:r>
            <a:r>
              <a:rPr lang="en-US" sz="2200" dirty="0" err="1">
                <a:solidFill>
                  <a:schemeClr val="accent1"/>
                </a:solidFill>
              </a:rPr>
              <a:t>dizaynlar</a:t>
            </a:r>
            <a:r>
              <a:rPr lang="en-US" sz="2200" dirty="0">
                <a:solidFill>
                  <a:schemeClr val="accent1"/>
                </a:solidFill>
              </a:rPr>
              <a:t> </a:t>
            </a:r>
            <a:r>
              <a:rPr lang="en-US" sz="2200" dirty="0" err="1">
                <a:solidFill>
                  <a:schemeClr val="accent1"/>
                </a:solidFill>
              </a:rPr>
              <a:t>juda</a:t>
            </a:r>
            <a:r>
              <a:rPr lang="en-US" sz="2200" dirty="0">
                <a:solidFill>
                  <a:schemeClr val="accent1"/>
                </a:solidFill>
              </a:rPr>
              <a:t> </a:t>
            </a:r>
            <a:r>
              <a:rPr lang="en-US" sz="2200" dirty="0" err="1">
                <a:solidFill>
                  <a:schemeClr val="accent1"/>
                </a:solidFill>
              </a:rPr>
              <a:t>tez</a:t>
            </a:r>
            <a:r>
              <a:rPr lang="en-US" sz="2200" dirty="0">
                <a:solidFill>
                  <a:schemeClr val="accent1"/>
                </a:solidFill>
              </a:rPr>
              <a:t> </a:t>
            </a:r>
            <a:r>
              <a:rPr lang="en-US" sz="2200" dirty="0" err="1">
                <a:solidFill>
                  <a:schemeClr val="accent1"/>
                </a:solidFill>
              </a:rPr>
              <a:t>ishlab</a:t>
            </a:r>
            <a:r>
              <a:rPr lang="en-US" sz="2200" dirty="0">
                <a:solidFill>
                  <a:schemeClr val="accent1"/>
                </a:solidFill>
              </a:rPr>
              <a:t> </a:t>
            </a:r>
            <a:r>
              <a:rPr lang="en-US" sz="2200" dirty="0" err="1">
                <a:solidFill>
                  <a:schemeClr val="accent1"/>
                </a:solidFill>
              </a:rPr>
              <a:t>chiqarilib</a:t>
            </a:r>
            <a:r>
              <a:rPr lang="en-US" sz="2200" dirty="0">
                <a:solidFill>
                  <a:schemeClr val="accent1"/>
                </a:solidFill>
              </a:rPr>
              <a:t>, </a:t>
            </a:r>
            <a:r>
              <a:rPr lang="en-US" sz="2200" dirty="0" err="1">
                <a:solidFill>
                  <a:schemeClr val="accent1"/>
                </a:solidFill>
              </a:rPr>
              <a:t>do‘konlarga</a:t>
            </a:r>
            <a:r>
              <a:rPr lang="en-US" sz="2200" dirty="0">
                <a:solidFill>
                  <a:schemeClr val="accent1"/>
                </a:solidFill>
              </a:rPr>
              <a:t> </a:t>
            </a:r>
            <a:r>
              <a:rPr lang="en-US" sz="2200" dirty="0" err="1">
                <a:solidFill>
                  <a:schemeClr val="accent1"/>
                </a:solidFill>
              </a:rPr>
              <a:t>yetkaziladi</a:t>
            </a:r>
            <a:r>
              <a:rPr lang="en-US" sz="2200" dirty="0">
                <a:solidFill>
                  <a:schemeClr val="accent1"/>
                </a:solidFill>
              </a:rPr>
              <a:t>.</a:t>
            </a:r>
          </a:p>
          <a:p>
            <a:pPr>
              <a:buFont typeface="Arial" panose="020B0604020202020204" pitchFamily="34" charset="0"/>
              <a:buChar char="•"/>
            </a:pPr>
            <a:r>
              <a:rPr lang="en-US" sz="2200" b="1" dirty="0">
                <a:solidFill>
                  <a:schemeClr val="accent1"/>
                </a:solidFill>
              </a:rPr>
              <a:t>1990-yillar</a:t>
            </a:r>
            <a:r>
              <a:rPr lang="en-US" sz="2200" dirty="0">
                <a:solidFill>
                  <a:schemeClr val="accent1"/>
                </a:solidFill>
              </a:rPr>
              <a:t> — ZARA </a:t>
            </a:r>
            <a:r>
              <a:rPr lang="en-US" sz="2200" dirty="0" err="1">
                <a:solidFill>
                  <a:schemeClr val="accent1"/>
                </a:solidFill>
              </a:rPr>
              <a:t>xalqaro</a:t>
            </a:r>
            <a:r>
              <a:rPr lang="en-US" sz="2200" dirty="0">
                <a:solidFill>
                  <a:schemeClr val="accent1"/>
                </a:solidFill>
              </a:rPr>
              <a:t> </a:t>
            </a:r>
            <a:r>
              <a:rPr lang="en-US" sz="2200" dirty="0" err="1">
                <a:solidFill>
                  <a:schemeClr val="accent1"/>
                </a:solidFill>
              </a:rPr>
              <a:t>bozorlarga</a:t>
            </a:r>
            <a:r>
              <a:rPr lang="en-US" sz="2200" dirty="0">
                <a:solidFill>
                  <a:schemeClr val="accent1"/>
                </a:solidFill>
              </a:rPr>
              <a:t> </a:t>
            </a:r>
            <a:r>
              <a:rPr lang="en-US" sz="2200" dirty="0" err="1">
                <a:solidFill>
                  <a:schemeClr val="accent1"/>
                </a:solidFill>
              </a:rPr>
              <a:t>chiqdi</a:t>
            </a:r>
            <a:r>
              <a:rPr lang="en-US" sz="2200" dirty="0">
                <a:solidFill>
                  <a:schemeClr val="accent1"/>
                </a:solidFill>
              </a:rPr>
              <a:t> (</a:t>
            </a:r>
            <a:r>
              <a:rPr lang="en-US" sz="2200" dirty="0" err="1">
                <a:solidFill>
                  <a:schemeClr val="accent1"/>
                </a:solidFill>
              </a:rPr>
              <a:t>Portugaliya</a:t>
            </a:r>
            <a:r>
              <a:rPr lang="en-US" sz="2200" dirty="0">
                <a:solidFill>
                  <a:schemeClr val="accent1"/>
                </a:solidFill>
              </a:rPr>
              <a:t>, AQSH, </a:t>
            </a:r>
            <a:r>
              <a:rPr lang="en-US" sz="2200" dirty="0" err="1">
                <a:solidFill>
                  <a:schemeClr val="accent1"/>
                </a:solidFill>
              </a:rPr>
              <a:t>Fransiya</a:t>
            </a:r>
            <a:r>
              <a:rPr lang="en-US" sz="2200" dirty="0">
                <a:solidFill>
                  <a:schemeClr val="accent1"/>
                </a:solidFill>
              </a:rPr>
              <a:t>).</a:t>
            </a:r>
          </a:p>
          <a:p>
            <a:pPr>
              <a:buFont typeface="Arial" panose="020B0604020202020204" pitchFamily="34" charset="0"/>
              <a:buChar char="•"/>
            </a:pPr>
            <a:r>
              <a:rPr lang="en-US" sz="2200" b="1" dirty="0">
                <a:solidFill>
                  <a:schemeClr val="accent1"/>
                </a:solidFill>
              </a:rPr>
              <a:t>2000-yillar</a:t>
            </a:r>
            <a:r>
              <a:rPr lang="en-US" sz="2200" dirty="0">
                <a:solidFill>
                  <a:schemeClr val="accent1"/>
                </a:solidFill>
              </a:rPr>
              <a:t> — Online </a:t>
            </a:r>
            <a:r>
              <a:rPr lang="en-US" sz="2200" dirty="0" err="1">
                <a:solidFill>
                  <a:schemeClr val="accent1"/>
                </a:solidFill>
              </a:rPr>
              <a:t>savdoni</a:t>
            </a:r>
            <a:r>
              <a:rPr lang="en-US" sz="2200" dirty="0">
                <a:solidFill>
                  <a:schemeClr val="accent1"/>
                </a:solidFill>
              </a:rPr>
              <a:t> </a:t>
            </a:r>
            <a:r>
              <a:rPr lang="en-US" sz="2200" dirty="0" err="1">
                <a:solidFill>
                  <a:schemeClr val="accent1"/>
                </a:solidFill>
              </a:rPr>
              <a:t>yo‘lga</a:t>
            </a:r>
            <a:r>
              <a:rPr lang="en-US" sz="2200" dirty="0">
                <a:solidFill>
                  <a:schemeClr val="accent1"/>
                </a:solidFill>
              </a:rPr>
              <a:t> </a:t>
            </a:r>
            <a:r>
              <a:rPr lang="en-US" sz="2200" dirty="0" err="1">
                <a:solidFill>
                  <a:schemeClr val="accent1"/>
                </a:solidFill>
              </a:rPr>
              <a:t>qo‘ydi</a:t>
            </a:r>
            <a:r>
              <a:rPr lang="en-US" sz="2200" dirty="0">
                <a:solidFill>
                  <a:schemeClr val="accent1"/>
                </a:solidFill>
              </a:rPr>
              <a:t>, global </a:t>
            </a:r>
            <a:r>
              <a:rPr lang="en-US" sz="2200" dirty="0" err="1">
                <a:solidFill>
                  <a:schemeClr val="accent1"/>
                </a:solidFill>
              </a:rPr>
              <a:t>kengayish</a:t>
            </a:r>
            <a:r>
              <a:rPr lang="en-US" sz="2200" dirty="0">
                <a:solidFill>
                  <a:schemeClr val="accent1"/>
                </a:solidFill>
              </a:rPr>
              <a:t> </a:t>
            </a:r>
            <a:r>
              <a:rPr lang="en-US" sz="2200" dirty="0" err="1">
                <a:solidFill>
                  <a:schemeClr val="accent1"/>
                </a:solidFill>
              </a:rPr>
              <a:t>tezlashdi</a:t>
            </a:r>
            <a:r>
              <a:rPr lang="en-US" sz="2200" dirty="0">
                <a:solidFill>
                  <a:schemeClr val="accent1"/>
                </a:solidFill>
              </a:rPr>
              <a:t>.</a:t>
            </a:r>
          </a:p>
          <a:p>
            <a:pPr>
              <a:buFont typeface="Arial" panose="020B0604020202020204" pitchFamily="34" charset="0"/>
              <a:buChar char="•"/>
            </a:pPr>
            <a:r>
              <a:rPr lang="en-US" sz="2200" b="1" dirty="0" err="1">
                <a:solidFill>
                  <a:schemeClr val="accent1"/>
                </a:solidFill>
              </a:rPr>
              <a:t>Bugungi</a:t>
            </a:r>
            <a:r>
              <a:rPr lang="en-US" sz="2200" b="1" dirty="0">
                <a:solidFill>
                  <a:schemeClr val="accent1"/>
                </a:solidFill>
              </a:rPr>
              <a:t> </a:t>
            </a:r>
            <a:r>
              <a:rPr lang="en-US" sz="2200" b="1" dirty="0" err="1">
                <a:solidFill>
                  <a:schemeClr val="accent1"/>
                </a:solidFill>
              </a:rPr>
              <a:t>kunda</a:t>
            </a:r>
            <a:r>
              <a:rPr lang="en-US" sz="2200" dirty="0">
                <a:solidFill>
                  <a:schemeClr val="accent1"/>
                </a:solidFill>
              </a:rPr>
              <a:t> — ZARA </a:t>
            </a:r>
            <a:r>
              <a:rPr lang="en-US" sz="2200" dirty="0" err="1">
                <a:solidFill>
                  <a:schemeClr val="accent1"/>
                </a:solidFill>
              </a:rPr>
              <a:t>dunyoning</a:t>
            </a:r>
            <a:r>
              <a:rPr lang="en-US" sz="2200" dirty="0">
                <a:solidFill>
                  <a:schemeClr val="accent1"/>
                </a:solidFill>
              </a:rPr>
              <a:t> 90 dan </a:t>
            </a:r>
            <a:r>
              <a:rPr lang="en-US" sz="2200" dirty="0" err="1">
                <a:solidFill>
                  <a:schemeClr val="accent1"/>
                </a:solidFill>
              </a:rPr>
              <a:t>ortiq</a:t>
            </a:r>
            <a:r>
              <a:rPr lang="en-US" sz="2200" dirty="0">
                <a:solidFill>
                  <a:schemeClr val="accent1"/>
                </a:solidFill>
              </a:rPr>
              <a:t> </a:t>
            </a:r>
            <a:r>
              <a:rPr lang="en-US" sz="2200" dirty="0" err="1">
                <a:solidFill>
                  <a:schemeClr val="accent1"/>
                </a:solidFill>
              </a:rPr>
              <a:t>mamlakatida</a:t>
            </a:r>
            <a:r>
              <a:rPr lang="en-US" sz="2200" dirty="0">
                <a:solidFill>
                  <a:schemeClr val="accent1"/>
                </a:solidFill>
              </a:rPr>
              <a:t> 2000 dan </a:t>
            </a:r>
            <a:r>
              <a:rPr lang="en-US" sz="2200" dirty="0" err="1">
                <a:solidFill>
                  <a:schemeClr val="accent1"/>
                </a:solidFill>
              </a:rPr>
              <a:t>ortiq</a:t>
            </a:r>
            <a:r>
              <a:rPr lang="en-US" sz="2200" dirty="0">
                <a:solidFill>
                  <a:schemeClr val="accent1"/>
                </a:solidFill>
              </a:rPr>
              <a:t> </a:t>
            </a:r>
            <a:r>
              <a:rPr lang="en-US" sz="2200" dirty="0" err="1">
                <a:solidFill>
                  <a:schemeClr val="accent1"/>
                </a:solidFill>
              </a:rPr>
              <a:t>do‘konlari</a:t>
            </a:r>
            <a:r>
              <a:rPr lang="en-US" sz="2200" dirty="0">
                <a:solidFill>
                  <a:schemeClr val="accent1"/>
                </a:solidFill>
              </a:rPr>
              <a:t> </a:t>
            </a:r>
            <a:r>
              <a:rPr lang="en-US" sz="2200" dirty="0" err="1">
                <a:solidFill>
                  <a:schemeClr val="accent1"/>
                </a:solidFill>
              </a:rPr>
              <a:t>bilan</a:t>
            </a:r>
            <a:r>
              <a:rPr lang="en-US" sz="2200" dirty="0">
                <a:solidFill>
                  <a:schemeClr val="accent1"/>
                </a:solidFill>
              </a:rPr>
              <a:t> </a:t>
            </a:r>
            <a:r>
              <a:rPr lang="en-US" sz="2200" dirty="0" err="1">
                <a:solidFill>
                  <a:schemeClr val="accent1"/>
                </a:solidFill>
              </a:rPr>
              <a:t>faoliyat</a:t>
            </a:r>
            <a:r>
              <a:rPr lang="en-US" sz="2200" dirty="0">
                <a:solidFill>
                  <a:schemeClr val="accent1"/>
                </a:solidFill>
              </a:rPr>
              <a:t> </a:t>
            </a:r>
            <a:r>
              <a:rPr lang="en-US" sz="2200" dirty="0" err="1">
                <a:solidFill>
                  <a:schemeClr val="accent1"/>
                </a:solidFill>
              </a:rPr>
              <a:t>yuritadi</a:t>
            </a:r>
            <a:r>
              <a:rPr lang="en-US" sz="2200" dirty="0">
                <a:solidFill>
                  <a:schemeClr val="accent1"/>
                </a:solidFill>
              </a:rPr>
              <a:t> </a:t>
            </a:r>
            <a:r>
              <a:rPr lang="en-US" sz="2200" dirty="0" err="1">
                <a:solidFill>
                  <a:schemeClr val="accent1"/>
                </a:solidFill>
              </a:rPr>
              <a:t>va</a:t>
            </a:r>
            <a:r>
              <a:rPr lang="en-US" sz="2200" dirty="0">
                <a:solidFill>
                  <a:schemeClr val="accent1"/>
                </a:solidFill>
              </a:rPr>
              <a:t> </a:t>
            </a:r>
            <a:r>
              <a:rPr lang="en-US" sz="2200" b="1" dirty="0">
                <a:solidFill>
                  <a:schemeClr val="accent1"/>
                </a:solidFill>
              </a:rPr>
              <a:t>Inditex</a:t>
            </a:r>
            <a:r>
              <a:rPr lang="en-US" sz="2200" dirty="0">
                <a:solidFill>
                  <a:schemeClr val="accent1"/>
                </a:solidFill>
              </a:rPr>
              <a:t> </a:t>
            </a:r>
            <a:r>
              <a:rPr lang="en-US" sz="2200" dirty="0" err="1">
                <a:solidFill>
                  <a:schemeClr val="accent1"/>
                </a:solidFill>
              </a:rPr>
              <a:t>guruhining</a:t>
            </a:r>
            <a:r>
              <a:rPr lang="en-US" sz="2200" dirty="0">
                <a:solidFill>
                  <a:schemeClr val="accent1"/>
                </a:solidFill>
              </a:rPr>
              <a:t> </a:t>
            </a:r>
            <a:r>
              <a:rPr lang="en-US" sz="2200" dirty="0" err="1">
                <a:solidFill>
                  <a:schemeClr val="accent1"/>
                </a:solidFill>
              </a:rPr>
              <a:t>eng</a:t>
            </a:r>
            <a:r>
              <a:rPr lang="en-US" sz="2200" dirty="0">
                <a:solidFill>
                  <a:schemeClr val="accent1"/>
                </a:solidFill>
              </a:rPr>
              <a:t> </a:t>
            </a:r>
            <a:r>
              <a:rPr lang="en-US" sz="2200" dirty="0" err="1">
                <a:solidFill>
                  <a:schemeClr val="accent1"/>
                </a:solidFill>
              </a:rPr>
              <a:t>yirik</a:t>
            </a:r>
            <a:r>
              <a:rPr lang="en-US" sz="2200" dirty="0">
                <a:solidFill>
                  <a:schemeClr val="accent1"/>
                </a:solidFill>
              </a:rPr>
              <a:t> </a:t>
            </a:r>
            <a:r>
              <a:rPr lang="en-US" sz="2200" dirty="0" err="1">
                <a:solidFill>
                  <a:schemeClr val="accent1"/>
                </a:solidFill>
              </a:rPr>
              <a:t>brendidir</a:t>
            </a:r>
            <a:r>
              <a:rPr lang="en-US" sz="2200" dirty="0">
                <a:solidFill>
                  <a:schemeClr val="accent1"/>
                </a:solidFill>
              </a:rPr>
              <a:t>.</a:t>
            </a:r>
          </a:p>
        </p:txBody>
      </p:sp>
    </p:spTree>
    <p:extLst>
      <p:ext uri="{BB962C8B-B14F-4D97-AF65-F5344CB8AC3E}">
        <p14:creationId xmlns:p14="http://schemas.microsoft.com/office/powerpoint/2010/main" val="2090548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FE08691-3FF9-45F4-9612-3DDEDFDD5E69}"/>
              </a:ext>
            </a:extLst>
          </p:cNvPr>
          <p:cNvSpPr/>
          <p:nvPr/>
        </p:nvSpPr>
        <p:spPr>
          <a:xfrm>
            <a:off x="820800" y="725091"/>
            <a:ext cx="7603200" cy="3600986"/>
          </a:xfrm>
          <a:prstGeom prst="rect">
            <a:avLst/>
          </a:prstGeom>
        </p:spPr>
        <p:txBody>
          <a:bodyPr wrap="square">
            <a:spAutoFit/>
          </a:bodyPr>
          <a:lstStyle/>
          <a:p>
            <a:r>
              <a:rPr lang="en-US" sz="2800" b="1" dirty="0">
                <a:solidFill>
                  <a:schemeClr val="accent1"/>
                </a:solidFill>
              </a:rPr>
              <a:t>Zara (</a:t>
            </a:r>
            <a:r>
              <a:rPr lang="en-US" sz="2800" b="1" dirty="0" err="1">
                <a:solidFill>
                  <a:schemeClr val="accent1"/>
                </a:solidFill>
              </a:rPr>
              <a:t>Moda</a:t>
            </a:r>
            <a:r>
              <a:rPr lang="en-US" sz="2800" b="1" dirty="0">
                <a:solidFill>
                  <a:schemeClr val="accent1"/>
                </a:solidFill>
              </a:rPr>
              <a:t> </a:t>
            </a:r>
            <a:r>
              <a:rPr lang="en-US" sz="2800" b="1" dirty="0" err="1">
                <a:solidFill>
                  <a:schemeClr val="accent1"/>
                </a:solidFill>
              </a:rPr>
              <a:t>sanoati</a:t>
            </a:r>
            <a:r>
              <a:rPr lang="en-US" sz="2800" b="1" dirty="0">
                <a:solidFill>
                  <a:schemeClr val="accent1"/>
                </a:solidFill>
              </a:rPr>
              <a:t>)</a:t>
            </a:r>
          </a:p>
          <a:p>
            <a:r>
              <a:rPr lang="en-US" sz="2000" b="1" dirty="0" err="1">
                <a:solidFill>
                  <a:schemeClr val="accent1"/>
                </a:solidFill>
              </a:rPr>
              <a:t>Qanday</a:t>
            </a:r>
            <a:r>
              <a:rPr lang="en-US" sz="2000" b="1" dirty="0">
                <a:solidFill>
                  <a:schemeClr val="accent1"/>
                </a:solidFill>
              </a:rPr>
              <a:t> </a:t>
            </a:r>
            <a:r>
              <a:rPr lang="en-US" sz="2000" b="1" dirty="0" err="1">
                <a:solidFill>
                  <a:schemeClr val="accent1"/>
                </a:solidFill>
              </a:rPr>
              <a:t>ma’lumotdan</a:t>
            </a:r>
            <a:r>
              <a:rPr lang="en-US" sz="2000" b="1" dirty="0">
                <a:solidFill>
                  <a:schemeClr val="accent1"/>
                </a:solidFill>
              </a:rPr>
              <a:t> </a:t>
            </a:r>
            <a:r>
              <a:rPr lang="en-US" sz="2000" b="1" dirty="0" err="1">
                <a:solidFill>
                  <a:schemeClr val="accent1"/>
                </a:solidFill>
              </a:rPr>
              <a:t>foydalanadi</a:t>
            </a:r>
            <a:r>
              <a:rPr lang="en-US" sz="2000" b="1" dirty="0">
                <a:solidFill>
                  <a:schemeClr val="accent1"/>
                </a:solidFill>
              </a:rPr>
              <a:t>:</a:t>
            </a:r>
            <a:br>
              <a:rPr lang="en-US" sz="2000" dirty="0">
                <a:solidFill>
                  <a:schemeClr val="accent1"/>
                </a:solidFill>
              </a:rPr>
            </a:br>
            <a:r>
              <a:rPr lang="en-US" sz="2000" dirty="0">
                <a:solidFill>
                  <a:schemeClr val="accent1"/>
                </a:solidFill>
              </a:rPr>
              <a:t>Zara </a:t>
            </a:r>
            <a:r>
              <a:rPr lang="en-US" sz="2000" dirty="0" err="1">
                <a:solidFill>
                  <a:schemeClr val="accent1"/>
                </a:solidFill>
              </a:rPr>
              <a:t>mijozlar</a:t>
            </a:r>
            <a:r>
              <a:rPr lang="en-US" sz="2000" dirty="0">
                <a:solidFill>
                  <a:schemeClr val="accent1"/>
                </a:solidFill>
              </a:rPr>
              <a:t> </a:t>
            </a:r>
            <a:r>
              <a:rPr lang="en-US" sz="2000" dirty="0" err="1">
                <a:solidFill>
                  <a:schemeClr val="accent1"/>
                </a:solidFill>
              </a:rPr>
              <a:t>xaridini</a:t>
            </a:r>
            <a:r>
              <a:rPr lang="en-US" sz="2000" dirty="0">
                <a:solidFill>
                  <a:schemeClr val="accent1"/>
                </a:solidFill>
              </a:rPr>
              <a:t>, </a:t>
            </a:r>
            <a:r>
              <a:rPr lang="en-US" sz="2000" dirty="0" err="1">
                <a:solidFill>
                  <a:schemeClr val="accent1"/>
                </a:solidFill>
              </a:rPr>
              <a:t>ombor</a:t>
            </a:r>
            <a:r>
              <a:rPr lang="en-US" sz="2000" dirty="0">
                <a:solidFill>
                  <a:schemeClr val="accent1"/>
                </a:solidFill>
              </a:rPr>
              <a:t> </a:t>
            </a:r>
            <a:r>
              <a:rPr lang="en-US" sz="2000" dirty="0" err="1">
                <a:solidFill>
                  <a:schemeClr val="accent1"/>
                </a:solidFill>
              </a:rPr>
              <a:t>zaxiralarini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moda</a:t>
            </a:r>
            <a:r>
              <a:rPr lang="en-US" sz="2000" dirty="0">
                <a:solidFill>
                  <a:schemeClr val="accent1"/>
                </a:solidFill>
              </a:rPr>
              <a:t> </a:t>
            </a:r>
            <a:r>
              <a:rPr lang="en-US" sz="2000" dirty="0" err="1">
                <a:solidFill>
                  <a:schemeClr val="accent1"/>
                </a:solidFill>
              </a:rPr>
              <a:t>tendensiyalarini</a:t>
            </a:r>
            <a:r>
              <a:rPr lang="en-US" sz="2000" dirty="0">
                <a:solidFill>
                  <a:schemeClr val="accent1"/>
                </a:solidFill>
              </a:rPr>
              <a:t> </a:t>
            </a:r>
            <a:r>
              <a:rPr lang="en-US" sz="2000" dirty="0" err="1">
                <a:solidFill>
                  <a:schemeClr val="accent1"/>
                </a:solidFill>
              </a:rPr>
              <a:t>doimiy</a:t>
            </a:r>
            <a:r>
              <a:rPr lang="en-US" sz="2000" dirty="0">
                <a:solidFill>
                  <a:schemeClr val="accent1"/>
                </a:solidFill>
              </a:rPr>
              <a:t> </a:t>
            </a:r>
            <a:r>
              <a:rPr lang="en-US" sz="2000" dirty="0" err="1">
                <a:solidFill>
                  <a:schemeClr val="accent1"/>
                </a:solidFill>
              </a:rPr>
              <a:t>tahlil</a:t>
            </a:r>
            <a:r>
              <a:rPr lang="en-US" sz="2000" dirty="0">
                <a:solidFill>
                  <a:schemeClr val="accent1"/>
                </a:solidFill>
              </a:rPr>
              <a:t> </a:t>
            </a:r>
            <a:r>
              <a:rPr lang="en-US" sz="2000" dirty="0" err="1">
                <a:solidFill>
                  <a:schemeClr val="accent1"/>
                </a:solidFill>
              </a:rPr>
              <a:t>qiladi</a:t>
            </a:r>
            <a:r>
              <a:rPr lang="en-US" sz="2000" dirty="0">
                <a:solidFill>
                  <a:schemeClr val="accent1"/>
                </a:solidFill>
              </a:rPr>
              <a:t>.</a:t>
            </a:r>
            <a:br>
              <a:rPr lang="en-US" sz="2000" dirty="0">
                <a:solidFill>
                  <a:schemeClr val="accent1"/>
                </a:solidFill>
              </a:rPr>
            </a:br>
            <a:endParaRPr lang="en-US" sz="2000" dirty="0">
              <a:solidFill>
                <a:schemeClr val="accent1"/>
              </a:solidFill>
            </a:endParaRPr>
          </a:p>
          <a:p>
            <a:r>
              <a:rPr lang="en-US" sz="2000" b="1" dirty="0" err="1">
                <a:solidFill>
                  <a:schemeClr val="accent1"/>
                </a:solidFill>
              </a:rPr>
              <a:t>Qanday</a:t>
            </a:r>
            <a:r>
              <a:rPr lang="en-US" sz="2000" b="1" dirty="0">
                <a:solidFill>
                  <a:schemeClr val="accent1"/>
                </a:solidFill>
              </a:rPr>
              <a:t> </a:t>
            </a:r>
            <a:r>
              <a:rPr lang="en-US" sz="2000" b="1" dirty="0" err="1">
                <a:solidFill>
                  <a:schemeClr val="accent1"/>
                </a:solidFill>
              </a:rPr>
              <a:t>qarorlar</a:t>
            </a:r>
            <a:r>
              <a:rPr lang="en-US" sz="2000" b="1" dirty="0">
                <a:solidFill>
                  <a:schemeClr val="accent1"/>
                </a:solidFill>
              </a:rPr>
              <a:t> </a:t>
            </a:r>
            <a:r>
              <a:rPr lang="en-US" sz="2000" b="1" dirty="0" err="1">
                <a:solidFill>
                  <a:schemeClr val="accent1"/>
                </a:solidFill>
              </a:rPr>
              <a:t>qabul</a:t>
            </a:r>
            <a:r>
              <a:rPr lang="en-US" sz="2000" b="1" dirty="0">
                <a:solidFill>
                  <a:schemeClr val="accent1"/>
                </a:solidFill>
              </a:rPr>
              <a:t> </a:t>
            </a:r>
            <a:r>
              <a:rPr lang="en-US" sz="2000" b="1" dirty="0" err="1">
                <a:solidFill>
                  <a:schemeClr val="accent1"/>
                </a:solidFill>
              </a:rPr>
              <a:t>qiladi</a:t>
            </a:r>
            <a:r>
              <a:rPr lang="en-US" sz="2000" b="1" dirty="0">
                <a:solidFill>
                  <a:schemeClr val="accent1"/>
                </a:solidFill>
              </a:rPr>
              <a:t>:</a:t>
            </a:r>
            <a:br>
              <a:rPr lang="en-US" sz="2000" dirty="0">
                <a:solidFill>
                  <a:schemeClr val="accent1"/>
                </a:solidFill>
              </a:rPr>
            </a:br>
            <a:r>
              <a:rPr lang="en-US" sz="2000" dirty="0">
                <a:solidFill>
                  <a:schemeClr val="accent1"/>
                </a:solidFill>
              </a:rPr>
              <a:t>Har </a:t>
            </a:r>
            <a:r>
              <a:rPr lang="en-US" sz="2000" dirty="0" err="1">
                <a:solidFill>
                  <a:schemeClr val="accent1"/>
                </a:solidFill>
              </a:rPr>
              <a:t>bir</a:t>
            </a:r>
            <a:r>
              <a:rPr lang="en-US" sz="2000" dirty="0">
                <a:solidFill>
                  <a:schemeClr val="accent1"/>
                </a:solidFill>
              </a:rPr>
              <a:t> </a:t>
            </a:r>
            <a:r>
              <a:rPr lang="en-US" sz="2000" dirty="0" err="1">
                <a:solidFill>
                  <a:schemeClr val="accent1"/>
                </a:solidFill>
              </a:rPr>
              <a:t>do‘konda</a:t>
            </a:r>
            <a:r>
              <a:rPr lang="en-US" sz="2000" dirty="0">
                <a:solidFill>
                  <a:schemeClr val="accent1"/>
                </a:solidFill>
              </a:rPr>
              <a:t> </a:t>
            </a:r>
            <a:r>
              <a:rPr lang="en-US" sz="2000" dirty="0" err="1">
                <a:solidFill>
                  <a:schemeClr val="accent1"/>
                </a:solidFill>
              </a:rPr>
              <a:t>sotuvchilarga</a:t>
            </a:r>
            <a:r>
              <a:rPr lang="en-US" sz="2000" dirty="0">
                <a:solidFill>
                  <a:schemeClr val="accent1"/>
                </a:solidFill>
              </a:rPr>
              <a:t> </a:t>
            </a:r>
            <a:r>
              <a:rPr lang="en-US" sz="2000" dirty="0" err="1">
                <a:solidFill>
                  <a:schemeClr val="accent1"/>
                </a:solidFill>
              </a:rPr>
              <a:t>mijozlarning</a:t>
            </a:r>
            <a:r>
              <a:rPr lang="en-US" sz="2000" dirty="0">
                <a:solidFill>
                  <a:schemeClr val="accent1"/>
                </a:solidFill>
              </a:rPr>
              <a:t> </a:t>
            </a:r>
            <a:r>
              <a:rPr lang="en-US" sz="2000" dirty="0" err="1">
                <a:solidFill>
                  <a:schemeClr val="accent1"/>
                </a:solidFill>
              </a:rPr>
              <a:t>fikrlari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xarid</a:t>
            </a:r>
            <a:r>
              <a:rPr lang="en-US" sz="2000" dirty="0">
                <a:solidFill>
                  <a:schemeClr val="accent1"/>
                </a:solidFill>
              </a:rPr>
              <a:t> </a:t>
            </a:r>
            <a:r>
              <a:rPr lang="en-US" sz="2000" dirty="0" err="1">
                <a:solidFill>
                  <a:schemeClr val="accent1"/>
                </a:solidFill>
              </a:rPr>
              <a:t>odatlari</a:t>
            </a:r>
            <a:r>
              <a:rPr lang="en-US" sz="2000" dirty="0">
                <a:solidFill>
                  <a:schemeClr val="accent1"/>
                </a:solidFill>
              </a:rPr>
              <a:t> </a:t>
            </a:r>
            <a:r>
              <a:rPr lang="en-US" sz="2000" dirty="0" err="1">
                <a:solidFill>
                  <a:schemeClr val="accent1"/>
                </a:solidFill>
              </a:rPr>
              <a:t>haqida</a:t>
            </a:r>
            <a:r>
              <a:rPr lang="en-US" sz="2000" dirty="0">
                <a:solidFill>
                  <a:schemeClr val="accent1"/>
                </a:solidFill>
              </a:rPr>
              <a:t> </a:t>
            </a:r>
            <a:r>
              <a:rPr lang="en-US" sz="2000" dirty="0" err="1">
                <a:solidFill>
                  <a:schemeClr val="accent1"/>
                </a:solidFill>
              </a:rPr>
              <a:t>hisobot</a:t>
            </a:r>
            <a:r>
              <a:rPr lang="en-US" sz="2000" dirty="0">
                <a:solidFill>
                  <a:schemeClr val="accent1"/>
                </a:solidFill>
              </a:rPr>
              <a:t> </a:t>
            </a:r>
            <a:r>
              <a:rPr lang="en-US" sz="2000" dirty="0" err="1">
                <a:solidFill>
                  <a:schemeClr val="accent1"/>
                </a:solidFill>
              </a:rPr>
              <a:t>topshirish</a:t>
            </a:r>
            <a:r>
              <a:rPr lang="en-US" sz="2000" dirty="0">
                <a:solidFill>
                  <a:schemeClr val="accent1"/>
                </a:solidFill>
              </a:rPr>
              <a:t> </a:t>
            </a:r>
            <a:r>
              <a:rPr lang="en-US" sz="2000" dirty="0" err="1">
                <a:solidFill>
                  <a:schemeClr val="accent1"/>
                </a:solidFill>
              </a:rPr>
              <a:t>vazifasi</a:t>
            </a:r>
            <a:r>
              <a:rPr lang="en-US" sz="2000" dirty="0">
                <a:solidFill>
                  <a:schemeClr val="accent1"/>
                </a:solidFill>
              </a:rPr>
              <a:t> </a:t>
            </a:r>
            <a:r>
              <a:rPr lang="en-US" sz="2000" dirty="0" err="1">
                <a:solidFill>
                  <a:schemeClr val="accent1"/>
                </a:solidFill>
              </a:rPr>
              <a:t>yuklangan</a:t>
            </a:r>
            <a:r>
              <a:rPr lang="en-US" sz="2000" dirty="0">
                <a:solidFill>
                  <a:schemeClr val="accent1"/>
                </a:solidFill>
              </a:rPr>
              <a:t>. </a:t>
            </a:r>
            <a:r>
              <a:rPr lang="en-US" sz="2000" dirty="0" err="1">
                <a:solidFill>
                  <a:schemeClr val="accent1"/>
                </a:solidFill>
              </a:rPr>
              <a:t>Ushbu</a:t>
            </a:r>
            <a:r>
              <a:rPr lang="en-US" sz="2000" dirty="0">
                <a:solidFill>
                  <a:schemeClr val="accent1"/>
                </a:solidFill>
              </a:rPr>
              <a:t> real </a:t>
            </a:r>
            <a:r>
              <a:rPr lang="en-US" sz="2000" dirty="0" err="1">
                <a:solidFill>
                  <a:schemeClr val="accent1"/>
                </a:solidFill>
              </a:rPr>
              <a:t>vaqtdagi</a:t>
            </a:r>
            <a:r>
              <a:rPr lang="en-US" sz="2000" dirty="0">
                <a:solidFill>
                  <a:schemeClr val="accent1"/>
                </a:solidFill>
              </a:rPr>
              <a:t> </a:t>
            </a:r>
            <a:r>
              <a:rPr lang="en-US" sz="2000" dirty="0" err="1">
                <a:solidFill>
                  <a:schemeClr val="accent1"/>
                </a:solidFill>
              </a:rPr>
              <a:t>ma’lumotlar</a:t>
            </a:r>
            <a:r>
              <a:rPr lang="en-US" sz="2000" dirty="0">
                <a:solidFill>
                  <a:schemeClr val="accent1"/>
                </a:solidFill>
              </a:rPr>
              <a:t> </a:t>
            </a:r>
            <a:r>
              <a:rPr lang="en-US" sz="2000" dirty="0" err="1">
                <a:solidFill>
                  <a:schemeClr val="accent1"/>
                </a:solidFill>
              </a:rPr>
              <a:t>asosida</a:t>
            </a:r>
            <a:r>
              <a:rPr lang="en-US" sz="2000" dirty="0">
                <a:solidFill>
                  <a:schemeClr val="accent1"/>
                </a:solidFill>
              </a:rPr>
              <a:t> Zara </a:t>
            </a:r>
            <a:r>
              <a:rPr lang="en-US" sz="2000" dirty="0" err="1">
                <a:solidFill>
                  <a:schemeClr val="accent1"/>
                </a:solidFill>
              </a:rPr>
              <a:t>dizaynerlari</a:t>
            </a:r>
            <a:r>
              <a:rPr lang="en-US" sz="2000" dirty="0">
                <a:solidFill>
                  <a:schemeClr val="accent1"/>
                </a:solidFill>
              </a:rPr>
              <a:t> </a:t>
            </a:r>
            <a:r>
              <a:rPr lang="en-US" sz="2000" dirty="0" err="1">
                <a:solidFill>
                  <a:schemeClr val="accent1"/>
                </a:solidFill>
              </a:rPr>
              <a:t>haftasiga</a:t>
            </a:r>
            <a:r>
              <a:rPr lang="en-US" sz="2000" dirty="0">
                <a:solidFill>
                  <a:schemeClr val="accent1"/>
                </a:solidFill>
              </a:rPr>
              <a:t> </a:t>
            </a:r>
            <a:r>
              <a:rPr lang="en-US" sz="2000" dirty="0" err="1">
                <a:solidFill>
                  <a:schemeClr val="accent1"/>
                </a:solidFill>
              </a:rPr>
              <a:t>bir</a:t>
            </a:r>
            <a:r>
              <a:rPr lang="en-US" sz="2000" dirty="0">
                <a:solidFill>
                  <a:schemeClr val="accent1"/>
                </a:solidFill>
              </a:rPr>
              <a:t> </a:t>
            </a:r>
            <a:r>
              <a:rPr lang="en-US" sz="2000" dirty="0" err="1">
                <a:solidFill>
                  <a:schemeClr val="accent1"/>
                </a:solidFill>
              </a:rPr>
              <a:t>necha</a:t>
            </a:r>
            <a:r>
              <a:rPr lang="en-US" sz="2000" dirty="0">
                <a:solidFill>
                  <a:schemeClr val="accent1"/>
                </a:solidFill>
              </a:rPr>
              <a:t> </a:t>
            </a:r>
            <a:r>
              <a:rPr lang="en-US" sz="2000" dirty="0" err="1">
                <a:solidFill>
                  <a:schemeClr val="accent1"/>
                </a:solidFill>
              </a:rPr>
              <a:t>marta</a:t>
            </a:r>
            <a:r>
              <a:rPr lang="en-US" sz="2000" dirty="0">
                <a:solidFill>
                  <a:schemeClr val="accent1"/>
                </a:solidFill>
              </a:rPr>
              <a:t> </a:t>
            </a:r>
            <a:r>
              <a:rPr lang="en-US" sz="2000" dirty="0" err="1">
                <a:solidFill>
                  <a:schemeClr val="accent1"/>
                </a:solidFill>
              </a:rPr>
              <a:t>yangi</a:t>
            </a:r>
            <a:r>
              <a:rPr lang="en-US" sz="2000" dirty="0">
                <a:solidFill>
                  <a:schemeClr val="accent1"/>
                </a:solidFill>
              </a:rPr>
              <a:t> </a:t>
            </a:r>
            <a:r>
              <a:rPr lang="en-US" sz="2000" dirty="0" err="1">
                <a:solidFill>
                  <a:schemeClr val="accent1"/>
                </a:solidFill>
              </a:rPr>
              <a:t>kolleksiya</a:t>
            </a:r>
            <a:r>
              <a:rPr lang="en-US" sz="2000" dirty="0">
                <a:solidFill>
                  <a:schemeClr val="accent1"/>
                </a:solidFill>
              </a:rPr>
              <a:t> </a:t>
            </a:r>
            <a:r>
              <a:rPr lang="en-US" sz="2000" dirty="0" err="1">
                <a:solidFill>
                  <a:schemeClr val="accent1"/>
                </a:solidFill>
              </a:rPr>
              <a:t>yaratadi</a:t>
            </a:r>
            <a:r>
              <a:rPr lang="en-US" sz="2000" dirty="0">
                <a:solidFill>
                  <a:schemeClr val="accent1"/>
                </a:solidFill>
              </a:rPr>
              <a:t>. </a:t>
            </a:r>
            <a:r>
              <a:rPr lang="en-US" sz="2000" dirty="0" err="1">
                <a:solidFill>
                  <a:schemeClr val="accent1"/>
                </a:solidFill>
              </a:rPr>
              <a:t>Natijada</a:t>
            </a:r>
            <a:r>
              <a:rPr lang="en-US" sz="2000" dirty="0">
                <a:solidFill>
                  <a:schemeClr val="accent1"/>
                </a:solidFill>
              </a:rPr>
              <a:t> </a:t>
            </a:r>
            <a:r>
              <a:rPr lang="en-US" sz="2000" dirty="0" err="1">
                <a:solidFill>
                  <a:schemeClr val="accent1"/>
                </a:solidFill>
              </a:rPr>
              <a:t>ular</a:t>
            </a:r>
            <a:r>
              <a:rPr lang="en-US" sz="2000" dirty="0">
                <a:solidFill>
                  <a:schemeClr val="accent1"/>
                </a:solidFill>
              </a:rPr>
              <a:t> </a:t>
            </a:r>
            <a:r>
              <a:rPr lang="en-US" sz="2000" dirty="0" err="1">
                <a:solidFill>
                  <a:schemeClr val="accent1"/>
                </a:solidFill>
              </a:rPr>
              <a:t>modaning</a:t>
            </a:r>
            <a:r>
              <a:rPr lang="en-US" sz="2000" dirty="0">
                <a:solidFill>
                  <a:schemeClr val="accent1"/>
                </a:solidFill>
              </a:rPr>
              <a:t> </a:t>
            </a:r>
            <a:r>
              <a:rPr lang="en-US" sz="2000" dirty="0" err="1">
                <a:solidFill>
                  <a:schemeClr val="accent1"/>
                </a:solidFill>
              </a:rPr>
              <a:t>joriy</a:t>
            </a:r>
            <a:r>
              <a:rPr lang="en-US" sz="2000" dirty="0">
                <a:solidFill>
                  <a:schemeClr val="accent1"/>
                </a:solidFill>
              </a:rPr>
              <a:t> </a:t>
            </a:r>
            <a:r>
              <a:rPr lang="en-US" sz="2000" dirty="0" err="1">
                <a:solidFill>
                  <a:schemeClr val="accent1"/>
                </a:solidFill>
              </a:rPr>
              <a:t>holatiga</a:t>
            </a:r>
            <a:r>
              <a:rPr lang="en-US" sz="2000" dirty="0">
                <a:solidFill>
                  <a:schemeClr val="accent1"/>
                </a:solidFill>
              </a:rPr>
              <a:t> </a:t>
            </a:r>
            <a:r>
              <a:rPr lang="en-US" sz="2000" dirty="0" err="1">
                <a:solidFill>
                  <a:schemeClr val="accent1"/>
                </a:solidFill>
              </a:rPr>
              <a:t>tez</a:t>
            </a:r>
            <a:r>
              <a:rPr lang="en-US" sz="2000" dirty="0">
                <a:solidFill>
                  <a:schemeClr val="accent1"/>
                </a:solidFill>
              </a:rPr>
              <a:t> </a:t>
            </a:r>
            <a:r>
              <a:rPr lang="en-US" sz="2000" dirty="0" err="1">
                <a:solidFill>
                  <a:schemeClr val="accent1"/>
                </a:solidFill>
              </a:rPr>
              <a:t>moslasha</a:t>
            </a:r>
            <a:r>
              <a:rPr lang="en-US" sz="2000" dirty="0">
                <a:solidFill>
                  <a:schemeClr val="accent1"/>
                </a:solidFill>
              </a:rPr>
              <a:t> </a:t>
            </a:r>
            <a:r>
              <a:rPr lang="en-US" sz="2000" dirty="0" err="1">
                <a:solidFill>
                  <a:schemeClr val="accent1"/>
                </a:solidFill>
              </a:rPr>
              <a:t>oladi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ortiqcha</a:t>
            </a:r>
            <a:r>
              <a:rPr lang="en-US" sz="2000" dirty="0">
                <a:solidFill>
                  <a:schemeClr val="accent1"/>
                </a:solidFill>
              </a:rPr>
              <a:t> </a:t>
            </a:r>
            <a:r>
              <a:rPr lang="en-US" sz="2000" dirty="0" err="1">
                <a:solidFill>
                  <a:schemeClr val="accent1"/>
                </a:solidFill>
              </a:rPr>
              <a:t>zaxiralar</a:t>
            </a:r>
            <a:r>
              <a:rPr lang="en-US" sz="2000" dirty="0">
                <a:solidFill>
                  <a:schemeClr val="accent1"/>
                </a:solidFill>
              </a:rPr>
              <a:t> </a:t>
            </a:r>
            <a:r>
              <a:rPr lang="en-US" sz="2000" dirty="0" err="1">
                <a:solidFill>
                  <a:schemeClr val="accent1"/>
                </a:solidFill>
              </a:rPr>
              <a:t>saqlamaydi</a:t>
            </a:r>
            <a:r>
              <a:rPr lang="en-US" sz="2000" dirty="0">
                <a:solidFill>
                  <a:schemeClr val="accent1"/>
                </a:solidFill>
              </a:rPr>
              <a:t>.</a:t>
            </a:r>
            <a:r>
              <a:rPr lang="en-US" sz="2000" b="1" dirty="0">
                <a:solidFill>
                  <a:schemeClr val="accent1"/>
                </a:solidFill>
              </a:rPr>
              <a:t> </a:t>
            </a:r>
            <a:endParaRPr lang="en-US" sz="2000" dirty="0">
              <a:solidFill>
                <a:schemeClr val="accent1"/>
              </a:solidFill>
            </a:endParaRPr>
          </a:p>
        </p:txBody>
      </p:sp>
    </p:spTree>
    <p:extLst>
      <p:ext uri="{BB962C8B-B14F-4D97-AF65-F5344CB8AC3E}">
        <p14:creationId xmlns:p14="http://schemas.microsoft.com/office/powerpoint/2010/main" val="4140445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elta warns of 'economic uncertainty' and 'stalled growth' in new recession  alarm bell | CNN Business">
            <a:extLst>
              <a:ext uri="{FF2B5EF4-FFF2-40B4-BE49-F238E27FC236}">
                <a16:creationId xmlns:a16="http://schemas.microsoft.com/office/drawing/2014/main" id="{571E7EAE-A354-423C-9BA7-72F25BEFD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39238"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860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D48005D-1A2F-4646-8DD0-FE9697B5831A}"/>
              </a:ext>
            </a:extLst>
          </p:cNvPr>
          <p:cNvSpPr/>
          <p:nvPr/>
        </p:nvSpPr>
        <p:spPr>
          <a:xfrm>
            <a:off x="730800" y="217259"/>
            <a:ext cx="7974000" cy="4401205"/>
          </a:xfrm>
          <a:prstGeom prst="rect">
            <a:avLst/>
          </a:prstGeom>
        </p:spPr>
        <p:txBody>
          <a:bodyPr wrap="square">
            <a:spAutoFit/>
          </a:bodyPr>
          <a:lstStyle/>
          <a:p>
            <a:r>
              <a:rPr lang="en-US" sz="2000" b="1" dirty="0">
                <a:solidFill>
                  <a:schemeClr val="accent1"/>
                </a:solidFill>
              </a:rPr>
              <a:t>Delta Air Lines – </a:t>
            </a:r>
            <a:r>
              <a:rPr lang="en-US" sz="2000" b="1" dirty="0" err="1">
                <a:solidFill>
                  <a:schemeClr val="accent1"/>
                </a:solidFill>
              </a:rPr>
              <a:t>qisqacha</a:t>
            </a:r>
            <a:r>
              <a:rPr lang="en-US" sz="2000" b="1" dirty="0">
                <a:solidFill>
                  <a:schemeClr val="accent1"/>
                </a:solidFill>
              </a:rPr>
              <a:t> </a:t>
            </a:r>
            <a:r>
              <a:rPr lang="en-US" sz="2000" b="1" dirty="0" err="1">
                <a:solidFill>
                  <a:schemeClr val="accent1"/>
                </a:solidFill>
              </a:rPr>
              <a:t>tarix</a:t>
            </a:r>
            <a:r>
              <a:rPr lang="en-US" sz="2000" b="1" dirty="0">
                <a:solidFill>
                  <a:schemeClr val="accent1"/>
                </a:solidFill>
              </a:rPr>
              <a:t>:</a:t>
            </a:r>
          </a:p>
          <a:p>
            <a:pPr>
              <a:buFont typeface="Arial" panose="020B0604020202020204" pitchFamily="34" charset="0"/>
              <a:buChar char="•"/>
            </a:pPr>
            <a:r>
              <a:rPr lang="en-US" sz="2000" b="1" dirty="0">
                <a:solidFill>
                  <a:schemeClr val="accent1"/>
                </a:solidFill>
              </a:rPr>
              <a:t>1924-yil</a:t>
            </a:r>
            <a:r>
              <a:rPr lang="en-US" sz="2000" dirty="0">
                <a:solidFill>
                  <a:schemeClr val="accent1"/>
                </a:solidFill>
              </a:rPr>
              <a:t> – </a:t>
            </a:r>
            <a:r>
              <a:rPr lang="en-US" sz="2000" dirty="0" err="1">
                <a:solidFill>
                  <a:schemeClr val="accent1"/>
                </a:solidFill>
              </a:rPr>
              <a:t>Kompaniyaning</a:t>
            </a:r>
            <a:r>
              <a:rPr lang="en-US" sz="2000" dirty="0">
                <a:solidFill>
                  <a:schemeClr val="accent1"/>
                </a:solidFill>
              </a:rPr>
              <a:t> </a:t>
            </a:r>
            <a:r>
              <a:rPr lang="en-US" sz="2000" dirty="0" err="1">
                <a:solidFill>
                  <a:schemeClr val="accent1"/>
                </a:solidFill>
              </a:rPr>
              <a:t>boshlanishi</a:t>
            </a:r>
            <a:r>
              <a:rPr lang="en-US" sz="2000" dirty="0">
                <a:solidFill>
                  <a:schemeClr val="accent1"/>
                </a:solidFill>
              </a:rPr>
              <a:t>. </a:t>
            </a:r>
            <a:r>
              <a:rPr lang="en-US" sz="2000" dirty="0" err="1">
                <a:solidFill>
                  <a:schemeClr val="accent1"/>
                </a:solidFill>
              </a:rPr>
              <a:t>Avvaliga</a:t>
            </a:r>
            <a:r>
              <a:rPr lang="en-US" sz="2000" dirty="0">
                <a:solidFill>
                  <a:schemeClr val="accent1"/>
                </a:solidFill>
              </a:rPr>
              <a:t> u “Huff </a:t>
            </a:r>
            <a:r>
              <a:rPr lang="en-US" sz="2000" dirty="0" err="1">
                <a:solidFill>
                  <a:schemeClr val="accent1"/>
                </a:solidFill>
              </a:rPr>
              <a:t>Daland</a:t>
            </a:r>
            <a:r>
              <a:rPr lang="en-US" sz="2000" dirty="0">
                <a:solidFill>
                  <a:schemeClr val="accent1"/>
                </a:solidFill>
              </a:rPr>
              <a:t> Dusters” </a:t>
            </a:r>
            <a:r>
              <a:rPr lang="en-US" sz="2000" dirty="0" err="1">
                <a:solidFill>
                  <a:schemeClr val="accent1"/>
                </a:solidFill>
              </a:rPr>
              <a:t>nomi</a:t>
            </a:r>
            <a:r>
              <a:rPr lang="en-US" sz="2000" dirty="0">
                <a:solidFill>
                  <a:schemeClr val="accent1"/>
                </a:solidFill>
              </a:rPr>
              <a:t> </a:t>
            </a:r>
            <a:r>
              <a:rPr lang="en-US" sz="2000" dirty="0" err="1">
                <a:solidFill>
                  <a:schemeClr val="accent1"/>
                </a:solidFill>
              </a:rPr>
              <a:t>bilan</a:t>
            </a:r>
            <a:r>
              <a:rPr lang="en-US" sz="2000" dirty="0">
                <a:solidFill>
                  <a:schemeClr val="accent1"/>
                </a:solidFill>
              </a:rPr>
              <a:t> </a:t>
            </a:r>
            <a:r>
              <a:rPr lang="en-US" sz="2000" b="1" dirty="0" err="1">
                <a:solidFill>
                  <a:schemeClr val="accent1"/>
                </a:solidFill>
              </a:rPr>
              <a:t>qishloq</a:t>
            </a:r>
            <a:r>
              <a:rPr lang="en-US" sz="2000" b="1" dirty="0">
                <a:solidFill>
                  <a:schemeClr val="accent1"/>
                </a:solidFill>
              </a:rPr>
              <a:t> </a:t>
            </a:r>
            <a:r>
              <a:rPr lang="en-US" sz="2000" b="1" dirty="0" err="1">
                <a:solidFill>
                  <a:schemeClr val="accent1"/>
                </a:solidFill>
              </a:rPr>
              <a:t>xo‘jaligi</a:t>
            </a:r>
            <a:r>
              <a:rPr lang="en-US" sz="2000" b="1" dirty="0">
                <a:solidFill>
                  <a:schemeClr val="accent1"/>
                </a:solidFill>
              </a:rPr>
              <a:t> </a:t>
            </a:r>
            <a:r>
              <a:rPr lang="en-US" sz="2000" b="1" dirty="0" err="1">
                <a:solidFill>
                  <a:schemeClr val="accent1"/>
                </a:solidFill>
              </a:rPr>
              <a:t>uchun</a:t>
            </a:r>
            <a:r>
              <a:rPr lang="en-US" sz="2000" b="1" dirty="0">
                <a:solidFill>
                  <a:schemeClr val="accent1"/>
                </a:solidFill>
              </a:rPr>
              <a:t> </a:t>
            </a:r>
            <a:r>
              <a:rPr lang="en-US" sz="2000" b="1" dirty="0" err="1">
                <a:solidFill>
                  <a:schemeClr val="accent1"/>
                </a:solidFill>
              </a:rPr>
              <a:t>havo</a:t>
            </a:r>
            <a:r>
              <a:rPr lang="en-US" sz="2000" b="1" dirty="0">
                <a:solidFill>
                  <a:schemeClr val="accent1"/>
                </a:solidFill>
              </a:rPr>
              <a:t> </a:t>
            </a:r>
            <a:r>
              <a:rPr lang="en-US" sz="2000" b="1" dirty="0" err="1">
                <a:solidFill>
                  <a:schemeClr val="accent1"/>
                </a:solidFill>
              </a:rPr>
              <a:t>purkagichlari</a:t>
            </a:r>
            <a:r>
              <a:rPr lang="en-US" sz="2000" b="1" dirty="0">
                <a:solidFill>
                  <a:schemeClr val="accent1"/>
                </a:solidFill>
              </a:rPr>
              <a:t> (aero </a:t>
            </a:r>
            <a:r>
              <a:rPr lang="en-US" sz="2000" b="1" dirty="0" err="1">
                <a:solidFill>
                  <a:schemeClr val="accent1"/>
                </a:solidFill>
              </a:rPr>
              <a:t>purkagich</a:t>
            </a:r>
            <a:r>
              <a:rPr lang="en-US" sz="2000" b="1" dirty="0">
                <a:solidFill>
                  <a:schemeClr val="accent1"/>
                </a:solidFill>
              </a:rPr>
              <a:t>)</a:t>
            </a:r>
            <a:r>
              <a:rPr lang="en-US" sz="2000" dirty="0">
                <a:solidFill>
                  <a:schemeClr val="accent1"/>
                </a:solidFill>
              </a:rPr>
              <a:t> </a:t>
            </a:r>
            <a:r>
              <a:rPr lang="en-US" sz="2000" dirty="0" err="1">
                <a:solidFill>
                  <a:schemeClr val="accent1"/>
                </a:solidFill>
              </a:rPr>
              <a:t>ishlab</a:t>
            </a:r>
            <a:r>
              <a:rPr lang="en-US" sz="2000" dirty="0">
                <a:solidFill>
                  <a:schemeClr val="accent1"/>
                </a:solidFill>
              </a:rPr>
              <a:t> </a:t>
            </a:r>
            <a:r>
              <a:rPr lang="en-US" sz="2000" dirty="0" err="1">
                <a:solidFill>
                  <a:schemeClr val="accent1"/>
                </a:solidFill>
              </a:rPr>
              <a:t>chiqargan</a:t>
            </a:r>
            <a:r>
              <a:rPr lang="en-US" sz="2000" dirty="0">
                <a:solidFill>
                  <a:schemeClr val="accent1"/>
                </a:solidFill>
              </a:rPr>
              <a:t>.</a:t>
            </a:r>
          </a:p>
          <a:p>
            <a:pPr>
              <a:buFont typeface="Arial" panose="020B0604020202020204" pitchFamily="34" charset="0"/>
              <a:buChar char="•"/>
            </a:pPr>
            <a:r>
              <a:rPr lang="en-US" sz="2000" b="1" dirty="0">
                <a:solidFill>
                  <a:schemeClr val="accent1"/>
                </a:solidFill>
              </a:rPr>
              <a:t>1928-yil</a:t>
            </a:r>
            <a:r>
              <a:rPr lang="en-US" sz="2000" dirty="0">
                <a:solidFill>
                  <a:schemeClr val="accent1"/>
                </a:solidFill>
              </a:rPr>
              <a:t> – </a:t>
            </a:r>
            <a:r>
              <a:rPr lang="en-US" sz="2000" dirty="0" err="1">
                <a:solidFill>
                  <a:schemeClr val="accent1"/>
                </a:solidFill>
              </a:rPr>
              <a:t>Rasmiy</a:t>
            </a:r>
            <a:r>
              <a:rPr lang="en-US" sz="2000" dirty="0">
                <a:solidFill>
                  <a:schemeClr val="accent1"/>
                </a:solidFill>
              </a:rPr>
              <a:t> </a:t>
            </a:r>
            <a:r>
              <a:rPr lang="en-US" sz="2000" dirty="0" err="1">
                <a:solidFill>
                  <a:schemeClr val="accent1"/>
                </a:solidFill>
              </a:rPr>
              <a:t>ravishda</a:t>
            </a:r>
            <a:r>
              <a:rPr lang="en-US" sz="2000" dirty="0">
                <a:solidFill>
                  <a:schemeClr val="accent1"/>
                </a:solidFill>
              </a:rPr>
              <a:t> </a:t>
            </a:r>
            <a:r>
              <a:rPr lang="en-US" sz="2000" b="1" dirty="0">
                <a:solidFill>
                  <a:schemeClr val="accent1"/>
                </a:solidFill>
              </a:rPr>
              <a:t>Delta Air Service</a:t>
            </a:r>
            <a:r>
              <a:rPr lang="en-US" sz="2000" dirty="0">
                <a:solidFill>
                  <a:schemeClr val="accent1"/>
                </a:solidFill>
              </a:rPr>
              <a:t> </a:t>
            </a:r>
            <a:r>
              <a:rPr lang="en-US" sz="2000" dirty="0" err="1">
                <a:solidFill>
                  <a:schemeClr val="accent1"/>
                </a:solidFill>
              </a:rPr>
              <a:t>nomi</a:t>
            </a:r>
            <a:r>
              <a:rPr lang="en-US" sz="2000" dirty="0">
                <a:solidFill>
                  <a:schemeClr val="accent1"/>
                </a:solidFill>
              </a:rPr>
              <a:t> </a:t>
            </a:r>
            <a:r>
              <a:rPr lang="en-US" sz="2000" dirty="0" err="1">
                <a:solidFill>
                  <a:schemeClr val="accent1"/>
                </a:solidFill>
              </a:rPr>
              <a:t>bilan</a:t>
            </a:r>
            <a:r>
              <a:rPr lang="en-US" sz="2000" dirty="0">
                <a:solidFill>
                  <a:schemeClr val="accent1"/>
                </a:solidFill>
              </a:rPr>
              <a:t> </a:t>
            </a:r>
            <a:r>
              <a:rPr lang="en-US" sz="2000" dirty="0" err="1">
                <a:solidFill>
                  <a:schemeClr val="accent1"/>
                </a:solidFill>
              </a:rPr>
              <a:t>tashkil</a:t>
            </a:r>
            <a:r>
              <a:rPr lang="en-US" sz="2000" dirty="0">
                <a:solidFill>
                  <a:schemeClr val="accent1"/>
                </a:solidFill>
              </a:rPr>
              <a:t> </a:t>
            </a:r>
            <a:r>
              <a:rPr lang="en-US" sz="2000" dirty="0" err="1">
                <a:solidFill>
                  <a:schemeClr val="accent1"/>
                </a:solidFill>
              </a:rPr>
              <a:t>etildi</a:t>
            </a:r>
            <a:r>
              <a:rPr lang="en-US" sz="2000" dirty="0">
                <a:solidFill>
                  <a:schemeClr val="accent1"/>
                </a:solidFill>
              </a:rPr>
              <a:t>. </a:t>
            </a:r>
            <a:r>
              <a:rPr lang="en-US" sz="2000" dirty="0" err="1">
                <a:solidFill>
                  <a:schemeClr val="accent1"/>
                </a:solidFill>
              </a:rPr>
              <a:t>Markazi</a:t>
            </a:r>
            <a:r>
              <a:rPr lang="en-US" sz="2000" dirty="0">
                <a:solidFill>
                  <a:schemeClr val="accent1"/>
                </a:solidFill>
              </a:rPr>
              <a:t> </a:t>
            </a:r>
            <a:r>
              <a:rPr lang="en-US" sz="2000" dirty="0" err="1">
                <a:solidFill>
                  <a:schemeClr val="accent1"/>
                </a:solidFill>
              </a:rPr>
              <a:t>Luiziana</a:t>
            </a:r>
            <a:r>
              <a:rPr lang="en-US" sz="2000" dirty="0">
                <a:solidFill>
                  <a:schemeClr val="accent1"/>
                </a:solidFill>
              </a:rPr>
              <a:t> </a:t>
            </a:r>
            <a:r>
              <a:rPr lang="en-US" sz="2000" dirty="0" err="1">
                <a:solidFill>
                  <a:schemeClr val="accent1"/>
                </a:solidFill>
              </a:rPr>
              <a:t>shtatida</a:t>
            </a:r>
            <a:r>
              <a:rPr lang="en-US" sz="2000" dirty="0">
                <a:solidFill>
                  <a:schemeClr val="accent1"/>
                </a:solidFill>
              </a:rPr>
              <a:t> </a:t>
            </a:r>
            <a:r>
              <a:rPr lang="en-US" sz="2000" dirty="0" err="1">
                <a:solidFill>
                  <a:schemeClr val="accent1"/>
                </a:solidFill>
              </a:rPr>
              <a:t>edi</a:t>
            </a:r>
            <a:r>
              <a:rPr lang="en-US" sz="2000" dirty="0">
                <a:solidFill>
                  <a:schemeClr val="accent1"/>
                </a:solidFill>
              </a:rPr>
              <a:t>.</a:t>
            </a:r>
          </a:p>
          <a:p>
            <a:pPr>
              <a:buFont typeface="Arial" panose="020B0604020202020204" pitchFamily="34" charset="0"/>
              <a:buChar char="•"/>
            </a:pPr>
            <a:r>
              <a:rPr lang="en-US" sz="2000" b="1" dirty="0">
                <a:solidFill>
                  <a:schemeClr val="accent1"/>
                </a:solidFill>
              </a:rPr>
              <a:t>2005-yil</a:t>
            </a:r>
            <a:r>
              <a:rPr lang="en-US" sz="2000" dirty="0">
                <a:solidFill>
                  <a:schemeClr val="accent1"/>
                </a:solidFill>
              </a:rPr>
              <a:t> – </a:t>
            </a:r>
            <a:r>
              <a:rPr lang="en-US" sz="2000" dirty="0" err="1">
                <a:solidFill>
                  <a:schemeClr val="accent1"/>
                </a:solidFill>
              </a:rPr>
              <a:t>Moliya</a:t>
            </a:r>
            <a:r>
              <a:rPr lang="en-US" sz="2000" dirty="0">
                <a:solidFill>
                  <a:schemeClr val="accent1"/>
                </a:solidFill>
              </a:rPr>
              <a:t> </a:t>
            </a:r>
            <a:r>
              <a:rPr lang="en-US" sz="2000" dirty="0" err="1">
                <a:solidFill>
                  <a:schemeClr val="accent1"/>
                </a:solidFill>
              </a:rPr>
              <a:t>inqiroziga</a:t>
            </a:r>
            <a:r>
              <a:rPr lang="en-US" sz="2000" dirty="0">
                <a:solidFill>
                  <a:schemeClr val="accent1"/>
                </a:solidFill>
              </a:rPr>
              <a:t> </a:t>
            </a:r>
            <a:r>
              <a:rPr lang="en-US" sz="2000" dirty="0" err="1">
                <a:solidFill>
                  <a:schemeClr val="accent1"/>
                </a:solidFill>
              </a:rPr>
              <a:t>uchradi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bankrotlikdan</a:t>
            </a:r>
            <a:r>
              <a:rPr lang="en-US" sz="2000" dirty="0">
                <a:solidFill>
                  <a:schemeClr val="accent1"/>
                </a:solidFill>
              </a:rPr>
              <a:t> </a:t>
            </a:r>
            <a:r>
              <a:rPr lang="en-US" sz="2000" dirty="0" err="1">
                <a:solidFill>
                  <a:schemeClr val="accent1"/>
                </a:solidFill>
              </a:rPr>
              <a:t>himoya</a:t>
            </a:r>
            <a:r>
              <a:rPr lang="en-US" sz="2000" dirty="0">
                <a:solidFill>
                  <a:schemeClr val="accent1"/>
                </a:solidFill>
              </a:rPr>
              <a:t> </a:t>
            </a:r>
            <a:r>
              <a:rPr lang="en-US" sz="2000" dirty="0" err="1">
                <a:solidFill>
                  <a:schemeClr val="accent1"/>
                </a:solidFill>
              </a:rPr>
              <a:t>so‘radi</a:t>
            </a:r>
            <a:r>
              <a:rPr lang="en-US" sz="2000" dirty="0">
                <a:solidFill>
                  <a:schemeClr val="accent1"/>
                </a:solidFill>
              </a:rPr>
              <a:t>.</a:t>
            </a:r>
          </a:p>
          <a:p>
            <a:pPr>
              <a:buFont typeface="Arial" panose="020B0604020202020204" pitchFamily="34" charset="0"/>
              <a:buChar char="•"/>
            </a:pPr>
            <a:r>
              <a:rPr lang="en-US" sz="2000" b="1" dirty="0">
                <a:solidFill>
                  <a:schemeClr val="accent1"/>
                </a:solidFill>
              </a:rPr>
              <a:t>2008-yil</a:t>
            </a:r>
            <a:r>
              <a:rPr lang="en-US" sz="2000" dirty="0">
                <a:solidFill>
                  <a:schemeClr val="accent1"/>
                </a:solidFill>
              </a:rPr>
              <a:t> – </a:t>
            </a:r>
            <a:r>
              <a:rPr lang="en-US" sz="2000" b="1" dirty="0">
                <a:solidFill>
                  <a:schemeClr val="accent1"/>
                </a:solidFill>
              </a:rPr>
              <a:t>Northwest Airlines</a:t>
            </a:r>
            <a:r>
              <a:rPr lang="en-US" sz="2000" dirty="0">
                <a:solidFill>
                  <a:schemeClr val="accent1"/>
                </a:solidFill>
              </a:rPr>
              <a:t> </a:t>
            </a:r>
            <a:r>
              <a:rPr lang="en-US" sz="2000" dirty="0" err="1">
                <a:solidFill>
                  <a:schemeClr val="accent1"/>
                </a:solidFill>
              </a:rPr>
              <a:t>bilan</a:t>
            </a:r>
            <a:r>
              <a:rPr lang="en-US" sz="2000" dirty="0">
                <a:solidFill>
                  <a:schemeClr val="accent1"/>
                </a:solidFill>
              </a:rPr>
              <a:t> </a:t>
            </a:r>
            <a:r>
              <a:rPr lang="en-US" sz="2000" dirty="0" err="1">
                <a:solidFill>
                  <a:schemeClr val="accent1"/>
                </a:solidFill>
              </a:rPr>
              <a:t>qo‘shildi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dunyodagi</a:t>
            </a:r>
            <a:r>
              <a:rPr lang="en-US" sz="2000" dirty="0">
                <a:solidFill>
                  <a:schemeClr val="accent1"/>
                </a:solidFill>
              </a:rPr>
              <a:t> </a:t>
            </a:r>
            <a:r>
              <a:rPr lang="en-US" sz="2000" dirty="0" err="1">
                <a:solidFill>
                  <a:schemeClr val="accent1"/>
                </a:solidFill>
              </a:rPr>
              <a:t>eng</a:t>
            </a:r>
            <a:r>
              <a:rPr lang="en-US" sz="2000" dirty="0">
                <a:solidFill>
                  <a:schemeClr val="accent1"/>
                </a:solidFill>
              </a:rPr>
              <a:t> </a:t>
            </a:r>
            <a:r>
              <a:rPr lang="en-US" sz="2000" dirty="0" err="1">
                <a:solidFill>
                  <a:schemeClr val="accent1"/>
                </a:solidFill>
              </a:rPr>
              <a:t>yirik</a:t>
            </a:r>
            <a:r>
              <a:rPr lang="en-US" sz="2000" dirty="0">
                <a:solidFill>
                  <a:schemeClr val="accent1"/>
                </a:solidFill>
              </a:rPr>
              <a:t> </a:t>
            </a:r>
            <a:r>
              <a:rPr lang="en-US" sz="2000" dirty="0" err="1">
                <a:solidFill>
                  <a:schemeClr val="accent1"/>
                </a:solidFill>
              </a:rPr>
              <a:t>aviakompaniyaga</a:t>
            </a:r>
            <a:r>
              <a:rPr lang="en-US" sz="2000" dirty="0">
                <a:solidFill>
                  <a:schemeClr val="accent1"/>
                </a:solidFill>
              </a:rPr>
              <a:t> </a:t>
            </a:r>
            <a:r>
              <a:rPr lang="en-US" sz="2000" dirty="0" err="1">
                <a:solidFill>
                  <a:schemeClr val="accent1"/>
                </a:solidFill>
              </a:rPr>
              <a:t>aylandi</a:t>
            </a:r>
            <a:r>
              <a:rPr lang="en-US" sz="2000" dirty="0">
                <a:solidFill>
                  <a:schemeClr val="accent1"/>
                </a:solidFill>
              </a:rPr>
              <a:t>.</a:t>
            </a:r>
          </a:p>
          <a:p>
            <a:pPr>
              <a:buFont typeface="Arial" panose="020B0604020202020204" pitchFamily="34" charset="0"/>
              <a:buChar char="•"/>
            </a:pPr>
            <a:r>
              <a:rPr lang="en-US" sz="2000" b="1" dirty="0">
                <a:solidFill>
                  <a:schemeClr val="accent1"/>
                </a:solidFill>
              </a:rPr>
              <a:t>2020-yil</a:t>
            </a:r>
            <a:r>
              <a:rPr lang="en-US" sz="2000" dirty="0">
                <a:solidFill>
                  <a:schemeClr val="accent1"/>
                </a:solidFill>
              </a:rPr>
              <a:t> – COVID-19 </a:t>
            </a:r>
            <a:r>
              <a:rPr lang="en-US" sz="2000" dirty="0" err="1">
                <a:solidFill>
                  <a:schemeClr val="accent1"/>
                </a:solidFill>
              </a:rPr>
              <a:t>pandemiyasi</a:t>
            </a:r>
            <a:r>
              <a:rPr lang="en-US" sz="2000" dirty="0">
                <a:solidFill>
                  <a:schemeClr val="accent1"/>
                </a:solidFill>
              </a:rPr>
              <a:t> </a:t>
            </a:r>
            <a:r>
              <a:rPr lang="en-US" sz="2000" dirty="0" err="1">
                <a:solidFill>
                  <a:schemeClr val="accent1"/>
                </a:solidFill>
              </a:rPr>
              <a:t>sababli</a:t>
            </a:r>
            <a:r>
              <a:rPr lang="en-US" sz="2000" dirty="0">
                <a:solidFill>
                  <a:schemeClr val="accent1"/>
                </a:solidFill>
              </a:rPr>
              <a:t> </a:t>
            </a:r>
            <a:r>
              <a:rPr lang="en-US" sz="2000" dirty="0" err="1">
                <a:solidFill>
                  <a:schemeClr val="accent1"/>
                </a:solidFill>
              </a:rPr>
              <a:t>katta</a:t>
            </a:r>
            <a:r>
              <a:rPr lang="en-US" sz="2000" dirty="0">
                <a:solidFill>
                  <a:schemeClr val="accent1"/>
                </a:solidFill>
              </a:rPr>
              <a:t> </a:t>
            </a:r>
            <a:r>
              <a:rPr lang="en-US" sz="2000" dirty="0" err="1">
                <a:solidFill>
                  <a:schemeClr val="accent1"/>
                </a:solidFill>
              </a:rPr>
              <a:t>yo‘qotishlarga</a:t>
            </a:r>
            <a:r>
              <a:rPr lang="en-US" sz="2000" dirty="0">
                <a:solidFill>
                  <a:schemeClr val="accent1"/>
                </a:solidFill>
              </a:rPr>
              <a:t> </a:t>
            </a:r>
            <a:r>
              <a:rPr lang="en-US" sz="2000" dirty="0" err="1">
                <a:solidFill>
                  <a:schemeClr val="accent1"/>
                </a:solidFill>
              </a:rPr>
              <a:t>uchradi</a:t>
            </a:r>
            <a:r>
              <a:rPr lang="en-US" sz="2000" dirty="0">
                <a:solidFill>
                  <a:schemeClr val="accent1"/>
                </a:solidFill>
              </a:rPr>
              <a:t>, ammo </a:t>
            </a:r>
            <a:r>
              <a:rPr lang="en-US" sz="2000" dirty="0" err="1">
                <a:solidFill>
                  <a:schemeClr val="accent1"/>
                </a:solidFill>
              </a:rPr>
              <a:t>tez</a:t>
            </a:r>
            <a:r>
              <a:rPr lang="en-US" sz="2000" dirty="0">
                <a:solidFill>
                  <a:schemeClr val="accent1"/>
                </a:solidFill>
              </a:rPr>
              <a:t> </a:t>
            </a:r>
            <a:r>
              <a:rPr lang="en-US" sz="2000" dirty="0" err="1">
                <a:solidFill>
                  <a:schemeClr val="accent1"/>
                </a:solidFill>
              </a:rPr>
              <a:t>tiklandi</a:t>
            </a:r>
            <a:r>
              <a:rPr lang="en-US" sz="2000" dirty="0">
                <a:solidFill>
                  <a:schemeClr val="accent1"/>
                </a:solidFill>
              </a:rPr>
              <a:t>.</a:t>
            </a:r>
          </a:p>
          <a:p>
            <a:pPr>
              <a:buFont typeface="Arial" panose="020B0604020202020204" pitchFamily="34" charset="0"/>
              <a:buChar char="•"/>
            </a:pPr>
            <a:r>
              <a:rPr lang="en-US" sz="2000" b="1" dirty="0" err="1">
                <a:solidFill>
                  <a:schemeClr val="accent1"/>
                </a:solidFill>
              </a:rPr>
              <a:t>Bugun</a:t>
            </a:r>
            <a:r>
              <a:rPr lang="en-US" sz="2000" dirty="0">
                <a:solidFill>
                  <a:schemeClr val="accent1"/>
                </a:solidFill>
              </a:rPr>
              <a:t> – Delta 50 dan </a:t>
            </a:r>
            <a:r>
              <a:rPr lang="en-US" sz="2000" dirty="0" err="1">
                <a:solidFill>
                  <a:schemeClr val="accent1"/>
                </a:solidFill>
              </a:rPr>
              <a:t>ortiq</a:t>
            </a:r>
            <a:r>
              <a:rPr lang="en-US" sz="2000" dirty="0">
                <a:solidFill>
                  <a:schemeClr val="accent1"/>
                </a:solidFill>
              </a:rPr>
              <a:t> </a:t>
            </a:r>
            <a:r>
              <a:rPr lang="en-US" sz="2000" dirty="0" err="1">
                <a:solidFill>
                  <a:schemeClr val="accent1"/>
                </a:solidFill>
              </a:rPr>
              <a:t>davlatga</a:t>
            </a:r>
            <a:r>
              <a:rPr lang="en-US" sz="2000" dirty="0">
                <a:solidFill>
                  <a:schemeClr val="accent1"/>
                </a:solidFill>
              </a:rPr>
              <a:t> </a:t>
            </a:r>
            <a:r>
              <a:rPr lang="en-US" sz="2000" dirty="0" err="1">
                <a:solidFill>
                  <a:schemeClr val="accent1"/>
                </a:solidFill>
              </a:rPr>
              <a:t>parvoz</a:t>
            </a:r>
            <a:r>
              <a:rPr lang="en-US" sz="2000" dirty="0">
                <a:solidFill>
                  <a:schemeClr val="accent1"/>
                </a:solidFill>
              </a:rPr>
              <a:t> </a:t>
            </a:r>
            <a:r>
              <a:rPr lang="en-US" sz="2000" dirty="0" err="1">
                <a:solidFill>
                  <a:schemeClr val="accent1"/>
                </a:solidFill>
              </a:rPr>
              <a:t>qiladi</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eng</a:t>
            </a:r>
            <a:r>
              <a:rPr lang="en-US" sz="2000" dirty="0">
                <a:solidFill>
                  <a:schemeClr val="accent1"/>
                </a:solidFill>
              </a:rPr>
              <a:t> </a:t>
            </a:r>
            <a:r>
              <a:rPr lang="en-US" sz="2000" dirty="0" err="1">
                <a:solidFill>
                  <a:schemeClr val="accent1"/>
                </a:solidFill>
              </a:rPr>
              <a:t>ishonchli</a:t>
            </a:r>
            <a:r>
              <a:rPr lang="en-US" sz="2000" dirty="0">
                <a:solidFill>
                  <a:schemeClr val="accent1"/>
                </a:solidFill>
              </a:rPr>
              <a:t> </a:t>
            </a:r>
            <a:r>
              <a:rPr lang="en-US" sz="2000" dirty="0" err="1">
                <a:solidFill>
                  <a:schemeClr val="accent1"/>
                </a:solidFill>
              </a:rPr>
              <a:t>hamda</a:t>
            </a:r>
            <a:r>
              <a:rPr lang="en-US" sz="2000" dirty="0">
                <a:solidFill>
                  <a:schemeClr val="accent1"/>
                </a:solidFill>
              </a:rPr>
              <a:t> </a:t>
            </a:r>
            <a:r>
              <a:rPr lang="en-US" sz="2000" dirty="0" err="1">
                <a:solidFill>
                  <a:schemeClr val="accent1"/>
                </a:solidFill>
              </a:rPr>
              <a:t>innovatsion</a:t>
            </a:r>
            <a:r>
              <a:rPr lang="en-US" sz="2000" dirty="0">
                <a:solidFill>
                  <a:schemeClr val="accent1"/>
                </a:solidFill>
              </a:rPr>
              <a:t> </a:t>
            </a:r>
            <a:r>
              <a:rPr lang="en-US" sz="2000" dirty="0" err="1">
                <a:solidFill>
                  <a:schemeClr val="accent1"/>
                </a:solidFill>
              </a:rPr>
              <a:t>aviakompaniyalardan</a:t>
            </a:r>
            <a:r>
              <a:rPr lang="en-US" sz="2000" dirty="0">
                <a:solidFill>
                  <a:schemeClr val="accent1"/>
                </a:solidFill>
              </a:rPr>
              <a:t> </a:t>
            </a:r>
            <a:r>
              <a:rPr lang="en-US" sz="2000" dirty="0" err="1">
                <a:solidFill>
                  <a:schemeClr val="accent1"/>
                </a:solidFill>
              </a:rPr>
              <a:t>biri</a:t>
            </a:r>
            <a:r>
              <a:rPr lang="en-US" sz="2000" dirty="0">
                <a:solidFill>
                  <a:schemeClr val="accent1"/>
                </a:solidFill>
              </a:rPr>
              <a:t> </a:t>
            </a:r>
            <a:r>
              <a:rPr lang="en-US" sz="2000" dirty="0" err="1">
                <a:solidFill>
                  <a:schemeClr val="accent1"/>
                </a:solidFill>
              </a:rPr>
              <a:t>hisoblanadi</a:t>
            </a:r>
            <a:r>
              <a:rPr lang="en-US" sz="2000" dirty="0">
                <a:solidFill>
                  <a:schemeClr val="accent1"/>
                </a:solidFill>
              </a:rPr>
              <a:t>.</a:t>
            </a:r>
          </a:p>
        </p:txBody>
      </p:sp>
    </p:spTree>
    <p:extLst>
      <p:ext uri="{BB962C8B-B14F-4D97-AF65-F5344CB8AC3E}">
        <p14:creationId xmlns:p14="http://schemas.microsoft.com/office/powerpoint/2010/main" val="3369353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EA03306-F0AA-4460-B944-E23F8EDE4AF0}"/>
              </a:ext>
            </a:extLst>
          </p:cNvPr>
          <p:cNvSpPr/>
          <p:nvPr/>
        </p:nvSpPr>
        <p:spPr>
          <a:xfrm>
            <a:off x="1227600" y="733990"/>
            <a:ext cx="5734800" cy="4093428"/>
          </a:xfrm>
          <a:prstGeom prst="rect">
            <a:avLst/>
          </a:prstGeom>
        </p:spPr>
        <p:txBody>
          <a:bodyPr wrap="square">
            <a:spAutoFit/>
          </a:bodyPr>
          <a:lstStyle/>
          <a:p>
            <a:r>
              <a:rPr lang="en-US" sz="2000" b="1" dirty="0">
                <a:solidFill>
                  <a:schemeClr val="accent1"/>
                </a:solidFill>
              </a:rPr>
              <a:t>Delta Airlines (</a:t>
            </a:r>
            <a:r>
              <a:rPr lang="en-US" sz="2000" b="1" dirty="0" err="1">
                <a:solidFill>
                  <a:schemeClr val="accent1"/>
                </a:solidFill>
              </a:rPr>
              <a:t>Aviakompaniya</a:t>
            </a:r>
            <a:r>
              <a:rPr lang="en-US" sz="2000" b="1" dirty="0">
                <a:solidFill>
                  <a:schemeClr val="accent1"/>
                </a:solidFill>
              </a:rPr>
              <a:t>)</a:t>
            </a:r>
          </a:p>
          <a:p>
            <a:r>
              <a:rPr lang="en-US" sz="2000" b="1" dirty="0" err="1">
                <a:solidFill>
                  <a:schemeClr val="accent1"/>
                </a:solidFill>
              </a:rPr>
              <a:t>Qanday</a:t>
            </a:r>
            <a:r>
              <a:rPr lang="en-US" sz="2000" b="1" dirty="0">
                <a:solidFill>
                  <a:schemeClr val="accent1"/>
                </a:solidFill>
              </a:rPr>
              <a:t> </a:t>
            </a:r>
            <a:r>
              <a:rPr lang="en-US" sz="2000" b="1" dirty="0" err="1">
                <a:solidFill>
                  <a:schemeClr val="accent1"/>
                </a:solidFill>
              </a:rPr>
              <a:t>ma’lumotdan</a:t>
            </a:r>
            <a:r>
              <a:rPr lang="en-US" sz="2000" b="1" dirty="0">
                <a:solidFill>
                  <a:schemeClr val="accent1"/>
                </a:solidFill>
              </a:rPr>
              <a:t> </a:t>
            </a:r>
            <a:r>
              <a:rPr lang="en-US" sz="2000" b="1" dirty="0" err="1">
                <a:solidFill>
                  <a:schemeClr val="accent1"/>
                </a:solidFill>
              </a:rPr>
              <a:t>foydalanadi</a:t>
            </a:r>
            <a:r>
              <a:rPr lang="en-US" sz="2000" b="1" dirty="0">
                <a:solidFill>
                  <a:schemeClr val="accent1"/>
                </a:solidFill>
              </a:rPr>
              <a:t>:</a:t>
            </a:r>
            <a:br>
              <a:rPr lang="en-US" sz="2000" dirty="0">
                <a:solidFill>
                  <a:schemeClr val="accent1"/>
                </a:solidFill>
              </a:rPr>
            </a:br>
            <a:r>
              <a:rPr lang="en-US" sz="2000" dirty="0" err="1">
                <a:solidFill>
                  <a:schemeClr val="accent1"/>
                </a:solidFill>
              </a:rPr>
              <a:t>Yo‘lovchi</a:t>
            </a:r>
            <a:r>
              <a:rPr lang="en-US" sz="2000" dirty="0">
                <a:solidFill>
                  <a:schemeClr val="accent1"/>
                </a:solidFill>
              </a:rPr>
              <a:t> </a:t>
            </a:r>
            <a:r>
              <a:rPr lang="en-US" sz="2000" dirty="0" err="1">
                <a:solidFill>
                  <a:schemeClr val="accent1"/>
                </a:solidFill>
              </a:rPr>
              <a:t>reyslari</a:t>
            </a:r>
            <a:r>
              <a:rPr lang="en-US" sz="2000" dirty="0">
                <a:solidFill>
                  <a:schemeClr val="accent1"/>
                </a:solidFill>
              </a:rPr>
              <a:t>, </a:t>
            </a:r>
            <a:r>
              <a:rPr lang="en-US" sz="2000" dirty="0" err="1">
                <a:solidFill>
                  <a:schemeClr val="accent1"/>
                </a:solidFill>
              </a:rPr>
              <a:t>samolyotdagi</a:t>
            </a:r>
            <a:r>
              <a:rPr lang="en-US" sz="2000" dirty="0">
                <a:solidFill>
                  <a:schemeClr val="accent1"/>
                </a:solidFill>
              </a:rPr>
              <a:t> joy </a:t>
            </a:r>
            <a:r>
              <a:rPr lang="en-US" sz="2000" dirty="0" err="1">
                <a:solidFill>
                  <a:schemeClr val="accent1"/>
                </a:solidFill>
              </a:rPr>
              <a:t>bandligi</a:t>
            </a:r>
            <a:r>
              <a:rPr lang="en-US" sz="2000" dirty="0">
                <a:solidFill>
                  <a:schemeClr val="accent1"/>
                </a:solidFill>
              </a:rPr>
              <a:t>, </a:t>
            </a:r>
            <a:r>
              <a:rPr lang="en-US" sz="2000" dirty="0" err="1">
                <a:solidFill>
                  <a:schemeClr val="accent1"/>
                </a:solidFill>
              </a:rPr>
              <a:t>ob-havo</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xizmat</a:t>
            </a:r>
            <a:r>
              <a:rPr lang="en-US" sz="2000" dirty="0">
                <a:solidFill>
                  <a:schemeClr val="accent1"/>
                </a:solidFill>
              </a:rPr>
              <a:t> </a:t>
            </a:r>
            <a:r>
              <a:rPr lang="en-US" sz="2000" dirty="0" err="1">
                <a:solidFill>
                  <a:schemeClr val="accent1"/>
                </a:solidFill>
              </a:rPr>
              <a:t>ko‘rsatish</a:t>
            </a:r>
            <a:r>
              <a:rPr lang="en-US" sz="2000" dirty="0">
                <a:solidFill>
                  <a:schemeClr val="accent1"/>
                </a:solidFill>
              </a:rPr>
              <a:t> </a:t>
            </a:r>
            <a:r>
              <a:rPr lang="en-US" sz="2000" dirty="0" err="1">
                <a:solidFill>
                  <a:schemeClr val="accent1"/>
                </a:solidFill>
              </a:rPr>
              <a:t>sifati</a:t>
            </a:r>
            <a:r>
              <a:rPr lang="en-US" sz="2000" dirty="0">
                <a:solidFill>
                  <a:schemeClr val="accent1"/>
                </a:solidFill>
              </a:rPr>
              <a:t> </a:t>
            </a:r>
            <a:r>
              <a:rPr lang="en-US" sz="2000" dirty="0" err="1">
                <a:solidFill>
                  <a:schemeClr val="accent1"/>
                </a:solidFill>
              </a:rPr>
              <a:t>haqidagi</a:t>
            </a:r>
            <a:r>
              <a:rPr lang="en-US" sz="2000" dirty="0">
                <a:solidFill>
                  <a:schemeClr val="accent1"/>
                </a:solidFill>
              </a:rPr>
              <a:t> </a:t>
            </a:r>
            <a:r>
              <a:rPr lang="en-US" sz="2000" dirty="0" err="1">
                <a:solidFill>
                  <a:schemeClr val="accent1"/>
                </a:solidFill>
              </a:rPr>
              <a:t>ma’lumotlarni</a:t>
            </a:r>
            <a:r>
              <a:rPr lang="en-US" sz="2000" dirty="0">
                <a:solidFill>
                  <a:schemeClr val="accent1"/>
                </a:solidFill>
              </a:rPr>
              <a:t> </a:t>
            </a:r>
            <a:r>
              <a:rPr lang="en-US" sz="2000" dirty="0" err="1">
                <a:solidFill>
                  <a:schemeClr val="accent1"/>
                </a:solidFill>
              </a:rPr>
              <a:t>tahlil</a:t>
            </a:r>
            <a:r>
              <a:rPr lang="en-US" sz="2000" dirty="0">
                <a:solidFill>
                  <a:schemeClr val="accent1"/>
                </a:solidFill>
              </a:rPr>
              <a:t> </a:t>
            </a:r>
            <a:r>
              <a:rPr lang="en-US" sz="2000" dirty="0" err="1">
                <a:solidFill>
                  <a:schemeClr val="accent1"/>
                </a:solidFill>
              </a:rPr>
              <a:t>qiladi</a:t>
            </a:r>
            <a:r>
              <a:rPr lang="en-US" sz="2000" dirty="0">
                <a:solidFill>
                  <a:schemeClr val="accent1"/>
                </a:solidFill>
              </a:rPr>
              <a:t>.</a:t>
            </a:r>
            <a:br>
              <a:rPr lang="en-US" sz="2000" dirty="0">
                <a:solidFill>
                  <a:schemeClr val="accent1"/>
                </a:solidFill>
              </a:rPr>
            </a:br>
            <a:endParaRPr lang="en-US" sz="2000" dirty="0">
              <a:solidFill>
                <a:schemeClr val="accent1"/>
              </a:solidFill>
            </a:endParaRPr>
          </a:p>
          <a:p>
            <a:r>
              <a:rPr lang="en-US" sz="2000" b="1" dirty="0" err="1">
                <a:solidFill>
                  <a:schemeClr val="accent1"/>
                </a:solidFill>
              </a:rPr>
              <a:t>Qanday</a:t>
            </a:r>
            <a:r>
              <a:rPr lang="en-US" sz="2000" b="1" dirty="0">
                <a:solidFill>
                  <a:schemeClr val="accent1"/>
                </a:solidFill>
              </a:rPr>
              <a:t> </a:t>
            </a:r>
            <a:r>
              <a:rPr lang="en-US" sz="2000" b="1" dirty="0" err="1">
                <a:solidFill>
                  <a:schemeClr val="accent1"/>
                </a:solidFill>
              </a:rPr>
              <a:t>qarorlar</a:t>
            </a:r>
            <a:r>
              <a:rPr lang="en-US" sz="2000" b="1" dirty="0">
                <a:solidFill>
                  <a:schemeClr val="accent1"/>
                </a:solidFill>
              </a:rPr>
              <a:t> </a:t>
            </a:r>
            <a:r>
              <a:rPr lang="en-US" sz="2000" b="1" dirty="0" err="1">
                <a:solidFill>
                  <a:schemeClr val="accent1"/>
                </a:solidFill>
              </a:rPr>
              <a:t>qabul</a:t>
            </a:r>
            <a:r>
              <a:rPr lang="en-US" sz="2000" b="1" dirty="0">
                <a:solidFill>
                  <a:schemeClr val="accent1"/>
                </a:solidFill>
              </a:rPr>
              <a:t> </a:t>
            </a:r>
            <a:r>
              <a:rPr lang="en-US" sz="2000" b="1" dirty="0" err="1">
                <a:solidFill>
                  <a:schemeClr val="accent1"/>
                </a:solidFill>
              </a:rPr>
              <a:t>qiladi</a:t>
            </a:r>
            <a:r>
              <a:rPr lang="en-US" sz="2000" b="1" dirty="0">
                <a:solidFill>
                  <a:schemeClr val="accent1"/>
                </a:solidFill>
              </a:rPr>
              <a:t>:</a:t>
            </a:r>
            <a:br>
              <a:rPr lang="en-US" sz="2000" dirty="0">
                <a:solidFill>
                  <a:schemeClr val="accent1"/>
                </a:solidFill>
              </a:rPr>
            </a:br>
            <a:r>
              <a:rPr lang="en-US" sz="2000" dirty="0">
                <a:solidFill>
                  <a:schemeClr val="accent1"/>
                </a:solidFill>
              </a:rPr>
              <a:t>Delta </a:t>
            </a:r>
            <a:r>
              <a:rPr lang="en-US" sz="2000" dirty="0" err="1">
                <a:solidFill>
                  <a:schemeClr val="accent1"/>
                </a:solidFill>
              </a:rPr>
              <a:t>xizmat</a:t>
            </a:r>
            <a:r>
              <a:rPr lang="en-US" sz="2000" dirty="0">
                <a:solidFill>
                  <a:schemeClr val="accent1"/>
                </a:solidFill>
              </a:rPr>
              <a:t> </a:t>
            </a:r>
            <a:r>
              <a:rPr lang="en-US" sz="2000" dirty="0" err="1">
                <a:solidFill>
                  <a:schemeClr val="accent1"/>
                </a:solidFill>
              </a:rPr>
              <a:t>ko‘rsatishdagi</a:t>
            </a:r>
            <a:r>
              <a:rPr lang="en-US" sz="2000" dirty="0">
                <a:solidFill>
                  <a:schemeClr val="accent1"/>
                </a:solidFill>
              </a:rPr>
              <a:t> </a:t>
            </a:r>
            <a:r>
              <a:rPr lang="en-US" sz="2000" dirty="0" err="1">
                <a:solidFill>
                  <a:schemeClr val="accent1"/>
                </a:solidFill>
              </a:rPr>
              <a:t>muammolarni</a:t>
            </a:r>
            <a:r>
              <a:rPr lang="en-US" sz="2000" dirty="0">
                <a:solidFill>
                  <a:schemeClr val="accent1"/>
                </a:solidFill>
              </a:rPr>
              <a:t> </a:t>
            </a:r>
            <a:r>
              <a:rPr lang="en-US" sz="2000" dirty="0" err="1">
                <a:solidFill>
                  <a:schemeClr val="accent1"/>
                </a:solidFill>
              </a:rPr>
              <a:t>oldindan</a:t>
            </a:r>
            <a:r>
              <a:rPr lang="en-US" sz="2000" dirty="0">
                <a:solidFill>
                  <a:schemeClr val="accent1"/>
                </a:solidFill>
              </a:rPr>
              <a:t> </a:t>
            </a:r>
            <a:r>
              <a:rPr lang="en-US" sz="2000" dirty="0" err="1">
                <a:solidFill>
                  <a:schemeClr val="accent1"/>
                </a:solidFill>
              </a:rPr>
              <a:t>bashorat</a:t>
            </a:r>
            <a:r>
              <a:rPr lang="en-US" sz="2000" dirty="0">
                <a:solidFill>
                  <a:schemeClr val="accent1"/>
                </a:solidFill>
              </a:rPr>
              <a:t> </a:t>
            </a:r>
            <a:r>
              <a:rPr lang="en-US" sz="2000" dirty="0" err="1">
                <a:solidFill>
                  <a:schemeClr val="accent1"/>
                </a:solidFill>
              </a:rPr>
              <a:t>qilish</a:t>
            </a:r>
            <a:r>
              <a:rPr lang="en-US" sz="2000" dirty="0">
                <a:solidFill>
                  <a:schemeClr val="accent1"/>
                </a:solidFill>
              </a:rPr>
              <a:t> </a:t>
            </a:r>
            <a:r>
              <a:rPr lang="en-US" sz="2000" dirty="0" err="1">
                <a:solidFill>
                  <a:schemeClr val="accent1"/>
                </a:solidFill>
              </a:rPr>
              <a:t>va</a:t>
            </a:r>
            <a:r>
              <a:rPr lang="en-US" sz="2000" dirty="0">
                <a:solidFill>
                  <a:schemeClr val="accent1"/>
                </a:solidFill>
              </a:rPr>
              <a:t> </a:t>
            </a:r>
            <a:r>
              <a:rPr lang="en-US" sz="2000" dirty="0" err="1">
                <a:solidFill>
                  <a:schemeClr val="accent1"/>
                </a:solidFill>
              </a:rPr>
              <a:t>yechish</a:t>
            </a:r>
            <a:r>
              <a:rPr lang="en-US" sz="2000" dirty="0">
                <a:solidFill>
                  <a:schemeClr val="accent1"/>
                </a:solidFill>
              </a:rPr>
              <a:t> </a:t>
            </a:r>
            <a:r>
              <a:rPr lang="en-US" sz="2000" dirty="0" err="1">
                <a:solidFill>
                  <a:schemeClr val="accent1"/>
                </a:solidFill>
              </a:rPr>
              <a:t>uchun</a:t>
            </a:r>
            <a:r>
              <a:rPr lang="en-US" sz="2000" dirty="0">
                <a:solidFill>
                  <a:schemeClr val="accent1"/>
                </a:solidFill>
              </a:rPr>
              <a:t> real </a:t>
            </a:r>
            <a:r>
              <a:rPr lang="en-US" sz="2000" dirty="0" err="1">
                <a:solidFill>
                  <a:schemeClr val="accent1"/>
                </a:solidFill>
              </a:rPr>
              <a:t>vaqtda</a:t>
            </a:r>
            <a:r>
              <a:rPr lang="en-US" sz="2000" dirty="0">
                <a:solidFill>
                  <a:schemeClr val="accent1"/>
                </a:solidFill>
              </a:rPr>
              <a:t> </a:t>
            </a:r>
            <a:r>
              <a:rPr lang="en-US" sz="2000" dirty="0" err="1">
                <a:solidFill>
                  <a:schemeClr val="accent1"/>
                </a:solidFill>
              </a:rPr>
              <a:t>analitik</a:t>
            </a:r>
            <a:r>
              <a:rPr lang="en-US" sz="2000" dirty="0">
                <a:solidFill>
                  <a:schemeClr val="accent1"/>
                </a:solidFill>
              </a:rPr>
              <a:t> </a:t>
            </a:r>
            <a:r>
              <a:rPr lang="en-US" sz="2000" dirty="0" err="1">
                <a:solidFill>
                  <a:schemeClr val="accent1"/>
                </a:solidFill>
              </a:rPr>
              <a:t>vositalardan</a:t>
            </a:r>
            <a:r>
              <a:rPr lang="en-US" sz="2000" dirty="0">
                <a:solidFill>
                  <a:schemeClr val="accent1"/>
                </a:solidFill>
              </a:rPr>
              <a:t> </a:t>
            </a:r>
            <a:r>
              <a:rPr lang="en-US" sz="2000" dirty="0" err="1">
                <a:solidFill>
                  <a:schemeClr val="accent1"/>
                </a:solidFill>
              </a:rPr>
              <a:t>foydalanadi</a:t>
            </a:r>
            <a:r>
              <a:rPr lang="en-US" sz="2000" dirty="0">
                <a:solidFill>
                  <a:schemeClr val="accent1"/>
                </a:solidFill>
              </a:rPr>
              <a:t>. </a:t>
            </a:r>
            <a:r>
              <a:rPr lang="en-US" sz="2000" dirty="0" err="1">
                <a:solidFill>
                  <a:schemeClr val="accent1"/>
                </a:solidFill>
              </a:rPr>
              <a:t>Masalan</a:t>
            </a:r>
            <a:r>
              <a:rPr lang="en-US" sz="2000" dirty="0">
                <a:solidFill>
                  <a:schemeClr val="accent1"/>
                </a:solidFill>
              </a:rPr>
              <a:t>, </a:t>
            </a:r>
            <a:r>
              <a:rPr lang="en-US" sz="2000" dirty="0" err="1">
                <a:solidFill>
                  <a:schemeClr val="accent1"/>
                </a:solidFill>
              </a:rPr>
              <a:t>texnik</a:t>
            </a:r>
            <a:r>
              <a:rPr lang="en-US" sz="2000" dirty="0">
                <a:solidFill>
                  <a:schemeClr val="accent1"/>
                </a:solidFill>
              </a:rPr>
              <a:t> </a:t>
            </a:r>
            <a:r>
              <a:rPr lang="en-US" sz="2000" dirty="0" err="1">
                <a:solidFill>
                  <a:schemeClr val="accent1"/>
                </a:solidFill>
              </a:rPr>
              <a:t>nosozliklar</a:t>
            </a:r>
            <a:r>
              <a:rPr lang="en-US" sz="2000" dirty="0">
                <a:solidFill>
                  <a:schemeClr val="accent1"/>
                </a:solidFill>
              </a:rPr>
              <a:t> </a:t>
            </a:r>
            <a:r>
              <a:rPr lang="en-US" sz="2000" dirty="0" err="1">
                <a:solidFill>
                  <a:schemeClr val="accent1"/>
                </a:solidFill>
              </a:rPr>
              <a:t>bo‘yicha</a:t>
            </a:r>
            <a:r>
              <a:rPr lang="en-US" sz="2000" dirty="0">
                <a:solidFill>
                  <a:schemeClr val="accent1"/>
                </a:solidFill>
              </a:rPr>
              <a:t> </a:t>
            </a:r>
            <a:r>
              <a:rPr lang="en-US" sz="2000" dirty="0" err="1">
                <a:solidFill>
                  <a:schemeClr val="accent1"/>
                </a:solidFill>
              </a:rPr>
              <a:t>oldindan</a:t>
            </a:r>
            <a:r>
              <a:rPr lang="en-US" sz="2000" dirty="0">
                <a:solidFill>
                  <a:schemeClr val="accent1"/>
                </a:solidFill>
              </a:rPr>
              <a:t> </a:t>
            </a:r>
            <a:r>
              <a:rPr lang="en-US" sz="2000" dirty="0" err="1">
                <a:solidFill>
                  <a:schemeClr val="accent1"/>
                </a:solidFill>
              </a:rPr>
              <a:t>ogohlantirish</a:t>
            </a:r>
            <a:r>
              <a:rPr lang="en-US" sz="2000" dirty="0">
                <a:solidFill>
                  <a:schemeClr val="accent1"/>
                </a:solidFill>
              </a:rPr>
              <a:t> </a:t>
            </a:r>
            <a:r>
              <a:rPr lang="en-US" sz="2000" dirty="0" err="1">
                <a:solidFill>
                  <a:schemeClr val="accent1"/>
                </a:solidFill>
              </a:rPr>
              <a:t>orqali</a:t>
            </a:r>
            <a:r>
              <a:rPr lang="en-US" sz="2000" dirty="0">
                <a:solidFill>
                  <a:schemeClr val="accent1"/>
                </a:solidFill>
              </a:rPr>
              <a:t> </a:t>
            </a:r>
            <a:r>
              <a:rPr lang="en-US" sz="2000" dirty="0" err="1">
                <a:solidFill>
                  <a:schemeClr val="accent1"/>
                </a:solidFill>
              </a:rPr>
              <a:t>parvoz</a:t>
            </a:r>
            <a:r>
              <a:rPr lang="en-US" sz="2000" dirty="0">
                <a:solidFill>
                  <a:schemeClr val="accent1"/>
                </a:solidFill>
              </a:rPr>
              <a:t> </a:t>
            </a:r>
            <a:r>
              <a:rPr lang="en-US" sz="2000" dirty="0" err="1">
                <a:solidFill>
                  <a:schemeClr val="accent1"/>
                </a:solidFill>
              </a:rPr>
              <a:t>kechikishlarining</a:t>
            </a:r>
            <a:r>
              <a:rPr lang="en-US" sz="2000" dirty="0">
                <a:solidFill>
                  <a:schemeClr val="accent1"/>
                </a:solidFill>
              </a:rPr>
              <a:t> </a:t>
            </a:r>
            <a:r>
              <a:rPr lang="en-US" sz="2000" dirty="0" err="1">
                <a:solidFill>
                  <a:schemeClr val="accent1"/>
                </a:solidFill>
              </a:rPr>
              <a:t>oldini</a:t>
            </a:r>
            <a:r>
              <a:rPr lang="en-US" sz="2000" dirty="0">
                <a:solidFill>
                  <a:schemeClr val="accent1"/>
                </a:solidFill>
              </a:rPr>
              <a:t> </a:t>
            </a:r>
            <a:r>
              <a:rPr lang="en-US" sz="2000" dirty="0" err="1">
                <a:solidFill>
                  <a:schemeClr val="accent1"/>
                </a:solidFill>
              </a:rPr>
              <a:t>olishadi</a:t>
            </a:r>
            <a:r>
              <a:rPr lang="en-US" sz="2000" dirty="0">
                <a:solidFill>
                  <a:schemeClr val="accent1"/>
                </a:solidFill>
              </a:rPr>
              <a:t>.</a:t>
            </a:r>
          </a:p>
        </p:txBody>
      </p:sp>
    </p:spTree>
    <p:extLst>
      <p:ext uri="{BB962C8B-B14F-4D97-AF65-F5344CB8AC3E}">
        <p14:creationId xmlns:p14="http://schemas.microsoft.com/office/powerpoint/2010/main" val="2550675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PS returns to profit, revenue growth ahead of crucial holidays; shares  jump | Reuters">
            <a:extLst>
              <a:ext uri="{FF2B5EF4-FFF2-40B4-BE49-F238E27FC236}">
                <a16:creationId xmlns:a16="http://schemas.microsoft.com/office/drawing/2014/main" id="{E7A99329-8985-499D-BA38-7D29F385A8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0"/>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953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B2352C5-83AF-4ADC-BC83-4D19E2A54222}"/>
              </a:ext>
            </a:extLst>
          </p:cNvPr>
          <p:cNvSpPr/>
          <p:nvPr/>
        </p:nvSpPr>
        <p:spPr>
          <a:xfrm>
            <a:off x="1125000" y="429489"/>
            <a:ext cx="6620400" cy="4401205"/>
          </a:xfrm>
          <a:prstGeom prst="rect">
            <a:avLst/>
          </a:prstGeom>
        </p:spPr>
        <p:txBody>
          <a:bodyPr wrap="square">
            <a:spAutoFit/>
          </a:bodyPr>
          <a:lstStyle/>
          <a:p>
            <a:pPr>
              <a:buFont typeface="Arial" panose="020B0604020202020204" pitchFamily="34" charset="0"/>
              <a:buChar char="•"/>
            </a:pPr>
            <a:r>
              <a:rPr lang="en-US" sz="2800" dirty="0">
                <a:solidFill>
                  <a:schemeClr val="accent1"/>
                </a:solidFill>
              </a:rPr>
              <a:t>UPS </a:t>
            </a:r>
            <a:r>
              <a:rPr lang="en-US" sz="2800" dirty="0" err="1">
                <a:solidFill>
                  <a:schemeClr val="accent1"/>
                </a:solidFill>
              </a:rPr>
              <a:t>mashinalari</a:t>
            </a:r>
            <a:r>
              <a:rPr lang="en-US" sz="2800" dirty="0">
                <a:solidFill>
                  <a:schemeClr val="accent1"/>
                </a:solidFill>
              </a:rPr>
              <a:t> </a:t>
            </a:r>
            <a:r>
              <a:rPr lang="en-US" sz="2800" b="1" dirty="0" err="1">
                <a:solidFill>
                  <a:schemeClr val="accent1"/>
                </a:solidFill>
              </a:rPr>
              <a:t>chapga</a:t>
            </a:r>
            <a:r>
              <a:rPr lang="en-US" sz="2800" b="1" dirty="0">
                <a:solidFill>
                  <a:schemeClr val="accent1"/>
                </a:solidFill>
              </a:rPr>
              <a:t> </a:t>
            </a:r>
            <a:r>
              <a:rPr lang="en-US" sz="2800" b="1" dirty="0" err="1">
                <a:solidFill>
                  <a:schemeClr val="accent1"/>
                </a:solidFill>
              </a:rPr>
              <a:t>burilmaslik</a:t>
            </a:r>
            <a:r>
              <a:rPr lang="en-US" sz="2800" dirty="0">
                <a:solidFill>
                  <a:schemeClr val="accent1"/>
                </a:solidFill>
              </a:rPr>
              <a:t> </a:t>
            </a:r>
            <a:r>
              <a:rPr lang="en-US" sz="2800" dirty="0" err="1">
                <a:solidFill>
                  <a:schemeClr val="accent1"/>
                </a:solidFill>
              </a:rPr>
              <a:t>strategiyasini</a:t>
            </a:r>
            <a:r>
              <a:rPr lang="en-US" sz="2800" dirty="0">
                <a:solidFill>
                  <a:schemeClr val="accent1"/>
                </a:solidFill>
              </a:rPr>
              <a:t> </a:t>
            </a:r>
            <a:r>
              <a:rPr lang="en-US" sz="2800" dirty="0" err="1">
                <a:solidFill>
                  <a:schemeClr val="accent1"/>
                </a:solidFill>
              </a:rPr>
              <a:t>qo‘llaydi</a:t>
            </a:r>
            <a:r>
              <a:rPr lang="en-US" sz="2800" dirty="0">
                <a:solidFill>
                  <a:schemeClr val="accent1"/>
                </a:solidFill>
              </a:rPr>
              <a:t> — </a:t>
            </a:r>
            <a:r>
              <a:rPr lang="en-US" sz="2800" dirty="0" err="1">
                <a:solidFill>
                  <a:schemeClr val="accent1"/>
                </a:solidFill>
              </a:rPr>
              <a:t>bu</a:t>
            </a:r>
            <a:r>
              <a:rPr lang="en-US" sz="2800" dirty="0">
                <a:solidFill>
                  <a:schemeClr val="accent1"/>
                </a:solidFill>
              </a:rPr>
              <a:t> </a:t>
            </a:r>
            <a:r>
              <a:rPr lang="en-US" sz="2800" dirty="0" err="1">
                <a:solidFill>
                  <a:schemeClr val="accent1"/>
                </a:solidFill>
              </a:rPr>
              <a:t>yoqilg‘ini</a:t>
            </a:r>
            <a:r>
              <a:rPr lang="en-US" sz="2800" dirty="0">
                <a:solidFill>
                  <a:schemeClr val="accent1"/>
                </a:solidFill>
              </a:rPr>
              <a:t> </a:t>
            </a:r>
            <a:r>
              <a:rPr lang="en-US" sz="2800" dirty="0" err="1">
                <a:solidFill>
                  <a:schemeClr val="accent1"/>
                </a:solidFill>
              </a:rPr>
              <a:t>tejaydi</a:t>
            </a:r>
            <a:r>
              <a:rPr lang="en-US" sz="2800" dirty="0">
                <a:solidFill>
                  <a:schemeClr val="accent1"/>
                </a:solidFill>
              </a:rPr>
              <a:t> </a:t>
            </a:r>
            <a:r>
              <a:rPr lang="en-US" sz="2800" dirty="0" err="1">
                <a:solidFill>
                  <a:schemeClr val="accent1"/>
                </a:solidFill>
              </a:rPr>
              <a:t>va</a:t>
            </a:r>
            <a:r>
              <a:rPr lang="en-US" sz="2800" dirty="0">
                <a:solidFill>
                  <a:schemeClr val="accent1"/>
                </a:solidFill>
              </a:rPr>
              <a:t> </a:t>
            </a:r>
            <a:r>
              <a:rPr lang="en-US" sz="2800" dirty="0" err="1">
                <a:solidFill>
                  <a:schemeClr val="accent1"/>
                </a:solidFill>
              </a:rPr>
              <a:t>xavfsizlikni</a:t>
            </a:r>
            <a:r>
              <a:rPr lang="en-US" sz="2800" dirty="0">
                <a:solidFill>
                  <a:schemeClr val="accent1"/>
                </a:solidFill>
              </a:rPr>
              <a:t> </a:t>
            </a:r>
            <a:r>
              <a:rPr lang="en-US" sz="2800" dirty="0" err="1">
                <a:solidFill>
                  <a:schemeClr val="accent1"/>
                </a:solidFill>
              </a:rPr>
              <a:t>oshiradi</a:t>
            </a:r>
            <a:r>
              <a:rPr lang="en-US" sz="2800" dirty="0">
                <a:solidFill>
                  <a:schemeClr val="accent1"/>
                </a:solidFill>
              </a:rPr>
              <a:t>.</a:t>
            </a:r>
          </a:p>
          <a:p>
            <a:pPr>
              <a:buFont typeface="Arial" panose="020B0604020202020204" pitchFamily="34" charset="0"/>
              <a:buChar char="•"/>
            </a:pPr>
            <a:r>
              <a:rPr lang="en-US" sz="2800" dirty="0" err="1">
                <a:solidFill>
                  <a:schemeClr val="accent1"/>
                </a:solidFill>
              </a:rPr>
              <a:t>UPSning</a:t>
            </a:r>
            <a:r>
              <a:rPr lang="en-US" sz="2800" dirty="0">
                <a:solidFill>
                  <a:schemeClr val="accent1"/>
                </a:solidFill>
              </a:rPr>
              <a:t> </a:t>
            </a:r>
            <a:r>
              <a:rPr lang="en-US" sz="2800" dirty="0" err="1">
                <a:solidFill>
                  <a:schemeClr val="accent1"/>
                </a:solidFill>
              </a:rPr>
              <a:t>mashhur</a:t>
            </a:r>
            <a:r>
              <a:rPr lang="en-US" sz="2800" dirty="0">
                <a:solidFill>
                  <a:schemeClr val="accent1"/>
                </a:solidFill>
              </a:rPr>
              <a:t> </a:t>
            </a:r>
            <a:r>
              <a:rPr lang="en-US" sz="2800" b="1" dirty="0">
                <a:solidFill>
                  <a:schemeClr val="accent1"/>
                </a:solidFill>
              </a:rPr>
              <a:t>“Brown” (</a:t>
            </a:r>
            <a:r>
              <a:rPr lang="en-US" sz="2800" b="1" dirty="0" err="1">
                <a:solidFill>
                  <a:schemeClr val="accent1"/>
                </a:solidFill>
              </a:rPr>
              <a:t>jigarrang</a:t>
            </a:r>
            <a:r>
              <a:rPr lang="en-US" sz="2800" b="1" dirty="0">
                <a:solidFill>
                  <a:schemeClr val="accent1"/>
                </a:solidFill>
              </a:rPr>
              <a:t>) </a:t>
            </a:r>
            <a:r>
              <a:rPr lang="en-US" sz="2800" b="1" dirty="0" err="1">
                <a:solidFill>
                  <a:schemeClr val="accent1"/>
                </a:solidFill>
              </a:rPr>
              <a:t>brendi</a:t>
            </a:r>
            <a:r>
              <a:rPr lang="en-US" sz="2800" dirty="0">
                <a:solidFill>
                  <a:schemeClr val="accent1"/>
                </a:solidFill>
              </a:rPr>
              <a:t> “professional </a:t>
            </a:r>
            <a:r>
              <a:rPr lang="en-US" sz="2800" dirty="0" err="1">
                <a:solidFill>
                  <a:schemeClr val="accent1"/>
                </a:solidFill>
              </a:rPr>
              <a:t>va</a:t>
            </a:r>
            <a:r>
              <a:rPr lang="en-US" sz="2800" dirty="0">
                <a:solidFill>
                  <a:schemeClr val="accent1"/>
                </a:solidFill>
              </a:rPr>
              <a:t> </a:t>
            </a:r>
            <a:r>
              <a:rPr lang="en-US" sz="2800" dirty="0" err="1">
                <a:solidFill>
                  <a:schemeClr val="accent1"/>
                </a:solidFill>
              </a:rPr>
              <a:t>ishonchli</a:t>
            </a:r>
            <a:r>
              <a:rPr lang="en-US" sz="2800" dirty="0">
                <a:solidFill>
                  <a:schemeClr val="accent1"/>
                </a:solidFill>
              </a:rPr>
              <a:t> </a:t>
            </a:r>
            <a:r>
              <a:rPr lang="en-US" sz="2800" dirty="0" err="1">
                <a:solidFill>
                  <a:schemeClr val="accent1"/>
                </a:solidFill>
              </a:rPr>
              <a:t>ko‘rinish</a:t>
            </a:r>
            <a:r>
              <a:rPr lang="en-US" sz="2800" dirty="0">
                <a:solidFill>
                  <a:schemeClr val="accent1"/>
                </a:solidFill>
              </a:rPr>
              <a:t>” </a:t>
            </a:r>
            <a:r>
              <a:rPr lang="en-US" sz="2800" dirty="0" err="1">
                <a:solidFill>
                  <a:schemeClr val="accent1"/>
                </a:solidFill>
              </a:rPr>
              <a:t>uchun</a:t>
            </a:r>
            <a:r>
              <a:rPr lang="en-US" sz="2800" dirty="0">
                <a:solidFill>
                  <a:schemeClr val="accent1"/>
                </a:solidFill>
              </a:rPr>
              <a:t> </a:t>
            </a:r>
            <a:r>
              <a:rPr lang="en-US" sz="2800" dirty="0" err="1">
                <a:solidFill>
                  <a:schemeClr val="accent1"/>
                </a:solidFill>
              </a:rPr>
              <a:t>tanlangan</a:t>
            </a:r>
            <a:r>
              <a:rPr lang="en-US" sz="2800" dirty="0">
                <a:solidFill>
                  <a:schemeClr val="accent1"/>
                </a:solidFill>
              </a:rPr>
              <a:t>.</a:t>
            </a:r>
          </a:p>
          <a:p>
            <a:r>
              <a:rPr lang="en-US" sz="2800" dirty="0">
                <a:solidFill>
                  <a:schemeClr val="accent1"/>
                </a:solidFill>
              </a:rPr>
              <a:t>UPS — </a:t>
            </a:r>
            <a:r>
              <a:rPr lang="en-US" sz="2800" b="1" dirty="0" err="1">
                <a:solidFill>
                  <a:schemeClr val="accent1"/>
                </a:solidFill>
              </a:rPr>
              <a:t>raqamli</a:t>
            </a:r>
            <a:r>
              <a:rPr lang="en-US" sz="2800" b="1" dirty="0">
                <a:solidFill>
                  <a:schemeClr val="accent1"/>
                </a:solidFill>
              </a:rPr>
              <a:t> </a:t>
            </a:r>
            <a:r>
              <a:rPr lang="en-US" sz="2800" b="1" dirty="0" err="1">
                <a:solidFill>
                  <a:schemeClr val="accent1"/>
                </a:solidFill>
              </a:rPr>
              <a:t>logistik</a:t>
            </a:r>
            <a:r>
              <a:rPr lang="en-US" sz="2800" b="1" dirty="0">
                <a:solidFill>
                  <a:schemeClr val="accent1"/>
                </a:solidFill>
              </a:rPr>
              <a:t> </a:t>
            </a:r>
            <a:r>
              <a:rPr lang="en-US" sz="2800" b="1" dirty="0" err="1">
                <a:solidFill>
                  <a:schemeClr val="accent1"/>
                </a:solidFill>
              </a:rPr>
              <a:t>transformatsiya</a:t>
            </a:r>
            <a:r>
              <a:rPr lang="en-US" sz="2800" dirty="0">
                <a:solidFill>
                  <a:schemeClr val="accent1"/>
                </a:solidFill>
              </a:rPr>
              <a:t>, </a:t>
            </a:r>
            <a:r>
              <a:rPr lang="en-US" sz="2800" dirty="0" err="1">
                <a:solidFill>
                  <a:schemeClr val="accent1"/>
                </a:solidFill>
              </a:rPr>
              <a:t>dronlar</a:t>
            </a:r>
            <a:r>
              <a:rPr lang="en-US" sz="2800" dirty="0">
                <a:solidFill>
                  <a:schemeClr val="accent1"/>
                </a:solidFill>
              </a:rPr>
              <a:t>, AI </a:t>
            </a:r>
            <a:r>
              <a:rPr lang="en-US" sz="2800" dirty="0" err="1">
                <a:solidFill>
                  <a:schemeClr val="accent1"/>
                </a:solidFill>
              </a:rPr>
              <a:t>va</a:t>
            </a:r>
            <a:r>
              <a:rPr lang="en-US" sz="2800" dirty="0">
                <a:solidFill>
                  <a:schemeClr val="accent1"/>
                </a:solidFill>
              </a:rPr>
              <a:t> </a:t>
            </a:r>
            <a:r>
              <a:rPr lang="en-US" sz="2800" dirty="0" err="1">
                <a:solidFill>
                  <a:schemeClr val="accent1"/>
                </a:solidFill>
              </a:rPr>
              <a:t>avtomatlashtirish</a:t>
            </a:r>
            <a:r>
              <a:rPr lang="en-US" sz="2800" dirty="0">
                <a:solidFill>
                  <a:schemeClr val="accent1"/>
                </a:solidFill>
              </a:rPr>
              <a:t> </a:t>
            </a:r>
            <a:r>
              <a:rPr lang="en-US" sz="2800" dirty="0" err="1">
                <a:solidFill>
                  <a:schemeClr val="accent1"/>
                </a:solidFill>
              </a:rPr>
              <a:t>bo‘yicha</a:t>
            </a:r>
            <a:r>
              <a:rPr lang="en-US" sz="2800" dirty="0">
                <a:solidFill>
                  <a:schemeClr val="accent1"/>
                </a:solidFill>
              </a:rPr>
              <a:t> </a:t>
            </a:r>
            <a:r>
              <a:rPr lang="en-US" sz="2800" dirty="0" err="1">
                <a:solidFill>
                  <a:schemeClr val="accent1"/>
                </a:solidFill>
              </a:rPr>
              <a:t>ilg‘or</a:t>
            </a:r>
            <a:r>
              <a:rPr lang="en-US" sz="2800" dirty="0">
                <a:solidFill>
                  <a:schemeClr val="accent1"/>
                </a:solidFill>
              </a:rPr>
              <a:t> </a:t>
            </a:r>
            <a:r>
              <a:rPr lang="en-US" sz="2800" dirty="0" err="1">
                <a:solidFill>
                  <a:schemeClr val="accent1"/>
                </a:solidFill>
              </a:rPr>
              <a:t>kompaniyalardan</a:t>
            </a:r>
            <a:r>
              <a:rPr lang="en-US" sz="2800" dirty="0">
                <a:solidFill>
                  <a:schemeClr val="accent1"/>
                </a:solidFill>
              </a:rPr>
              <a:t> </a:t>
            </a:r>
            <a:r>
              <a:rPr lang="en-US" sz="2800" dirty="0" err="1">
                <a:solidFill>
                  <a:schemeClr val="accent1"/>
                </a:solidFill>
              </a:rPr>
              <a:t>biridir</a:t>
            </a:r>
            <a:r>
              <a:rPr lang="en-US" sz="2800" dirty="0">
                <a:solidFill>
                  <a:schemeClr val="accent1"/>
                </a:solidFill>
              </a:rPr>
              <a:t>.</a:t>
            </a:r>
          </a:p>
        </p:txBody>
      </p:sp>
    </p:spTree>
    <p:extLst>
      <p:ext uri="{BB962C8B-B14F-4D97-AF65-F5344CB8AC3E}">
        <p14:creationId xmlns:p14="http://schemas.microsoft.com/office/powerpoint/2010/main" val="1011083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EB35EA-ED59-4DF5-9E94-3579ECE5E83F}"/>
              </a:ext>
            </a:extLst>
          </p:cNvPr>
          <p:cNvSpPr txBox="1"/>
          <p:nvPr/>
        </p:nvSpPr>
        <p:spPr>
          <a:xfrm>
            <a:off x="802800" y="216000"/>
            <a:ext cx="7538400" cy="5262979"/>
          </a:xfrm>
          <a:prstGeom prst="rect">
            <a:avLst/>
          </a:prstGeom>
          <a:noFill/>
        </p:spPr>
        <p:txBody>
          <a:bodyPr wrap="square" rtlCol="0">
            <a:spAutoFit/>
          </a:bodyPr>
          <a:lstStyle/>
          <a:p>
            <a:r>
              <a:rPr lang="en-US" sz="2400" b="1" dirty="0"/>
              <a:t>UPS (United Parcel Service – Yuk </a:t>
            </a:r>
            <a:r>
              <a:rPr lang="en-US" sz="2400" b="1" dirty="0" err="1"/>
              <a:t>tashish</a:t>
            </a:r>
            <a:r>
              <a:rPr lang="en-US" sz="2400" b="1" dirty="0"/>
              <a:t> </a:t>
            </a:r>
            <a:r>
              <a:rPr lang="en-US" sz="2400" b="1" dirty="0" err="1"/>
              <a:t>xizmati</a:t>
            </a:r>
            <a:r>
              <a:rPr lang="en-US" sz="2400" b="1" dirty="0"/>
              <a:t>)</a:t>
            </a:r>
            <a:br>
              <a:rPr lang="en-US" sz="2400" b="1" dirty="0"/>
            </a:br>
            <a:r>
              <a:rPr lang="en-US" sz="2400" b="1" dirty="0" err="1"/>
              <a:t>Qanday</a:t>
            </a:r>
            <a:r>
              <a:rPr lang="en-US" sz="2400" b="1" dirty="0"/>
              <a:t> </a:t>
            </a:r>
            <a:r>
              <a:rPr lang="en-US" sz="2400" b="1" dirty="0" err="1"/>
              <a:t>ma’lumotdan</a:t>
            </a:r>
            <a:r>
              <a:rPr lang="en-US" sz="2400" b="1" dirty="0"/>
              <a:t> </a:t>
            </a:r>
            <a:r>
              <a:rPr lang="en-US" sz="2400" b="1" dirty="0" err="1"/>
              <a:t>foydalanadi</a:t>
            </a:r>
            <a:r>
              <a:rPr lang="en-US" sz="2400" b="1" dirty="0"/>
              <a:t>:</a:t>
            </a:r>
            <a:br>
              <a:rPr lang="en-US" sz="2400" dirty="0"/>
            </a:br>
            <a:r>
              <a:rPr lang="en-US" sz="2400" dirty="0"/>
              <a:t>UPS yuk </a:t>
            </a:r>
            <a:r>
              <a:rPr lang="en-US" sz="2400" dirty="0" err="1"/>
              <a:t>mashinalarining</a:t>
            </a:r>
            <a:r>
              <a:rPr lang="en-US" sz="2400" dirty="0"/>
              <a:t> harakat </a:t>
            </a:r>
            <a:r>
              <a:rPr lang="en-US" sz="2400" dirty="0" err="1"/>
              <a:t>yo‘nalishlari</a:t>
            </a:r>
            <a:r>
              <a:rPr lang="en-US" sz="2400" dirty="0"/>
              <a:t>, </a:t>
            </a:r>
            <a:r>
              <a:rPr lang="en-US" sz="2400" dirty="0" err="1"/>
              <a:t>harakatlanish</a:t>
            </a:r>
            <a:r>
              <a:rPr lang="en-US" sz="2400" dirty="0"/>
              <a:t> </a:t>
            </a:r>
            <a:r>
              <a:rPr lang="en-US" sz="2400" dirty="0" err="1"/>
              <a:t>vaqti</a:t>
            </a:r>
            <a:r>
              <a:rPr lang="en-US" sz="2400" dirty="0"/>
              <a:t>, </a:t>
            </a:r>
            <a:r>
              <a:rPr lang="en-US" sz="2400" dirty="0" err="1"/>
              <a:t>yoqilg‘i</a:t>
            </a:r>
            <a:r>
              <a:rPr lang="en-US" sz="2400" dirty="0"/>
              <a:t> </a:t>
            </a:r>
            <a:r>
              <a:rPr lang="en-US" sz="2400" dirty="0" err="1"/>
              <a:t>sarfi</a:t>
            </a:r>
            <a:r>
              <a:rPr lang="en-US" sz="2400" dirty="0"/>
              <a:t>, </a:t>
            </a:r>
            <a:r>
              <a:rPr lang="en-US" sz="2400" dirty="0" err="1"/>
              <a:t>tirbandlik</a:t>
            </a:r>
            <a:r>
              <a:rPr lang="en-US" sz="2400" dirty="0"/>
              <a:t> </a:t>
            </a:r>
            <a:r>
              <a:rPr lang="en-US" sz="2400" dirty="0" err="1"/>
              <a:t>holatlari</a:t>
            </a:r>
            <a:r>
              <a:rPr lang="en-US" sz="2400" dirty="0"/>
              <a:t> </a:t>
            </a:r>
            <a:r>
              <a:rPr lang="en-US" sz="2400" dirty="0" err="1"/>
              <a:t>kabi</a:t>
            </a:r>
            <a:r>
              <a:rPr lang="en-US" sz="2400" dirty="0"/>
              <a:t> </a:t>
            </a:r>
            <a:r>
              <a:rPr lang="en-US" sz="2400" dirty="0" err="1"/>
              <a:t>omillarni</a:t>
            </a:r>
            <a:r>
              <a:rPr lang="en-US" sz="2400" dirty="0"/>
              <a:t> </a:t>
            </a:r>
            <a:r>
              <a:rPr lang="en-US" sz="2400" dirty="0" err="1"/>
              <a:t>tahlil</a:t>
            </a:r>
            <a:r>
              <a:rPr lang="en-US" sz="2400" dirty="0"/>
              <a:t> </a:t>
            </a:r>
            <a:r>
              <a:rPr lang="en-US" sz="2400" dirty="0" err="1"/>
              <a:t>qiladi</a:t>
            </a:r>
            <a:r>
              <a:rPr lang="en-US" sz="2400" dirty="0"/>
              <a:t>.</a:t>
            </a:r>
            <a:br>
              <a:rPr lang="en-US" sz="2400" dirty="0"/>
            </a:br>
            <a:endParaRPr lang="en-US" sz="2400" dirty="0"/>
          </a:p>
          <a:p>
            <a:r>
              <a:rPr lang="en-US" sz="2400" b="1" dirty="0" err="1"/>
              <a:t>Qanday</a:t>
            </a:r>
            <a:r>
              <a:rPr lang="en-US" sz="2400" b="1" dirty="0"/>
              <a:t> </a:t>
            </a:r>
            <a:r>
              <a:rPr lang="en-US" sz="2400" b="1" dirty="0" err="1"/>
              <a:t>qarorlar</a:t>
            </a:r>
            <a:r>
              <a:rPr lang="en-US" sz="2400" b="1" dirty="0"/>
              <a:t> </a:t>
            </a:r>
            <a:r>
              <a:rPr lang="en-US" sz="2400" b="1" dirty="0" err="1"/>
              <a:t>qabul</a:t>
            </a:r>
            <a:r>
              <a:rPr lang="en-US" sz="2400" b="1" dirty="0"/>
              <a:t> </a:t>
            </a:r>
            <a:r>
              <a:rPr lang="en-US" sz="2400" b="1" dirty="0" err="1"/>
              <a:t>qiladi</a:t>
            </a:r>
            <a:r>
              <a:rPr lang="en-US" sz="2400" b="1" dirty="0"/>
              <a:t>:</a:t>
            </a:r>
            <a:br>
              <a:rPr lang="en-US" sz="2400" dirty="0"/>
            </a:br>
            <a:r>
              <a:rPr lang="en-US" sz="2400" dirty="0"/>
              <a:t>UPS “ORION” (On-Road Integrated Optimization and Navigation) </a:t>
            </a:r>
            <a:r>
              <a:rPr lang="en-US" sz="2400" dirty="0" err="1"/>
              <a:t>tizimi</a:t>
            </a:r>
            <a:r>
              <a:rPr lang="en-US" sz="2400" dirty="0"/>
              <a:t> </a:t>
            </a:r>
            <a:r>
              <a:rPr lang="en-US" sz="2400" dirty="0" err="1"/>
              <a:t>orqali</a:t>
            </a:r>
            <a:r>
              <a:rPr lang="en-US" sz="2400" dirty="0"/>
              <a:t> optimal </a:t>
            </a:r>
            <a:r>
              <a:rPr lang="en-US" sz="2400" dirty="0" err="1"/>
              <a:t>marshrutlar</a:t>
            </a:r>
            <a:r>
              <a:rPr lang="en-US" sz="2400" dirty="0"/>
              <a:t> </a:t>
            </a:r>
            <a:r>
              <a:rPr lang="en-US" sz="2400" dirty="0" err="1"/>
              <a:t>tuzadi</a:t>
            </a:r>
            <a:r>
              <a:rPr lang="en-US" sz="2400" dirty="0"/>
              <a:t>. </a:t>
            </a:r>
            <a:r>
              <a:rPr lang="en-US" sz="2400" dirty="0" err="1"/>
              <a:t>Masalan</a:t>
            </a:r>
            <a:r>
              <a:rPr lang="en-US" sz="2400" dirty="0"/>
              <a:t>, chap </a:t>
            </a:r>
            <a:r>
              <a:rPr lang="en-US" sz="2400" dirty="0" err="1"/>
              <a:t>burilishdan</a:t>
            </a:r>
            <a:r>
              <a:rPr lang="en-US" sz="2400" dirty="0"/>
              <a:t> </a:t>
            </a:r>
            <a:r>
              <a:rPr lang="en-US" sz="2400" dirty="0" err="1"/>
              <a:t>ko‘ra</a:t>
            </a:r>
            <a:r>
              <a:rPr lang="en-US" sz="2400" dirty="0"/>
              <a:t> </a:t>
            </a:r>
            <a:r>
              <a:rPr lang="en-US" sz="2400" dirty="0" err="1"/>
              <a:t>o‘ng</a:t>
            </a:r>
            <a:r>
              <a:rPr lang="en-US" sz="2400" dirty="0"/>
              <a:t> </a:t>
            </a:r>
            <a:r>
              <a:rPr lang="en-US" sz="2400" dirty="0" err="1"/>
              <a:t>burilish</a:t>
            </a:r>
            <a:r>
              <a:rPr lang="en-US" sz="2400" dirty="0"/>
              <a:t> </a:t>
            </a:r>
            <a:r>
              <a:rPr lang="en-US" sz="2400" dirty="0" err="1"/>
              <a:t>ko‘proq</a:t>
            </a:r>
            <a:r>
              <a:rPr lang="en-US" sz="2400" dirty="0"/>
              <a:t> </a:t>
            </a:r>
            <a:r>
              <a:rPr lang="en-US" sz="2400" dirty="0" err="1"/>
              <a:t>tavsiya</a:t>
            </a:r>
            <a:r>
              <a:rPr lang="en-US" sz="2400" dirty="0"/>
              <a:t> </a:t>
            </a:r>
            <a:r>
              <a:rPr lang="en-US" sz="2400" dirty="0" err="1"/>
              <a:t>qilinadi</a:t>
            </a:r>
            <a:r>
              <a:rPr lang="en-US" sz="2400" dirty="0"/>
              <a:t>, </a:t>
            </a:r>
            <a:r>
              <a:rPr lang="en-US" sz="2400" dirty="0" err="1"/>
              <a:t>chunki</a:t>
            </a:r>
            <a:r>
              <a:rPr lang="en-US" sz="2400" dirty="0"/>
              <a:t> </a:t>
            </a:r>
            <a:r>
              <a:rPr lang="en-US" sz="2400" dirty="0" err="1"/>
              <a:t>bu</a:t>
            </a:r>
            <a:r>
              <a:rPr lang="en-US" sz="2400" dirty="0"/>
              <a:t> </a:t>
            </a:r>
            <a:r>
              <a:rPr lang="en-US" sz="2400" dirty="0" err="1"/>
              <a:t>vaqt</a:t>
            </a:r>
            <a:r>
              <a:rPr lang="en-US" sz="2400" dirty="0"/>
              <a:t> </a:t>
            </a:r>
            <a:r>
              <a:rPr lang="en-US" sz="2400" dirty="0" err="1"/>
              <a:t>va</a:t>
            </a:r>
            <a:r>
              <a:rPr lang="en-US" sz="2400" dirty="0"/>
              <a:t> </a:t>
            </a:r>
            <a:r>
              <a:rPr lang="en-US" sz="2400" dirty="0" err="1"/>
              <a:t>yoqilg‘ini</a:t>
            </a:r>
            <a:r>
              <a:rPr lang="en-US" sz="2400" dirty="0"/>
              <a:t> </a:t>
            </a:r>
            <a:r>
              <a:rPr lang="en-US" sz="2400" dirty="0" err="1"/>
              <a:t>tejaydi</a:t>
            </a:r>
            <a:r>
              <a:rPr lang="en-US" sz="2400" dirty="0"/>
              <a:t>. Bu </a:t>
            </a:r>
            <a:r>
              <a:rPr lang="en-US" sz="2400" dirty="0" err="1"/>
              <a:t>yondashuv</a:t>
            </a:r>
            <a:r>
              <a:rPr lang="en-US" sz="2400" dirty="0"/>
              <a:t> </a:t>
            </a:r>
            <a:r>
              <a:rPr lang="en-US" sz="2400" dirty="0" err="1"/>
              <a:t>orqali</a:t>
            </a:r>
            <a:r>
              <a:rPr lang="en-US" sz="2400" dirty="0"/>
              <a:t> </a:t>
            </a:r>
            <a:r>
              <a:rPr lang="en-US" sz="2400" dirty="0" err="1"/>
              <a:t>kompaniya</a:t>
            </a:r>
            <a:r>
              <a:rPr lang="en-US" sz="2400" dirty="0"/>
              <a:t> </a:t>
            </a:r>
            <a:r>
              <a:rPr lang="en-US" sz="2400" dirty="0" err="1"/>
              <a:t>yilda</a:t>
            </a:r>
            <a:r>
              <a:rPr lang="en-US" sz="2400" dirty="0"/>
              <a:t> </a:t>
            </a:r>
            <a:r>
              <a:rPr lang="en-US" sz="2400" dirty="0" err="1"/>
              <a:t>millionlab</a:t>
            </a:r>
            <a:r>
              <a:rPr lang="en-US" sz="2400" dirty="0"/>
              <a:t> </a:t>
            </a:r>
            <a:r>
              <a:rPr lang="en-US" sz="2400" dirty="0" err="1"/>
              <a:t>dollarni</a:t>
            </a:r>
            <a:r>
              <a:rPr lang="en-US" sz="2400" dirty="0"/>
              <a:t> </a:t>
            </a:r>
            <a:r>
              <a:rPr lang="en-US" sz="2400" dirty="0" err="1"/>
              <a:t>tejaydi</a:t>
            </a:r>
            <a:r>
              <a:rPr lang="en-US" sz="2400" dirty="0"/>
              <a:t>.</a:t>
            </a:r>
          </a:p>
          <a:p>
            <a:endParaRPr lang="ru-RU" sz="2400" dirty="0"/>
          </a:p>
        </p:txBody>
      </p:sp>
    </p:spTree>
    <p:extLst>
      <p:ext uri="{BB962C8B-B14F-4D97-AF65-F5344CB8AC3E}">
        <p14:creationId xmlns:p14="http://schemas.microsoft.com/office/powerpoint/2010/main" val="157358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1" strike="noStrike" spc="-1" dirty="0">
                <a:solidFill>
                  <a:schemeClr val="dk1"/>
                </a:solidFill>
                <a:ea typeface="Manrope"/>
              </a:rPr>
              <a:t>Ma'lumotlarni Tahlil Qilish</a:t>
            </a:r>
            <a:endParaRPr lang="fr-FR" sz="3000" b="1" strike="noStrike" spc="-1" dirty="0">
              <a:solidFill>
                <a:schemeClr val="dk1"/>
              </a:solidFill>
            </a:endParaRPr>
          </a:p>
        </p:txBody>
      </p:sp>
      <p:sp>
        <p:nvSpPr>
          <p:cNvPr id="68" name="PlaceHolder 2"/>
          <p:cNvSpPr>
            <a:spLocks noGrp="1"/>
          </p:cNvSpPr>
          <p:nvPr>
            <p:ph type="subTitle"/>
          </p:nvPr>
        </p:nvSpPr>
        <p:spPr>
          <a:xfrm>
            <a:off x="1028880" y="2295360"/>
            <a:ext cx="7092720" cy="219024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000" b="0" strike="noStrike" spc="-1" dirty="0">
                <a:solidFill>
                  <a:schemeClr val="dk1"/>
                </a:solidFill>
                <a:latin typeface="+mj-lt"/>
                <a:ea typeface="Open Sans"/>
              </a:rPr>
              <a:t>Ma'lumotlarni tahlil qilish, qaror qabul qilish jarayonida muhim ahamiyatga ega. Tahlil natijalari orqali rahbarlar va tashkilotlar muammolarni aniqlash va ularni hal qilish uchun zaruriy ma'lumotlarga ega bo'lishadi. Bunday tahlilning ko'plab usullari mavjud bo'lib, ularga statistik usullar, ma'lumotlarni vizualizatsiya qilish va prediktiv tahlil metodlari kiradi.</a:t>
            </a:r>
            <a:endParaRPr lang="en-US" sz="2000" b="0" strike="noStrike" spc="-1" dirty="0">
              <a:solidFill>
                <a:srgbClr val="000000"/>
              </a:solidFill>
              <a:latin typeface="+mj-lt"/>
            </a:endParaRPr>
          </a:p>
        </p:txBody>
      </p:sp>
      <p:cxnSp>
        <p:nvCxnSpPr>
          <p:cNvPr id="69" name="Google Shape;177;p33"/>
          <p:cNvCxnSpPr/>
          <p:nvPr/>
        </p:nvCxnSpPr>
        <p:spPr>
          <a:xfrm>
            <a:off x="-5040" y="2017440"/>
            <a:ext cx="9182160" cy="360"/>
          </a:xfrm>
          <a:prstGeom prst="straightConnector1">
            <a:avLst/>
          </a:prstGeom>
          <a:ln w="9525">
            <a:solidFill>
              <a:srgbClr val="2B3D2D"/>
            </a:solidFill>
            <a:round/>
          </a:ln>
        </p:spPr>
      </p:cxnSp>
      <p:pic>
        <p:nvPicPr>
          <p:cNvPr id="5122" name="Picture 2" descr="Exploitation et analyse des résultats d'enquête | Blog Questio">
            <a:extLst>
              <a:ext uri="{FF2B5EF4-FFF2-40B4-BE49-F238E27FC236}">
                <a16:creationId xmlns:a16="http://schemas.microsoft.com/office/drawing/2014/main" id="{2FD66DEF-895E-499C-B9E1-192BD9235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00" y="27915"/>
            <a:ext cx="2956200" cy="19658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845A22-59D5-4B3A-BFC6-A819B13E8CD6}"/>
              </a:ext>
            </a:extLst>
          </p:cNvPr>
          <p:cNvSpPr txBox="1"/>
          <p:nvPr/>
        </p:nvSpPr>
        <p:spPr>
          <a:xfrm>
            <a:off x="331200" y="741600"/>
            <a:ext cx="4485600" cy="1754326"/>
          </a:xfrm>
          <a:prstGeom prst="rect">
            <a:avLst/>
          </a:prstGeom>
          <a:noFill/>
        </p:spPr>
        <p:txBody>
          <a:bodyPr wrap="square" rtlCol="0">
            <a:spAutoFit/>
          </a:bodyPr>
          <a:lstStyle/>
          <a:p>
            <a:r>
              <a:rPr lang="en-US" b="1" dirty="0" err="1"/>
              <a:t>Texnologiya</a:t>
            </a:r>
            <a:r>
              <a:rPr lang="ru-RU" b="1" dirty="0"/>
              <a:t>:</a:t>
            </a:r>
            <a:endParaRPr lang="ru-RU" dirty="0"/>
          </a:p>
          <a:p>
            <a:pPr lvl="0"/>
            <a:r>
              <a:rPr lang="en-US" dirty="0"/>
              <a:t>BI (Business Intelligence) </a:t>
            </a:r>
            <a:r>
              <a:rPr lang="en-US" dirty="0" err="1"/>
              <a:t>tizimlari</a:t>
            </a:r>
            <a:r>
              <a:rPr lang="en-US" dirty="0"/>
              <a:t> – Power BI, Tableau</a:t>
            </a:r>
            <a:endParaRPr lang="ru-RU" dirty="0"/>
          </a:p>
          <a:p>
            <a:pPr lvl="0"/>
            <a:r>
              <a:rPr lang="ru-RU" dirty="0" err="1"/>
              <a:t>Big</a:t>
            </a:r>
            <a:r>
              <a:rPr lang="ru-RU" dirty="0"/>
              <a:t> </a:t>
            </a:r>
            <a:r>
              <a:rPr lang="ru-RU" dirty="0" err="1"/>
              <a:t>Data</a:t>
            </a:r>
            <a:r>
              <a:rPr lang="ru-RU" dirty="0"/>
              <a:t> </a:t>
            </a:r>
            <a:r>
              <a:rPr lang="ru-RU" dirty="0" err="1"/>
              <a:t>platformalari</a:t>
            </a:r>
            <a:r>
              <a:rPr lang="ru-RU" dirty="0"/>
              <a:t> – </a:t>
            </a:r>
            <a:r>
              <a:rPr lang="ru-RU" dirty="0" err="1"/>
              <a:t>Hadoop</a:t>
            </a:r>
            <a:r>
              <a:rPr lang="ru-RU" dirty="0"/>
              <a:t>, </a:t>
            </a:r>
            <a:r>
              <a:rPr lang="ru-RU" dirty="0" err="1"/>
              <a:t>Spark</a:t>
            </a:r>
            <a:endParaRPr lang="ru-RU" dirty="0"/>
          </a:p>
          <a:p>
            <a:pPr lvl="0"/>
            <a:r>
              <a:rPr lang="en-US" dirty="0"/>
              <a:t>AI/ML – </a:t>
            </a:r>
            <a:r>
              <a:rPr lang="en-US" dirty="0" err="1"/>
              <a:t>qaror</a:t>
            </a:r>
            <a:r>
              <a:rPr lang="en-US" dirty="0"/>
              <a:t> </a:t>
            </a:r>
            <a:r>
              <a:rPr lang="en-US" dirty="0" err="1"/>
              <a:t>tahlili</a:t>
            </a:r>
            <a:r>
              <a:rPr lang="en-US" dirty="0"/>
              <a:t> </a:t>
            </a:r>
            <a:r>
              <a:rPr lang="en-US" dirty="0" err="1"/>
              <a:t>uchun</a:t>
            </a:r>
            <a:r>
              <a:rPr lang="en-US" dirty="0"/>
              <a:t> </a:t>
            </a:r>
            <a:r>
              <a:rPr lang="en-US" dirty="0" err="1"/>
              <a:t>sun’iy</a:t>
            </a:r>
            <a:r>
              <a:rPr lang="en-US" dirty="0"/>
              <a:t> </a:t>
            </a:r>
            <a:r>
              <a:rPr lang="en-US" dirty="0" err="1"/>
              <a:t>intellekt</a:t>
            </a:r>
            <a:endParaRPr lang="ru-RU" dirty="0"/>
          </a:p>
          <a:p>
            <a:endParaRPr lang="ru-RU" dirty="0"/>
          </a:p>
        </p:txBody>
      </p:sp>
      <p:pic>
        <p:nvPicPr>
          <p:cNvPr id="3074" name="Picture 2" descr="Business Intelligence Systems – BI: how and when validating – FIVE  Validation">
            <a:extLst>
              <a:ext uri="{FF2B5EF4-FFF2-40B4-BE49-F238E27FC236}">
                <a16:creationId xmlns:a16="http://schemas.microsoft.com/office/drawing/2014/main" id="{9D680E2F-E007-460B-9B37-A4121C3B31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16800" y="2495926"/>
            <a:ext cx="4033838" cy="251892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ig Data lar mavzusida taqdimot oʻtkaziladi - Muhammad al-Xorazmiy nomidagi  Toshkent Axborot Texnologiyalari Universiteti">
            <a:extLst>
              <a:ext uri="{FF2B5EF4-FFF2-40B4-BE49-F238E27FC236}">
                <a16:creationId xmlns:a16="http://schemas.microsoft.com/office/drawing/2014/main" id="{2CB30F51-7443-45DB-A40C-CB3C700BF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62" y="2495926"/>
            <a:ext cx="4444859" cy="251892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I Applications Today: Where Artificial Intelligence is Used | IT Chronicles">
            <a:extLst>
              <a:ext uri="{FF2B5EF4-FFF2-40B4-BE49-F238E27FC236}">
                <a16:creationId xmlns:a16="http://schemas.microsoft.com/office/drawing/2014/main" id="{CE035716-622F-4F21-B532-1A7D9C1B2D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8501" y="128646"/>
            <a:ext cx="3475100" cy="2317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888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68CFC24-FDFF-4389-AF07-718874F0F255}"/>
              </a:ext>
            </a:extLst>
          </p:cNvPr>
          <p:cNvSpPr/>
          <p:nvPr/>
        </p:nvSpPr>
        <p:spPr>
          <a:xfrm>
            <a:off x="702000" y="753891"/>
            <a:ext cx="6498000" cy="3293209"/>
          </a:xfrm>
          <a:prstGeom prst="rect">
            <a:avLst/>
          </a:prstGeom>
        </p:spPr>
        <p:txBody>
          <a:bodyPr wrap="square">
            <a:spAutoFit/>
          </a:bodyPr>
          <a:lstStyle/>
          <a:p>
            <a:r>
              <a:rPr lang="en-US" sz="2800" b="1" dirty="0"/>
              <a:t>AI </a:t>
            </a:r>
            <a:r>
              <a:rPr lang="en-US" sz="2800" b="1" dirty="0" err="1"/>
              <a:t>va</a:t>
            </a:r>
            <a:r>
              <a:rPr lang="en-US" sz="2800" b="1" dirty="0"/>
              <a:t> “Machine </a:t>
            </a:r>
            <a:r>
              <a:rPr lang="en-US" sz="2800" b="1" dirty="0" err="1"/>
              <a:t>Learning”ning</a:t>
            </a:r>
            <a:r>
              <a:rPr lang="en-US" sz="2800" b="1" dirty="0"/>
              <a:t> </a:t>
            </a:r>
            <a:r>
              <a:rPr lang="en-US" sz="2800" b="1" dirty="0" err="1"/>
              <a:t>roli</a:t>
            </a:r>
            <a:endParaRPr lang="en-US" sz="2800" b="1" dirty="0"/>
          </a:p>
          <a:p>
            <a:r>
              <a:rPr lang="en-US" sz="2000" dirty="0" err="1"/>
              <a:t>Bugungi</a:t>
            </a:r>
            <a:r>
              <a:rPr lang="en-US" sz="2000" dirty="0"/>
              <a:t> </a:t>
            </a:r>
            <a:r>
              <a:rPr lang="en-US" sz="2000" dirty="0" err="1"/>
              <a:t>kunda</a:t>
            </a:r>
            <a:r>
              <a:rPr lang="en-US" sz="2000" dirty="0"/>
              <a:t> DDDM </a:t>
            </a:r>
            <a:r>
              <a:rPr lang="en-US" sz="2000" dirty="0" err="1"/>
              <a:t>ko‘plab</a:t>
            </a:r>
            <a:r>
              <a:rPr lang="en-US" sz="2000" dirty="0"/>
              <a:t> </a:t>
            </a:r>
            <a:r>
              <a:rPr lang="en-US" sz="2000" dirty="0" err="1"/>
              <a:t>joyda</a:t>
            </a:r>
            <a:r>
              <a:rPr lang="en-US" sz="2000" dirty="0"/>
              <a:t> </a:t>
            </a:r>
            <a:r>
              <a:rPr lang="en-US" sz="2000" b="1" dirty="0" err="1"/>
              <a:t>sun’iy</a:t>
            </a:r>
            <a:r>
              <a:rPr lang="en-US" sz="2000" b="1" dirty="0"/>
              <a:t> </a:t>
            </a:r>
            <a:r>
              <a:rPr lang="en-US" sz="2000" b="1" dirty="0" err="1"/>
              <a:t>intellekt</a:t>
            </a:r>
            <a:r>
              <a:rPr lang="en-US" sz="2000" b="1" dirty="0"/>
              <a:t> (AI)</a:t>
            </a:r>
            <a:r>
              <a:rPr lang="en-US" sz="2000" dirty="0"/>
              <a:t> </a:t>
            </a:r>
            <a:r>
              <a:rPr lang="en-US" sz="2000" dirty="0" err="1"/>
              <a:t>va</a:t>
            </a:r>
            <a:r>
              <a:rPr lang="en-US" sz="2000" dirty="0"/>
              <a:t> </a:t>
            </a:r>
            <a:r>
              <a:rPr lang="en-US" sz="2000" b="1" dirty="0" err="1"/>
              <a:t>mashinali</a:t>
            </a:r>
            <a:r>
              <a:rPr lang="en-US" sz="2000" b="1" dirty="0"/>
              <a:t> </a:t>
            </a:r>
            <a:r>
              <a:rPr lang="en-US" sz="2000" b="1" dirty="0" err="1"/>
              <a:t>o‘rganish</a:t>
            </a:r>
            <a:r>
              <a:rPr lang="en-US" sz="2000" b="1" dirty="0"/>
              <a:t> (ML)</a:t>
            </a:r>
            <a:r>
              <a:rPr lang="en-US" sz="2000" dirty="0"/>
              <a:t> </a:t>
            </a:r>
            <a:r>
              <a:rPr lang="en-US" sz="2000" dirty="0" err="1"/>
              <a:t>bilan</a:t>
            </a:r>
            <a:r>
              <a:rPr lang="en-US" sz="2000" dirty="0"/>
              <a:t> </a:t>
            </a:r>
            <a:r>
              <a:rPr lang="en-US" sz="2000" dirty="0" err="1"/>
              <a:t>integratsiyalashgan</a:t>
            </a:r>
            <a:r>
              <a:rPr lang="en-US" sz="2000" dirty="0"/>
              <a:t>:</a:t>
            </a:r>
          </a:p>
          <a:p>
            <a:pPr>
              <a:buFont typeface="Arial" panose="020B0604020202020204" pitchFamily="34" charset="0"/>
              <a:buChar char="•"/>
            </a:pPr>
            <a:r>
              <a:rPr lang="en-US" sz="2000" b="1" dirty="0" err="1"/>
              <a:t>Avtomatlashtirilgan</a:t>
            </a:r>
            <a:r>
              <a:rPr lang="en-US" sz="2000" b="1" dirty="0"/>
              <a:t> </a:t>
            </a:r>
            <a:r>
              <a:rPr lang="en-US" sz="2000" b="1" dirty="0" err="1"/>
              <a:t>qarorlar</a:t>
            </a:r>
            <a:r>
              <a:rPr lang="en-US" sz="2000" dirty="0"/>
              <a:t> – </a:t>
            </a:r>
            <a:r>
              <a:rPr lang="en-US" sz="2000" dirty="0" err="1"/>
              <a:t>masalan</a:t>
            </a:r>
            <a:r>
              <a:rPr lang="en-US" sz="2000" dirty="0"/>
              <a:t>, </a:t>
            </a:r>
            <a:r>
              <a:rPr lang="en-US" sz="2000" dirty="0" err="1"/>
              <a:t>Amazon’da</a:t>
            </a:r>
            <a:r>
              <a:rPr lang="en-US" sz="2000" dirty="0"/>
              <a:t> </a:t>
            </a:r>
            <a:r>
              <a:rPr lang="en-US" sz="2000" dirty="0" err="1"/>
              <a:t>mahsulot</a:t>
            </a:r>
            <a:r>
              <a:rPr lang="en-US" sz="2000" dirty="0"/>
              <a:t> </a:t>
            </a:r>
            <a:r>
              <a:rPr lang="en-US" sz="2000" dirty="0" err="1"/>
              <a:t>narxi</a:t>
            </a:r>
            <a:r>
              <a:rPr lang="en-US" sz="2000" dirty="0"/>
              <a:t> real </a:t>
            </a:r>
            <a:r>
              <a:rPr lang="en-US" sz="2000" dirty="0" err="1"/>
              <a:t>vaqtda</a:t>
            </a:r>
            <a:r>
              <a:rPr lang="en-US" sz="2000" dirty="0"/>
              <a:t> </a:t>
            </a:r>
            <a:r>
              <a:rPr lang="en-US" sz="2000" dirty="0" err="1"/>
              <a:t>o‘zgaradi</a:t>
            </a:r>
            <a:r>
              <a:rPr lang="en-US" sz="2000" dirty="0"/>
              <a:t>.</a:t>
            </a:r>
          </a:p>
          <a:p>
            <a:pPr>
              <a:buFont typeface="Arial" panose="020B0604020202020204" pitchFamily="34" charset="0"/>
              <a:buChar char="•"/>
            </a:pPr>
            <a:r>
              <a:rPr lang="en-US" sz="2000" b="1" dirty="0" err="1"/>
              <a:t>Prognozlash</a:t>
            </a:r>
            <a:r>
              <a:rPr lang="en-US" sz="2000" dirty="0"/>
              <a:t> – </a:t>
            </a:r>
            <a:r>
              <a:rPr lang="en-US" sz="2000" dirty="0" err="1"/>
              <a:t>masalan</a:t>
            </a:r>
            <a:r>
              <a:rPr lang="en-US" sz="2000" dirty="0"/>
              <a:t>, Uber har </a:t>
            </a:r>
            <a:r>
              <a:rPr lang="en-US" sz="2000" dirty="0" err="1"/>
              <a:t>bir</a:t>
            </a:r>
            <a:r>
              <a:rPr lang="en-US" sz="2000" dirty="0"/>
              <a:t> </a:t>
            </a:r>
            <a:r>
              <a:rPr lang="en-US" sz="2000" dirty="0" err="1"/>
              <a:t>soatdagi</a:t>
            </a:r>
            <a:r>
              <a:rPr lang="en-US" sz="2000" dirty="0"/>
              <a:t> </a:t>
            </a:r>
            <a:r>
              <a:rPr lang="en-US" sz="2000" dirty="0" err="1"/>
              <a:t>ehtimoliy</a:t>
            </a:r>
            <a:r>
              <a:rPr lang="en-US" sz="2000" dirty="0"/>
              <a:t> </a:t>
            </a:r>
            <a:r>
              <a:rPr lang="en-US" sz="2000" dirty="0" err="1"/>
              <a:t>buyurtmalar</a:t>
            </a:r>
            <a:r>
              <a:rPr lang="en-US" sz="2000" dirty="0"/>
              <a:t> </a:t>
            </a:r>
            <a:r>
              <a:rPr lang="en-US" sz="2000" dirty="0" err="1"/>
              <a:t>sonini</a:t>
            </a:r>
            <a:r>
              <a:rPr lang="en-US" sz="2000" dirty="0"/>
              <a:t> </a:t>
            </a:r>
            <a:r>
              <a:rPr lang="en-US" sz="2000" dirty="0" err="1"/>
              <a:t>bashorat</a:t>
            </a:r>
            <a:r>
              <a:rPr lang="en-US" sz="2000" dirty="0"/>
              <a:t> </a:t>
            </a:r>
            <a:r>
              <a:rPr lang="en-US" sz="2000" dirty="0" err="1"/>
              <a:t>qiladi</a:t>
            </a:r>
            <a:r>
              <a:rPr lang="en-US" sz="2000" dirty="0"/>
              <a:t>.</a:t>
            </a:r>
          </a:p>
          <a:p>
            <a:pPr>
              <a:buFont typeface="Arial" panose="020B0604020202020204" pitchFamily="34" charset="0"/>
              <a:buChar char="•"/>
            </a:pPr>
            <a:r>
              <a:rPr lang="en-US" sz="2000" b="1" dirty="0" err="1"/>
              <a:t>Rekomendatsiya</a:t>
            </a:r>
            <a:r>
              <a:rPr lang="en-US" sz="2000" b="1" dirty="0"/>
              <a:t> </a:t>
            </a:r>
            <a:r>
              <a:rPr lang="en-US" sz="2000" b="1" dirty="0" err="1"/>
              <a:t>tizimlari</a:t>
            </a:r>
            <a:r>
              <a:rPr lang="en-US" sz="2000" dirty="0"/>
              <a:t> – Spotify, YouTube, </a:t>
            </a:r>
            <a:r>
              <a:rPr lang="en-US" sz="2000" dirty="0" err="1"/>
              <a:t>TikTok</a:t>
            </a:r>
            <a:r>
              <a:rPr lang="en-US" sz="2000" dirty="0"/>
              <a:t> </a:t>
            </a:r>
            <a:r>
              <a:rPr lang="en-US" sz="2000" dirty="0" err="1"/>
              <a:t>tavsiyalari</a:t>
            </a:r>
            <a:r>
              <a:rPr lang="en-US" sz="2000" dirty="0"/>
              <a:t> </a:t>
            </a:r>
            <a:r>
              <a:rPr lang="en-US" sz="2000" dirty="0" err="1"/>
              <a:t>ma’lumotga</a:t>
            </a:r>
            <a:r>
              <a:rPr lang="en-US" sz="2000" dirty="0"/>
              <a:t> </a:t>
            </a:r>
            <a:r>
              <a:rPr lang="en-US" sz="2000" dirty="0" err="1"/>
              <a:t>asoslangan</a:t>
            </a:r>
            <a:r>
              <a:rPr lang="en-US" sz="2000" dirty="0"/>
              <a:t>.</a:t>
            </a:r>
          </a:p>
        </p:txBody>
      </p:sp>
    </p:spTree>
    <p:extLst>
      <p:ext uri="{BB962C8B-B14F-4D97-AF65-F5344CB8AC3E}">
        <p14:creationId xmlns:p14="http://schemas.microsoft.com/office/powerpoint/2010/main" val="190964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0" name="Google Shape;157;p31"/>
          <p:cNvCxnSpPr/>
          <p:nvPr/>
        </p:nvCxnSpPr>
        <p:spPr>
          <a:xfrm>
            <a:off x="110160" y="843120"/>
            <a:ext cx="9182160" cy="360"/>
          </a:xfrm>
          <a:prstGeom prst="straightConnector1">
            <a:avLst/>
          </a:prstGeom>
          <a:ln w="9525">
            <a:solidFill>
              <a:srgbClr val="2B3D2D"/>
            </a:solidFill>
            <a:round/>
          </a:ln>
        </p:spPr>
      </p:cxnSp>
      <p:sp>
        <p:nvSpPr>
          <p:cNvPr id="71" name="PlaceHolder 1"/>
          <p:cNvSpPr>
            <a:spLocks noGrp="1"/>
          </p:cNvSpPr>
          <p:nvPr>
            <p:ph type="title"/>
          </p:nvPr>
        </p:nvSpPr>
        <p:spPr>
          <a:xfrm>
            <a:off x="266400" y="-290340"/>
            <a:ext cx="46670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800" b="1" strike="noStrike" spc="-1" dirty="0">
                <a:solidFill>
                  <a:schemeClr val="dk1"/>
                </a:solidFill>
                <a:ea typeface="Manrope"/>
              </a:rPr>
              <a:t>Tren</a:t>
            </a:r>
            <a:r>
              <a:rPr lang="en-US" sz="2800" b="1" strike="noStrike" spc="-1" dirty="0">
                <a:solidFill>
                  <a:schemeClr val="dk1"/>
                </a:solidFill>
                <a:ea typeface="Manrope"/>
              </a:rPr>
              <a:t>d</a:t>
            </a:r>
            <a:r>
              <a:rPr lang="en" sz="2800" b="1" strike="noStrike" spc="-1" dirty="0">
                <a:solidFill>
                  <a:schemeClr val="dk1"/>
                </a:solidFill>
                <a:ea typeface="Manrope"/>
              </a:rPr>
              <a:t>larni Aniqlash</a:t>
            </a:r>
            <a:endParaRPr lang="fr-FR" sz="2800" b="1" strike="noStrike" spc="-1" dirty="0">
              <a:solidFill>
                <a:schemeClr val="dk1"/>
              </a:solidFill>
            </a:endParaRPr>
          </a:p>
        </p:txBody>
      </p:sp>
      <p:sp>
        <p:nvSpPr>
          <p:cNvPr id="72" name="PlaceHolder 2"/>
          <p:cNvSpPr>
            <a:spLocks noGrp="1"/>
          </p:cNvSpPr>
          <p:nvPr>
            <p:ph type="subTitle"/>
          </p:nvPr>
        </p:nvSpPr>
        <p:spPr>
          <a:xfrm>
            <a:off x="266400" y="1176840"/>
            <a:ext cx="4734000" cy="3009600"/>
          </a:xfrm>
          <a:prstGeom prst="rect">
            <a:avLst/>
          </a:prstGeom>
          <a:noFill/>
          <a:ln w="0">
            <a:noFill/>
          </a:ln>
        </p:spPr>
        <p:txBody>
          <a:bodyPr lIns="91440" tIns="91440" rIns="91440" bIns="91440" anchor="t">
            <a:noAutofit/>
          </a:bodyPr>
          <a:lstStyle/>
          <a:p>
            <a:pPr marL="0" indent="0">
              <a:buNone/>
            </a:pPr>
            <a:r>
              <a:rPr lang="en-US" sz="1600" dirty="0" err="1"/>
              <a:t>Mavjud</a:t>
            </a:r>
            <a:r>
              <a:rPr lang="en-US" sz="1600" dirty="0"/>
              <a:t> </a:t>
            </a:r>
            <a:r>
              <a:rPr lang="en-US" sz="1600" dirty="0" err="1"/>
              <a:t>ma’lumotlar</a:t>
            </a:r>
            <a:r>
              <a:rPr lang="en-US" sz="1600" dirty="0"/>
              <a:t> </a:t>
            </a:r>
            <a:r>
              <a:rPr lang="en-US" sz="1600" dirty="0" err="1"/>
              <a:t>asosida</a:t>
            </a:r>
            <a:r>
              <a:rPr lang="en-US" sz="1600" dirty="0"/>
              <a:t> </a:t>
            </a:r>
            <a:r>
              <a:rPr lang="en-US" sz="1600" dirty="0" err="1"/>
              <a:t>vaqt</a:t>
            </a:r>
            <a:r>
              <a:rPr lang="en-US" sz="1600" dirty="0"/>
              <a:t> </a:t>
            </a:r>
            <a:r>
              <a:rPr lang="en-US" sz="1600" dirty="0" err="1"/>
              <a:t>o‘tishi</a:t>
            </a:r>
            <a:r>
              <a:rPr lang="en-US" sz="1600" dirty="0"/>
              <a:t> </a:t>
            </a:r>
            <a:r>
              <a:rPr lang="en-US" sz="1600" dirty="0" err="1"/>
              <a:t>bilan</a:t>
            </a:r>
            <a:r>
              <a:rPr lang="en-US" sz="1600" dirty="0"/>
              <a:t> </a:t>
            </a:r>
            <a:r>
              <a:rPr lang="en-US" sz="1600" dirty="0" err="1"/>
              <a:t>takrorlanayotgan</a:t>
            </a:r>
            <a:r>
              <a:rPr lang="en-US" sz="1600" dirty="0"/>
              <a:t> </a:t>
            </a:r>
            <a:r>
              <a:rPr lang="en-US" sz="1600" dirty="0" err="1"/>
              <a:t>yoki</a:t>
            </a:r>
            <a:r>
              <a:rPr lang="en-US" sz="1600" dirty="0"/>
              <a:t> </a:t>
            </a:r>
            <a:r>
              <a:rPr lang="en-US" sz="1600" dirty="0" err="1"/>
              <a:t>yo‘nalayotgan</a:t>
            </a:r>
            <a:r>
              <a:rPr lang="en-US" sz="1600" dirty="0"/>
              <a:t> </a:t>
            </a:r>
            <a:r>
              <a:rPr lang="en-US" sz="1600" dirty="0" err="1"/>
              <a:t>o‘zgarishlarni</a:t>
            </a:r>
            <a:r>
              <a:rPr lang="en-US" sz="1600" dirty="0"/>
              <a:t> </a:t>
            </a:r>
            <a:r>
              <a:rPr lang="en-US" sz="1600" dirty="0" err="1"/>
              <a:t>aniqlash</a:t>
            </a:r>
            <a:r>
              <a:rPr lang="en-US" sz="1600" dirty="0"/>
              <a:t> </a:t>
            </a:r>
            <a:r>
              <a:rPr lang="en-US" sz="1600" dirty="0" err="1"/>
              <a:t>jarayonidir</a:t>
            </a:r>
            <a:r>
              <a:rPr lang="en-US" sz="1600" dirty="0"/>
              <a:t>. </a:t>
            </a:r>
            <a:r>
              <a:rPr lang="en-US" sz="1600" dirty="0" err="1"/>
              <a:t>Ular</a:t>
            </a:r>
            <a:r>
              <a:rPr lang="en-US" sz="1600" dirty="0"/>
              <a:t> </a:t>
            </a:r>
            <a:r>
              <a:rPr lang="en-US" sz="1600" dirty="0" err="1"/>
              <a:t>quyidagi</a:t>
            </a:r>
            <a:r>
              <a:rPr lang="en-US" sz="1600" dirty="0"/>
              <a:t> </a:t>
            </a:r>
            <a:r>
              <a:rPr lang="en-US" sz="1600" dirty="0" err="1"/>
              <a:t>sohalarga</a:t>
            </a:r>
            <a:r>
              <a:rPr lang="en-US" sz="1600" dirty="0"/>
              <a:t> </a:t>
            </a:r>
            <a:r>
              <a:rPr lang="en-US" sz="1600" dirty="0" err="1"/>
              <a:t>taalluqli</a:t>
            </a:r>
            <a:r>
              <a:rPr lang="en-US" sz="1600" dirty="0"/>
              <a:t> </a:t>
            </a:r>
            <a:r>
              <a:rPr lang="en-US" sz="1600" dirty="0" err="1"/>
              <a:t>bo‘lishi</a:t>
            </a:r>
            <a:r>
              <a:rPr lang="en-US" sz="1600" dirty="0"/>
              <a:t> </a:t>
            </a:r>
            <a:r>
              <a:rPr lang="en-US" sz="1600" dirty="0" err="1"/>
              <a:t>mumkin</a:t>
            </a:r>
            <a:r>
              <a:rPr lang="en-US" sz="1600" dirty="0"/>
              <a:t>:</a:t>
            </a:r>
          </a:p>
          <a:p>
            <a:pPr>
              <a:buFont typeface="Wingdings" panose="05000000000000000000" pitchFamily="2" charset="2"/>
              <a:buChar char="Ø"/>
            </a:pPr>
            <a:r>
              <a:rPr lang="en-US" sz="1600" dirty="0" err="1"/>
              <a:t>Mijoz</a:t>
            </a:r>
            <a:r>
              <a:rPr lang="en-US" sz="1600" dirty="0"/>
              <a:t> </a:t>
            </a:r>
            <a:r>
              <a:rPr lang="en-US" sz="1600" dirty="0" err="1"/>
              <a:t>xatti-harakatlari</a:t>
            </a:r>
            <a:r>
              <a:rPr lang="en-US" sz="1600" dirty="0"/>
              <a:t> (</a:t>
            </a:r>
            <a:r>
              <a:rPr lang="en-US" sz="1600" dirty="0" err="1"/>
              <a:t>masalan</a:t>
            </a:r>
            <a:r>
              <a:rPr lang="en-US" sz="1600" dirty="0"/>
              <a:t>, </a:t>
            </a:r>
            <a:r>
              <a:rPr lang="en-US" sz="1600" dirty="0" err="1"/>
              <a:t>sog‘lom</a:t>
            </a:r>
            <a:r>
              <a:rPr lang="en-US" sz="1600" dirty="0"/>
              <a:t> </a:t>
            </a:r>
            <a:r>
              <a:rPr lang="en-US" sz="1600" dirty="0" err="1"/>
              <a:t>ovqatga</a:t>
            </a:r>
            <a:r>
              <a:rPr lang="en-US" sz="1600" dirty="0"/>
              <a:t> </a:t>
            </a:r>
            <a:r>
              <a:rPr lang="en-US" sz="1600" dirty="0" err="1"/>
              <a:t>qiziqish</a:t>
            </a:r>
            <a:r>
              <a:rPr lang="en-US" sz="1600" dirty="0"/>
              <a:t> </a:t>
            </a:r>
            <a:r>
              <a:rPr lang="en-US" sz="1600" dirty="0" err="1"/>
              <a:t>oshishi</a:t>
            </a:r>
            <a:r>
              <a:rPr lang="en-US" sz="1600" dirty="0"/>
              <a:t>)</a:t>
            </a:r>
          </a:p>
          <a:p>
            <a:pPr>
              <a:buFont typeface="Wingdings" panose="05000000000000000000" pitchFamily="2" charset="2"/>
              <a:buChar char="Ø"/>
            </a:pPr>
            <a:r>
              <a:rPr lang="en-US" sz="1600" dirty="0" err="1"/>
              <a:t>Texnologik</a:t>
            </a:r>
            <a:r>
              <a:rPr lang="en-US" sz="1600" dirty="0"/>
              <a:t> </a:t>
            </a:r>
            <a:r>
              <a:rPr lang="en-US" sz="1600" dirty="0" err="1"/>
              <a:t>rivojlanish</a:t>
            </a:r>
            <a:r>
              <a:rPr lang="en-US" sz="1600" dirty="0"/>
              <a:t> (</a:t>
            </a:r>
            <a:r>
              <a:rPr lang="en-US" sz="1600" dirty="0" err="1"/>
              <a:t>masalan</a:t>
            </a:r>
            <a:r>
              <a:rPr lang="en-US" sz="1600" dirty="0"/>
              <a:t>, AI </a:t>
            </a:r>
            <a:r>
              <a:rPr lang="en-US" sz="1600" dirty="0" err="1"/>
              <a:t>ishlatilishining</a:t>
            </a:r>
            <a:r>
              <a:rPr lang="en-US" sz="1600" dirty="0"/>
              <a:t> </a:t>
            </a:r>
            <a:r>
              <a:rPr lang="en-US" sz="1600" dirty="0" err="1"/>
              <a:t>ko‘payishi</a:t>
            </a:r>
            <a:r>
              <a:rPr lang="en-US" sz="1600" dirty="0"/>
              <a:t>)</a:t>
            </a:r>
          </a:p>
          <a:p>
            <a:pPr>
              <a:buFont typeface="Wingdings" panose="05000000000000000000" pitchFamily="2" charset="2"/>
              <a:buChar char="Ø"/>
            </a:pPr>
            <a:r>
              <a:rPr lang="en-US" sz="1600" dirty="0" err="1"/>
              <a:t>Bozor</a:t>
            </a:r>
            <a:r>
              <a:rPr lang="en-US" sz="1600" dirty="0"/>
              <a:t> </a:t>
            </a:r>
            <a:r>
              <a:rPr lang="en-US" sz="1600" dirty="0" err="1"/>
              <a:t>narxlari</a:t>
            </a:r>
            <a:r>
              <a:rPr lang="en-US" sz="1600" dirty="0"/>
              <a:t> (</a:t>
            </a:r>
            <a:r>
              <a:rPr lang="en-US" sz="1600" dirty="0" err="1"/>
              <a:t>masalan</a:t>
            </a:r>
            <a:r>
              <a:rPr lang="en-US" sz="1600" dirty="0"/>
              <a:t>, </a:t>
            </a:r>
            <a:r>
              <a:rPr lang="en-US" sz="1600" dirty="0" err="1"/>
              <a:t>neft</a:t>
            </a:r>
            <a:r>
              <a:rPr lang="en-US" sz="1600" dirty="0"/>
              <a:t> </a:t>
            </a:r>
            <a:r>
              <a:rPr lang="en-US" sz="1600" dirty="0" err="1"/>
              <a:t>narxlaridagi</a:t>
            </a:r>
            <a:r>
              <a:rPr lang="en-US" sz="1600" dirty="0"/>
              <a:t> </a:t>
            </a:r>
            <a:r>
              <a:rPr lang="en-US" sz="1600" dirty="0" err="1"/>
              <a:t>o‘zgarishlar</a:t>
            </a:r>
            <a:r>
              <a:rPr lang="en-US" sz="1600" dirty="0"/>
              <a:t>)</a:t>
            </a:r>
          </a:p>
          <a:p>
            <a:pPr>
              <a:buFont typeface="Wingdings" panose="05000000000000000000" pitchFamily="2" charset="2"/>
              <a:buChar char="Ø"/>
            </a:pPr>
            <a:r>
              <a:rPr lang="en-US" sz="1600" dirty="0" err="1"/>
              <a:t>Ijtimoiy</a:t>
            </a:r>
            <a:r>
              <a:rPr lang="en-US" sz="1600" dirty="0"/>
              <a:t> </a:t>
            </a:r>
            <a:r>
              <a:rPr lang="en-US" sz="1600" dirty="0" err="1"/>
              <a:t>tendensiyalar</a:t>
            </a:r>
            <a:r>
              <a:rPr lang="en-US" sz="1600" dirty="0"/>
              <a:t> (</a:t>
            </a:r>
            <a:r>
              <a:rPr lang="en-US" sz="1600" dirty="0" err="1"/>
              <a:t>masalan</a:t>
            </a:r>
            <a:r>
              <a:rPr lang="en-US" sz="1600" dirty="0"/>
              <a:t>, </a:t>
            </a:r>
            <a:r>
              <a:rPr lang="en-US" sz="1600" dirty="0" err="1"/>
              <a:t>masofaviy</a:t>
            </a:r>
            <a:r>
              <a:rPr lang="en-US" sz="1600" dirty="0"/>
              <a:t> </a:t>
            </a:r>
            <a:r>
              <a:rPr lang="en-US" sz="1600" dirty="0" err="1"/>
              <a:t>ishlash</a:t>
            </a:r>
            <a:r>
              <a:rPr lang="en-US" sz="1600" dirty="0"/>
              <a:t>)</a:t>
            </a:r>
          </a:p>
        </p:txBody>
      </p:sp>
      <p:pic>
        <p:nvPicPr>
          <p:cNvPr id="73" name="Google Shape;160;p31"/>
          <p:cNvPicPr/>
          <p:nvPr/>
        </p:nvPicPr>
        <p:blipFill>
          <a:blip r:embed="rId2"/>
          <a:srcRect l="38342" r="11029"/>
          <a:stretch/>
        </p:blipFill>
        <p:spPr>
          <a:xfrm>
            <a:off x="5230800" y="0"/>
            <a:ext cx="3912840" cy="515088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9F4F4143-0712-4462-B2D3-BA50D4CDE226}"/>
              </a:ext>
            </a:extLst>
          </p:cNvPr>
          <p:cNvGraphicFramePr>
            <a:graphicFrameLocks noGrp="1"/>
          </p:cNvGraphicFramePr>
          <p:nvPr>
            <p:extLst>
              <p:ext uri="{D42A27DB-BD31-4B8C-83A1-F6EECF244321}">
                <p14:modId xmlns:p14="http://schemas.microsoft.com/office/powerpoint/2010/main" val="438472229"/>
              </p:ext>
            </p:extLst>
          </p:nvPr>
        </p:nvGraphicFramePr>
        <p:xfrm>
          <a:off x="288000" y="152559"/>
          <a:ext cx="8856000" cy="4876800"/>
        </p:xfrm>
        <a:graphic>
          <a:graphicData uri="http://schemas.openxmlformats.org/drawingml/2006/table">
            <a:tbl>
              <a:tblPr>
                <a:tableStyleId>{D7AC3CCA-C797-4891-BE02-D94E43425B78}</a:tableStyleId>
              </a:tblPr>
              <a:tblGrid>
                <a:gridCol w="4428000">
                  <a:extLst>
                    <a:ext uri="{9D8B030D-6E8A-4147-A177-3AD203B41FA5}">
                      <a16:colId xmlns:a16="http://schemas.microsoft.com/office/drawing/2014/main" val="3572774450"/>
                    </a:ext>
                  </a:extLst>
                </a:gridCol>
                <a:gridCol w="4428000">
                  <a:extLst>
                    <a:ext uri="{9D8B030D-6E8A-4147-A177-3AD203B41FA5}">
                      <a16:colId xmlns:a16="http://schemas.microsoft.com/office/drawing/2014/main" val="1329751039"/>
                    </a:ext>
                  </a:extLst>
                </a:gridCol>
              </a:tblGrid>
              <a:tr h="365760">
                <a:tc>
                  <a:txBody>
                    <a:bodyPr/>
                    <a:lstStyle/>
                    <a:p>
                      <a:r>
                        <a:rPr lang="en-US" sz="2000" b="1" dirty="0"/>
                        <a:t>Trend </a:t>
                      </a:r>
                      <a:r>
                        <a:rPr lang="en-US" sz="2000" b="1" dirty="0" err="1"/>
                        <a:t>turi</a:t>
                      </a:r>
                      <a:endParaRPr lang="en-US" sz="2000" b="1" dirty="0"/>
                    </a:p>
                  </a:txBody>
                  <a:tcPr anchor="ctr"/>
                </a:tc>
                <a:tc>
                  <a:txBody>
                    <a:bodyPr/>
                    <a:lstStyle/>
                    <a:p>
                      <a:r>
                        <a:rPr lang="en-US" sz="1800" b="1" dirty="0" err="1"/>
                        <a:t>Qaror</a:t>
                      </a:r>
                      <a:r>
                        <a:rPr lang="en-US" sz="1800" b="1" dirty="0"/>
                        <a:t> </a:t>
                      </a:r>
                      <a:r>
                        <a:rPr lang="en-US" sz="1800" b="1" dirty="0" err="1"/>
                        <a:t>turi</a:t>
                      </a:r>
                      <a:endParaRPr lang="en-US" sz="1800" b="1" dirty="0"/>
                    </a:p>
                  </a:txBody>
                  <a:tcPr anchor="ctr"/>
                </a:tc>
                <a:extLst>
                  <a:ext uri="{0D108BD9-81ED-4DB2-BD59-A6C34878D82A}">
                    <a16:rowId xmlns:a16="http://schemas.microsoft.com/office/drawing/2014/main" val="21543021"/>
                  </a:ext>
                </a:extLst>
              </a:tr>
              <a:tr h="1188720">
                <a:tc>
                  <a:txBody>
                    <a:bodyPr/>
                    <a:lstStyle/>
                    <a:p>
                      <a:r>
                        <a:rPr lang="en-US" sz="1800" dirty="0" err="1"/>
                        <a:t>Sog‘lom</a:t>
                      </a:r>
                      <a:r>
                        <a:rPr lang="en-US" sz="1800" dirty="0"/>
                        <a:t> </a:t>
                      </a:r>
                      <a:r>
                        <a:rPr lang="en-US" sz="1800" dirty="0" err="1"/>
                        <a:t>ovqatga</a:t>
                      </a:r>
                      <a:r>
                        <a:rPr lang="en-US" sz="1800" dirty="0"/>
                        <a:t> talab </a:t>
                      </a:r>
                      <a:r>
                        <a:rPr lang="en-US" sz="1800" dirty="0" err="1"/>
                        <a:t>ortmoqda</a:t>
                      </a:r>
                      <a:endParaRPr lang="en-US" sz="1800" dirty="0"/>
                    </a:p>
                  </a:txBody>
                  <a:tcPr anchor="ctr"/>
                </a:tc>
                <a:tc>
                  <a:txBody>
                    <a:bodyPr/>
                    <a:lstStyle/>
                    <a:p>
                      <a:r>
                        <a:rPr lang="en-US" sz="1800"/>
                        <a:t>Mahsulot qatoriga organik mahsulot qo‘shish</a:t>
                      </a:r>
                    </a:p>
                  </a:txBody>
                  <a:tcPr anchor="ctr"/>
                </a:tc>
                <a:extLst>
                  <a:ext uri="{0D108BD9-81ED-4DB2-BD59-A6C34878D82A}">
                    <a16:rowId xmlns:a16="http://schemas.microsoft.com/office/drawing/2014/main" val="173332586"/>
                  </a:ext>
                </a:extLst>
              </a:tr>
              <a:tr h="914400">
                <a:tc>
                  <a:txBody>
                    <a:bodyPr/>
                    <a:lstStyle/>
                    <a:p>
                      <a:r>
                        <a:rPr lang="en-US" sz="1800" dirty="0"/>
                        <a:t>Mobil </a:t>
                      </a:r>
                      <a:r>
                        <a:rPr lang="en-US" sz="1800" dirty="0" err="1"/>
                        <a:t>ilovadan</a:t>
                      </a:r>
                      <a:r>
                        <a:rPr lang="en-US" sz="1800" dirty="0"/>
                        <a:t> </a:t>
                      </a:r>
                      <a:r>
                        <a:rPr lang="en-US" sz="1800" dirty="0" err="1"/>
                        <a:t>foydalanish</a:t>
                      </a:r>
                      <a:r>
                        <a:rPr lang="en-US" sz="1800" dirty="0"/>
                        <a:t> </a:t>
                      </a:r>
                      <a:r>
                        <a:rPr lang="en-US" sz="1800" dirty="0" err="1"/>
                        <a:t>oshmoqda</a:t>
                      </a:r>
                      <a:endParaRPr lang="en-US" sz="1800" dirty="0"/>
                    </a:p>
                  </a:txBody>
                  <a:tcPr anchor="ctr"/>
                </a:tc>
                <a:tc>
                  <a:txBody>
                    <a:bodyPr/>
                    <a:lstStyle/>
                    <a:p>
                      <a:r>
                        <a:rPr lang="en-US" sz="1800"/>
                        <a:t>Vebsayt emas, ilova rivojiga sarmoya kiritish</a:t>
                      </a:r>
                    </a:p>
                  </a:txBody>
                  <a:tcPr anchor="ctr"/>
                </a:tc>
                <a:extLst>
                  <a:ext uri="{0D108BD9-81ED-4DB2-BD59-A6C34878D82A}">
                    <a16:rowId xmlns:a16="http://schemas.microsoft.com/office/drawing/2014/main" val="587855642"/>
                  </a:ext>
                </a:extLst>
              </a:tr>
              <a:tr h="1188720">
                <a:tc>
                  <a:txBody>
                    <a:bodyPr/>
                    <a:lstStyle/>
                    <a:p>
                      <a:r>
                        <a:rPr lang="en-US" sz="1800"/>
                        <a:t>Foydalanuvchilar video kontentni ko‘proq afzal ko‘rmoqda</a:t>
                      </a:r>
                    </a:p>
                  </a:txBody>
                  <a:tcPr anchor="ctr"/>
                </a:tc>
                <a:tc>
                  <a:txBody>
                    <a:bodyPr/>
                    <a:lstStyle/>
                    <a:p>
                      <a:r>
                        <a:rPr lang="en-US" sz="1800"/>
                        <a:t>Blog o‘rniga video seriyalar yaratish</a:t>
                      </a:r>
                    </a:p>
                  </a:txBody>
                  <a:tcPr anchor="ctr"/>
                </a:tc>
                <a:extLst>
                  <a:ext uri="{0D108BD9-81ED-4DB2-BD59-A6C34878D82A}">
                    <a16:rowId xmlns:a16="http://schemas.microsoft.com/office/drawing/2014/main" val="3473060430"/>
                  </a:ext>
                </a:extLst>
              </a:tr>
              <a:tr h="1188720">
                <a:tc>
                  <a:txBody>
                    <a:bodyPr/>
                    <a:lstStyle/>
                    <a:p>
                      <a:r>
                        <a:rPr lang="en-US" sz="1800"/>
                        <a:t>Raqobatchi arzonlashtirishga o‘tayapti</a:t>
                      </a:r>
                    </a:p>
                  </a:txBody>
                  <a:tcPr anchor="ctr"/>
                </a:tc>
                <a:tc>
                  <a:txBody>
                    <a:bodyPr/>
                    <a:lstStyle/>
                    <a:p>
                      <a:r>
                        <a:rPr lang="en-US" sz="1800" dirty="0" err="1"/>
                        <a:t>Narx</a:t>
                      </a:r>
                      <a:r>
                        <a:rPr lang="en-US" sz="1800" dirty="0"/>
                        <a:t> </a:t>
                      </a:r>
                      <a:r>
                        <a:rPr lang="en-US" sz="1800" dirty="0" err="1"/>
                        <a:t>strategiyasini</a:t>
                      </a:r>
                      <a:r>
                        <a:rPr lang="en-US" sz="1800" dirty="0"/>
                        <a:t> </a:t>
                      </a:r>
                      <a:r>
                        <a:rPr lang="en-US" sz="1800" dirty="0" err="1"/>
                        <a:t>qayta</a:t>
                      </a:r>
                      <a:r>
                        <a:rPr lang="en-US" sz="1800" dirty="0"/>
                        <a:t> </a:t>
                      </a:r>
                      <a:r>
                        <a:rPr lang="en-US" sz="1800" dirty="0" err="1"/>
                        <a:t>ko‘rib</a:t>
                      </a:r>
                      <a:r>
                        <a:rPr lang="en-US" sz="1800" dirty="0"/>
                        <a:t> </a:t>
                      </a:r>
                      <a:r>
                        <a:rPr lang="en-US" sz="1800" dirty="0" err="1"/>
                        <a:t>chiqish</a:t>
                      </a:r>
                      <a:endParaRPr lang="en-US" sz="1800" dirty="0"/>
                    </a:p>
                  </a:txBody>
                  <a:tcPr anchor="ctr"/>
                </a:tc>
                <a:extLst>
                  <a:ext uri="{0D108BD9-81ED-4DB2-BD59-A6C34878D82A}">
                    <a16:rowId xmlns:a16="http://schemas.microsoft.com/office/drawing/2014/main" val="3833188505"/>
                  </a:ext>
                </a:extLst>
              </a:tr>
            </a:tbl>
          </a:graphicData>
        </a:graphic>
      </p:graphicFrame>
    </p:spTree>
    <p:extLst>
      <p:ext uri="{BB962C8B-B14F-4D97-AF65-F5344CB8AC3E}">
        <p14:creationId xmlns:p14="http://schemas.microsoft.com/office/powerpoint/2010/main" val="1484347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Google Shape;157;p31"/>
          <p:cNvCxnSpPr/>
          <p:nvPr/>
        </p:nvCxnSpPr>
        <p:spPr>
          <a:xfrm>
            <a:off x="-5040" y="1311120"/>
            <a:ext cx="9182160" cy="360"/>
          </a:xfrm>
          <a:prstGeom prst="straightConnector1">
            <a:avLst/>
          </a:prstGeom>
          <a:ln w="9525">
            <a:solidFill>
              <a:srgbClr val="2B3D2D"/>
            </a:solidFill>
            <a:round/>
          </a:ln>
        </p:spPr>
      </p:cxnSp>
      <p:sp>
        <p:nvSpPr>
          <p:cNvPr id="110" name="PlaceHolder 1"/>
          <p:cNvSpPr>
            <a:spLocks noGrp="1"/>
          </p:cNvSpPr>
          <p:nvPr>
            <p:ph type="title"/>
          </p:nvPr>
        </p:nvSpPr>
        <p:spPr>
          <a:xfrm>
            <a:off x="324000" y="209520"/>
            <a:ext cx="4667040" cy="1028520"/>
          </a:xfrm>
          <a:prstGeom prst="rect">
            <a:avLst/>
          </a:prstGeom>
          <a:noFill/>
          <a:ln w="0">
            <a:noFill/>
          </a:ln>
        </p:spPr>
        <p:txBody>
          <a:bodyPr lIns="91440" tIns="91440" rIns="91440" bIns="91440" anchor="b">
            <a:noAutofit/>
          </a:bodyPr>
          <a:lstStyle/>
          <a:p>
            <a:pPr>
              <a:lnSpc>
                <a:spcPct val="100000"/>
              </a:lnSpc>
              <a:tabLst>
                <a:tab pos="0" algn="l"/>
              </a:tabLst>
            </a:pPr>
            <a:r>
              <a:rPr lang="en-US" sz="2800" b="0" strike="noStrike" spc="-1" dirty="0">
                <a:solidFill>
                  <a:schemeClr val="dk1"/>
                </a:solidFill>
                <a:ea typeface="Manrope"/>
              </a:rPr>
              <a:t>Homework: </a:t>
            </a:r>
            <a:r>
              <a:rPr lang="en-US" sz="2800" dirty="0" err="1"/>
              <a:t>Trendlarni</a:t>
            </a:r>
            <a:r>
              <a:rPr lang="en-US" sz="2800" dirty="0"/>
              <a:t> </a:t>
            </a:r>
            <a:r>
              <a:rPr lang="en-US" sz="2800" dirty="0" err="1"/>
              <a:t>tahlil</a:t>
            </a:r>
            <a:r>
              <a:rPr lang="en-US" sz="2800" dirty="0"/>
              <a:t> </a:t>
            </a:r>
            <a:r>
              <a:rPr lang="en-US" sz="2800" dirty="0" err="1"/>
              <a:t>qilish</a:t>
            </a:r>
            <a:r>
              <a:rPr lang="en-US" sz="2800" dirty="0"/>
              <a:t> </a:t>
            </a:r>
            <a:r>
              <a:rPr lang="en-US" sz="2800" dirty="0" err="1"/>
              <a:t>va</a:t>
            </a:r>
            <a:r>
              <a:rPr lang="en-US" sz="2800" dirty="0"/>
              <a:t> </a:t>
            </a:r>
            <a:r>
              <a:rPr lang="en-US" sz="2800" dirty="0" err="1"/>
              <a:t>prognozlash</a:t>
            </a:r>
            <a:endParaRPr lang="fr-FR" sz="2800" b="0" strike="noStrike" spc="-1" dirty="0">
              <a:solidFill>
                <a:schemeClr val="dk1"/>
              </a:solidFill>
            </a:endParaRPr>
          </a:p>
        </p:txBody>
      </p:sp>
      <p:sp>
        <p:nvSpPr>
          <p:cNvPr id="111" name="PlaceHolder 2"/>
          <p:cNvSpPr>
            <a:spLocks noGrp="1"/>
          </p:cNvSpPr>
          <p:nvPr>
            <p:ph type="subTitle"/>
          </p:nvPr>
        </p:nvSpPr>
        <p:spPr>
          <a:xfrm>
            <a:off x="324000" y="1428840"/>
            <a:ext cx="4676400" cy="3009600"/>
          </a:xfrm>
          <a:prstGeom prst="rect">
            <a:avLst/>
          </a:prstGeom>
          <a:noFill/>
          <a:ln w="0">
            <a:noFill/>
          </a:ln>
        </p:spPr>
        <p:txBody>
          <a:bodyPr lIns="91440" tIns="91440" rIns="91440" bIns="91440" anchor="t">
            <a:noAutofit/>
          </a:bodyPr>
          <a:lstStyle/>
          <a:p>
            <a:pPr>
              <a:buFont typeface="Wingdings" panose="05000000000000000000" pitchFamily="2" charset="2"/>
              <a:buChar char="v"/>
            </a:pPr>
            <a:r>
              <a:rPr lang="en-US" sz="1600" dirty="0" err="1">
                <a:latin typeface="+mj-lt"/>
              </a:rPr>
              <a:t>Talabalar</a:t>
            </a:r>
            <a:r>
              <a:rPr lang="en-US" sz="1600" dirty="0">
                <a:latin typeface="+mj-lt"/>
              </a:rPr>
              <a:t> </a:t>
            </a:r>
            <a:r>
              <a:rPr lang="en-US" sz="1600" dirty="0" err="1">
                <a:latin typeface="+mj-lt"/>
              </a:rPr>
              <a:t>so‘nggi</a:t>
            </a:r>
            <a:r>
              <a:rPr lang="en-US" sz="1600" dirty="0">
                <a:latin typeface="+mj-lt"/>
              </a:rPr>
              <a:t> 12 oy </a:t>
            </a:r>
            <a:r>
              <a:rPr lang="en-US" sz="1600" dirty="0" err="1">
                <a:latin typeface="+mj-lt"/>
              </a:rPr>
              <a:t>davomida</a:t>
            </a:r>
            <a:r>
              <a:rPr lang="en-US" sz="1600" dirty="0">
                <a:latin typeface="+mj-lt"/>
              </a:rPr>
              <a:t> </a:t>
            </a:r>
            <a:r>
              <a:rPr lang="en-US" sz="1600" dirty="0" err="1">
                <a:latin typeface="+mj-lt"/>
              </a:rPr>
              <a:t>mahsulot</a:t>
            </a:r>
            <a:r>
              <a:rPr lang="en-US" sz="1600" dirty="0">
                <a:latin typeface="+mj-lt"/>
              </a:rPr>
              <a:t> </a:t>
            </a:r>
            <a:r>
              <a:rPr lang="en-US" sz="1600" dirty="0" err="1">
                <a:latin typeface="+mj-lt"/>
              </a:rPr>
              <a:t>sotuvlari</a:t>
            </a:r>
            <a:r>
              <a:rPr lang="en-US" sz="1600" dirty="0">
                <a:latin typeface="+mj-lt"/>
              </a:rPr>
              <a:t> </a:t>
            </a:r>
            <a:r>
              <a:rPr lang="en-US" sz="1600" dirty="0" err="1">
                <a:latin typeface="+mj-lt"/>
              </a:rPr>
              <a:t>bo‘yicha</a:t>
            </a:r>
            <a:r>
              <a:rPr lang="en-US" sz="1600" dirty="0">
                <a:latin typeface="+mj-lt"/>
              </a:rPr>
              <a:t> </a:t>
            </a:r>
            <a:r>
              <a:rPr lang="en-US" sz="1600" dirty="0" err="1">
                <a:latin typeface="+mj-lt"/>
              </a:rPr>
              <a:t>vaqt</a:t>
            </a:r>
            <a:r>
              <a:rPr lang="en-US" sz="1600" dirty="0">
                <a:latin typeface="+mj-lt"/>
              </a:rPr>
              <a:t> </a:t>
            </a:r>
            <a:r>
              <a:rPr lang="en-US" sz="1600" dirty="0" err="1">
                <a:latin typeface="+mj-lt"/>
              </a:rPr>
              <a:t>ketma-ketligi</a:t>
            </a:r>
            <a:r>
              <a:rPr lang="en-US" sz="1600" dirty="0">
                <a:latin typeface="+mj-lt"/>
              </a:rPr>
              <a:t> </a:t>
            </a:r>
            <a:r>
              <a:rPr lang="en-US" sz="1600" dirty="0" err="1">
                <a:latin typeface="+mj-lt"/>
              </a:rPr>
              <a:t>ma'lumotlarini</a:t>
            </a:r>
            <a:r>
              <a:rPr lang="en-US" sz="1600" dirty="0">
                <a:latin typeface="+mj-lt"/>
              </a:rPr>
              <a:t> </a:t>
            </a:r>
            <a:r>
              <a:rPr lang="en-US" sz="1600" dirty="0" err="1">
                <a:latin typeface="+mj-lt"/>
              </a:rPr>
              <a:t>tahlil</a:t>
            </a:r>
            <a:r>
              <a:rPr lang="en-US" sz="1600" dirty="0">
                <a:latin typeface="+mj-lt"/>
              </a:rPr>
              <a:t> </a:t>
            </a:r>
            <a:r>
              <a:rPr lang="en-US" sz="1600" dirty="0" err="1">
                <a:latin typeface="+mj-lt"/>
              </a:rPr>
              <a:t>qilishlari</a:t>
            </a:r>
            <a:r>
              <a:rPr lang="en-US" sz="1600" dirty="0">
                <a:latin typeface="+mj-lt"/>
              </a:rPr>
              <a:t> </a:t>
            </a:r>
            <a:r>
              <a:rPr lang="en-US" sz="1600" dirty="0" err="1">
                <a:latin typeface="+mj-lt"/>
              </a:rPr>
              <a:t>kerak</a:t>
            </a:r>
            <a:r>
              <a:rPr lang="en-US" sz="1600" dirty="0">
                <a:latin typeface="+mj-lt"/>
              </a:rPr>
              <a:t>. </a:t>
            </a:r>
            <a:r>
              <a:rPr lang="en-US" sz="1600" dirty="0" err="1">
                <a:latin typeface="+mj-lt"/>
              </a:rPr>
              <a:t>Ushbu</a:t>
            </a:r>
            <a:r>
              <a:rPr lang="en-US" sz="1600" dirty="0">
                <a:latin typeface="+mj-lt"/>
              </a:rPr>
              <a:t> </a:t>
            </a:r>
            <a:r>
              <a:rPr lang="en-US" sz="1600" dirty="0" err="1">
                <a:latin typeface="+mj-lt"/>
              </a:rPr>
              <a:t>tahlil</a:t>
            </a:r>
            <a:r>
              <a:rPr lang="en-US" sz="1600" dirty="0">
                <a:latin typeface="+mj-lt"/>
              </a:rPr>
              <a:t> </a:t>
            </a:r>
            <a:r>
              <a:rPr lang="en-US" sz="1600" dirty="0" err="1">
                <a:latin typeface="+mj-lt"/>
              </a:rPr>
              <a:t>asosida</a:t>
            </a:r>
            <a:r>
              <a:rPr lang="en-US" sz="1600" dirty="0">
                <a:latin typeface="+mj-lt"/>
              </a:rPr>
              <a:t>:</a:t>
            </a:r>
          </a:p>
          <a:p>
            <a:pPr>
              <a:buFont typeface="Wingdings" panose="05000000000000000000" pitchFamily="2" charset="2"/>
              <a:buChar char="v"/>
            </a:pPr>
            <a:r>
              <a:rPr lang="en-US" sz="1600" dirty="0" err="1">
                <a:latin typeface="+mj-lt"/>
              </a:rPr>
              <a:t>Keyingi</a:t>
            </a:r>
            <a:r>
              <a:rPr lang="en-US" sz="1600" dirty="0">
                <a:latin typeface="+mj-lt"/>
              </a:rPr>
              <a:t> 3 </a:t>
            </a:r>
            <a:r>
              <a:rPr lang="en-US" sz="1600" dirty="0" err="1">
                <a:latin typeface="+mj-lt"/>
              </a:rPr>
              <a:t>oyda</a:t>
            </a:r>
            <a:r>
              <a:rPr lang="en-US" sz="1600" dirty="0">
                <a:latin typeface="+mj-lt"/>
              </a:rPr>
              <a:t> </a:t>
            </a:r>
            <a:r>
              <a:rPr lang="en-US" sz="1600" dirty="0" err="1">
                <a:latin typeface="+mj-lt"/>
              </a:rPr>
              <a:t>sotuvlar</a:t>
            </a:r>
            <a:r>
              <a:rPr lang="en-US" sz="1600" dirty="0">
                <a:latin typeface="+mj-lt"/>
              </a:rPr>
              <a:t> </a:t>
            </a:r>
            <a:r>
              <a:rPr lang="en-US" sz="1600" dirty="0" err="1">
                <a:latin typeface="+mj-lt"/>
              </a:rPr>
              <a:t>qanday</a:t>
            </a:r>
            <a:r>
              <a:rPr lang="en-US" sz="1600" dirty="0">
                <a:latin typeface="+mj-lt"/>
              </a:rPr>
              <a:t> </a:t>
            </a:r>
            <a:r>
              <a:rPr lang="en-US" sz="1600" dirty="0" err="1">
                <a:latin typeface="+mj-lt"/>
              </a:rPr>
              <a:t>bo‘lishini</a:t>
            </a:r>
            <a:r>
              <a:rPr lang="en-US" sz="1600" dirty="0">
                <a:latin typeface="+mj-lt"/>
              </a:rPr>
              <a:t> </a:t>
            </a:r>
            <a:r>
              <a:rPr lang="en-US" sz="1600" dirty="0" err="1">
                <a:latin typeface="+mj-lt"/>
              </a:rPr>
              <a:t>prognoz</a:t>
            </a:r>
            <a:r>
              <a:rPr lang="en-US" sz="1600" dirty="0">
                <a:latin typeface="+mj-lt"/>
              </a:rPr>
              <a:t> </a:t>
            </a:r>
            <a:r>
              <a:rPr lang="en-US" sz="1600" dirty="0" err="1">
                <a:latin typeface="+mj-lt"/>
              </a:rPr>
              <a:t>qilish</a:t>
            </a:r>
            <a:r>
              <a:rPr lang="en-US" sz="1600" dirty="0">
                <a:latin typeface="+mj-lt"/>
              </a:rPr>
              <a:t>.</a:t>
            </a:r>
          </a:p>
          <a:p>
            <a:pPr>
              <a:buFont typeface="Wingdings" panose="05000000000000000000" pitchFamily="2" charset="2"/>
              <a:buChar char="v"/>
            </a:pPr>
            <a:r>
              <a:rPr lang="en-US" sz="1600" dirty="0" err="1">
                <a:latin typeface="+mj-lt"/>
              </a:rPr>
              <a:t>Savdo</a:t>
            </a:r>
            <a:r>
              <a:rPr lang="en-US" sz="1600" dirty="0">
                <a:latin typeface="+mj-lt"/>
              </a:rPr>
              <a:t> </a:t>
            </a:r>
            <a:r>
              <a:rPr lang="en-US" sz="1600" dirty="0" err="1">
                <a:latin typeface="+mj-lt"/>
              </a:rPr>
              <a:t>hajmining</a:t>
            </a:r>
            <a:r>
              <a:rPr lang="en-US" sz="1600" dirty="0">
                <a:latin typeface="+mj-lt"/>
              </a:rPr>
              <a:t> </a:t>
            </a:r>
            <a:r>
              <a:rPr lang="en-US" sz="1600" dirty="0" err="1">
                <a:latin typeface="+mj-lt"/>
              </a:rPr>
              <a:t>o‘sish</a:t>
            </a:r>
            <a:r>
              <a:rPr lang="en-US" sz="1600" dirty="0">
                <a:latin typeface="+mj-lt"/>
              </a:rPr>
              <a:t> </a:t>
            </a:r>
            <a:r>
              <a:rPr lang="en-US" sz="1600" dirty="0" err="1">
                <a:latin typeface="+mj-lt"/>
              </a:rPr>
              <a:t>yoki</a:t>
            </a:r>
            <a:r>
              <a:rPr lang="en-US" sz="1600" dirty="0">
                <a:latin typeface="+mj-lt"/>
              </a:rPr>
              <a:t> </a:t>
            </a:r>
            <a:r>
              <a:rPr lang="en-US" sz="1600" dirty="0" err="1">
                <a:latin typeface="+mj-lt"/>
              </a:rPr>
              <a:t>kamayishiga</a:t>
            </a:r>
            <a:r>
              <a:rPr lang="en-US" sz="1600" dirty="0">
                <a:latin typeface="+mj-lt"/>
              </a:rPr>
              <a:t> </a:t>
            </a:r>
            <a:r>
              <a:rPr lang="en-US" sz="1600" dirty="0" err="1">
                <a:latin typeface="+mj-lt"/>
              </a:rPr>
              <a:t>olib</a:t>
            </a:r>
            <a:r>
              <a:rPr lang="en-US" sz="1600" dirty="0">
                <a:latin typeface="+mj-lt"/>
              </a:rPr>
              <a:t> </a:t>
            </a:r>
            <a:r>
              <a:rPr lang="en-US" sz="1600" dirty="0" err="1">
                <a:latin typeface="+mj-lt"/>
              </a:rPr>
              <a:t>kelishi</a:t>
            </a:r>
            <a:r>
              <a:rPr lang="en-US" sz="1600" dirty="0">
                <a:latin typeface="+mj-lt"/>
              </a:rPr>
              <a:t> </a:t>
            </a:r>
            <a:r>
              <a:rPr lang="en-US" sz="1600" dirty="0" err="1">
                <a:latin typeface="+mj-lt"/>
              </a:rPr>
              <a:t>mumkin</a:t>
            </a:r>
            <a:r>
              <a:rPr lang="en-US" sz="1600" dirty="0">
                <a:latin typeface="+mj-lt"/>
              </a:rPr>
              <a:t> </a:t>
            </a:r>
            <a:r>
              <a:rPr lang="en-US" sz="1600" dirty="0" err="1">
                <a:latin typeface="+mj-lt"/>
              </a:rPr>
              <a:t>bo‘lgan</a:t>
            </a:r>
            <a:r>
              <a:rPr lang="en-US" sz="1600" dirty="0">
                <a:latin typeface="+mj-lt"/>
              </a:rPr>
              <a:t> </a:t>
            </a:r>
            <a:r>
              <a:rPr lang="en-US" sz="1600" dirty="0" err="1">
                <a:latin typeface="+mj-lt"/>
              </a:rPr>
              <a:t>omillarni</a:t>
            </a:r>
            <a:r>
              <a:rPr lang="en-US" sz="1600" dirty="0">
                <a:latin typeface="+mj-lt"/>
              </a:rPr>
              <a:t> </a:t>
            </a:r>
            <a:r>
              <a:rPr lang="en-US" sz="1600" dirty="0" err="1">
                <a:latin typeface="+mj-lt"/>
              </a:rPr>
              <a:t>aniqlash</a:t>
            </a:r>
            <a:r>
              <a:rPr lang="en-US" sz="1600" dirty="0">
                <a:latin typeface="+mj-lt"/>
              </a:rPr>
              <a:t>.</a:t>
            </a:r>
          </a:p>
          <a:p>
            <a:pPr>
              <a:buFont typeface="Wingdings" panose="05000000000000000000" pitchFamily="2" charset="2"/>
              <a:buChar char="v"/>
            </a:pPr>
            <a:r>
              <a:rPr lang="en-US" sz="1600" dirty="0" err="1">
                <a:latin typeface="+mj-lt"/>
              </a:rPr>
              <a:t>Sotuvlar</a:t>
            </a:r>
            <a:r>
              <a:rPr lang="en-US" sz="1600" dirty="0">
                <a:latin typeface="+mj-lt"/>
              </a:rPr>
              <a:t> </a:t>
            </a:r>
            <a:r>
              <a:rPr lang="en-US" sz="1600" dirty="0" err="1">
                <a:latin typeface="+mj-lt"/>
              </a:rPr>
              <a:t>o‘sishini</a:t>
            </a:r>
            <a:r>
              <a:rPr lang="en-US" sz="1600" dirty="0">
                <a:latin typeface="+mj-lt"/>
              </a:rPr>
              <a:t> </a:t>
            </a:r>
            <a:r>
              <a:rPr lang="en-US" sz="1600" dirty="0" err="1">
                <a:latin typeface="+mj-lt"/>
              </a:rPr>
              <a:t>qanday</a:t>
            </a:r>
            <a:r>
              <a:rPr lang="en-US" sz="1600" dirty="0">
                <a:latin typeface="+mj-lt"/>
              </a:rPr>
              <a:t> </a:t>
            </a:r>
            <a:r>
              <a:rPr lang="en-US" sz="1600" dirty="0" err="1">
                <a:latin typeface="+mj-lt"/>
              </a:rPr>
              <a:t>oshirish</a:t>
            </a:r>
            <a:r>
              <a:rPr lang="en-US" sz="1600" dirty="0">
                <a:latin typeface="+mj-lt"/>
              </a:rPr>
              <a:t> </a:t>
            </a:r>
            <a:r>
              <a:rPr lang="en-US" sz="1600" dirty="0" err="1">
                <a:latin typeface="+mj-lt"/>
              </a:rPr>
              <a:t>bo‘yicha</a:t>
            </a:r>
            <a:r>
              <a:rPr lang="en-US" sz="1600" dirty="0">
                <a:latin typeface="+mj-lt"/>
              </a:rPr>
              <a:t> </a:t>
            </a:r>
            <a:r>
              <a:rPr lang="en-US" sz="1600" dirty="0" err="1">
                <a:latin typeface="+mj-lt"/>
              </a:rPr>
              <a:t>tavsiyalar</a:t>
            </a:r>
            <a:r>
              <a:rPr lang="en-US" sz="1600" dirty="0">
                <a:latin typeface="+mj-lt"/>
              </a:rPr>
              <a:t> </a:t>
            </a:r>
            <a:r>
              <a:rPr lang="en-US" sz="1600" dirty="0" err="1">
                <a:latin typeface="+mj-lt"/>
              </a:rPr>
              <a:t>berish</a:t>
            </a:r>
            <a:r>
              <a:rPr lang="en-US" sz="1600" dirty="0">
                <a:latin typeface="+mj-lt"/>
              </a:rPr>
              <a:t>.</a:t>
            </a:r>
          </a:p>
          <a:p>
            <a:pPr marL="514350" indent="-285750" algn="ctr">
              <a:buFont typeface="Wingdings" panose="05000000000000000000" pitchFamily="2" charset="2"/>
              <a:buChar char="v"/>
            </a:pPr>
            <a:r>
              <a:rPr lang="en-US" sz="2400" b="1" strike="noStrike" spc="-1" dirty="0">
                <a:solidFill>
                  <a:schemeClr val="dk1"/>
                </a:solidFill>
                <a:latin typeface="+mj-lt"/>
                <a:ea typeface="Open Sans"/>
              </a:rPr>
              <a:t>(Excel) da </a:t>
            </a:r>
            <a:r>
              <a:rPr lang="en-US" sz="2400" b="1" strike="noStrike" spc="-1" dirty="0" err="1">
                <a:solidFill>
                  <a:schemeClr val="dk1"/>
                </a:solidFill>
                <a:latin typeface="+mj-lt"/>
                <a:ea typeface="Open Sans"/>
              </a:rPr>
              <a:t>topshirish</a:t>
            </a:r>
            <a:endParaRPr lang="en-US" sz="2400" b="1" strike="noStrike" spc="-1" dirty="0">
              <a:solidFill>
                <a:schemeClr val="dk1"/>
              </a:solidFill>
              <a:latin typeface="+mj-lt"/>
              <a:ea typeface="Open Sans"/>
            </a:endParaRPr>
          </a:p>
        </p:txBody>
      </p:sp>
      <p:pic>
        <p:nvPicPr>
          <p:cNvPr id="112" name="Google Shape;160;p31"/>
          <p:cNvPicPr/>
          <p:nvPr/>
        </p:nvPicPr>
        <p:blipFill>
          <a:blip r:embed="rId2"/>
          <a:srcRect l="38342" r="11029"/>
          <a:stretch/>
        </p:blipFill>
        <p:spPr>
          <a:xfrm>
            <a:off x="5230800" y="0"/>
            <a:ext cx="3912840" cy="5150880"/>
          </a:xfrm>
          <a:prstGeom prst="rect">
            <a:avLst/>
          </a:prstGeom>
          <a:ln w="0">
            <a:noFill/>
          </a:ln>
        </p:spPr>
      </p:pic>
    </p:spTree>
  </p:cSld>
  <p:clrMapOvr>
    <a:masterClrMapping/>
  </p:clrMapOvr>
</p:sld>
</file>

<file path=ppt/theme/theme1.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1253</TotalTime>
  <Words>1108</Words>
  <Application>Microsoft Office PowerPoint</Application>
  <PresentationFormat>Экран (16:9)</PresentationFormat>
  <Paragraphs>86</Paragraphs>
  <Slides>21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4</vt:i4>
      </vt:variant>
      <vt:variant>
        <vt:lpstr>Заголовки слайдов</vt:lpstr>
      </vt:variant>
      <vt:variant>
        <vt:i4>21</vt:i4>
      </vt:variant>
    </vt:vector>
  </HeadingPairs>
  <TitlesOfParts>
    <vt:vector size="31" baseType="lpstr">
      <vt:lpstr>Arial</vt:lpstr>
      <vt:lpstr>Carattere</vt:lpstr>
      <vt:lpstr>Open Sans</vt:lpstr>
      <vt:lpstr>OpenSymbol</vt:lpstr>
      <vt:lpstr>Symbol</vt:lpstr>
      <vt:lpstr>Wingdings</vt:lpstr>
      <vt:lpstr>Corporate Sustainability by Slidesgo</vt:lpstr>
      <vt:lpstr>Corporate Sustainability by Slidesgo</vt:lpstr>
      <vt:lpstr>Corporate Sustainability by Slidesgo</vt:lpstr>
      <vt:lpstr>Corporate Sustainability by Slidesgo</vt:lpstr>
      <vt:lpstr>Ma’lumotlarga asoslangan qaror qabul qilish</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Ma'lumotlarni Tahlil Qilish</vt:lpstr>
      <vt:lpstr>Презентация PowerPoint</vt:lpstr>
      <vt:lpstr>Презентация PowerPoint</vt:lpstr>
      <vt:lpstr>Trendlarni Aniqlash</vt:lpstr>
      <vt:lpstr>Презентация PowerPoint</vt:lpstr>
      <vt:lpstr>Homework: Trendlarni tahlil qilish va prognozlash</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Ma'lumotlarga Asoslangan Qaror Qabul Qilish</dc:title>
  <dc:creator>LENOVO</dc:creator>
  <cp:lastModifiedBy>LENOVO</cp:lastModifiedBy>
  <cp:revision>17</cp:revision>
  <dcterms:modified xsi:type="dcterms:W3CDTF">2025-05-11T20:18:26Z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2025-04-30T17:24:55Z</dcterms:created>
  <dc:creator>Unknown Creator</dc:creator>
  <dc:description/>
  <dc:language>en-US</dc:language>
  <cp:lastModifiedBy>Unknown Creator</cp:lastModifiedBy>
  <dcterms:modified xsi:type="dcterms:W3CDTF">2025-04-30T17:24:55Z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16</vt:r8>
  </property>
</Properties>
</file>