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2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Agrandir Narrow" panose="020B0604020202020204" charset="0"/>
      <p:regular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Garet" panose="020B0604020202020204" charset="-52"/>
      <p:regular r:id="rId23"/>
    </p:embeddedFont>
    <p:embeddedFont>
      <p:font typeface="Garet Bold" panose="020B0604020202020204" charset="-52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6A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310208" y="7404972"/>
            <a:ext cx="10628152" cy="1111483"/>
            <a:chOff x="0" y="0"/>
            <a:chExt cx="2816658" cy="2945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16658" cy="294564"/>
            </a:xfrm>
            <a:custGeom>
              <a:avLst/>
              <a:gdLst/>
              <a:ahLst/>
              <a:cxnLst/>
              <a:rect l="l" t="t" r="r" b="b"/>
              <a:pathLst>
                <a:path w="2816658" h="294564">
                  <a:moveTo>
                    <a:pt x="37150" y="0"/>
                  </a:moveTo>
                  <a:lnTo>
                    <a:pt x="2779508" y="0"/>
                  </a:lnTo>
                  <a:cubicBezTo>
                    <a:pt x="2800025" y="0"/>
                    <a:pt x="2816658" y="16633"/>
                    <a:pt x="2816658" y="37150"/>
                  </a:cubicBezTo>
                  <a:lnTo>
                    <a:pt x="2816658" y="257414"/>
                  </a:lnTo>
                  <a:cubicBezTo>
                    <a:pt x="2816658" y="267266"/>
                    <a:pt x="2812744" y="276716"/>
                    <a:pt x="2805777" y="283683"/>
                  </a:cubicBezTo>
                  <a:cubicBezTo>
                    <a:pt x="2798810" y="290650"/>
                    <a:pt x="2789361" y="294564"/>
                    <a:pt x="2779508" y="294564"/>
                  </a:cubicBezTo>
                  <a:lnTo>
                    <a:pt x="37150" y="294564"/>
                  </a:lnTo>
                  <a:cubicBezTo>
                    <a:pt x="16633" y="294564"/>
                    <a:pt x="0" y="277931"/>
                    <a:pt x="0" y="257414"/>
                  </a:cubicBezTo>
                  <a:lnTo>
                    <a:pt x="0" y="37150"/>
                  </a:lnTo>
                  <a:cubicBezTo>
                    <a:pt x="0" y="16633"/>
                    <a:pt x="16633" y="0"/>
                    <a:pt x="37150" y="0"/>
                  </a:cubicBezTo>
                  <a:close/>
                </a:path>
              </a:pathLst>
            </a:custGeom>
            <a:solidFill>
              <a:srgbClr val="81B214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816658" cy="323139"/>
            </a:xfrm>
            <a:prstGeom prst="rect">
              <a:avLst/>
            </a:prstGeom>
          </p:spPr>
          <p:txBody>
            <a:bodyPr lIns="52281" tIns="52281" rIns="52281" bIns="5228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61684" y="1509951"/>
            <a:ext cx="4501671" cy="6276020"/>
            <a:chOff x="0" y="0"/>
            <a:chExt cx="890867" cy="124200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90867" cy="1242005"/>
            </a:xfrm>
            <a:custGeom>
              <a:avLst/>
              <a:gdLst/>
              <a:ahLst/>
              <a:cxnLst/>
              <a:rect l="l" t="t" r="r" b="b"/>
              <a:pathLst>
                <a:path w="890867" h="1242005">
                  <a:moveTo>
                    <a:pt x="39555" y="0"/>
                  </a:moveTo>
                  <a:lnTo>
                    <a:pt x="851312" y="0"/>
                  </a:lnTo>
                  <a:cubicBezTo>
                    <a:pt x="861803" y="0"/>
                    <a:pt x="871863" y="4167"/>
                    <a:pt x="879282" y="11585"/>
                  </a:cubicBezTo>
                  <a:cubicBezTo>
                    <a:pt x="886700" y="19003"/>
                    <a:pt x="890867" y="29064"/>
                    <a:pt x="890867" y="39555"/>
                  </a:cubicBezTo>
                  <a:lnTo>
                    <a:pt x="890867" y="1202450"/>
                  </a:lnTo>
                  <a:cubicBezTo>
                    <a:pt x="890867" y="1212941"/>
                    <a:pt x="886700" y="1223002"/>
                    <a:pt x="879282" y="1230420"/>
                  </a:cubicBezTo>
                  <a:cubicBezTo>
                    <a:pt x="871863" y="1237838"/>
                    <a:pt x="861803" y="1242005"/>
                    <a:pt x="851312" y="1242005"/>
                  </a:cubicBezTo>
                  <a:lnTo>
                    <a:pt x="39555" y="1242005"/>
                  </a:lnTo>
                  <a:cubicBezTo>
                    <a:pt x="29064" y="1242005"/>
                    <a:pt x="19003" y="1237838"/>
                    <a:pt x="11585" y="1230420"/>
                  </a:cubicBezTo>
                  <a:cubicBezTo>
                    <a:pt x="4167" y="1223002"/>
                    <a:pt x="0" y="1212941"/>
                    <a:pt x="0" y="1202450"/>
                  </a:cubicBezTo>
                  <a:lnTo>
                    <a:pt x="0" y="39555"/>
                  </a:lnTo>
                  <a:cubicBezTo>
                    <a:pt x="0" y="29064"/>
                    <a:pt x="4167" y="19003"/>
                    <a:pt x="11585" y="11585"/>
                  </a:cubicBezTo>
                  <a:cubicBezTo>
                    <a:pt x="19003" y="4167"/>
                    <a:pt x="29064" y="0"/>
                    <a:pt x="39555" y="0"/>
                  </a:cubicBezTo>
                  <a:close/>
                </a:path>
              </a:pathLst>
            </a:custGeom>
            <a:blipFill>
              <a:blip r:embed="rId2"/>
              <a:stretch>
                <a:fillRect l="-101191" t="-43853" r="-99640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6445269" y="2823447"/>
            <a:ext cx="10780985" cy="458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QIYMAT ZANJIRINI TAHLIL QILISH &amp; RAQOBAT SIKLI VA TEXNOLOGIYANING ROLI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55811" y="7692015"/>
            <a:ext cx="9536947" cy="489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4"/>
              </a:lnSpc>
            </a:pPr>
            <a:r>
              <a:rPr lang="en-US" sz="290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Value chain deconstruction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521685" y="1616175"/>
            <a:ext cx="5930186" cy="460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4"/>
              </a:lnSpc>
            </a:pPr>
            <a:r>
              <a:rPr lang="en-US" sz="2724">
                <a:solidFill>
                  <a:srgbClr val="D9D9D9"/>
                </a:solidFill>
                <a:latin typeface="Garet"/>
                <a:ea typeface="Garet"/>
                <a:cs typeface="Garet"/>
                <a:sym typeface="Garet"/>
              </a:rPr>
              <a:t>Lecturer: Nozima Raximova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5468260" y="2279472"/>
            <a:ext cx="743009" cy="410624"/>
            <a:chOff x="0" y="0"/>
            <a:chExt cx="196911" cy="10882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6911" cy="108823"/>
            </a:xfrm>
            <a:custGeom>
              <a:avLst/>
              <a:gdLst/>
              <a:ahLst/>
              <a:cxnLst/>
              <a:rect l="l" t="t" r="r" b="b"/>
              <a:pathLst>
                <a:path w="196911" h="108823">
                  <a:moveTo>
                    <a:pt x="0" y="0"/>
                  </a:moveTo>
                  <a:lnTo>
                    <a:pt x="196911" y="0"/>
                  </a:lnTo>
                  <a:lnTo>
                    <a:pt x="196911" y="108823"/>
                  </a:lnTo>
                  <a:lnTo>
                    <a:pt x="0" y="108823"/>
                  </a:lnTo>
                  <a:close/>
                </a:path>
              </a:pathLst>
            </a:custGeom>
            <a:solidFill>
              <a:srgbClr val="81B214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196911" cy="137398"/>
            </a:xfrm>
            <a:prstGeom prst="rect">
              <a:avLst/>
            </a:prstGeom>
          </p:spPr>
          <p:txBody>
            <a:bodyPr lIns="52281" tIns="52281" rIns="52281" bIns="5228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1142114" y="8705611"/>
            <a:ext cx="16084140" cy="52388"/>
          </a:xfrm>
          <a:prstGeom prst="line">
            <a:avLst/>
          </a:prstGeom>
          <a:ln w="38100" cap="flat">
            <a:solidFill>
              <a:srgbClr val="A6A4A4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6A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644629" y="1502863"/>
            <a:ext cx="1286743" cy="6680207"/>
            <a:chOff x="0" y="0"/>
            <a:chExt cx="341011" cy="17703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1011" cy="1770379"/>
            </a:xfrm>
            <a:custGeom>
              <a:avLst/>
              <a:gdLst/>
              <a:ahLst/>
              <a:cxnLst/>
              <a:rect l="l" t="t" r="r" b="b"/>
              <a:pathLst>
                <a:path w="341011" h="1770379">
                  <a:moveTo>
                    <a:pt x="0" y="0"/>
                  </a:moveTo>
                  <a:lnTo>
                    <a:pt x="341011" y="0"/>
                  </a:lnTo>
                  <a:lnTo>
                    <a:pt x="341011" y="1770379"/>
                  </a:lnTo>
                  <a:lnTo>
                    <a:pt x="0" y="1770379"/>
                  </a:lnTo>
                  <a:close/>
                </a:path>
              </a:pathLst>
            </a:custGeom>
            <a:solidFill>
              <a:srgbClr val="81B21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341011" cy="1798954"/>
            </a:xfrm>
            <a:prstGeom prst="rect">
              <a:avLst/>
            </a:prstGeom>
          </p:spPr>
          <p:txBody>
            <a:bodyPr lIns="52281" tIns="52281" rIns="52281" bIns="5228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29834" y="1502863"/>
            <a:ext cx="5638997" cy="3340103"/>
            <a:chOff x="0" y="0"/>
            <a:chExt cx="1141671" cy="67623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41671" cy="676237"/>
            </a:xfrm>
            <a:custGeom>
              <a:avLst/>
              <a:gdLst/>
              <a:ahLst/>
              <a:cxnLst/>
              <a:rect l="l" t="t" r="r" b="b"/>
              <a:pathLst>
                <a:path w="1141671" h="676237">
                  <a:moveTo>
                    <a:pt x="31577" y="0"/>
                  </a:moveTo>
                  <a:lnTo>
                    <a:pt x="1110094" y="0"/>
                  </a:lnTo>
                  <a:cubicBezTo>
                    <a:pt x="1127534" y="0"/>
                    <a:pt x="1141671" y="14138"/>
                    <a:pt x="1141671" y="31577"/>
                  </a:cubicBezTo>
                  <a:lnTo>
                    <a:pt x="1141671" y="644660"/>
                  </a:lnTo>
                  <a:cubicBezTo>
                    <a:pt x="1141671" y="662100"/>
                    <a:pt x="1127534" y="676237"/>
                    <a:pt x="1110094" y="676237"/>
                  </a:cubicBezTo>
                  <a:lnTo>
                    <a:pt x="31577" y="676237"/>
                  </a:lnTo>
                  <a:cubicBezTo>
                    <a:pt x="14138" y="676237"/>
                    <a:pt x="0" y="662100"/>
                    <a:pt x="0" y="644660"/>
                  </a:cubicBezTo>
                  <a:lnTo>
                    <a:pt x="0" y="31577"/>
                  </a:lnTo>
                  <a:cubicBezTo>
                    <a:pt x="0" y="14138"/>
                    <a:pt x="14138" y="0"/>
                    <a:pt x="31577" y="0"/>
                  </a:cubicBezTo>
                  <a:close/>
                </a:path>
              </a:pathLst>
            </a:custGeom>
            <a:blipFill>
              <a:blip r:embed="rId2"/>
              <a:stretch>
                <a:fillRect t="-6240" b="-6240"/>
              </a:stretch>
            </a:blipFill>
          </p:spPr>
        </p:sp>
      </p:grpSp>
      <p:sp>
        <p:nvSpPr>
          <p:cNvPr id="7" name="AutoShape 7"/>
          <p:cNvSpPr/>
          <p:nvPr/>
        </p:nvSpPr>
        <p:spPr>
          <a:xfrm flipV="1">
            <a:off x="1429834" y="8997506"/>
            <a:ext cx="15320569" cy="0"/>
          </a:xfrm>
          <a:prstGeom prst="line">
            <a:avLst/>
          </a:prstGeom>
          <a:ln w="38100" cap="flat">
            <a:solidFill>
              <a:srgbClr val="A6A4A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7068831" y="1549496"/>
            <a:ext cx="9510957" cy="3245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749"/>
              </a:lnSpc>
            </a:pPr>
            <a:r>
              <a:rPr lang="en-US" sz="9790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QIYMAT ZANJIRI NIMA?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8897" y="5649786"/>
            <a:ext cx="16750403" cy="3347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Qiymat zanjiri</a:t>
            </a:r>
            <a:r>
              <a:rPr lang="en-US" sz="32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– bu kompaniya mahsulot yoki xizmat yaratishda bosib o‘tadigan barcha bosqichlarning ketma-ketligi (xomashyo, ishlab chiqarish, marketing, yetkazib berish, xizmat ko‘rsatish).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Deconstruction</a:t>
            </a:r>
            <a:r>
              <a:rPr lang="en-US" sz="32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– bu qiymat zanjirini qismlarga ajratib, har bir bosqichda qanchalik qiymat yaratilayotganini aniqlash va samaradorlikni oshirish uchun uni tahlil qilish.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6A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69126" y="1727003"/>
            <a:ext cx="5638997" cy="4205994"/>
            <a:chOff x="0" y="0"/>
            <a:chExt cx="1141671" cy="8515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41671" cy="851545"/>
            </a:xfrm>
            <a:custGeom>
              <a:avLst/>
              <a:gdLst/>
              <a:ahLst/>
              <a:cxnLst/>
              <a:rect l="l" t="t" r="r" b="b"/>
              <a:pathLst>
                <a:path w="1141671" h="851545">
                  <a:moveTo>
                    <a:pt x="31577" y="0"/>
                  </a:moveTo>
                  <a:lnTo>
                    <a:pt x="1110094" y="0"/>
                  </a:lnTo>
                  <a:cubicBezTo>
                    <a:pt x="1127534" y="0"/>
                    <a:pt x="1141671" y="14138"/>
                    <a:pt x="1141671" y="31577"/>
                  </a:cubicBezTo>
                  <a:lnTo>
                    <a:pt x="1141671" y="819968"/>
                  </a:lnTo>
                  <a:cubicBezTo>
                    <a:pt x="1141671" y="837408"/>
                    <a:pt x="1127534" y="851545"/>
                    <a:pt x="1110094" y="851545"/>
                  </a:cubicBezTo>
                  <a:lnTo>
                    <a:pt x="31577" y="851545"/>
                  </a:lnTo>
                  <a:cubicBezTo>
                    <a:pt x="14138" y="851545"/>
                    <a:pt x="0" y="837408"/>
                    <a:pt x="0" y="819968"/>
                  </a:cubicBezTo>
                  <a:lnTo>
                    <a:pt x="0" y="31577"/>
                  </a:lnTo>
                  <a:cubicBezTo>
                    <a:pt x="0" y="14138"/>
                    <a:pt x="14138" y="0"/>
                    <a:pt x="31577" y="0"/>
                  </a:cubicBezTo>
                  <a:close/>
                </a:path>
              </a:pathLst>
            </a:custGeom>
            <a:blipFill>
              <a:blip r:embed="rId2"/>
              <a:stretch>
                <a:fillRect l="-61881" r="-6188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579877" y="9258300"/>
            <a:ext cx="15128247" cy="1602389"/>
            <a:chOff x="0" y="0"/>
            <a:chExt cx="4009267" cy="42466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09267" cy="424663"/>
            </a:xfrm>
            <a:custGeom>
              <a:avLst/>
              <a:gdLst/>
              <a:ahLst/>
              <a:cxnLst/>
              <a:rect l="l" t="t" r="r" b="b"/>
              <a:pathLst>
                <a:path w="4009267" h="424663">
                  <a:moveTo>
                    <a:pt x="26099" y="0"/>
                  </a:moveTo>
                  <a:lnTo>
                    <a:pt x="3983168" y="0"/>
                  </a:lnTo>
                  <a:cubicBezTo>
                    <a:pt x="3990089" y="0"/>
                    <a:pt x="3996728" y="2750"/>
                    <a:pt x="4001622" y="7644"/>
                  </a:cubicBezTo>
                  <a:cubicBezTo>
                    <a:pt x="4006517" y="12539"/>
                    <a:pt x="4009267" y="19177"/>
                    <a:pt x="4009267" y="26099"/>
                  </a:cubicBezTo>
                  <a:lnTo>
                    <a:pt x="4009267" y="398563"/>
                  </a:lnTo>
                  <a:cubicBezTo>
                    <a:pt x="4009267" y="405485"/>
                    <a:pt x="4006517" y="412124"/>
                    <a:pt x="4001622" y="417018"/>
                  </a:cubicBezTo>
                  <a:cubicBezTo>
                    <a:pt x="3996728" y="421913"/>
                    <a:pt x="3990089" y="424663"/>
                    <a:pt x="3983168" y="424663"/>
                  </a:cubicBezTo>
                  <a:lnTo>
                    <a:pt x="26099" y="424663"/>
                  </a:lnTo>
                  <a:cubicBezTo>
                    <a:pt x="19177" y="424663"/>
                    <a:pt x="12539" y="421913"/>
                    <a:pt x="7644" y="417018"/>
                  </a:cubicBezTo>
                  <a:cubicBezTo>
                    <a:pt x="2750" y="412124"/>
                    <a:pt x="0" y="405485"/>
                    <a:pt x="0" y="398563"/>
                  </a:cubicBezTo>
                  <a:lnTo>
                    <a:pt x="0" y="26099"/>
                  </a:lnTo>
                  <a:cubicBezTo>
                    <a:pt x="0" y="19177"/>
                    <a:pt x="2750" y="12539"/>
                    <a:pt x="7644" y="7644"/>
                  </a:cubicBezTo>
                  <a:cubicBezTo>
                    <a:pt x="12539" y="2750"/>
                    <a:pt x="19177" y="0"/>
                    <a:pt x="26099" y="0"/>
                  </a:cubicBezTo>
                  <a:close/>
                </a:path>
              </a:pathLst>
            </a:custGeom>
            <a:solidFill>
              <a:srgbClr val="81B214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4009267" cy="453238"/>
            </a:xfrm>
            <a:prstGeom prst="rect">
              <a:avLst/>
            </a:prstGeom>
          </p:spPr>
          <p:txBody>
            <a:bodyPr lIns="52281" tIns="52281" rIns="52281" bIns="5228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579877" y="1585931"/>
            <a:ext cx="9709083" cy="2913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63"/>
              </a:lnSpc>
            </a:pPr>
            <a:r>
              <a:rPr lang="en-US" sz="8802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ASOSIY BOSQICHLARI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5540148"/>
            <a:ext cx="15128247" cy="3909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</a:pPr>
            <a:endParaRPr/>
          </a:p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US" sz="3200" b="1">
                <a:solidFill>
                  <a:srgbClr val="D9D9D9"/>
                </a:solidFill>
                <a:latin typeface="Garet Bold"/>
                <a:ea typeface="Garet Bold"/>
                <a:cs typeface="Garet Bold"/>
                <a:sym typeface="Garet Bold"/>
              </a:rPr>
              <a:t>Kirish logistikasi:</a:t>
            </a:r>
            <a:r>
              <a:rPr lang="en-US" sz="3200">
                <a:solidFill>
                  <a:srgbClr val="D9D9D9"/>
                </a:solidFill>
                <a:latin typeface="Garet"/>
                <a:ea typeface="Garet"/>
                <a:cs typeface="Garet"/>
                <a:sym typeface="Garet"/>
              </a:rPr>
              <a:t> xomashyo va materiallar yetkazilishi</a:t>
            </a:r>
          </a:p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D9D9D9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3200" b="1">
                <a:solidFill>
                  <a:srgbClr val="D9D9D9"/>
                </a:solidFill>
                <a:latin typeface="Garet Bold"/>
                <a:ea typeface="Garet Bold"/>
                <a:cs typeface="Garet Bold"/>
                <a:sym typeface="Garet Bold"/>
              </a:rPr>
              <a:t>shlab chiqarish</a:t>
            </a:r>
            <a:r>
              <a:rPr lang="en-US" sz="3200">
                <a:solidFill>
                  <a:srgbClr val="D9D9D9"/>
                </a:solidFill>
                <a:latin typeface="Garet"/>
                <a:ea typeface="Garet"/>
                <a:cs typeface="Garet"/>
                <a:sym typeface="Garet"/>
              </a:rPr>
              <a:t>: mahsulot tayyorlash</a:t>
            </a:r>
          </a:p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US" sz="3200" b="1">
                <a:solidFill>
                  <a:srgbClr val="D9D9D9"/>
                </a:solidFill>
                <a:latin typeface="Garet Bold"/>
                <a:ea typeface="Garet Bold"/>
                <a:cs typeface="Garet Bold"/>
                <a:sym typeface="Garet Bold"/>
              </a:rPr>
              <a:t>Chiqarish logistikasi</a:t>
            </a:r>
            <a:r>
              <a:rPr lang="en-US" sz="3200">
                <a:solidFill>
                  <a:srgbClr val="D9D9D9"/>
                </a:solidFill>
                <a:latin typeface="Garet"/>
                <a:ea typeface="Garet"/>
                <a:cs typeface="Garet"/>
                <a:sym typeface="Garet"/>
              </a:rPr>
              <a:t>: omborga joylash, yetkazib berish</a:t>
            </a:r>
          </a:p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US" sz="3200" b="1">
                <a:solidFill>
                  <a:srgbClr val="D9D9D9"/>
                </a:solidFill>
                <a:latin typeface="Garet Bold"/>
                <a:ea typeface="Garet Bold"/>
                <a:cs typeface="Garet Bold"/>
                <a:sym typeface="Garet Bold"/>
              </a:rPr>
              <a:t>Marketing va savdo</a:t>
            </a:r>
            <a:r>
              <a:rPr lang="en-US" sz="3200">
                <a:solidFill>
                  <a:srgbClr val="D9D9D9"/>
                </a:solidFill>
                <a:latin typeface="Garet"/>
                <a:ea typeface="Garet"/>
                <a:cs typeface="Garet"/>
                <a:sym typeface="Garet"/>
              </a:rPr>
              <a:t>: mahsulotni bozorda targ‘ib qilish</a:t>
            </a:r>
          </a:p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US" sz="3200" b="1">
                <a:solidFill>
                  <a:srgbClr val="D9D9D9"/>
                </a:solidFill>
                <a:latin typeface="Garet Bold"/>
                <a:ea typeface="Garet Bold"/>
                <a:cs typeface="Garet Bold"/>
                <a:sym typeface="Garet Bold"/>
              </a:rPr>
              <a:t>Xizmat ko‘rsatish:</a:t>
            </a:r>
            <a:r>
              <a:rPr lang="en-US" sz="3200">
                <a:solidFill>
                  <a:srgbClr val="D9D9D9"/>
                </a:solidFill>
                <a:latin typeface="Garet"/>
                <a:ea typeface="Garet"/>
                <a:cs typeface="Garet"/>
                <a:sym typeface="Garet"/>
              </a:rPr>
              <a:t> xaridordan keyingi xizmatlar (servis, kafolat)</a:t>
            </a:r>
          </a:p>
          <a:p>
            <a:pPr algn="just">
              <a:lnSpc>
                <a:spcPts val="4480"/>
              </a:lnSpc>
            </a:pPr>
            <a:endParaRPr lang="en-US" sz="3200">
              <a:solidFill>
                <a:srgbClr val="D9D9D9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6A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25390" y="790465"/>
            <a:ext cx="11915712" cy="2913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63"/>
              </a:lnSpc>
            </a:pPr>
            <a:r>
              <a:rPr lang="en-US" sz="8802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QIYMAT ZANJIRINING IKKI ASOSIY TURI: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23028" y="4311575"/>
            <a:ext cx="836742" cy="633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4"/>
              </a:lnSpc>
            </a:pPr>
            <a:r>
              <a:rPr lang="en-US" sz="4103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01.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25390" y="7296679"/>
            <a:ext cx="934381" cy="633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4"/>
              </a:lnSpc>
            </a:pPr>
            <a:r>
              <a:rPr lang="en-US" sz="4103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02.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3734206" y="1259303"/>
            <a:ext cx="2303010" cy="586968"/>
            <a:chOff x="0" y="0"/>
            <a:chExt cx="610341" cy="1555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10341" cy="155558"/>
            </a:xfrm>
            <a:custGeom>
              <a:avLst/>
              <a:gdLst/>
              <a:ahLst/>
              <a:cxnLst/>
              <a:rect l="l" t="t" r="r" b="b"/>
              <a:pathLst>
                <a:path w="610341" h="155558">
                  <a:moveTo>
                    <a:pt x="0" y="0"/>
                  </a:moveTo>
                  <a:lnTo>
                    <a:pt x="610341" y="0"/>
                  </a:lnTo>
                  <a:lnTo>
                    <a:pt x="610341" y="155558"/>
                  </a:lnTo>
                  <a:lnTo>
                    <a:pt x="0" y="155558"/>
                  </a:lnTo>
                  <a:close/>
                </a:path>
              </a:pathLst>
            </a:custGeom>
            <a:solidFill>
              <a:srgbClr val="81B214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610341" cy="184133"/>
            </a:xfrm>
            <a:prstGeom prst="rect">
              <a:avLst/>
            </a:prstGeom>
          </p:spPr>
          <p:txBody>
            <a:bodyPr lIns="52281" tIns="52281" rIns="52281" bIns="5228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885711" y="-1044206"/>
            <a:ext cx="4747179" cy="4607017"/>
            <a:chOff x="0" y="0"/>
            <a:chExt cx="812800" cy="78880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788802"/>
            </a:xfrm>
            <a:custGeom>
              <a:avLst/>
              <a:gdLst/>
              <a:ahLst/>
              <a:cxnLst/>
              <a:rect l="l" t="t" r="r" b="b"/>
              <a:pathLst>
                <a:path w="812800" h="788802">
                  <a:moveTo>
                    <a:pt x="406400" y="0"/>
                  </a:moveTo>
                  <a:cubicBezTo>
                    <a:pt x="181951" y="0"/>
                    <a:pt x="0" y="176579"/>
                    <a:pt x="0" y="394401"/>
                  </a:cubicBezTo>
                  <a:cubicBezTo>
                    <a:pt x="0" y="612223"/>
                    <a:pt x="181951" y="788802"/>
                    <a:pt x="406400" y="788802"/>
                  </a:cubicBezTo>
                  <a:cubicBezTo>
                    <a:pt x="630849" y="788802"/>
                    <a:pt x="812800" y="612223"/>
                    <a:pt x="812800" y="394401"/>
                  </a:cubicBezTo>
                  <a:cubicBezTo>
                    <a:pt x="812800" y="17657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A29C9C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35850"/>
              <a:ext cx="660400" cy="679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38"/>
                </a:lnSpc>
              </a:pPr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 flipV="1">
            <a:off x="-423031" y="8965174"/>
            <a:ext cx="8896097" cy="19050"/>
          </a:xfrm>
          <a:prstGeom prst="line">
            <a:avLst/>
          </a:prstGeom>
          <a:ln w="38100" cap="flat">
            <a:solidFill>
              <a:srgbClr val="A6A4A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3205550" y="4263950"/>
            <a:ext cx="10135552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Asosiy faoliyatlar – mahsulot yaratishda bevosita 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ishtirok etadigan jarayonlar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027474" y="7249054"/>
            <a:ext cx="12623578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Yordamchi faoliyatlar – asosiy faoliyatlarga ko‘mak beradigan tizimlar (IT, kadrlar boshqaruvi, infratuzilma)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D71610-9042-0138-392F-50CCB13D72C7}"/>
              </a:ext>
            </a:extLst>
          </p:cNvPr>
          <p:cNvSpPr txBox="1"/>
          <p:nvPr/>
        </p:nvSpPr>
        <p:spPr>
          <a:xfrm>
            <a:off x="8473066" y="9027697"/>
            <a:ext cx="10043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/>
              <a:t>https://www.youtube.com/watch?v=9UGCsENl8rI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6A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71876" y="4559146"/>
            <a:ext cx="5886369" cy="4238272"/>
            <a:chOff x="0" y="0"/>
            <a:chExt cx="1191754" cy="858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91754" cy="858080"/>
            </a:xfrm>
            <a:custGeom>
              <a:avLst/>
              <a:gdLst/>
              <a:ahLst/>
              <a:cxnLst/>
              <a:rect l="l" t="t" r="r" b="b"/>
              <a:pathLst>
                <a:path w="1191754" h="858080">
                  <a:moveTo>
                    <a:pt x="30250" y="0"/>
                  </a:moveTo>
                  <a:lnTo>
                    <a:pt x="1161504" y="0"/>
                  </a:lnTo>
                  <a:cubicBezTo>
                    <a:pt x="1169527" y="0"/>
                    <a:pt x="1177221" y="3187"/>
                    <a:pt x="1182894" y="8860"/>
                  </a:cubicBezTo>
                  <a:cubicBezTo>
                    <a:pt x="1188567" y="14533"/>
                    <a:pt x="1191754" y="22227"/>
                    <a:pt x="1191754" y="30250"/>
                  </a:cubicBezTo>
                  <a:lnTo>
                    <a:pt x="1191754" y="827830"/>
                  </a:lnTo>
                  <a:cubicBezTo>
                    <a:pt x="1191754" y="835853"/>
                    <a:pt x="1188567" y="843547"/>
                    <a:pt x="1182894" y="849220"/>
                  </a:cubicBezTo>
                  <a:cubicBezTo>
                    <a:pt x="1177221" y="854893"/>
                    <a:pt x="1169527" y="858080"/>
                    <a:pt x="1161504" y="858080"/>
                  </a:cubicBezTo>
                  <a:lnTo>
                    <a:pt x="30250" y="858080"/>
                  </a:lnTo>
                  <a:cubicBezTo>
                    <a:pt x="22227" y="858080"/>
                    <a:pt x="14533" y="854893"/>
                    <a:pt x="8860" y="849220"/>
                  </a:cubicBezTo>
                  <a:cubicBezTo>
                    <a:pt x="3187" y="843547"/>
                    <a:pt x="0" y="835853"/>
                    <a:pt x="0" y="827830"/>
                  </a:cubicBezTo>
                  <a:lnTo>
                    <a:pt x="0" y="30250"/>
                  </a:lnTo>
                  <a:cubicBezTo>
                    <a:pt x="0" y="22227"/>
                    <a:pt x="3187" y="14533"/>
                    <a:pt x="8860" y="8860"/>
                  </a:cubicBezTo>
                  <a:cubicBezTo>
                    <a:pt x="14533" y="3187"/>
                    <a:pt x="22227" y="0"/>
                    <a:pt x="30250" y="0"/>
                  </a:cubicBezTo>
                  <a:close/>
                </a:path>
              </a:pathLst>
            </a:custGeom>
            <a:blipFill>
              <a:blip r:embed="rId2"/>
              <a:stretch>
                <a:fillRect t="-2082" b="-2082"/>
              </a:stretch>
            </a:blipFill>
          </p:spPr>
        </p:sp>
      </p:grpSp>
      <p:sp>
        <p:nvSpPr>
          <p:cNvPr id="4" name="AutoShape 4"/>
          <p:cNvSpPr/>
          <p:nvPr/>
        </p:nvSpPr>
        <p:spPr>
          <a:xfrm flipV="1">
            <a:off x="5782771" y="3450807"/>
            <a:ext cx="16164570" cy="52388"/>
          </a:xfrm>
          <a:prstGeom prst="line">
            <a:avLst/>
          </a:prstGeom>
          <a:ln w="38100" cap="flat">
            <a:solidFill>
              <a:srgbClr val="A6A4A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16194055" y="1720839"/>
            <a:ext cx="1065245" cy="586968"/>
            <a:chOff x="0" y="0"/>
            <a:chExt cx="282310" cy="1555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2310" cy="155558"/>
            </a:xfrm>
            <a:custGeom>
              <a:avLst/>
              <a:gdLst/>
              <a:ahLst/>
              <a:cxnLst/>
              <a:rect l="l" t="t" r="r" b="b"/>
              <a:pathLst>
                <a:path w="282310" h="155558">
                  <a:moveTo>
                    <a:pt x="0" y="0"/>
                  </a:moveTo>
                  <a:lnTo>
                    <a:pt x="282310" y="0"/>
                  </a:lnTo>
                  <a:lnTo>
                    <a:pt x="282310" y="155558"/>
                  </a:lnTo>
                  <a:lnTo>
                    <a:pt x="0" y="155558"/>
                  </a:lnTo>
                  <a:close/>
                </a:path>
              </a:pathLst>
            </a:custGeom>
            <a:solidFill>
              <a:srgbClr val="81B214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82310" cy="184133"/>
            </a:xfrm>
            <a:prstGeom prst="rect">
              <a:avLst/>
            </a:prstGeom>
          </p:spPr>
          <p:txBody>
            <a:bodyPr lIns="52281" tIns="52281" rIns="52281" bIns="5228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921147" y="6134721"/>
            <a:ext cx="676307" cy="586968"/>
            <a:chOff x="0" y="0"/>
            <a:chExt cx="179234" cy="1555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9234" cy="155558"/>
            </a:xfrm>
            <a:custGeom>
              <a:avLst/>
              <a:gdLst/>
              <a:ahLst/>
              <a:cxnLst/>
              <a:rect l="l" t="t" r="r" b="b"/>
              <a:pathLst>
                <a:path w="179234" h="155558">
                  <a:moveTo>
                    <a:pt x="0" y="0"/>
                  </a:moveTo>
                  <a:lnTo>
                    <a:pt x="179234" y="0"/>
                  </a:lnTo>
                  <a:lnTo>
                    <a:pt x="179234" y="155558"/>
                  </a:lnTo>
                  <a:lnTo>
                    <a:pt x="0" y="155558"/>
                  </a:lnTo>
                  <a:close/>
                </a:path>
              </a:pathLst>
            </a:custGeom>
            <a:solidFill>
              <a:srgbClr val="81B214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79234" cy="184133"/>
            </a:xfrm>
            <a:prstGeom prst="rect">
              <a:avLst/>
            </a:prstGeom>
          </p:spPr>
          <p:txBody>
            <a:bodyPr lIns="52281" tIns="52281" rIns="52281" bIns="5228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71876" y="1251458"/>
            <a:ext cx="14741466" cy="13227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563"/>
              </a:lnSpc>
            </a:pPr>
            <a:r>
              <a:rPr lang="en-US" sz="8802" dirty="0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MISOL: </a:t>
            </a:r>
            <a:r>
              <a:rPr lang="en-US" sz="8802" dirty="0" err="1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CocaCola</a:t>
            </a:r>
            <a:r>
              <a:rPr lang="en-US" sz="8802" dirty="0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</a:t>
            </a:r>
            <a:r>
              <a:rPr lang="en-US" sz="8802" dirty="0" err="1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kompaniyasi</a:t>
            </a:r>
            <a:endParaRPr lang="en-US" sz="8802" dirty="0">
              <a:solidFill>
                <a:srgbClr val="FFFFFF"/>
              </a:solidFill>
              <a:latin typeface="Agrandir Narrow"/>
              <a:ea typeface="Agrandir Narrow"/>
              <a:cs typeface="Agrandir Narrow"/>
              <a:sym typeface="Agrandir Narrow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066049" y="4055645"/>
            <a:ext cx="7947293" cy="5728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5040"/>
              </a:lnSpc>
              <a:buAutoNum type="arabicPeriod"/>
            </a:pPr>
            <a:r>
              <a:rPr lang="en-US" sz="3600" dirty="0" err="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Xomashyo</a:t>
            </a:r>
            <a:r>
              <a:rPr lang="en-US" sz="36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  <a:r>
              <a:rPr lang="en-US" sz="3600" dirty="0" err="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shakar</a:t>
            </a:r>
            <a:r>
              <a:rPr lang="en-US" sz="36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, </a:t>
            </a:r>
            <a:r>
              <a:rPr lang="en-US" sz="3600" dirty="0" err="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suv</a:t>
            </a:r>
            <a:r>
              <a:rPr lang="en-US" sz="36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, </a:t>
            </a:r>
            <a:r>
              <a:rPr lang="en-US" sz="3600" dirty="0" err="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sirlar</a:t>
            </a:r>
            <a:endParaRPr lang="en-US" sz="3600" dirty="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777240" lvl="1" indent="-388620" algn="l">
              <a:lnSpc>
                <a:spcPts val="5040"/>
              </a:lnSpc>
              <a:buAutoNum type="arabicPeriod"/>
            </a:pPr>
            <a:r>
              <a:rPr lang="en-US" sz="3600" dirty="0" err="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Ishlab</a:t>
            </a:r>
            <a:r>
              <a:rPr lang="en-US" sz="36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chiqarish</a:t>
            </a:r>
            <a:r>
              <a:rPr lang="en-US" sz="36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  <a:r>
              <a:rPr lang="en-US" sz="3600" dirty="0" err="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retsept</a:t>
            </a:r>
            <a:r>
              <a:rPr lang="en-US" sz="36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asosida</a:t>
            </a:r>
            <a:r>
              <a:rPr lang="en-US" sz="36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ichimlik</a:t>
            </a:r>
            <a:r>
              <a:rPr lang="en-US" sz="36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tayyorlash</a:t>
            </a:r>
            <a:endParaRPr lang="en-US" sz="3600" dirty="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777240" lvl="1" indent="-388620" algn="l">
              <a:lnSpc>
                <a:spcPts val="5040"/>
              </a:lnSpc>
              <a:buAutoNum type="arabicPeriod"/>
            </a:pPr>
            <a:r>
              <a:rPr lang="en-US" sz="36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Marketing: </a:t>
            </a:r>
            <a:r>
              <a:rPr lang="en-US" sz="3600" dirty="0" err="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reklama</a:t>
            </a:r>
            <a:r>
              <a:rPr lang="en-US" sz="36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(</a:t>
            </a:r>
            <a:r>
              <a:rPr lang="en-US" sz="3600" dirty="0" err="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futbolchilar</a:t>
            </a:r>
            <a:r>
              <a:rPr lang="en-US" sz="36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bilan</a:t>
            </a:r>
            <a:r>
              <a:rPr lang="en-US" sz="36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reklama</a:t>
            </a:r>
            <a:r>
              <a:rPr lang="en-US" sz="36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)</a:t>
            </a:r>
          </a:p>
          <a:p>
            <a:pPr marL="777240" lvl="1" indent="-388620" algn="l">
              <a:lnSpc>
                <a:spcPts val="5040"/>
              </a:lnSpc>
              <a:buAutoNum type="arabicPeriod"/>
            </a:pPr>
            <a:r>
              <a:rPr lang="en-US" sz="3600" dirty="0" err="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Yetkazib</a:t>
            </a:r>
            <a:r>
              <a:rPr lang="en-US" sz="36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berish</a:t>
            </a:r>
            <a:r>
              <a:rPr lang="en-US" sz="36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  <a:r>
              <a:rPr lang="en-US" sz="3600" dirty="0" err="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butilkalash</a:t>
            </a:r>
            <a:r>
              <a:rPr lang="en-US" sz="36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, </a:t>
            </a:r>
            <a:r>
              <a:rPr lang="en-US" sz="3600" dirty="0" err="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do'konlarga</a:t>
            </a:r>
            <a:r>
              <a:rPr lang="en-US" sz="36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tarqatish</a:t>
            </a:r>
            <a:endParaRPr lang="en-US" sz="3600" dirty="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777240" lvl="1" indent="-388620" algn="l">
              <a:lnSpc>
                <a:spcPts val="5040"/>
              </a:lnSpc>
              <a:buAutoNum type="arabicPeriod"/>
            </a:pPr>
            <a:r>
              <a:rPr lang="en-US" sz="3600" dirty="0" err="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Xizmat</a:t>
            </a:r>
            <a:r>
              <a:rPr lang="en-US" sz="36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  <a:r>
              <a:rPr lang="en-US" sz="3600" dirty="0" err="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mijozlarga</a:t>
            </a:r>
            <a:r>
              <a:rPr lang="en-US" sz="36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savol-javob</a:t>
            </a:r>
            <a:r>
              <a:rPr lang="en-US" sz="36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liniyasi</a:t>
            </a:r>
            <a:endParaRPr lang="en-US" sz="3600" dirty="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6A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 flipV="1">
            <a:off x="5782771" y="3450807"/>
            <a:ext cx="16164570" cy="52388"/>
          </a:xfrm>
          <a:prstGeom prst="line">
            <a:avLst/>
          </a:prstGeom>
          <a:ln w="38100" cap="flat">
            <a:solidFill>
              <a:srgbClr val="A6A4A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16194055" y="1720839"/>
            <a:ext cx="1065245" cy="586968"/>
            <a:chOff x="0" y="0"/>
            <a:chExt cx="282310" cy="1555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2310" cy="155558"/>
            </a:xfrm>
            <a:custGeom>
              <a:avLst/>
              <a:gdLst/>
              <a:ahLst/>
              <a:cxnLst/>
              <a:rect l="l" t="t" r="r" b="b"/>
              <a:pathLst>
                <a:path w="282310" h="155558">
                  <a:moveTo>
                    <a:pt x="0" y="0"/>
                  </a:moveTo>
                  <a:lnTo>
                    <a:pt x="282310" y="0"/>
                  </a:lnTo>
                  <a:lnTo>
                    <a:pt x="282310" y="155558"/>
                  </a:lnTo>
                  <a:lnTo>
                    <a:pt x="0" y="155558"/>
                  </a:lnTo>
                  <a:close/>
                </a:path>
              </a:pathLst>
            </a:custGeom>
            <a:solidFill>
              <a:srgbClr val="81B214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82310" cy="184133"/>
            </a:xfrm>
            <a:prstGeom prst="rect">
              <a:avLst/>
            </a:prstGeom>
          </p:spPr>
          <p:txBody>
            <a:bodyPr lIns="52281" tIns="52281" rIns="52281" bIns="5228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921147" y="6134721"/>
            <a:ext cx="676307" cy="586968"/>
            <a:chOff x="0" y="0"/>
            <a:chExt cx="179234" cy="1555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9234" cy="155558"/>
            </a:xfrm>
            <a:custGeom>
              <a:avLst/>
              <a:gdLst/>
              <a:ahLst/>
              <a:cxnLst/>
              <a:rect l="l" t="t" r="r" b="b"/>
              <a:pathLst>
                <a:path w="179234" h="155558">
                  <a:moveTo>
                    <a:pt x="0" y="0"/>
                  </a:moveTo>
                  <a:lnTo>
                    <a:pt x="179234" y="0"/>
                  </a:lnTo>
                  <a:lnTo>
                    <a:pt x="179234" y="155558"/>
                  </a:lnTo>
                  <a:lnTo>
                    <a:pt x="0" y="155558"/>
                  </a:lnTo>
                  <a:close/>
                </a:path>
              </a:pathLst>
            </a:custGeom>
            <a:solidFill>
              <a:srgbClr val="81B214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79234" cy="184133"/>
            </a:xfrm>
            <a:prstGeom prst="rect">
              <a:avLst/>
            </a:prstGeom>
          </p:spPr>
          <p:txBody>
            <a:bodyPr lIns="52281" tIns="52281" rIns="52281" bIns="5228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71876" y="1251458"/>
            <a:ext cx="14327172" cy="1322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63"/>
              </a:lnSpc>
            </a:pPr>
            <a:r>
              <a:rPr lang="en-US" sz="8802" dirty="0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MISOL: Apple </a:t>
            </a:r>
            <a:r>
              <a:rPr lang="en-US" sz="8802" dirty="0" err="1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kompaniyasi</a:t>
            </a:r>
            <a:endParaRPr lang="en-US" sz="8802" dirty="0">
              <a:solidFill>
                <a:srgbClr val="FFFFFF"/>
              </a:solidFill>
              <a:latin typeface="Agrandir Narrow"/>
              <a:ea typeface="Agrandir Narrow"/>
              <a:cs typeface="Agrandir Narrow"/>
              <a:sym typeface="Agrandir Narrow"/>
            </a:endParaRPr>
          </a:p>
        </p:txBody>
      </p:sp>
      <p:pic>
        <p:nvPicPr>
          <p:cNvPr id="1026" name="Picture 2" descr="Apple представила Apple Intelligence для управления ИИ-функциями на своих  устройствах — Новости Дарё">
            <a:extLst>
              <a:ext uri="{FF2B5EF4-FFF2-40B4-BE49-F238E27FC236}">
                <a16:creationId xmlns:a16="http://schemas.microsoft.com/office/drawing/2014/main" id="{90ED9369-B23D-4A78-90E2-8CBBBBB71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46" y="4838700"/>
            <a:ext cx="7068018" cy="3968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5">
            <a:extLst>
              <a:ext uri="{FF2B5EF4-FFF2-40B4-BE49-F238E27FC236}">
                <a16:creationId xmlns:a16="http://schemas.microsoft.com/office/drawing/2014/main" id="{81CAB06F-FDB4-4CAA-92C3-99CAF4017A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1602" y="3576140"/>
            <a:ext cx="8799545" cy="6494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Inbound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Logistics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Dunyo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bo‘ylab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yetkazib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beruvchilardan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eng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sifatli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qismlar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chiplar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displeylar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olinadi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Operations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iPhone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va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MacBook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qurilmalari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Xitoy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va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boshqa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mamlakatlardagi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zavodlarda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yig‘iladi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Outbound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Logistics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Tayyor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mahsulotlar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butun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dunyo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do‘konlariga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va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onlayn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platformalarga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tarqatiladi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Marketing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va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Sales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Kuchli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marketing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kampaniyalari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orqali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brend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qiymati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oshiriladi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Service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AppleCare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va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servis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markazlari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orqali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xizmat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ko‘rsatiladi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6A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20204" y="-668032"/>
            <a:ext cx="6235317" cy="7016693"/>
            <a:chOff x="0" y="0"/>
            <a:chExt cx="1262402" cy="14205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2402" cy="1420599"/>
            </a:xfrm>
            <a:custGeom>
              <a:avLst/>
              <a:gdLst/>
              <a:ahLst/>
              <a:cxnLst/>
              <a:rect l="l" t="t" r="r" b="b"/>
              <a:pathLst>
                <a:path w="1262402" h="1420599">
                  <a:moveTo>
                    <a:pt x="28557" y="0"/>
                  </a:moveTo>
                  <a:lnTo>
                    <a:pt x="1233845" y="0"/>
                  </a:lnTo>
                  <a:cubicBezTo>
                    <a:pt x="1249616" y="0"/>
                    <a:pt x="1262402" y="12786"/>
                    <a:pt x="1262402" y="28557"/>
                  </a:cubicBezTo>
                  <a:lnTo>
                    <a:pt x="1262402" y="1392042"/>
                  </a:lnTo>
                  <a:cubicBezTo>
                    <a:pt x="1262402" y="1407814"/>
                    <a:pt x="1249616" y="1420599"/>
                    <a:pt x="1233845" y="1420599"/>
                  </a:cubicBezTo>
                  <a:lnTo>
                    <a:pt x="28557" y="1420599"/>
                  </a:lnTo>
                  <a:cubicBezTo>
                    <a:pt x="12786" y="1420599"/>
                    <a:pt x="0" y="1407814"/>
                    <a:pt x="0" y="1392042"/>
                  </a:cubicBezTo>
                  <a:lnTo>
                    <a:pt x="0" y="28557"/>
                  </a:lnTo>
                  <a:cubicBezTo>
                    <a:pt x="0" y="12786"/>
                    <a:pt x="12786" y="0"/>
                    <a:pt x="28557" y="0"/>
                  </a:cubicBezTo>
                  <a:close/>
                </a:path>
              </a:pathLst>
            </a:custGeom>
            <a:blipFill>
              <a:blip r:embed="rId2"/>
              <a:stretch>
                <a:fillRect l="-55415" r="-55415"/>
              </a:stretch>
            </a:blipFill>
          </p:spPr>
        </p:sp>
      </p:grpSp>
      <p:sp>
        <p:nvSpPr>
          <p:cNvPr id="4" name="AutoShape 4"/>
          <p:cNvSpPr/>
          <p:nvPr/>
        </p:nvSpPr>
        <p:spPr>
          <a:xfrm>
            <a:off x="-1093930" y="1290208"/>
            <a:ext cx="13614133" cy="0"/>
          </a:xfrm>
          <a:prstGeom prst="line">
            <a:avLst/>
          </a:prstGeom>
          <a:ln w="38100" cap="flat">
            <a:solidFill>
              <a:srgbClr val="A6A4A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333561" y="2360483"/>
            <a:ext cx="11186643" cy="2666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27"/>
              </a:lnSpc>
            </a:pPr>
            <a:r>
              <a:rPr lang="en-US" sz="8022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RAQOBAT SIKLI VA TEXNOLOGIYANING ROLI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33561" y="5830831"/>
            <a:ext cx="10332418" cy="1899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Sizningcha, kompaniyalar har doim rivojlanishda davom etadimi yoki ma'lum davrda pasayadimi?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6A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184168" y="1115459"/>
            <a:ext cx="10907680" cy="446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RAQOBAT SIKLI — BU MAHSULOT YOKI KOMPANIYA BOZORGA KIRGANIDAN BOSHLAB, O‘SISHI, PISHIB YETILISHI VA PASAYISHIGACHA BO‘LGAN DAVRNI ANGLATADI.</a:t>
            </a:r>
          </a:p>
          <a:p>
            <a:pPr algn="l">
              <a:lnSpc>
                <a:spcPts val="5759"/>
              </a:lnSpc>
            </a:pPr>
            <a:endParaRPr lang="en-US" sz="4800">
              <a:solidFill>
                <a:srgbClr val="FFFFFF"/>
              </a:solidFill>
              <a:latin typeface="Agrandir Narrow"/>
              <a:ea typeface="Agrandir Narrow"/>
              <a:cs typeface="Agrandir Narrow"/>
              <a:sym typeface="Agrandir Narrow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1070379" y="5916839"/>
            <a:ext cx="7707173" cy="19050"/>
          </a:xfrm>
          <a:prstGeom prst="line">
            <a:avLst/>
          </a:prstGeom>
          <a:ln w="38100" cap="flat">
            <a:solidFill>
              <a:srgbClr val="A6A4A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15834909" y="4415470"/>
            <a:ext cx="676307" cy="586968"/>
            <a:chOff x="0" y="0"/>
            <a:chExt cx="179234" cy="1555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9234" cy="155558"/>
            </a:xfrm>
            <a:custGeom>
              <a:avLst/>
              <a:gdLst/>
              <a:ahLst/>
              <a:cxnLst/>
              <a:rect l="l" t="t" r="r" b="b"/>
              <a:pathLst>
                <a:path w="179234" h="155558">
                  <a:moveTo>
                    <a:pt x="0" y="0"/>
                  </a:moveTo>
                  <a:lnTo>
                    <a:pt x="179234" y="0"/>
                  </a:lnTo>
                  <a:lnTo>
                    <a:pt x="179234" y="155558"/>
                  </a:lnTo>
                  <a:lnTo>
                    <a:pt x="0" y="155558"/>
                  </a:lnTo>
                  <a:close/>
                </a:path>
              </a:pathLst>
            </a:custGeom>
            <a:solidFill>
              <a:srgbClr val="81B214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79234" cy="184133"/>
            </a:xfrm>
            <a:prstGeom prst="rect">
              <a:avLst/>
            </a:prstGeom>
          </p:spPr>
          <p:txBody>
            <a:bodyPr lIns="52281" tIns="52281" rIns="52281" bIns="5228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30848" y="5600108"/>
            <a:ext cx="676307" cy="586968"/>
            <a:chOff x="0" y="0"/>
            <a:chExt cx="179234" cy="15555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9234" cy="155558"/>
            </a:xfrm>
            <a:custGeom>
              <a:avLst/>
              <a:gdLst/>
              <a:ahLst/>
              <a:cxnLst/>
              <a:rect l="l" t="t" r="r" b="b"/>
              <a:pathLst>
                <a:path w="179234" h="155558">
                  <a:moveTo>
                    <a:pt x="0" y="0"/>
                  </a:moveTo>
                  <a:lnTo>
                    <a:pt x="179234" y="0"/>
                  </a:lnTo>
                  <a:lnTo>
                    <a:pt x="179234" y="155558"/>
                  </a:lnTo>
                  <a:lnTo>
                    <a:pt x="0" y="155558"/>
                  </a:lnTo>
                  <a:close/>
                </a:path>
              </a:pathLst>
            </a:custGeom>
            <a:solidFill>
              <a:srgbClr val="81B214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79234" cy="184133"/>
            </a:xfrm>
            <a:prstGeom prst="rect">
              <a:avLst/>
            </a:prstGeom>
          </p:spPr>
          <p:txBody>
            <a:bodyPr lIns="52281" tIns="52281" rIns="52281" bIns="5228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550630" y="6996701"/>
            <a:ext cx="836742" cy="633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4"/>
              </a:lnSpc>
            </a:pPr>
            <a:r>
              <a:rPr lang="en-US" sz="4103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01.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964297" y="7077887"/>
            <a:ext cx="5440837" cy="471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38"/>
              </a:lnSpc>
            </a:pPr>
            <a:r>
              <a:rPr lang="uz-Latn-UZ" sz="4000" b="0" i="0" dirty="0">
                <a:solidFill>
                  <a:srgbClr val="FFFFFF"/>
                </a:solidFill>
                <a:effectLst/>
              </a:rPr>
              <a:t>Kirish(Introduction)</a:t>
            </a:r>
            <a:endParaRPr lang="en-US" sz="4000" dirty="0">
              <a:solidFill>
                <a:srgbClr val="D9D9D9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496463" y="6996701"/>
            <a:ext cx="836742" cy="633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4"/>
              </a:lnSpc>
            </a:pPr>
            <a:r>
              <a:rPr lang="en-US" sz="4103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03.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50630" y="8439377"/>
            <a:ext cx="981882" cy="633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4"/>
              </a:lnSpc>
            </a:pPr>
            <a:r>
              <a:rPr lang="en-US" sz="4103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02.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94777" y="8549650"/>
            <a:ext cx="5440837" cy="471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38"/>
              </a:lnSpc>
            </a:pPr>
            <a:r>
              <a:rPr lang="uz-Latn-UZ" sz="4000" b="0" i="0" dirty="0">
                <a:solidFill>
                  <a:srgbClr val="FFFFFF"/>
                </a:solidFill>
                <a:effectLst/>
              </a:rPr>
              <a:t>O’sish (Growth)</a:t>
            </a:r>
            <a:endParaRPr lang="en-US" sz="4000" dirty="0">
              <a:solidFill>
                <a:srgbClr val="D9D9D9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1085619" y="7159075"/>
            <a:ext cx="5440837" cy="471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38"/>
              </a:lnSpc>
            </a:pPr>
            <a:r>
              <a:rPr lang="uz-Latn-UZ" sz="4000" b="0" i="0" dirty="0">
                <a:solidFill>
                  <a:srgbClr val="FFFFFF"/>
                </a:solidFill>
                <a:effectLst/>
              </a:rPr>
              <a:t>Pishib yetilish (Maturity)</a:t>
            </a:r>
            <a:endParaRPr lang="en-US" sz="4000" dirty="0">
              <a:solidFill>
                <a:srgbClr val="D9D9D9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1100859" y="8449957"/>
            <a:ext cx="5440837" cy="471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38"/>
              </a:lnSpc>
            </a:pPr>
            <a:r>
              <a:rPr lang="uz-Latn-UZ" sz="4000" b="0" i="0" dirty="0">
                <a:solidFill>
                  <a:srgbClr val="FFFFFF"/>
                </a:solidFill>
                <a:effectLst/>
              </a:rPr>
              <a:t>Kamayish (Decline)</a:t>
            </a:r>
            <a:endParaRPr lang="en-US" sz="4000" dirty="0">
              <a:solidFill>
                <a:srgbClr val="D9D9D9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496463" y="8287583"/>
            <a:ext cx="981882" cy="633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4"/>
              </a:lnSpc>
            </a:pPr>
            <a:r>
              <a:rPr lang="en-US" sz="4103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04.</a:t>
            </a: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B00A3386-3B2B-6569-6626-BCC702264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40F0448C-DBB5-5424-7405-DD4B0AA71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B69D6DA9-5115-19BB-C995-E01DA6A6E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2053" name="Picture 5" descr="Competitive Analysis: Staying Ahead in the Product Life Cycle Race -  FasterCapital">
            <a:extLst>
              <a:ext uri="{FF2B5EF4-FFF2-40B4-BE49-F238E27FC236}">
                <a16:creationId xmlns:a16="http://schemas.microsoft.com/office/drawing/2014/main" id="{E90E7D6B-5B2D-C70D-97EA-65FCF2F398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252066"/>
            <a:ext cx="5038536" cy="2821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6">
            <a:extLst>
              <a:ext uri="{FF2B5EF4-FFF2-40B4-BE49-F238E27FC236}">
                <a16:creationId xmlns:a16="http://schemas.microsoft.com/office/drawing/2014/main" id="{5228DF72-FDE7-C3A1-51A9-1D926BA84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57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1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O’sish (Growth)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6A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8963149" y="1780788"/>
            <a:ext cx="0" cy="6725425"/>
          </a:xfrm>
          <a:prstGeom prst="line">
            <a:avLst/>
          </a:prstGeom>
          <a:ln w="38100" cap="flat">
            <a:solidFill>
              <a:srgbClr val="A6A4A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177588" y="1673124"/>
            <a:ext cx="7153172" cy="4016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76"/>
              </a:lnSpc>
            </a:pPr>
            <a:r>
              <a:rPr lang="en-US" sz="8313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RAQOBAT SIKLI 4 BOSQICHDAN IBORAT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582993" y="1517879"/>
            <a:ext cx="2518907" cy="2444536"/>
            <a:chOff x="0" y="0"/>
            <a:chExt cx="812800" cy="78880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788802"/>
            </a:xfrm>
            <a:custGeom>
              <a:avLst/>
              <a:gdLst/>
              <a:ahLst/>
              <a:cxnLst/>
              <a:rect l="l" t="t" r="r" b="b"/>
              <a:pathLst>
                <a:path w="812800" h="788802">
                  <a:moveTo>
                    <a:pt x="406400" y="0"/>
                  </a:moveTo>
                  <a:cubicBezTo>
                    <a:pt x="181951" y="0"/>
                    <a:pt x="0" y="176579"/>
                    <a:pt x="0" y="394401"/>
                  </a:cubicBezTo>
                  <a:cubicBezTo>
                    <a:pt x="0" y="612223"/>
                    <a:pt x="181951" y="788802"/>
                    <a:pt x="406400" y="788802"/>
                  </a:cubicBezTo>
                  <a:cubicBezTo>
                    <a:pt x="630849" y="788802"/>
                    <a:pt x="812800" y="612223"/>
                    <a:pt x="812800" y="394401"/>
                  </a:cubicBezTo>
                  <a:cubicBezTo>
                    <a:pt x="812800" y="17657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A29C9C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6200" y="35850"/>
              <a:ext cx="660400" cy="679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38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582993" y="6135178"/>
            <a:ext cx="676307" cy="586968"/>
            <a:chOff x="0" y="0"/>
            <a:chExt cx="179234" cy="15555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9234" cy="155558"/>
            </a:xfrm>
            <a:custGeom>
              <a:avLst/>
              <a:gdLst/>
              <a:ahLst/>
              <a:cxnLst/>
              <a:rect l="l" t="t" r="r" b="b"/>
              <a:pathLst>
                <a:path w="179234" h="155558">
                  <a:moveTo>
                    <a:pt x="0" y="0"/>
                  </a:moveTo>
                  <a:lnTo>
                    <a:pt x="179234" y="0"/>
                  </a:lnTo>
                  <a:lnTo>
                    <a:pt x="179234" y="155558"/>
                  </a:lnTo>
                  <a:lnTo>
                    <a:pt x="0" y="155558"/>
                  </a:lnTo>
                  <a:close/>
                </a:path>
              </a:pathLst>
            </a:custGeom>
            <a:solidFill>
              <a:srgbClr val="81B214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179234" cy="184133"/>
            </a:xfrm>
            <a:prstGeom prst="rect">
              <a:avLst/>
            </a:prstGeom>
          </p:spPr>
          <p:txBody>
            <a:bodyPr lIns="52281" tIns="52281" rIns="52281" bIns="5228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77588" y="8016742"/>
            <a:ext cx="3822902" cy="444347"/>
            <a:chOff x="0" y="0"/>
            <a:chExt cx="1013140" cy="1177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13140" cy="117760"/>
            </a:xfrm>
            <a:custGeom>
              <a:avLst/>
              <a:gdLst/>
              <a:ahLst/>
              <a:cxnLst/>
              <a:rect l="l" t="t" r="r" b="b"/>
              <a:pathLst>
                <a:path w="1013140" h="117760">
                  <a:moveTo>
                    <a:pt x="0" y="0"/>
                  </a:moveTo>
                  <a:lnTo>
                    <a:pt x="1013140" y="0"/>
                  </a:lnTo>
                  <a:lnTo>
                    <a:pt x="1013140" y="117760"/>
                  </a:lnTo>
                  <a:lnTo>
                    <a:pt x="0" y="117760"/>
                  </a:lnTo>
                  <a:close/>
                </a:path>
              </a:pathLst>
            </a:custGeom>
            <a:solidFill>
              <a:srgbClr val="81B214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1013140" cy="146335"/>
            </a:xfrm>
            <a:prstGeom prst="rect">
              <a:avLst/>
            </a:prstGeom>
          </p:spPr>
          <p:txBody>
            <a:bodyPr lIns="52281" tIns="52281" rIns="52281" bIns="5228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379299" y="1422629"/>
            <a:ext cx="8127420" cy="7602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Kirish bosqichi (Introduction)</a:t>
            </a:r>
          </a:p>
          <a:p>
            <a:pPr marL="1036320" lvl="1" indent="-518160" algn="l">
              <a:lnSpc>
                <a:spcPts val="6719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Yangi mahsulot, hali ko‘pchilik bilmaydi.</a:t>
            </a:r>
          </a:p>
          <a:p>
            <a:pPr marL="1036320" lvl="1" indent="-518160" algn="l">
              <a:lnSpc>
                <a:spcPts val="6719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Xarajatlar yuqori, foyda kam.</a:t>
            </a:r>
          </a:p>
          <a:p>
            <a:pPr marL="1036320" lvl="1" indent="-518160" algn="l">
              <a:lnSpc>
                <a:spcPts val="6719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Masalan: Elektr mashinalar dastlabki yillarda.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6A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8963149" y="1780788"/>
            <a:ext cx="0" cy="6725425"/>
          </a:xfrm>
          <a:prstGeom prst="line">
            <a:avLst/>
          </a:prstGeom>
          <a:ln w="38100" cap="flat">
            <a:solidFill>
              <a:srgbClr val="A6A4A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6582993" y="1517879"/>
            <a:ext cx="2518907" cy="2444536"/>
            <a:chOff x="0" y="0"/>
            <a:chExt cx="812800" cy="78880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88802"/>
            </a:xfrm>
            <a:custGeom>
              <a:avLst/>
              <a:gdLst/>
              <a:ahLst/>
              <a:cxnLst/>
              <a:rect l="l" t="t" r="r" b="b"/>
              <a:pathLst>
                <a:path w="812800" h="788802">
                  <a:moveTo>
                    <a:pt x="406400" y="0"/>
                  </a:moveTo>
                  <a:cubicBezTo>
                    <a:pt x="181951" y="0"/>
                    <a:pt x="0" y="176579"/>
                    <a:pt x="0" y="394401"/>
                  </a:cubicBezTo>
                  <a:cubicBezTo>
                    <a:pt x="0" y="612223"/>
                    <a:pt x="181951" y="788802"/>
                    <a:pt x="406400" y="788802"/>
                  </a:cubicBezTo>
                  <a:cubicBezTo>
                    <a:pt x="630849" y="788802"/>
                    <a:pt x="812800" y="612223"/>
                    <a:pt x="812800" y="394401"/>
                  </a:cubicBezTo>
                  <a:cubicBezTo>
                    <a:pt x="812800" y="17657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A29C9C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35850"/>
              <a:ext cx="660400" cy="679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38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582993" y="6135178"/>
            <a:ext cx="676307" cy="586968"/>
            <a:chOff x="0" y="0"/>
            <a:chExt cx="179234" cy="1555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9234" cy="155558"/>
            </a:xfrm>
            <a:custGeom>
              <a:avLst/>
              <a:gdLst/>
              <a:ahLst/>
              <a:cxnLst/>
              <a:rect l="l" t="t" r="r" b="b"/>
              <a:pathLst>
                <a:path w="179234" h="155558">
                  <a:moveTo>
                    <a:pt x="0" y="0"/>
                  </a:moveTo>
                  <a:lnTo>
                    <a:pt x="179234" y="0"/>
                  </a:lnTo>
                  <a:lnTo>
                    <a:pt x="179234" y="155558"/>
                  </a:lnTo>
                  <a:lnTo>
                    <a:pt x="0" y="155558"/>
                  </a:lnTo>
                  <a:close/>
                </a:path>
              </a:pathLst>
            </a:custGeom>
            <a:solidFill>
              <a:srgbClr val="81B214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79234" cy="184133"/>
            </a:xfrm>
            <a:prstGeom prst="rect">
              <a:avLst/>
            </a:prstGeom>
          </p:spPr>
          <p:txBody>
            <a:bodyPr lIns="52281" tIns="52281" rIns="52281" bIns="5228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77588" y="8016742"/>
            <a:ext cx="3822902" cy="444347"/>
            <a:chOff x="0" y="0"/>
            <a:chExt cx="1013140" cy="1177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13140" cy="117760"/>
            </a:xfrm>
            <a:custGeom>
              <a:avLst/>
              <a:gdLst/>
              <a:ahLst/>
              <a:cxnLst/>
              <a:rect l="l" t="t" r="r" b="b"/>
              <a:pathLst>
                <a:path w="1013140" h="117760">
                  <a:moveTo>
                    <a:pt x="0" y="0"/>
                  </a:moveTo>
                  <a:lnTo>
                    <a:pt x="1013140" y="0"/>
                  </a:lnTo>
                  <a:lnTo>
                    <a:pt x="1013140" y="117760"/>
                  </a:lnTo>
                  <a:lnTo>
                    <a:pt x="0" y="117760"/>
                  </a:lnTo>
                  <a:close/>
                </a:path>
              </a:pathLst>
            </a:custGeom>
            <a:solidFill>
              <a:srgbClr val="81B214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013140" cy="146335"/>
            </a:xfrm>
            <a:prstGeom prst="rect">
              <a:avLst/>
            </a:prstGeom>
          </p:spPr>
          <p:txBody>
            <a:bodyPr lIns="52281" tIns="52281" rIns="52281" bIns="5228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0" y="2510790"/>
            <a:ext cx="9034517" cy="5179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O‘sish bosqichi (Growth)</a:t>
            </a:r>
          </a:p>
          <a:p>
            <a:pPr marL="906780" lvl="1" indent="-453390" algn="l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Mijozlar soni oshadi, talab yuqori.</a:t>
            </a:r>
          </a:p>
          <a:p>
            <a:pPr marL="906780" lvl="1" indent="-453390" algn="l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Raqobatchilar paydo bo‘la boshlaydi.</a:t>
            </a:r>
          </a:p>
          <a:p>
            <a:pPr marL="906780" lvl="1" indent="-453390" algn="l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Masalan: TikTok 2020–2022 yillarda.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63149" y="1840617"/>
            <a:ext cx="8635188" cy="6665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Pishib yetilish bosqichi (Maturity)</a:t>
            </a:r>
          </a:p>
          <a:p>
            <a:pPr marL="906780" lvl="1" indent="-453390" algn="l">
              <a:lnSpc>
                <a:spcPts val="5880"/>
              </a:lnSpc>
              <a:buFont typeface="Arial"/>
              <a:buChar char="•"/>
            </a:pPr>
            <a:r>
              <a:rPr lang="en-US" sz="420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Bozor to‘yingan, o‘sish sekinlashadi.</a:t>
            </a:r>
          </a:p>
          <a:p>
            <a:pPr marL="906780" lvl="1" indent="-453390" algn="l">
              <a:lnSpc>
                <a:spcPts val="5880"/>
              </a:lnSpc>
              <a:buFont typeface="Arial"/>
              <a:buChar char="•"/>
            </a:pPr>
            <a:r>
              <a:rPr lang="en-US" sz="420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Raqobat keskinlashadi, narx urushi boshlanishi mumkin.</a:t>
            </a:r>
          </a:p>
          <a:p>
            <a:pPr marL="906780" lvl="1" indent="-453390" algn="l">
              <a:lnSpc>
                <a:spcPts val="5880"/>
              </a:lnSpc>
              <a:buFont typeface="Arial"/>
              <a:buChar char="•"/>
            </a:pPr>
            <a:r>
              <a:rPr lang="en-US" sz="420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Masalan: Smartfon bozori (Samsung, Apple, Xiaomi)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6A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8963149" y="1780788"/>
            <a:ext cx="0" cy="6725425"/>
          </a:xfrm>
          <a:prstGeom prst="line">
            <a:avLst/>
          </a:prstGeom>
          <a:ln w="38100" cap="flat">
            <a:solidFill>
              <a:srgbClr val="A6A4A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6582993" y="1517879"/>
            <a:ext cx="2518907" cy="2444536"/>
            <a:chOff x="0" y="0"/>
            <a:chExt cx="812800" cy="78880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88802"/>
            </a:xfrm>
            <a:custGeom>
              <a:avLst/>
              <a:gdLst/>
              <a:ahLst/>
              <a:cxnLst/>
              <a:rect l="l" t="t" r="r" b="b"/>
              <a:pathLst>
                <a:path w="812800" h="788802">
                  <a:moveTo>
                    <a:pt x="406400" y="0"/>
                  </a:moveTo>
                  <a:cubicBezTo>
                    <a:pt x="181951" y="0"/>
                    <a:pt x="0" y="176579"/>
                    <a:pt x="0" y="394401"/>
                  </a:cubicBezTo>
                  <a:cubicBezTo>
                    <a:pt x="0" y="612223"/>
                    <a:pt x="181951" y="788802"/>
                    <a:pt x="406400" y="788802"/>
                  </a:cubicBezTo>
                  <a:cubicBezTo>
                    <a:pt x="630849" y="788802"/>
                    <a:pt x="812800" y="612223"/>
                    <a:pt x="812800" y="394401"/>
                  </a:cubicBezTo>
                  <a:cubicBezTo>
                    <a:pt x="812800" y="17657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A29C9C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35850"/>
              <a:ext cx="660400" cy="679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38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582993" y="6135178"/>
            <a:ext cx="676307" cy="586968"/>
            <a:chOff x="0" y="0"/>
            <a:chExt cx="179234" cy="1555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9234" cy="155558"/>
            </a:xfrm>
            <a:custGeom>
              <a:avLst/>
              <a:gdLst/>
              <a:ahLst/>
              <a:cxnLst/>
              <a:rect l="l" t="t" r="r" b="b"/>
              <a:pathLst>
                <a:path w="179234" h="155558">
                  <a:moveTo>
                    <a:pt x="0" y="0"/>
                  </a:moveTo>
                  <a:lnTo>
                    <a:pt x="179234" y="0"/>
                  </a:lnTo>
                  <a:lnTo>
                    <a:pt x="179234" y="155558"/>
                  </a:lnTo>
                  <a:lnTo>
                    <a:pt x="0" y="155558"/>
                  </a:lnTo>
                  <a:close/>
                </a:path>
              </a:pathLst>
            </a:custGeom>
            <a:solidFill>
              <a:srgbClr val="81B214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79234" cy="184133"/>
            </a:xfrm>
            <a:prstGeom prst="rect">
              <a:avLst/>
            </a:prstGeom>
          </p:spPr>
          <p:txBody>
            <a:bodyPr lIns="52281" tIns="52281" rIns="52281" bIns="5228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77588" y="8016742"/>
            <a:ext cx="3822902" cy="444347"/>
            <a:chOff x="0" y="0"/>
            <a:chExt cx="1013140" cy="1177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13140" cy="117760"/>
            </a:xfrm>
            <a:custGeom>
              <a:avLst/>
              <a:gdLst/>
              <a:ahLst/>
              <a:cxnLst/>
              <a:rect l="l" t="t" r="r" b="b"/>
              <a:pathLst>
                <a:path w="1013140" h="117760">
                  <a:moveTo>
                    <a:pt x="0" y="0"/>
                  </a:moveTo>
                  <a:lnTo>
                    <a:pt x="1013140" y="0"/>
                  </a:lnTo>
                  <a:lnTo>
                    <a:pt x="1013140" y="117760"/>
                  </a:lnTo>
                  <a:lnTo>
                    <a:pt x="0" y="117760"/>
                  </a:lnTo>
                  <a:close/>
                </a:path>
              </a:pathLst>
            </a:custGeom>
            <a:solidFill>
              <a:srgbClr val="81B214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013140" cy="146335"/>
            </a:xfrm>
            <a:prstGeom prst="rect">
              <a:avLst/>
            </a:prstGeom>
          </p:spPr>
          <p:txBody>
            <a:bodyPr lIns="52281" tIns="52281" rIns="52281" bIns="5228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0718850" y="2104130"/>
            <a:ext cx="4767719" cy="6356958"/>
          </a:xfrm>
          <a:custGeom>
            <a:avLst/>
            <a:gdLst/>
            <a:ahLst/>
            <a:cxnLst/>
            <a:rect l="l" t="t" r="r" b="b"/>
            <a:pathLst>
              <a:path w="4767719" h="6356958">
                <a:moveTo>
                  <a:pt x="0" y="0"/>
                </a:moveTo>
                <a:lnTo>
                  <a:pt x="4767719" y="0"/>
                </a:lnTo>
                <a:lnTo>
                  <a:pt x="4767719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-148452" y="2510790"/>
            <a:ext cx="9452368" cy="5179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Pasayish bosqichi (Decline)</a:t>
            </a:r>
          </a:p>
          <a:p>
            <a:pPr marL="906780" lvl="1" indent="-453390" algn="l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Texnologiya eskiradi yoki yangi mahsulot paydo bo‘ladi.</a:t>
            </a:r>
          </a:p>
          <a:p>
            <a:pPr marL="906780" lvl="1" indent="-453390" algn="l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Kompaniya  yo‘nalishni o‘zgartiradi, yoki yopiladi.</a:t>
            </a:r>
          </a:p>
          <a:p>
            <a:pPr marL="906780" lvl="1" indent="-453390" algn="l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Masalan: CD pleerlar, Nokia telefonlari (2010dan so‘ng)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6A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8963149" y="1780788"/>
            <a:ext cx="0" cy="6725425"/>
          </a:xfrm>
          <a:prstGeom prst="line">
            <a:avLst/>
          </a:prstGeom>
          <a:ln w="38100" cap="flat">
            <a:solidFill>
              <a:srgbClr val="A6A4A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6582993" y="1517879"/>
            <a:ext cx="2518907" cy="2444536"/>
            <a:chOff x="0" y="0"/>
            <a:chExt cx="812800" cy="78880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88802"/>
            </a:xfrm>
            <a:custGeom>
              <a:avLst/>
              <a:gdLst/>
              <a:ahLst/>
              <a:cxnLst/>
              <a:rect l="l" t="t" r="r" b="b"/>
              <a:pathLst>
                <a:path w="812800" h="788802">
                  <a:moveTo>
                    <a:pt x="406400" y="0"/>
                  </a:moveTo>
                  <a:cubicBezTo>
                    <a:pt x="181951" y="0"/>
                    <a:pt x="0" y="176579"/>
                    <a:pt x="0" y="394401"/>
                  </a:cubicBezTo>
                  <a:cubicBezTo>
                    <a:pt x="0" y="612223"/>
                    <a:pt x="181951" y="788802"/>
                    <a:pt x="406400" y="788802"/>
                  </a:cubicBezTo>
                  <a:cubicBezTo>
                    <a:pt x="630849" y="788802"/>
                    <a:pt x="812800" y="612223"/>
                    <a:pt x="812800" y="394401"/>
                  </a:cubicBezTo>
                  <a:cubicBezTo>
                    <a:pt x="812800" y="17657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A29C9C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35850"/>
              <a:ext cx="660400" cy="679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38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582993" y="6135178"/>
            <a:ext cx="676307" cy="586968"/>
            <a:chOff x="0" y="0"/>
            <a:chExt cx="179234" cy="1555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9234" cy="155558"/>
            </a:xfrm>
            <a:custGeom>
              <a:avLst/>
              <a:gdLst/>
              <a:ahLst/>
              <a:cxnLst/>
              <a:rect l="l" t="t" r="r" b="b"/>
              <a:pathLst>
                <a:path w="179234" h="155558">
                  <a:moveTo>
                    <a:pt x="0" y="0"/>
                  </a:moveTo>
                  <a:lnTo>
                    <a:pt x="179234" y="0"/>
                  </a:lnTo>
                  <a:lnTo>
                    <a:pt x="179234" y="155558"/>
                  </a:lnTo>
                  <a:lnTo>
                    <a:pt x="0" y="155558"/>
                  </a:lnTo>
                  <a:close/>
                </a:path>
              </a:pathLst>
            </a:custGeom>
            <a:solidFill>
              <a:srgbClr val="81B214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79234" cy="184133"/>
            </a:xfrm>
            <a:prstGeom prst="rect">
              <a:avLst/>
            </a:prstGeom>
          </p:spPr>
          <p:txBody>
            <a:bodyPr lIns="52281" tIns="52281" rIns="52281" bIns="5228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77588" y="8016742"/>
            <a:ext cx="3822902" cy="444347"/>
            <a:chOff x="0" y="0"/>
            <a:chExt cx="1013140" cy="1177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13140" cy="117760"/>
            </a:xfrm>
            <a:custGeom>
              <a:avLst/>
              <a:gdLst/>
              <a:ahLst/>
              <a:cxnLst/>
              <a:rect l="l" t="t" r="r" b="b"/>
              <a:pathLst>
                <a:path w="1013140" h="117760">
                  <a:moveTo>
                    <a:pt x="0" y="0"/>
                  </a:moveTo>
                  <a:lnTo>
                    <a:pt x="1013140" y="0"/>
                  </a:lnTo>
                  <a:lnTo>
                    <a:pt x="1013140" y="117760"/>
                  </a:lnTo>
                  <a:lnTo>
                    <a:pt x="0" y="117760"/>
                  </a:lnTo>
                  <a:close/>
                </a:path>
              </a:pathLst>
            </a:custGeom>
            <a:solidFill>
              <a:srgbClr val="81B214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013140" cy="146335"/>
            </a:xfrm>
            <a:prstGeom prst="rect">
              <a:avLst/>
            </a:prstGeom>
          </p:spPr>
          <p:txBody>
            <a:bodyPr lIns="52281" tIns="52281" rIns="52281" bIns="5228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050" name="Picture 2" descr="Netflix Chronicles: Exploring Movies and TV Shows">
            <a:extLst>
              <a:ext uri="{FF2B5EF4-FFF2-40B4-BE49-F238E27FC236}">
                <a16:creationId xmlns:a16="http://schemas.microsoft.com/office/drawing/2014/main" id="{1A6706D7-5AF8-4EB4-BFFB-0EDE61BDE8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6341" y="2915285"/>
            <a:ext cx="7162800" cy="477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3">
            <a:extLst>
              <a:ext uri="{FF2B5EF4-FFF2-40B4-BE49-F238E27FC236}">
                <a16:creationId xmlns:a16="http://schemas.microsoft.com/office/drawing/2014/main" id="{062BFDBA-AB85-4DE1-AA5D-0EA68F5ED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110" y="1859248"/>
            <a:ext cx="7876892" cy="61247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Yaratilish</a:t>
            </a: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1997-yilda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Netflix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DVDlarni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ijaraga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berish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orqali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innovatsion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xizmat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boshladi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O‘sish</a:t>
            </a: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2007-yildan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boshlab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onlayn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striming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xizmatini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joriy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qilib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tez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o‘sishni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boshdan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kechirdi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Yetuklik</a:t>
            </a: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Bugungi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kunda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Netflix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Disney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+,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Amazon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Prime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HBO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Max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kabi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ko‘plab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raqobatchilar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bilan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kurashmoqda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Pasayish</a:t>
            </a: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xavfi</a:t>
            </a: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Agar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innovatsiyani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davom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ettirmasa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va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yangi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texnologiyalarga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moslashmasa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Netflix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kelajakda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pasayish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bosqichiga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kirishi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mumkin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72274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6A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5D5764B-628F-1E08-5255-24C379351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876300"/>
            <a:ext cx="17373600" cy="8153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6A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364238"/>
            <a:ext cx="19038436" cy="2967291"/>
            <a:chOff x="0" y="0"/>
            <a:chExt cx="5045540" cy="7863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45540" cy="786387"/>
            </a:xfrm>
            <a:custGeom>
              <a:avLst/>
              <a:gdLst/>
              <a:ahLst/>
              <a:cxnLst/>
              <a:rect l="l" t="t" r="r" b="b"/>
              <a:pathLst>
                <a:path w="5045540" h="786387">
                  <a:moveTo>
                    <a:pt x="0" y="0"/>
                  </a:moveTo>
                  <a:lnTo>
                    <a:pt x="5045540" y="0"/>
                  </a:lnTo>
                  <a:lnTo>
                    <a:pt x="5045540" y="786387"/>
                  </a:lnTo>
                  <a:lnTo>
                    <a:pt x="0" y="786387"/>
                  </a:lnTo>
                  <a:close/>
                </a:path>
              </a:pathLst>
            </a:custGeom>
            <a:solidFill>
              <a:srgbClr val="81B214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5045540" cy="814962"/>
            </a:xfrm>
            <a:prstGeom prst="rect">
              <a:avLst/>
            </a:prstGeom>
          </p:spPr>
          <p:txBody>
            <a:bodyPr lIns="52281" tIns="52281" rIns="52281" bIns="5228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963145" y="6364238"/>
            <a:ext cx="7180855" cy="3034555"/>
            <a:chOff x="0" y="0"/>
            <a:chExt cx="1611349" cy="68093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11349" cy="680939"/>
            </a:xfrm>
            <a:custGeom>
              <a:avLst/>
              <a:gdLst/>
              <a:ahLst/>
              <a:cxnLst/>
              <a:rect l="l" t="t" r="r" b="b"/>
              <a:pathLst>
                <a:path w="1611349" h="680939">
                  <a:moveTo>
                    <a:pt x="24797" y="0"/>
                  </a:moveTo>
                  <a:lnTo>
                    <a:pt x="1586552" y="0"/>
                  </a:lnTo>
                  <a:cubicBezTo>
                    <a:pt x="1593129" y="0"/>
                    <a:pt x="1599436" y="2613"/>
                    <a:pt x="1604086" y="7263"/>
                  </a:cubicBezTo>
                  <a:cubicBezTo>
                    <a:pt x="1608737" y="11913"/>
                    <a:pt x="1611349" y="18220"/>
                    <a:pt x="1611349" y="24797"/>
                  </a:cubicBezTo>
                  <a:lnTo>
                    <a:pt x="1611349" y="656142"/>
                  </a:lnTo>
                  <a:cubicBezTo>
                    <a:pt x="1611349" y="662719"/>
                    <a:pt x="1608737" y="669026"/>
                    <a:pt x="1604086" y="673676"/>
                  </a:cubicBezTo>
                  <a:cubicBezTo>
                    <a:pt x="1599436" y="678327"/>
                    <a:pt x="1593129" y="680939"/>
                    <a:pt x="1586552" y="680939"/>
                  </a:cubicBezTo>
                  <a:lnTo>
                    <a:pt x="24797" y="680939"/>
                  </a:lnTo>
                  <a:cubicBezTo>
                    <a:pt x="18220" y="680939"/>
                    <a:pt x="11913" y="678327"/>
                    <a:pt x="7263" y="673676"/>
                  </a:cubicBezTo>
                  <a:cubicBezTo>
                    <a:pt x="2613" y="669026"/>
                    <a:pt x="0" y="662719"/>
                    <a:pt x="0" y="656142"/>
                  </a:cubicBezTo>
                  <a:lnTo>
                    <a:pt x="0" y="24797"/>
                  </a:lnTo>
                  <a:cubicBezTo>
                    <a:pt x="0" y="18220"/>
                    <a:pt x="2613" y="11913"/>
                    <a:pt x="7263" y="7263"/>
                  </a:cubicBezTo>
                  <a:cubicBezTo>
                    <a:pt x="11913" y="2613"/>
                    <a:pt x="18220" y="0"/>
                    <a:pt x="24797" y="0"/>
                  </a:cubicBezTo>
                  <a:close/>
                </a:path>
              </a:pathLst>
            </a:custGeom>
            <a:blipFill>
              <a:blip r:embed="rId2"/>
              <a:stretch>
                <a:fillRect t="-10046" b="-10046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9771210" y="6364238"/>
            <a:ext cx="6330965" cy="2967291"/>
            <a:chOff x="0" y="0"/>
            <a:chExt cx="1420638" cy="66584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20638" cy="665846"/>
            </a:xfrm>
            <a:custGeom>
              <a:avLst/>
              <a:gdLst/>
              <a:ahLst/>
              <a:cxnLst/>
              <a:rect l="l" t="t" r="r" b="b"/>
              <a:pathLst>
                <a:path w="1420638" h="665846">
                  <a:moveTo>
                    <a:pt x="28126" y="0"/>
                  </a:moveTo>
                  <a:lnTo>
                    <a:pt x="1392512" y="0"/>
                  </a:lnTo>
                  <a:cubicBezTo>
                    <a:pt x="1408046" y="0"/>
                    <a:pt x="1420638" y="12592"/>
                    <a:pt x="1420638" y="28126"/>
                  </a:cubicBezTo>
                  <a:lnTo>
                    <a:pt x="1420638" y="637720"/>
                  </a:lnTo>
                  <a:cubicBezTo>
                    <a:pt x="1420638" y="653253"/>
                    <a:pt x="1408046" y="665846"/>
                    <a:pt x="1392512" y="665846"/>
                  </a:cubicBezTo>
                  <a:lnTo>
                    <a:pt x="28126" y="665846"/>
                  </a:lnTo>
                  <a:cubicBezTo>
                    <a:pt x="12592" y="665846"/>
                    <a:pt x="0" y="653253"/>
                    <a:pt x="0" y="637720"/>
                  </a:cubicBezTo>
                  <a:lnTo>
                    <a:pt x="0" y="28126"/>
                  </a:lnTo>
                  <a:cubicBezTo>
                    <a:pt x="0" y="12592"/>
                    <a:pt x="12592" y="0"/>
                    <a:pt x="28126" y="0"/>
                  </a:cubicBezTo>
                  <a:close/>
                </a:path>
              </a:pathLst>
            </a:custGeom>
            <a:blipFill>
              <a:blip r:embed="rId3"/>
              <a:stretch>
                <a:fillRect t="-27538" b="-27538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6274288" y="2852669"/>
            <a:ext cx="676307" cy="586968"/>
            <a:chOff x="0" y="0"/>
            <a:chExt cx="179234" cy="15555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9234" cy="155558"/>
            </a:xfrm>
            <a:custGeom>
              <a:avLst/>
              <a:gdLst/>
              <a:ahLst/>
              <a:cxnLst/>
              <a:rect l="l" t="t" r="r" b="b"/>
              <a:pathLst>
                <a:path w="179234" h="155558">
                  <a:moveTo>
                    <a:pt x="0" y="0"/>
                  </a:moveTo>
                  <a:lnTo>
                    <a:pt x="179234" y="0"/>
                  </a:lnTo>
                  <a:lnTo>
                    <a:pt x="179234" y="155558"/>
                  </a:lnTo>
                  <a:lnTo>
                    <a:pt x="0" y="155558"/>
                  </a:lnTo>
                  <a:close/>
                </a:path>
              </a:pathLst>
            </a:custGeom>
            <a:solidFill>
              <a:srgbClr val="81B214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79234" cy="184133"/>
            </a:xfrm>
            <a:prstGeom prst="rect">
              <a:avLst/>
            </a:prstGeom>
          </p:spPr>
          <p:txBody>
            <a:bodyPr lIns="52281" tIns="52281" rIns="52281" bIns="5228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-550605" y="701014"/>
            <a:ext cx="8763000" cy="1248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76"/>
              </a:lnSpc>
            </a:pPr>
            <a:r>
              <a:rPr lang="en-US" sz="8313" b="1" dirty="0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XULOSA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034657C-466E-4A32-A525-E17B2E9831AA}"/>
              </a:ext>
            </a:extLst>
          </p:cNvPr>
          <p:cNvSpPr/>
          <p:nvPr/>
        </p:nvSpPr>
        <p:spPr>
          <a:xfrm>
            <a:off x="762000" y="2852669"/>
            <a:ext cx="8382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600" b="1" dirty="0" err="1">
                <a:solidFill>
                  <a:srgbClr val="FFC000"/>
                </a:solidFill>
                <a:latin typeface="Garet" panose="020B0604020202020204" charset="-52"/>
              </a:rPr>
              <a:t>Qiymat</a:t>
            </a:r>
            <a:r>
              <a:rPr lang="en-US" sz="3600" b="1" dirty="0">
                <a:solidFill>
                  <a:srgbClr val="FFC000"/>
                </a:solidFill>
                <a:latin typeface="Garet" panose="020B0604020202020204" charset="-52"/>
              </a:rPr>
              <a:t> </a:t>
            </a:r>
            <a:r>
              <a:rPr lang="en-US" sz="3600" b="1" dirty="0" err="1">
                <a:solidFill>
                  <a:srgbClr val="FFC000"/>
                </a:solidFill>
                <a:latin typeface="Garet" panose="020B0604020202020204" charset="-52"/>
              </a:rPr>
              <a:t>zanjiri</a:t>
            </a:r>
            <a:r>
              <a:rPr lang="en-US" sz="3600" dirty="0">
                <a:solidFill>
                  <a:srgbClr val="FFC000"/>
                </a:solidFill>
                <a:latin typeface="Garet" panose="020B0604020202020204" charset="-52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Garet" panose="020B0604020202020204" charset="-52"/>
              </a:rPr>
              <a:t>tahlili</a:t>
            </a:r>
            <a:r>
              <a:rPr lang="en-US" sz="3600" dirty="0">
                <a:solidFill>
                  <a:schemeClr val="bg1"/>
                </a:solidFill>
                <a:latin typeface="Garet" panose="020B0604020202020204" charset="-52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Garet" panose="020B0604020202020204" charset="-52"/>
              </a:rPr>
              <a:t>kompaniyalarga</a:t>
            </a:r>
            <a:r>
              <a:rPr lang="en-US" sz="3600" dirty="0">
                <a:solidFill>
                  <a:schemeClr val="bg1"/>
                </a:solidFill>
                <a:latin typeface="Garet" panose="020B0604020202020204" charset="-52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Garet" panose="020B0604020202020204" charset="-52"/>
              </a:rPr>
              <a:t>o‘z</a:t>
            </a:r>
            <a:r>
              <a:rPr lang="en-US" sz="3600" dirty="0">
                <a:solidFill>
                  <a:schemeClr val="bg1"/>
                </a:solidFill>
                <a:latin typeface="Garet" panose="020B0604020202020204" charset="-52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Garet" panose="020B0604020202020204" charset="-52"/>
              </a:rPr>
              <a:t>ichki</a:t>
            </a:r>
            <a:r>
              <a:rPr lang="en-US" sz="3600" dirty="0">
                <a:solidFill>
                  <a:schemeClr val="bg1"/>
                </a:solidFill>
                <a:latin typeface="Garet" panose="020B0604020202020204" charset="-52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Garet" panose="020B0604020202020204" charset="-52"/>
              </a:rPr>
              <a:t>jarayonlarini</a:t>
            </a:r>
            <a:r>
              <a:rPr lang="en-US" sz="3600" dirty="0">
                <a:solidFill>
                  <a:schemeClr val="bg1"/>
                </a:solidFill>
                <a:latin typeface="Garet" panose="020B0604020202020204" charset="-52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Garet" panose="020B0604020202020204" charset="-52"/>
              </a:rPr>
              <a:t>aniqlab</a:t>
            </a:r>
            <a:r>
              <a:rPr lang="en-US" sz="3600" dirty="0">
                <a:solidFill>
                  <a:schemeClr val="bg1"/>
                </a:solidFill>
                <a:latin typeface="Garet" panose="020B0604020202020204" charset="-52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Garet" panose="020B0604020202020204" charset="-52"/>
              </a:rPr>
              <a:t>samaradorlikni</a:t>
            </a:r>
            <a:r>
              <a:rPr lang="en-US" sz="3600" dirty="0">
                <a:solidFill>
                  <a:schemeClr val="bg1"/>
                </a:solidFill>
                <a:latin typeface="Garet" panose="020B0604020202020204" charset="-52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Garet" panose="020B0604020202020204" charset="-52"/>
              </a:rPr>
              <a:t>oshirishga</a:t>
            </a:r>
            <a:r>
              <a:rPr lang="en-US" sz="3600" dirty="0">
                <a:solidFill>
                  <a:schemeClr val="bg1"/>
                </a:solidFill>
                <a:latin typeface="Garet" panose="020B0604020202020204" charset="-52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Garet" panose="020B0604020202020204" charset="-52"/>
              </a:rPr>
              <a:t>yordam</a:t>
            </a:r>
            <a:r>
              <a:rPr lang="en-US" sz="3600" dirty="0">
                <a:solidFill>
                  <a:schemeClr val="bg1"/>
                </a:solidFill>
                <a:latin typeface="Garet" panose="020B0604020202020204" charset="-52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Garet" panose="020B0604020202020204" charset="-52"/>
              </a:rPr>
              <a:t>beradi</a:t>
            </a:r>
            <a:r>
              <a:rPr lang="en-US" sz="3600" dirty="0">
                <a:solidFill>
                  <a:schemeClr val="bg1"/>
                </a:solidFill>
                <a:latin typeface="Garet" panose="020B0604020202020204" charset="-52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458B73-43A3-4554-93BF-D6D391059976}"/>
              </a:ext>
            </a:extLst>
          </p:cNvPr>
          <p:cNvSpPr txBox="1"/>
          <p:nvPr/>
        </p:nvSpPr>
        <p:spPr>
          <a:xfrm>
            <a:off x="10134600" y="975492"/>
            <a:ext cx="718085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600" b="1" dirty="0" err="1">
                <a:solidFill>
                  <a:srgbClr val="FFC000"/>
                </a:solidFill>
                <a:latin typeface="Garet" panose="020B0604020202020204" charset="-52"/>
              </a:rPr>
              <a:t>Raqobat</a:t>
            </a:r>
            <a:r>
              <a:rPr lang="en-US" sz="3600" b="1" dirty="0">
                <a:solidFill>
                  <a:srgbClr val="FFC000"/>
                </a:solidFill>
                <a:latin typeface="Garet" panose="020B0604020202020204" charset="-52"/>
              </a:rPr>
              <a:t> </a:t>
            </a:r>
            <a:r>
              <a:rPr lang="en-US" sz="3600" b="1" dirty="0" err="1">
                <a:solidFill>
                  <a:srgbClr val="FFC000"/>
                </a:solidFill>
                <a:latin typeface="Garet" panose="020B0604020202020204" charset="-52"/>
              </a:rPr>
              <a:t>sikli</a:t>
            </a:r>
            <a:r>
              <a:rPr lang="en-US" sz="3600" b="1" dirty="0">
                <a:solidFill>
                  <a:srgbClr val="FFC000"/>
                </a:solidFill>
                <a:latin typeface="Garet" panose="020B0604020202020204" charset="-52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Garet" panose="020B0604020202020204" charset="-52"/>
              </a:rPr>
              <a:t>esa</a:t>
            </a:r>
            <a:r>
              <a:rPr lang="en-US" sz="3600" dirty="0">
                <a:solidFill>
                  <a:schemeClr val="bg1"/>
                </a:solidFill>
                <a:latin typeface="Garet" panose="020B0604020202020204" charset="-52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Garet" panose="020B0604020202020204" charset="-52"/>
              </a:rPr>
              <a:t>kompaniyani</a:t>
            </a:r>
            <a:r>
              <a:rPr lang="en-US" sz="3600" dirty="0">
                <a:solidFill>
                  <a:schemeClr val="bg1"/>
                </a:solidFill>
                <a:latin typeface="Garet" panose="020B0604020202020204" charset="-52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Garet" panose="020B0604020202020204" charset="-52"/>
              </a:rPr>
              <a:t>qaysi</a:t>
            </a:r>
            <a:r>
              <a:rPr lang="en-US" sz="3600" dirty="0">
                <a:solidFill>
                  <a:schemeClr val="bg1"/>
                </a:solidFill>
                <a:latin typeface="Garet" panose="020B0604020202020204" charset="-52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Garet" panose="020B0604020202020204" charset="-52"/>
              </a:rPr>
              <a:t>bosqichda</a:t>
            </a:r>
            <a:r>
              <a:rPr lang="en-US" sz="3600" dirty="0">
                <a:solidFill>
                  <a:schemeClr val="bg1"/>
                </a:solidFill>
                <a:latin typeface="Garet" panose="020B0604020202020204" charset="-52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Garet" panose="020B0604020202020204" charset="-52"/>
              </a:rPr>
              <a:t>ekanligini</a:t>
            </a:r>
            <a:r>
              <a:rPr lang="en-US" sz="3600" dirty="0">
                <a:solidFill>
                  <a:schemeClr val="bg1"/>
                </a:solidFill>
                <a:latin typeface="Garet" panose="020B0604020202020204" charset="-52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Garet" panose="020B0604020202020204" charset="-52"/>
              </a:rPr>
              <a:t>va</a:t>
            </a:r>
            <a:r>
              <a:rPr lang="en-US" sz="3600" dirty="0">
                <a:solidFill>
                  <a:schemeClr val="bg1"/>
                </a:solidFill>
                <a:latin typeface="Garet" panose="020B0604020202020204" charset="-52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Garet" panose="020B0604020202020204" charset="-52"/>
              </a:rPr>
              <a:t>qanday</a:t>
            </a:r>
            <a:r>
              <a:rPr lang="en-US" sz="3600" dirty="0">
                <a:solidFill>
                  <a:schemeClr val="bg1"/>
                </a:solidFill>
                <a:latin typeface="Garet" panose="020B0604020202020204" charset="-52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Garet" panose="020B0604020202020204" charset="-52"/>
              </a:rPr>
              <a:t>strategiyalarni</a:t>
            </a:r>
            <a:r>
              <a:rPr lang="en-US" sz="3600" dirty="0">
                <a:solidFill>
                  <a:schemeClr val="bg1"/>
                </a:solidFill>
                <a:latin typeface="Garet" panose="020B0604020202020204" charset="-52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Garet" panose="020B0604020202020204" charset="-52"/>
              </a:rPr>
              <a:t>ishlab</a:t>
            </a:r>
            <a:r>
              <a:rPr lang="en-US" sz="3600" dirty="0">
                <a:solidFill>
                  <a:schemeClr val="bg1"/>
                </a:solidFill>
                <a:latin typeface="Garet" panose="020B0604020202020204" charset="-52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Garet" panose="020B0604020202020204" charset="-52"/>
              </a:rPr>
              <a:t>chiqishi</a:t>
            </a:r>
            <a:r>
              <a:rPr lang="en-US" sz="3600" dirty="0">
                <a:solidFill>
                  <a:schemeClr val="bg1"/>
                </a:solidFill>
                <a:latin typeface="Garet" panose="020B0604020202020204" charset="-52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Garet" panose="020B0604020202020204" charset="-52"/>
              </a:rPr>
              <a:t>kerakligini</a:t>
            </a:r>
            <a:r>
              <a:rPr lang="en-US" sz="3600" dirty="0">
                <a:solidFill>
                  <a:schemeClr val="bg1"/>
                </a:solidFill>
                <a:latin typeface="Garet" panose="020B0604020202020204" charset="-52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Garet" panose="020B0604020202020204" charset="-52"/>
              </a:rPr>
              <a:t>ko‘rsatadi</a:t>
            </a:r>
            <a:r>
              <a:rPr lang="en-US" sz="3600" dirty="0">
                <a:solidFill>
                  <a:schemeClr val="bg1"/>
                </a:solidFill>
                <a:latin typeface="Garet" panose="020B0604020202020204" charset="-52"/>
              </a:rPr>
              <a:t>.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chemeClr val="bg1"/>
                </a:solidFill>
                <a:latin typeface="Garet" panose="020B0604020202020204" charset="-52"/>
              </a:rPr>
              <a:t>Har </a:t>
            </a:r>
            <a:r>
              <a:rPr lang="en-US" sz="3600" dirty="0" err="1">
                <a:solidFill>
                  <a:schemeClr val="bg1"/>
                </a:solidFill>
                <a:latin typeface="Garet" panose="020B0604020202020204" charset="-52"/>
              </a:rPr>
              <a:t>ikki</a:t>
            </a:r>
            <a:r>
              <a:rPr lang="en-US" sz="3600" dirty="0">
                <a:solidFill>
                  <a:schemeClr val="bg1"/>
                </a:solidFill>
                <a:latin typeface="Garet" panose="020B0604020202020204" charset="-52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Garet" panose="020B0604020202020204" charset="-52"/>
              </a:rPr>
              <a:t>konsepsiya</a:t>
            </a:r>
            <a:r>
              <a:rPr lang="en-US" sz="3600" dirty="0">
                <a:solidFill>
                  <a:schemeClr val="bg1"/>
                </a:solidFill>
                <a:latin typeface="Garet" panose="020B0604020202020204" charset="-52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Garet" panose="020B0604020202020204" charset="-52"/>
              </a:rPr>
              <a:t>zamonaviy</a:t>
            </a:r>
            <a:r>
              <a:rPr lang="en-US" sz="3600" dirty="0">
                <a:solidFill>
                  <a:schemeClr val="bg1"/>
                </a:solidFill>
                <a:latin typeface="Garet" panose="020B0604020202020204" charset="-52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Garet" panose="020B0604020202020204" charset="-52"/>
              </a:rPr>
              <a:t>biznesda</a:t>
            </a:r>
            <a:r>
              <a:rPr lang="en-US" sz="3600" dirty="0">
                <a:solidFill>
                  <a:schemeClr val="bg1"/>
                </a:solidFill>
                <a:latin typeface="Garet" panose="020B0604020202020204" charset="-52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Garet" panose="020B0604020202020204" charset="-52"/>
              </a:rPr>
              <a:t>muvaffaqiyat</a:t>
            </a:r>
            <a:r>
              <a:rPr lang="en-US" sz="3600" dirty="0">
                <a:solidFill>
                  <a:schemeClr val="bg1"/>
                </a:solidFill>
                <a:latin typeface="Garet" panose="020B0604020202020204" charset="-52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Garet" panose="020B0604020202020204" charset="-52"/>
              </a:rPr>
              <a:t>uchun</a:t>
            </a:r>
            <a:r>
              <a:rPr lang="en-US" sz="3600" dirty="0">
                <a:solidFill>
                  <a:schemeClr val="bg1"/>
                </a:solidFill>
                <a:latin typeface="Garet" panose="020B0604020202020204" charset="-52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Garet" panose="020B0604020202020204" charset="-52"/>
              </a:rPr>
              <a:t>juda</a:t>
            </a:r>
            <a:r>
              <a:rPr lang="en-US" sz="3600" dirty="0">
                <a:solidFill>
                  <a:schemeClr val="bg1"/>
                </a:solidFill>
                <a:latin typeface="Garet" panose="020B0604020202020204" charset="-52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Garet" panose="020B0604020202020204" charset="-52"/>
              </a:rPr>
              <a:t>muhim</a:t>
            </a:r>
            <a:r>
              <a:rPr lang="en-US" sz="3600" dirty="0">
                <a:solidFill>
                  <a:schemeClr val="bg1"/>
                </a:solidFill>
                <a:latin typeface="Garet" panose="020B0604020202020204" charset="-52"/>
              </a:rPr>
              <a:t>.</a:t>
            </a:r>
          </a:p>
          <a:p>
            <a:endParaRPr lang="ru-RU" sz="3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6A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272161" y="1319394"/>
            <a:ext cx="18288000" cy="5059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❓ Topshiriq: Quyidagi kompaniyalardan qaysi bosqichda deb o‘ylaysiz?</a:t>
            </a:r>
          </a:p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Netflix</a:t>
            </a:r>
          </a:p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Facebook</a:t>
            </a:r>
          </a:p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ChatGPT</a:t>
            </a:r>
          </a:p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Uber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55123" y="8184986"/>
            <a:ext cx="5451515" cy="1133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Tahlil </a:t>
            </a:r>
            <a:r>
              <a:rPr lang="en-US" sz="3200" dirty="0" err="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qilib</a:t>
            </a:r>
            <a:r>
              <a:rPr lang="en-US" sz="32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, 30-40so’zdan </a:t>
            </a:r>
            <a:r>
              <a:rPr lang="en-US" sz="3200" dirty="0" err="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iborat</a:t>
            </a:r>
            <a:r>
              <a:rPr lang="en-US" sz="32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xulosa</a:t>
            </a:r>
            <a:r>
              <a:rPr lang="en-US" sz="32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, </a:t>
            </a:r>
            <a:r>
              <a:rPr lang="en-US" sz="3200" dirty="0" err="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yozma</a:t>
            </a:r>
            <a:endParaRPr lang="en-US" sz="3200" dirty="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6A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08858" y="4884532"/>
            <a:ext cx="4372979" cy="3639592"/>
            <a:chOff x="0" y="0"/>
            <a:chExt cx="1158921" cy="96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58921" cy="964560"/>
            </a:xfrm>
            <a:custGeom>
              <a:avLst/>
              <a:gdLst/>
              <a:ahLst/>
              <a:cxnLst/>
              <a:rect l="l" t="t" r="r" b="b"/>
              <a:pathLst>
                <a:path w="1158921" h="964560">
                  <a:moveTo>
                    <a:pt x="90290" y="0"/>
                  </a:moveTo>
                  <a:lnTo>
                    <a:pt x="1068631" y="0"/>
                  </a:lnTo>
                  <a:cubicBezTo>
                    <a:pt x="1118497" y="0"/>
                    <a:pt x="1158921" y="40424"/>
                    <a:pt x="1158921" y="90290"/>
                  </a:cubicBezTo>
                  <a:lnTo>
                    <a:pt x="1158921" y="874269"/>
                  </a:lnTo>
                  <a:cubicBezTo>
                    <a:pt x="1158921" y="898216"/>
                    <a:pt x="1149408" y="921181"/>
                    <a:pt x="1132475" y="938114"/>
                  </a:cubicBezTo>
                  <a:cubicBezTo>
                    <a:pt x="1115543" y="955047"/>
                    <a:pt x="1092577" y="964560"/>
                    <a:pt x="1068631" y="964560"/>
                  </a:cubicBezTo>
                  <a:lnTo>
                    <a:pt x="90290" y="964560"/>
                  </a:lnTo>
                  <a:cubicBezTo>
                    <a:pt x="66344" y="964560"/>
                    <a:pt x="43378" y="955047"/>
                    <a:pt x="26445" y="938114"/>
                  </a:cubicBezTo>
                  <a:cubicBezTo>
                    <a:pt x="9513" y="921181"/>
                    <a:pt x="0" y="898216"/>
                    <a:pt x="0" y="874269"/>
                  </a:cubicBezTo>
                  <a:lnTo>
                    <a:pt x="0" y="90290"/>
                  </a:lnTo>
                  <a:cubicBezTo>
                    <a:pt x="0" y="66344"/>
                    <a:pt x="9513" y="43378"/>
                    <a:pt x="26445" y="26445"/>
                  </a:cubicBezTo>
                  <a:cubicBezTo>
                    <a:pt x="43378" y="9513"/>
                    <a:pt x="66344" y="0"/>
                    <a:pt x="90290" y="0"/>
                  </a:cubicBezTo>
                  <a:close/>
                </a:path>
              </a:pathLst>
            </a:custGeom>
            <a:solidFill>
              <a:srgbClr val="81B214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158921" cy="993135"/>
            </a:xfrm>
            <a:prstGeom prst="rect">
              <a:avLst/>
            </a:prstGeom>
          </p:spPr>
          <p:txBody>
            <a:bodyPr lIns="52281" tIns="52281" rIns="52281" bIns="5228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31028" y="3021020"/>
            <a:ext cx="6555661" cy="4821351"/>
            <a:chOff x="0" y="0"/>
            <a:chExt cx="1297345" cy="9541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97345" cy="954131"/>
            </a:xfrm>
            <a:custGeom>
              <a:avLst/>
              <a:gdLst/>
              <a:ahLst/>
              <a:cxnLst/>
              <a:rect l="l" t="t" r="r" b="b"/>
              <a:pathLst>
                <a:path w="1297345" h="954131">
                  <a:moveTo>
                    <a:pt x="27162" y="0"/>
                  </a:moveTo>
                  <a:lnTo>
                    <a:pt x="1270183" y="0"/>
                  </a:lnTo>
                  <a:cubicBezTo>
                    <a:pt x="1285185" y="0"/>
                    <a:pt x="1297345" y="12161"/>
                    <a:pt x="1297345" y="27162"/>
                  </a:cubicBezTo>
                  <a:lnTo>
                    <a:pt x="1297345" y="926969"/>
                  </a:lnTo>
                  <a:cubicBezTo>
                    <a:pt x="1297345" y="934173"/>
                    <a:pt x="1294484" y="941081"/>
                    <a:pt x="1289390" y="946175"/>
                  </a:cubicBezTo>
                  <a:cubicBezTo>
                    <a:pt x="1284296" y="951269"/>
                    <a:pt x="1277387" y="954131"/>
                    <a:pt x="1270183" y="954131"/>
                  </a:cubicBezTo>
                  <a:lnTo>
                    <a:pt x="27162" y="954131"/>
                  </a:lnTo>
                  <a:cubicBezTo>
                    <a:pt x="12161" y="954131"/>
                    <a:pt x="0" y="941970"/>
                    <a:pt x="0" y="926969"/>
                  </a:cubicBezTo>
                  <a:lnTo>
                    <a:pt x="0" y="27162"/>
                  </a:lnTo>
                  <a:cubicBezTo>
                    <a:pt x="0" y="12161"/>
                    <a:pt x="12161" y="0"/>
                    <a:pt x="27162" y="0"/>
                  </a:cubicBezTo>
                  <a:close/>
                </a:path>
              </a:pathLst>
            </a:custGeom>
            <a:blipFill>
              <a:blip r:embed="rId2"/>
              <a:stretch>
                <a:fillRect t="-224" b="-224"/>
              </a:stretch>
            </a:blipFill>
          </p:spPr>
        </p:sp>
      </p:grpSp>
      <p:sp>
        <p:nvSpPr>
          <p:cNvPr id="7" name="AutoShape 7"/>
          <p:cNvSpPr/>
          <p:nvPr/>
        </p:nvSpPr>
        <p:spPr>
          <a:xfrm>
            <a:off x="8095078" y="1765553"/>
            <a:ext cx="3534620" cy="0"/>
          </a:xfrm>
          <a:prstGeom prst="line">
            <a:avLst/>
          </a:prstGeom>
          <a:ln w="38100" cap="flat">
            <a:solidFill>
              <a:srgbClr val="A6A4A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1406162" y="3263393"/>
            <a:ext cx="7069240" cy="5075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48"/>
              </a:lnSpc>
            </a:pPr>
            <a:r>
              <a:rPr lang="en-US" sz="10457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THANK YOU FOR YOUR ATTENTION!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640</Words>
  <Application>Microsoft Office PowerPoint</Application>
  <PresentationFormat>Произвольный</PresentationFormat>
  <Paragraphs>76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3" baseType="lpstr">
      <vt:lpstr>Agrandir Narrow</vt:lpstr>
      <vt:lpstr>Wingdings</vt:lpstr>
      <vt:lpstr>Arial</vt:lpstr>
      <vt:lpstr>Garet</vt:lpstr>
      <vt:lpstr>Garet Bold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Lecturer: Nozima Raximova</dc:title>
  <cp:lastModifiedBy>LENOVO</cp:lastModifiedBy>
  <cp:revision>7</cp:revision>
  <dcterms:created xsi:type="dcterms:W3CDTF">2006-08-16T00:00:00Z</dcterms:created>
  <dcterms:modified xsi:type="dcterms:W3CDTF">2025-04-30T14:07:04Z</dcterms:modified>
  <dc:identifier>DAGliBZM75U</dc:identifier>
</cp:coreProperties>
</file>