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70" r:id="rId7"/>
    <p:sldId id="262" r:id="rId8"/>
    <p:sldId id="263" r:id="rId9"/>
    <p:sldId id="264" r:id="rId10"/>
    <p:sldId id="265" r:id="rId11"/>
    <p:sldId id="266" r:id="rId12"/>
    <p:sldId id="267" r:id="rId13"/>
    <p:sldId id="268" r:id="rId14"/>
    <p:sldId id="269" r:id="rId15"/>
    <p:sldId id="271" r:id="rId16"/>
    <p:sldId id="272" r:id="rId17"/>
    <p:sldId id="273" r:id="rId18"/>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75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75DBCA4-EB29-4B4C-B8B7-A2D287131881}"/>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5E0F3A9E-30C8-4BA4-A126-4D00BD1372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1CFF5C57-CF96-4728-BEC2-F17BD91B5AC6}"/>
              </a:ext>
            </a:extLst>
          </p:cNvPr>
          <p:cNvSpPr>
            <a:spLocks noGrp="1"/>
          </p:cNvSpPr>
          <p:nvPr>
            <p:ph type="dt" sz="half" idx="10"/>
          </p:nvPr>
        </p:nvSpPr>
        <p:spPr/>
        <p:txBody>
          <a:bodyPr/>
          <a:lstStyle/>
          <a:p>
            <a:fld id="{DE84B874-49BD-4EFB-A717-09C3AF75EC20}" type="datetimeFigureOut">
              <a:rPr lang="ru-RU" smtClean="0"/>
              <a:t>19.05.2025</a:t>
            </a:fld>
            <a:endParaRPr lang="ru-RU"/>
          </a:p>
        </p:txBody>
      </p:sp>
      <p:sp>
        <p:nvSpPr>
          <p:cNvPr id="5" name="Нижний колонтитул 4">
            <a:extLst>
              <a:ext uri="{FF2B5EF4-FFF2-40B4-BE49-F238E27FC236}">
                <a16:creationId xmlns:a16="http://schemas.microsoft.com/office/drawing/2014/main" id="{53AD59D2-744B-4B67-A27C-A0F0B7DE5FFC}"/>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29A0EEAB-FBD5-45E0-8848-C1633805BC83}"/>
              </a:ext>
            </a:extLst>
          </p:cNvPr>
          <p:cNvSpPr>
            <a:spLocks noGrp="1"/>
          </p:cNvSpPr>
          <p:nvPr>
            <p:ph type="sldNum" sz="quarter" idx="12"/>
          </p:nvPr>
        </p:nvSpPr>
        <p:spPr/>
        <p:txBody>
          <a:bodyPr/>
          <a:lstStyle/>
          <a:p>
            <a:fld id="{BD800669-7C19-4AE4-890B-211190EB865D}" type="slidenum">
              <a:rPr lang="ru-RU" smtClean="0"/>
              <a:t>‹#›</a:t>
            </a:fld>
            <a:endParaRPr lang="ru-RU"/>
          </a:p>
        </p:txBody>
      </p:sp>
    </p:spTree>
    <p:extLst>
      <p:ext uri="{BB962C8B-B14F-4D97-AF65-F5344CB8AC3E}">
        <p14:creationId xmlns:p14="http://schemas.microsoft.com/office/powerpoint/2010/main" val="2528536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7D5D65C-9A0A-4303-8B60-C212DF634592}"/>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F77558CE-CF97-421A-B48A-D7154B1E401A}"/>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24296473-9195-4BF8-9E8C-65947500FA1B}"/>
              </a:ext>
            </a:extLst>
          </p:cNvPr>
          <p:cNvSpPr>
            <a:spLocks noGrp="1"/>
          </p:cNvSpPr>
          <p:nvPr>
            <p:ph type="dt" sz="half" idx="10"/>
          </p:nvPr>
        </p:nvSpPr>
        <p:spPr/>
        <p:txBody>
          <a:bodyPr/>
          <a:lstStyle/>
          <a:p>
            <a:fld id="{DE84B874-49BD-4EFB-A717-09C3AF75EC20}" type="datetimeFigureOut">
              <a:rPr lang="ru-RU" smtClean="0"/>
              <a:t>19.05.2025</a:t>
            </a:fld>
            <a:endParaRPr lang="ru-RU"/>
          </a:p>
        </p:txBody>
      </p:sp>
      <p:sp>
        <p:nvSpPr>
          <p:cNvPr id="5" name="Нижний колонтитул 4">
            <a:extLst>
              <a:ext uri="{FF2B5EF4-FFF2-40B4-BE49-F238E27FC236}">
                <a16:creationId xmlns:a16="http://schemas.microsoft.com/office/drawing/2014/main" id="{FF1AB0BB-9D6F-4340-9850-7951027DEB8D}"/>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C51B852C-B900-42E7-ABBB-E4D42CA24481}"/>
              </a:ext>
            </a:extLst>
          </p:cNvPr>
          <p:cNvSpPr>
            <a:spLocks noGrp="1"/>
          </p:cNvSpPr>
          <p:nvPr>
            <p:ph type="sldNum" sz="quarter" idx="12"/>
          </p:nvPr>
        </p:nvSpPr>
        <p:spPr/>
        <p:txBody>
          <a:bodyPr/>
          <a:lstStyle/>
          <a:p>
            <a:fld id="{BD800669-7C19-4AE4-890B-211190EB865D}" type="slidenum">
              <a:rPr lang="ru-RU" smtClean="0"/>
              <a:t>‹#›</a:t>
            </a:fld>
            <a:endParaRPr lang="ru-RU"/>
          </a:p>
        </p:txBody>
      </p:sp>
    </p:spTree>
    <p:extLst>
      <p:ext uri="{BB962C8B-B14F-4D97-AF65-F5344CB8AC3E}">
        <p14:creationId xmlns:p14="http://schemas.microsoft.com/office/powerpoint/2010/main" val="42244859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17A3868-9B95-4B73-AFD6-532B89EC66D5}"/>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41682F11-CC57-4B68-8ADC-19DEEE8EC79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34BA357D-05FB-47E1-88C5-F39587CFD092}"/>
              </a:ext>
            </a:extLst>
          </p:cNvPr>
          <p:cNvSpPr>
            <a:spLocks noGrp="1"/>
          </p:cNvSpPr>
          <p:nvPr>
            <p:ph type="dt" sz="half" idx="10"/>
          </p:nvPr>
        </p:nvSpPr>
        <p:spPr/>
        <p:txBody>
          <a:bodyPr/>
          <a:lstStyle/>
          <a:p>
            <a:fld id="{DE84B874-49BD-4EFB-A717-09C3AF75EC20}" type="datetimeFigureOut">
              <a:rPr lang="ru-RU" smtClean="0"/>
              <a:t>19.05.2025</a:t>
            </a:fld>
            <a:endParaRPr lang="ru-RU"/>
          </a:p>
        </p:txBody>
      </p:sp>
      <p:sp>
        <p:nvSpPr>
          <p:cNvPr id="5" name="Нижний колонтитул 4">
            <a:extLst>
              <a:ext uri="{FF2B5EF4-FFF2-40B4-BE49-F238E27FC236}">
                <a16:creationId xmlns:a16="http://schemas.microsoft.com/office/drawing/2014/main" id="{519AEEE3-2535-4B62-A39C-92265DBC38A0}"/>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2A4BCD68-6C44-481E-8565-48E9B4D612CE}"/>
              </a:ext>
            </a:extLst>
          </p:cNvPr>
          <p:cNvSpPr>
            <a:spLocks noGrp="1"/>
          </p:cNvSpPr>
          <p:nvPr>
            <p:ph type="sldNum" sz="quarter" idx="12"/>
          </p:nvPr>
        </p:nvSpPr>
        <p:spPr/>
        <p:txBody>
          <a:bodyPr/>
          <a:lstStyle/>
          <a:p>
            <a:fld id="{BD800669-7C19-4AE4-890B-211190EB865D}" type="slidenum">
              <a:rPr lang="ru-RU" smtClean="0"/>
              <a:t>‹#›</a:t>
            </a:fld>
            <a:endParaRPr lang="ru-RU"/>
          </a:p>
        </p:txBody>
      </p:sp>
    </p:spTree>
    <p:extLst>
      <p:ext uri="{BB962C8B-B14F-4D97-AF65-F5344CB8AC3E}">
        <p14:creationId xmlns:p14="http://schemas.microsoft.com/office/powerpoint/2010/main" val="1114991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852E6C3-F361-4B95-B201-E366A369E261}"/>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D46555F1-E08B-471C-82D4-805E8336180E}"/>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E4C2D699-49AF-43A0-944E-0951B6FE55F6}"/>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D88B3578-3CA4-4876-BA10-513C540BFA7C}"/>
              </a:ext>
            </a:extLst>
          </p:cNvPr>
          <p:cNvSpPr>
            <a:spLocks noGrp="1"/>
          </p:cNvSpPr>
          <p:nvPr>
            <p:ph type="dt" sz="half" idx="10"/>
          </p:nvPr>
        </p:nvSpPr>
        <p:spPr/>
        <p:txBody>
          <a:bodyPr/>
          <a:lstStyle/>
          <a:p>
            <a:fld id="{DE84B874-49BD-4EFB-A717-09C3AF75EC20}" type="datetimeFigureOut">
              <a:rPr lang="ru-RU" smtClean="0"/>
              <a:t>19.05.2025</a:t>
            </a:fld>
            <a:endParaRPr lang="ru-RU"/>
          </a:p>
        </p:txBody>
      </p:sp>
      <p:sp>
        <p:nvSpPr>
          <p:cNvPr id="6" name="Нижний колонтитул 5">
            <a:extLst>
              <a:ext uri="{FF2B5EF4-FFF2-40B4-BE49-F238E27FC236}">
                <a16:creationId xmlns:a16="http://schemas.microsoft.com/office/drawing/2014/main" id="{E2C0902A-69F4-4F5F-A3CF-BFCCDE3B9D16}"/>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0293847D-F5C9-48F3-A0D3-19E94D32A278}"/>
              </a:ext>
            </a:extLst>
          </p:cNvPr>
          <p:cNvSpPr>
            <a:spLocks noGrp="1"/>
          </p:cNvSpPr>
          <p:nvPr>
            <p:ph type="sldNum" sz="quarter" idx="12"/>
          </p:nvPr>
        </p:nvSpPr>
        <p:spPr/>
        <p:txBody>
          <a:bodyPr/>
          <a:lstStyle/>
          <a:p>
            <a:fld id="{BD800669-7C19-4AE4-890B-211190EB865D}" type="slidenum">
              <a:rPr lang="ru-RU" smtClean="0"/>
              <a:t>‹#›</a:t>
            </a:fld>
            <a:endParaRPr lang="ru-RU"/>
          </a:p>
        </p:txBody>
      </p:sp>
    </p:spTree>
    <p:extLst>
      <p:ext uri="{BB962C8B-B14F-4D97-AF65-F5344CB8AC3E}">
        <p14:creationId xmlns:p14="http://schemas.microsoft.com/office/powerpoint/2010/main" val="24234162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CD82620-D0F4-432A-8083-ABB39B1419FD}"/>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3BAC8741-4CE8-424A-B613-FB452702658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BF66A52B-71BE-4C72-BD6E-B626A3EAD894}"/>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A148B4C6-E11E-45E6-AEDD-EDF96E5F65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1E5FF76D-0412-4D65-88D8-C24F1F147E3C}"/>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340CAC8E-29A4-4B9A-83C8-0402B760137F}"/>
              </a:ext>
            </a:extLst>
          </p:cNvPr>
          <p:cNvSpPr>
            <a:spLocks noGrp="1"/>
          </p:cNvSpPr>
          <p:nvPr>
            <p:ph type="dt" sz="half" idx="10"/>
          </p:nvPr>
        </p:nvSpPr>
        <p:spPr/>
        <p:txBody>
          <a:bodyPr/>
          <a:lstStyle/>
          <a:p>
            <a:fld id="{DE84B874-49BD-4EFB-A717-09C3AF75EC20}" type="datetimeFigureOut">
              <a:rPr lang="ru-RU" smtClean="0"/>
              <a:t>19.05.2025</a:t>
            </a:fld>
            <a:endParaRPr lang="ru-RU"/>
          </a:p>
        </p:txBody>
      </p:sp>
      <p:sp>
        <p:nvSpPr>
          <p:cNvPr id="8" name="Нижний колонтитул 7">
            <a:extLst>
              <a:ext uri="{FF2B5EF4-FFF2-40B4-BE49-F238E27FC236}">
                <a16:creationId xmlns:a16="http://schemas.microsoft.com/office/drawing/2014/main" id="{DDE89FEA-E4B4-4C87-98C0-E2D236D438AD}"/>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D277E60D-8F20-4745-9D6C-0EBBD313D5F1}"/>
              </a:ext>
            </a:extLst>
          </p:cNvPr>
          <p:cNvSpPr>
            <a:spLocks noGrp="1"/>
          </p:cNvSpPr>
          <p:nvPr>
            <p:ph type="sldNum" sz="quarter" idx="12"/>
          </p:nvPr>
        </p:nvSpPr>
        <p:spPr/>
        <p:txBody>
          <a:bodyPr/>
          <a:lstStyle/>
          <a:p>
            <a:fld id="{BD800669-7C19-4AE4-890B-211190EB865D}" type="slidenum">
              <a:rPr lang="ru-RU" smtClean="0"/>
              <a:t>‹#›</a:t>
            </a:fld>
            <a:endParaRPr lang="ru-RU"/>
          </a:p>
        </p:txBody>
      </p:sp>
    </p:spTree>
    <p:extLst>
      <p:ext uri="{BB962C8B-B14F-4D97-AF65-F5344CB8AC3E}">
        <p14:creationId xmlns:p14="http://schemas.microsoft.com/office/powerpoint/2010/main" val="3887959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3C55EF8-BD64-4C18-A886-47F582EE17A9}"/>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C367DBA3-B4E9-4F7C-81C6-0D59C2776778}"/>
              </a:ext>
            </a:extLst>
          </p:cNvPr>
          <p:cNvSpPr>
            <a:spLocks noGrp="1"/>
          </p:cNvSpPr>
          <p:nvPr>
            <p:ph type="dt" sz="half" idx="10"/>
          </p:nvPr>
        </p:nvSpPr>
        <p:spPr/>
        <p:txBody>
          <a:bodyPr/>
          <a:lstStyle/>
          <a:p>
            <a:fld id="{DE84B874-49BD-4EFB-A717-09C3AF75EC20}" type="datetimeFigureOut">
              <a:rPr lang="ru-RU" smtClean="0"/>
              <a:t>19.05.2025</a:t>
            </a:fld>
            <a:endParaRPr lang="ru-RU"/>
          </a:p>
        </p:txBody>
      </p:sp>
      <p:sp>
        <p:nvSpPr>
          <p:cNvPr id="4" name="Нижний колонтитул 3">
            <a:extLst>
              <a:ext uri="{FF2B5EF4-FFF2-40B4-BE49-F238E27FC236}">
                <a16:creationId xmlns:a16="http://schemas.microsoft.com/office/drawing/2014/main" id="{99E4D6C5-CA80-434D-8B49-E6601794A642}"/>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66E36FE9-6CE6-48B4-98E9-F75E3DBF5759}"/>
              </a:ext>
            </a:extLst>
          </p:cNvPr>
          <p:cNvSpPr>
            <a:spLocks noGrp="1"/>
          </p:cNvSpPr>
          <p:nvPr>
            <p:ph type="sldNum" sz="quarter" idx="12"/>
          </p:nvPr>
        </p:nvSpPr>
        <p:spPr/>
        <p:txBody>
          <a:bodyPr/>
          <a:lstStyle/>
          <a:p>
            <a:fld id="{BD800669-7C19-4AE4-890B-211190EB865D}" type="slidenum">
              <a:rPr lang="ru-RU" smtClean="0"/>
              <a:t>‹#›</a:t>
            </a:fld>
            <a:endParaRPr lang="ru-RU"/>
          </a:p>
        </p:txBody>
      </p:sp>
    </p:spTree>
    <p:extLst>
      <p:ext uri="{BB962C8B-B14F-4D97-AF65-F5344CB8AC3E}">
        <p14:creationId xmlns:p14="http://schemas.microsoft.com/office/powerpoint/2010/main" val="8029368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BA99AA8B-08C8-4FF1-B555-226D3282CF96}"/>
              </a:ext>
            </a:extLst>
          </p:cNvPr>
          <p:cNvSpPr>
            <a:spLocks noGrp="1"/>
          </p:cNvSpPr>
          <p:nvPr>
            <p:ph type="dt" sz="half" idx="10"/>
          </p:nvPr>
        </p:nvSpPr>
        <p:spPr/>
        <p:txBody>
          <a:bodyPr/>
          <a:lstStyle/>
          <a:p>
            <a:fld id="{DE84B874-49BD-4EFB-A717-09C3AF75EC20}" type="datetimeFigureOut">
              <a:rPr lang="ru-RU" smtClean="0"/>
              <a:t>19.05.2025</a:t>
            </a:fld>
            <a:endParaRPr lang="ru-RU"/>
          </a:p>
        </p:txBody>
      </p:sp>
      <p:sp>
        <p:nvSpPr>
          <p:cNvPr id="3" name="Нижний колонтитул 2">
            <a:extLst>
              <a:ext uri="{FF2B5EF4-FFF2-40B4-BE49-F238E27FC236}">
                <a16:creationId xmlns:a16="http://schemas.microsoft.com/office/drawing/2014/main" id="{A86BFC4C-3515-4A44-BCE7-4A65B794DDD6}"/>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7B9804BA-3219-4F7A-888A-C19B592E5BE1}"/>
              </a:ext>
            </a:extLst>
          </p:cNvPr>
          <p:cNvSpPr>
            <a:spLocks noGrp="1"/>
          </p:cNvSpPr>
          <p:nvPr>
            <p:ph type="sldNum" sz="quarter" idx="12"/>
          </p:nvPr>
        </p:nvSpPr>
        <p:spPr/>
        <p:txBody>
          <a:bodyPr/>
          <a:lstStyle/>
          <a:p>
            <a:fld id="{BD800669-7C19-4AE4-890B-211190EB865D}" type="slidenum">
              <a:rPr lang="ru-RU" smtClean="0"/>
              <a:t>‹#›</a:t>
            </a:fld>
            <a:endParaRPr lang="ru-RU"/>
          </a:p>
        </p:txBody>
      </p:sp>
    </p:spTree>
    <p:extLst>
      <p:ext uri="{BB962C8B-B14F-4D97-AF65-F5344CB8AC3E}">
        <p14:creationId xmlns:p14="http://schemas.microsoft.com/office/powerpoint/2010/main" val="3461913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3764B6-1040-49B2-B20D-8C85CE579F5A}"/>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DEEB81A9-0536-4B8A-964A-B92F6E551D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715D2826-061D-49A3-9925-948AAFE33D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F8A4E512-E26D-4FCA-A2E7-BA0FD308FD1D}"/>
              </a:ext>
            </a:extLst>
          </p:cNvPr>
          <p:cNvSpPr>
            <a:spLocks noGrp="1"/>
          </p:cNvSpPr>
          <p:nvPr>
            <p:ph type="dt" sz="half" idx="10"/>
          </p:nvPr>
        </p:nvSpPr>
        <p:spPr/>
        <p:txBody>
          <a:bodyPr/>
          <a:lstStyle/>
          <a:p>
            <a:fld id="{DE84B874-49BD-4EFB-A717-09C3AF75EC20}" type="datetimeFigureOut">
              <a:rPr lang="ru-RU" smtClean="0"/>
              <a:t>19.05.2025</a:t>
            </a:fld>
            <a:endParaRPr lang="ru-RU"/>
          </a:p>
        </p:txBody>
      </p:sp>
      <p:sp>
        <p:nvSpPr>
          <p:cNvPr id="6" name="Нижний колонтитул 5">
            <a:extLst>
              <a:ext uri="{FF2B5EF4-FFF2-40B4-BE49-F238E27FC236}">
                <a16:creationId xmlns:a16="http://schemas.microsoft.com/office/drawing/2014/main" id="{5B023B6B-77C0-4310-B022-ED617D1A24D5}"/>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5EB1EEA1-8E38-4CD9-A039-6905B4CEAA0F}"/>
              </a:ext>
            </a:extLst>
          </p:cNvPr>
          <p:cNvSpPr>
            <a:spLocks noGrp="1"/>
          </p:cNvSpPr>
          <p:nvPr>
            <p:ph type="sldNum" sz="quarter" idx="12"/>
          </p:nvPr>
        </p:nvSpPr>
        <p:spPr/>
        <p:txBody>
          <a:bodyPr/>
          <a:lstStyle/>
          <a:p>
            <a:fld id="{BD800669-7C19-4AE4-890B-211190EB865D}" type="slidenum">
              <a:rPr lang="ru-RU" smtClean="0"/>
              <a:t>‹#›</a:t>
            </a:fld>
            <a:endParaRPr lang="ru-RU"/>
          </a:p>
        </p:txBody>
      </p:sp>
    </p:spTree>
    <p:extLst>
      <p:ext uri="{BB962C8B-B14F-4D97-AF65-F5344CB8AC3E}">
        <p14:creationId xmlns:p14="http://schemas.microsoft.com/office/powerpoint/2010/main" val="24315226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F7EF657-3128-4A5B-B16F-EC33E48256B1}"/>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65E76543-B46C-4D70-A48A-D0AF43F792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07A0291B-F1E1-424E-88DE-31F3C8571C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B5BD7C76-0B74-458C-AEB0-DCD521B573EE}"/>
              </a:ext>
            </a:extLst>
          </p:cNvPr>
          <p:cNvSpPr>
            <a:spLocks noGrp="1"/>
          </p:cNvSpPr>
          <p:nvPr>
            <p:ph type="dt" sz="half" idx="10"/>
          </p:nvPr>
        </p:nvSpPr>
        <p:spPr/>
        <p:txBody>
          <a:bodyPr/>
          <a:lstStyle/>
          <a:p>
            <a:fld id="{DE84B874-49BD-4EFB-A717-09C3AF75EC20}" type="datetimeFigureOut">
              <a:rPr lang="ru-RU" smtClean="0"/>
              <a:t>19.05.2025</a:t>
            </a:fld>
            <a:endParaRPr lang="ru-RU"/>
          </a:p>
        </p:txBody>
      </p:sp>
      <p:sp>
        <p:nvSpPr>
          <p:cNvPr id="6" name="Нижний колонтитул 5">
            <a:extLst>
              <a:ext uri="{FF2B5EF4-FFF2-40B4-BE49-F238E27FC236}">
                <a16:creationId xmlns:a16="http://schemas.microsoft.com/office/drawing/2014/main" id="{50E03941-A4F8-4E79-8029-4DCA2E9B7DDF}"/>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60DAD7B2-4C2E-4C77-87E4-78EDD34DEFA0}"/>
              </a:ext>
            </a:extLst>
          </p:cNvPr>
          <p:cNvSpPr>
            <a:spLocks noGrp="1"/>
          </p:cNvSpPr>
          <p:nvPr>
            <p:ph type="sldNum" sz="quarter" idx="12"/>
          </p:nvPr>
        </p:nvSpPr>
        <p:spPr/>
        <p:txBody>
          <a:bodyPr/>
          <a:lstStyle/>
          <a:p>
            <a:fld id="{BD800669-7C19-4AE4-890B-211190EB865D}" type="slidenum">
              <a:rPr lang="ru-RU" smtClean="0"/>
              <a:t>‹#›</a:t>
            </a:fld>
            <a:endParaRPr lang="ru-RU"/>
          </a:p>
        </p:txBody>
      </p:sp>
    </p:spTree>
    <p:extLst>
      <p:ext uri="{BB962C8B-B14F-4D97-AF65-F5344CB8AC3E}">
        <p14:creationId xmlns:p14="http://schemas.microsoft.com/office/powerpoint/2010/main" val="2686947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987ADAE-6668-4DC5-BD08-7B9F69EA6EB4}"/>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82D31696-6CBF-44C6-A68C-828A977D4B5E}"/>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F5D553C6-02EA-4F80-AB6D-63D06347B6F5}"/>
              </a:ext>
            </a:extLst>
          </p:cNvPr>
          <p:cNvSpPr>
            <a:spLocks noGrp="1"/>
          </p:cNvSpPr>
          <p:nvPr>
            <p:ph type="dt" sz="half" idx="10"/>
          </p:nvPr>
        </p:nvSpPr>
        <p:spPr/>
        <p:txBody>
          <a:bodyPr/>
          <a:lstStyle/>
          <a:p>
            <a:fld id="{DE84B874-49BD-4EFB-A717-09C3AF75EC20}" type="datetimeFigureOut">
              <a:rPr lang="ru-RU" smtClean="0"/>
              <a:t>19.05.2025</a:t>
            </a:fld>
            <a:endParaRPr lang="ru-RU"/>
          </a:p>
        </p:txBody>
      </p:sp>
      <p:sp>
        <p:nvSpPr>
          <p:cNvPr id="5" name="Нижний колонтитул 4">
            <a:extLst>
              <a:ext uri="{FF2B5EF4-FFF2-40B4-BE49-F238E27FC236}">
                <a16:creationId xmlns:a16="http://schemas.microsoft.com/office/drawing/2014/main" id="{FB89F62D-D5CC-433B-9D01-FFB22652823B}"/>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97E0A4EF-9479-4C0D-94F5-508410630F24}"/>
              </a:ext>
            </a:extLst>
          </p:cNvPr>
          <p:cNvSpPr>
            <a:spLocks noGrp="1"/>
          </p:cNvSpPr>
          <p:nvPr>
            <p:ph type="sldNum" sz="quarter" idx="12"/>
          </p:nvPr>
        </p:nvSpPr>
        <p:spPr/>
        <p:txBody>
          <a:bodyPr/>
          <a:lstStyle/>
          <a:p>
            <a:fld id="{BD800669-7C19-4AE4-890B-211190EB865D}" type="slidenum">
              <a:rPr lang="ru-RU" smtClean="0"/>
              <a:t>‹#›</a:t>
            </a:fld>
            <a:endParaRPr lang="ru-RU"/>
          </a:p>
        </p:txBody>
      </p:sp>
    </p:spTree>
    <p:extLst>
      <p:ext uri="{BB962C8B-B14F-4D97-AF65-F5344CB8AC3E}">
        <p14:creationId xmlns:p14="http://schemas.microsoft.com/office/powerpoint/2010/main" val="654067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60EBE890-B913-483E-80FB-22A0E3CC6A8D}"/>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C7B2FBD9-4D7E-4F77-B196-80D43224D451}"/>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AE7E0024-3583-4CAD-8517-B4B6F025D1AD}"/>
              </a:ext>
            </a:extLst>
          </p:cNvPr>
          <p:cNvSpPr>
            <a:spLocks noGrp="1"/>
          </p:cNvSpPr>
          <p:nvPr>
            <p:ph type="dt" sz="half" idx="10"/>
          </p:nvPr>
        </p:nvSpPr>
        <p:spPr/>
        <p:txBody>
          <a:bodyPr/>
          <a:lstStyle/>
          <a:p>
            <a:fld id="{DE84B874-49BD-4EFB-A717-09C3AF75EC20}" type="datetimeFigureOut">
              <a:rPr lang="ru-RU" smtClean="0"/>
              <a:t>19.05.2025</a:t>
            </a:fld>
            <a:endParaRPr lang="ru-RU"/>
          </a:p>
        </p:txBody>
      </p:sp>
      <p:sp>
        <p:nvSpPr>
          <p:cNvPr id="5" name="Нижний колонтитул 4">
            <a:extLst>
              <a:ext uri="{FF2B5EF4-FFF2-40B4-BE49-F238E27FC236}">
                <a16:creationId xmlns:a16="http://schemas.microsoft.com/office/drawing/2014/main" id="{150E86F8-FF5B-4FC4-8728-26BAFEDD09E3}"/>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0A722DBB-9439-4D2B-8445-E0B97DC12630}"/>
              </a:ext>
            </a:extLst>
          </p:cNvPr>
          <p:cNvSpPr>
            <a:spLocks noGrp="1"/>
          </p:cNvSpPr>
          <p:nvPr>
            <p:ph type="sldNum" sz="quarter" idx="12"/>
          </p:nvPr>
        </p:nvSpPr>
        <p:spPr/>
        <p:txBody>
          <a:bodyPr/>
          <a:lstStyle/>
          <a:p>
            <a:fld id="{BD800669-7C19-4AE4-890B-211190EB865D}" type="slidenum">
              <a:rPr lang="ru-RU" smtClean="0"/>
              <a:t>‹#›</a:t>
            </a:fld>
            <a:endParaRPr lang="ru-RU"/>
          </a:p>
        </p:txBody>
      </p:sp>
    </p:spTree>
    <p:extLst>
      <p:ext uri="{BB962C8B-B14F-4D97-AF65-F5344CB8AC3E}">
        <p14:creationId xmlns:p14="http://schemas.microsoft.com/office/powerpoint/2010/main" val="4005545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E149247-31C7-408B-8159-5E998346B4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A0B84B68-8B97-440C-86AE-8CF549EE66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14964A46-2CAD-44C3-8EEE-18198E64CA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84B874-49BD-4EFB-A717-09C3AF75EC20}" type="datetimeFigureOut">
              <a:rPr lang="ru-RU" smtClean="0"/>
              <a:t>19.05.2025</a:t>
            </a:fld>
            <a:endParaRPr lang="ru-RU"/>
          </a:p>
        </p:txBody>
      </p:sp>
      <p:sp>
        <p:nvSpPr>
          <p:cNvPr id="5" name="Нижний колонтитул 4">
            <a:extLst>
              <a:ext uri="{FF2B5EF4-FFF2-40B4-BE49-F238E27FC236}">
                <a16:creationId xmlns:a16="http://schemas.microsoft.com/office/drawing/2014/main" id="{7BCC2217-5F02-4F97-8551-D281F294A8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322E7D40-13D1-4491-B1F3-074C1D39BB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800669-7C19-4AE4-890B-211190EB865D}" type="slidenum">
              <a:rPr lang="ru-RU" smtClean="0"/>
              <a:t>‹#›</a:t>
            </a:fld>
            <a:endParaRPr lang="ru-RU"/>
          </a:p>
        </p:txBody>
      </p:sp>
    </p:spTree>
    <p:extLst>
      <p:ext uri="{BB962C8B-B14F-4D97-AF65-F5344CB8AC3E}">
        <p14:creationId xmlns:p14="http://schemas.microsoft.com/office/powerpoint/2010/main" val="16200903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a:extLst>
              <a:ext uri="{FF2B5EF4-FFF2-40B4-BE49-F238E27FC236}">
                <a16:creationId xmlns:a16="http://schemas.microsoft.com/office/drawing/2014/main" id="{7BB995DA-F83D-4050-9F6D-24717ECD1B53}"/>
              </a:ext>
            </a:extLst>
          </p:cNvPr>
          <p:cNvSpPr/>
          <p:nvPr/>
        </p:nvSpPr>
        <p:spPr>
          <a:xfrm>
            <a:off x="1209674" y="620494"/>
            <a:ext cx="10163175" cy="1938992"/>
          </a:xfrm>
          <a:prstGeom prst="rect">
            <a:avLst/>
          </a:prstGeom>
        </p:spPr>
        <p:txBody>
          <a:bodyPr wrap="square">
            <a:spAutoFit/>
          </a:bodyPr>
          <a:lstStyle/>
          <a:p>
            <a:r>
              <a:rPr lang="en-US" sz="4000" b="1" dirty="0" err="1">
                <a:ea typeface="Times New Roman" panose="02020603050405020304" pitchFamily="18" charset="0"/>
              </a:rPr>
              <a:t>Mavzu</a:t>
            </a:r>
            <a:r>
              <a:rPr lang="en-US" sz="4000" b="1" dirty="0">
                <a:ea typeface="Times New Roman" panose="02020603050405020304" pitchFamily="18" charset="0"/>
              </a:rPr>
              <a:t>: </a:t>
            </a:r>
            <a:r>
              <a:rPr lang="ru-RU" sz="4000" b="1" dirty="0" err="1">
                <a:ea typeface="Times New Roman" panose="02020603050405020304" pitchFamily="18" charset="0"/>
              </a:rPr>
              <a:t>Investitsiya</a:t>
            </a:r>
            <a:r>
              <a:rPr lang="ru-RU" sz="4000" b="1" dirty="0">
                <a:ea typeface="Times New Roman" panose="02020603050405020304" pitchFamily="18" charset="0"/>
              </a:rPr>
              <a:t> </a:t>
            </a:r>
            <a:r>
              <a:rPr lang="ru-RU" sz="4000" b="1" dirty="0" err="1">
                <a:ea typeface="Times New Roman" panose="02020603050405020304" pitchFamily="18" charset="0"/>
              </a:rPr>
              <a:t>samaradorligini</a:t>
            </a:r>
            <a:r>
              <a:rPr lang="ru-RU" sz="4000" b="1" dirty="0">
                <a:ea typeface="Times New Roman" panose="02020603050405020304" pitchFamily="18" charset="0"/>
              </a:rPr>
              <a:t> (ROI) </a:t>
            </a:r>
            <a:r>
              <a:rPr lang="ru-RU" sz="4000" b="1" dirty="0" err="1">
                <a:ea typeface="Times New Roman" panose="02020603050405020304" pitchFamily="18" charset="0"/>
              </a:rPr>
              <a:t>o‘lchash</a:t>
            </a:r>
            <a:r>
              <a:rPr lang="en-US" sz="4000" b="1" dirty="0">
                <a:ea typeface="Times New Roman" panose="02020603050405020304" pitchFamily="18" charset="0"/>
              </a:rPr>
              <a:t>, </a:t>
            </a:r>
            <a:r>
              <a:rPr lang="ru-RU" sz="4000" b="1" dirty="0">
                <a:ea typeface="Times New Roman" panose="02020603050405020304" pitchFamily="18" charset="0"/>
              </a:rPr>
              <a:t>(IP) </a:t>
            </a:r>
            <a:r>
              <a:rPr lang="ru-RU" sz="4000" b="1" dirty="0" err="1">
                <a:ea typeface="Times New Roman" panose="02020603050405020304" pitchFamily="18" charset="0"/>
              </a:rPr>
              <a:t>himoya</a:t>
            </a:r>
            <a:r>
              <a:rPr lang="ru-RU" sz="4000" b="1" dirty="0">
                <a:ea typeface="Times New Roman" panose="02020603050405020304" pitchFamily="18" charset="0"/>
              </a:rPr>
              <a:t> </a:t>
            </a:r>
            <a:r>
              <a:rPr lang="ru-RU" sz="4000" b="1" dirty="0" err="1">
                <a:ea typeface="Times New Roman" panose="02020603050405020304" pitchFamily="18" charset="0"/>
              </a:rPr>
              <a:t>qilish</a:t>
            </a:r>
            <a:r>
              <a:rPr lang="en-US" sz="4000" b="1" dirty="0">
                <a:ea typeface="Times New Roman" panose="02020603050405020304" pitchFamily="18" charset="0"/>
              </a:rPr>
              <a:t>. </a:t>
            </a:r>
            <a:r>
              <a:rPr lang="en-US" sz="4000" b="1" dirty="0" err="1"/>
              <a:t>Intellektual</a:t>
            </a:r>
            <a:r>
              <a:rPr lang="en-US" sz="4000" b="1" dirty="0"/>
              <a:t> </a:t>
            </a:r>
            <a:r>
              <a:rPr lang="en-US" sz="4000" b="1" dirty="0" err="1"/>
              <a:t>mulk</a:t>
            </a:r>
            <a:r>
              <a:rPr lang="en-US" sz="4000" b="1" dirty="0"/>
              <a:t> </a:t>
            </a:r>
            <a:r>
              <a:rPr lang="en-US" sz="4000" b="1" dirty="0" err="1"/>
              <a:t>vositalari</a:t>
            </a:r>
            <a:r>
              <a:rPr lang="en-US" sz="4000" b="1" dirty="0"/>
              <a:t>, </a:t>
            </a:r>
            <a:r>
              <a:rPr lang="en-US" sz="4000" b="1" dirty="0" err="1"/>
              <a:t>brending</a:t>
            </a:r>
            <a:r>
              <a:rPr lang="en-US" sz="4000" b="1" dirty="0"/>
              <a:t> </a:t>
            </a:r>
            <a:r>
              <a:rPr lang="en-US" sz="4000" b="1" dirty="0" err="1"/>
              <a:t>va</a:t>
            </a:r>
            <a:r>
              <a:rPr lang="en-US" sz="4000" b="1" dirty="0"/>
              <a:t> </a:t>
            </a:r>
            <a:r>
              <a:rPr lang="en-US" sz="4000" b="1" dirty="0" err="1"/>
              <a:t>ochiq</a:t>
            </a:r>
            <a:r>
              <a:rPr lang="en-US" sz="4000" b="1" dirty="0"/>
              <a:t> </a:t>
            </a:r>
            <a:r>
              <a:rPr lang="en-US" sz="4000" b="1" dirty="0" err="1"/>
              <a:t>innovatsiya</a:t>
            </a:r>
            <a:r>
              <a:rPr lang="en-US" sz="4000" b="1" dirty="0"/>
              <a:t>.</a:t>
            </a:r>
            <a:endParaRPr lang="ru-RU" sz="4000" b="1" dirty="0"/>
          </a:p>
        </p:txBody>
      </p:sp>
      <p:pic>
        <p:nvPicPr>
          <p:cNvPr id="1026" name="Picture 2" descr="What is ROI? | Salesbook">
            <a:extLst>
              <a:ext uri="{FF2B5EF4-FFF2-40B4-BE49-F238E27FC236}">
                <a16:creationId xmlns:a16="http://schemas.microsoft.com/office/drawing/2014/main" id="{EFFAC181-E6FC-497A-A5EF-7B7C124250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78650" y="3264308"/>
            <a:ext cx="5213350" cy="359369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he Importance of Branding: 7 Reasons Why Small Business Needs It">
            <a:extLst>
              <a:ext uri="{FF2B5EF4-FFF2-40B4-BE49-F238E27FC236}">
                <a16:creationId xmlns:a16="http://schemas.microsoft.com/office/drawing/2014/main" id="{B2EFD13D-1B70-4656-9B4B-54E228EAE8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264308"/>
            <a:ext cx="5396050" cy="35936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59068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8FBC22F-3978-44C5-A990-5E96438B0358}"/>
              </a:ext>
            </a:extLst>
          </p:cNvPr>
          <p:cNvSpPr>
            <a:spLocks noGrp="1"/>
          </p:cNvSpPr>
          <p:nvPr>
            <p:ph type="title"/>
          </p:nvPr>
        </p:nvSpPr>
        <p:spPr>
          <a:xfrm>
            <a:off x="1238250" y="327025"/>
            <a:ext cx="10515600" cy="1325563"/>
          </a:xfrm>
        </p:spPr>
        <p:txBody>
          <a:bodyPr>
            <a:normAutofit/>
          </a:bodyPr>
          <a:lstStyle/>
          <a:p>
            <a:r>
              <a:rPr lang="en-US" sz="4800" b="1" dirty="0" err="1"/>
              <a:t>Reja</a:t>
            </a:r>
            <a:r>
              <a:rPr lang="en-US" sz="4800" b="1" dirty="0"/>
              <a:t>:</a:t>
            </a:r>
            <a:endParaRPr lang="ru-RU" sz="4800" b="1" dirty="0"/>
          </a:p>
        </p:txBody>
      </p:sp>
      <p:sp>
        <p:nvSpPr>
          <p:cNvPr id="3" name="Объект 2">
            <a:extLst>
              <a:ext uri="{FF2B5EF4-FFF2-40B4-BE49-F238E27FC236}">
                <a16:creationId xmlns:a16="http://schemas.microsoft.com/office/drawing/2014/main" id="{8F5D5176-EF91-42A4-941D-2D0F7F7F6F6D}"/>
              </a:ext>
            </a:extLst>
          </p:cNvPr>
          <p:cNvSpPr>
            <a:spLocks noGrp="1"/>
          </p:cNvSpPr>
          <p:nvPr>
            <p:ph idx="1"/>
          </p:nvPr>
        </p:nvSpPr>
        <p:spPr>
          <a:xfrm>
            <a:off x="838200" y="1825625"/>
            <a:ext cx="4886325" cy="4351338"/>
          </a:xfrm>
        </p:spPr>
        <p:txBody>
          <a:bodyPr>
            <a:normAutofit/>
          </a:bodyPr>
          <a:lstStyle/>
          <a:p>
            <a:pPr>
              <a:buFont typeface="Wingdings" panose="05000000000000000000" pitchFamily="2" charset="2"/>
              <a:buChar char="Ø"/>
            </a:pPr>
            <a:r>
              <a:rPr lang="en-US" sz="3600" dirty="0"/>
              <a:t>ROI </a:t>
            </a:r>
            <a:r>
              <a:rPr lang="en-US" sz="3600" dirty="0" err="1"/>
              <a:t>nima</a:t>
            </a:r>
            <a:r>
              <a:rPr lang="en-US" sz="3600" dirty="0"/>
              <a:t>?</a:t>
            </a:r>
          </a:p>
          <a:p>
            <a:pPr>
              <a:buFont typeface="Wingdings" panose="05000000000000000000" pitchFamily="2" charset="2"/>
              <a:buChar char="Ø"/>
            </a:pPr>
            <a:r>
              <a:rPr lang="en-US" sz="3600" dirty="0"/>
              <a:t>IP </a:t>
            </a:r>
            <a:r>
              <a:rPr lang="en-US" sz="3600" dirty="0" err="1"/>
              <a:t>ni</a:t>
            </a:r>
            <a:r>
              <a:rPr lang="en-US" sz="3600" dirty="0"/>
              <a:t> </a:t>
            </a:r>
            <a:r>
              <a:rPr lang="en-US" sz="3600" dirty="0" err="1"/>
              <a:t>himoya</a:t>
            </a:r>
            <a:r>
              <a:rPr lang="en-US" sz="3600" dirty="0"/>
              <a:t> </a:t>
            </a:r>
            <a:r>
              <a:rPr lang="en-US" sz="3600" dirty="0" err="1"/>
              <a:t>qilish</a:t>
            </a:r>
            <a:r>
              <a:rPr lang="en-US" sz="3600" dirty="0"/>
              <a:t> </a:t>
            </a:r>
            <a:r>
              <a:rPr lang="en-US" sz="3600" dirty="0" err="1"/>
              <a:t>shakllari</a:t>
            </a:r>
            <a:r>
              <a:rPr lang="en-US" sz="3600" dirty="0"/>
              <a:t>.</a:t>
            </a:r>
          </a:p>
          <a:p>
            <a:pPr>
              <a:buFont typeface="Wingdings" panose="05000000000000000000" pitchFamily="2" charset="2"/>
              <a:buChar char="Ø"/>
            </a:pPr>
            <a:r>
              <a:rPr lang="en-US" sz="3600" dirty="0" err="1"/>
              <a:t>Brending</a:t>
            </a:r>
            <a:r>
              <a:rPr lang="en-US" sz="3600" dirty="0"/>
              <a:t>.</a:t>
            </a:r>
          </a:p>
          <a:p>
            <a:pPr>
              <a:buFont typeface="Wingdings" panose="05000000000000000000" pitchFamily="2" charset="2"/>
              <a:buChar char="Ø"/>
            </a:pPr>
            <a:r>
              <a:rPr lang="en-US" sz="3600" dirty="0" err="1"/>
              <a:t>Ochiq</a:t>
            </a:r>
            <a:r>
              <a:rPr lang="en-US" sz="3600" dirty="0"/>
              <a:t> </a:t>
            </a:r>
            <a:r>
              <a:rPr lang="en-US" sz="3600" dirty="0" err="1"/>
              <a:t>innovatsiya</a:t>
            </a:r>
            <a:r>
              <a:rPr lang="en-US" sz="3600" dirty="0"/>
              <a:t>.</a:t>
            </a:r>
            <a:endParaRPr lang="ru-RU" sz="3600" dirty="0"/>
          </a:p>
        </p:txBody>
      </p:sp>
      <p:pic>
        <p:nvPicPr>
          <p:cNvPr id="2050" name="Picture 2" descr="Action Plan Examples: How to Write the Perfect Action Plan">
            <a:extLst>
              <a:ext uri="{FF2B5EF4-FFF2-40B4-BE49-F238E27FC236}">
                <a16:creationId xmlns:a16="http://schemas.microsoft.com/office/drawing/2014/main" id="{4089016F-A328-4C51-9489-CA2B801D73B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087" r="15028"/>
          <a:stretch/>
        </p:blipFill>
        <p:spPr bwMode="auto">
          <a:xfrm>
            <a:off x="5219700" y="327025"/>
            <a:ext cx="6657975" cy="58680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47482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D02F972-7EA6-4685-9FF6-9B86C2B0A779}"/>
              </a:ext>
            </a:extLst>
          </p:cNvPr>
          <p:cNvSpPr>
            <a:spLocks noGrp="1"/>
          </p:cNvSpPr>
          <p:nvPr>
            <p:ph type="title"/>
          </p:nvPr>
        </p:nvSpPr>
        <p:spPr>
          <a:xfrm>
            <a:off x="914399" y="736600"/>
            <a:ext cx="10515600" cy="1325563"/>
          </a:xfrm>
        </p:spPr>
        <p:txBody>
          <a:bodyPr>
            <a:noAutofit/>
          </a:bodyPr>
          <a:lstStyle/>
          <a:p>
            <a:r>
              <a:rPr lang="en-US" sz="2800" b="1" dirty="0"/>
              <a:t>ROI (Return on Investment</a:t>
            </a:r>
            <a:r>
              <a:rPr lang="en-US" sz="2800" dirty="0"/>
              <a:t>) – </a:t>
            </a:r>
            <a:r>
              <a:rPr lang="en-US" sz="2800" dirty="0" err="1"/>
              <a:t>bu</a:t>
            </a:r>
            <a:r>
              <a:rPr lang="en-US" sz="2800" dirty="0"/>
              <a:t> </a:t>
            </a:r>
            <a:r>
              <a:rPr lang="en-US" sz="2800" dirty="0" err="1"/>
              <a:t>investitsiyadan</a:t>
            </a:r>
            <a:r>
              <a:rPr lang="en-US" sz="2800" dirty="0"/>
              <a:t> </a:t>
            </a:r>
            <a:r>
              <a:rPr lang="en-US" sz="2800" dirty="0" err="1"/>
              <a:t>olingan</a:t>
            </a:r>
            <a:r>
              <a:rPr lang="en-US" sz="2800" dirty="0"/>
              <a:t> </a:t>
            </a:r>
            <a:r>
              <a:rPr lang="en-US" sz="2800" dirty="0" err="1"/>
              <a:t>foydaning</a:t>
            </a:r>
            <a:r>
              <a:rPr lang="en-US" sz="2800" dirty="0"/>
              <a:t> </a:t>
            </a:r>
            <a:r>
              <a:rPr lang="en-US" sz="2800" dirty="0" err="1"/>
              <a:t>investitsiya</a:t>
            </a:r>
            <a:r>
              <a:rPr lang="en-US" sz="2800" dirty="0"/>
              <a:t> </a:t>
            </a:r>
            <a:r>
              <a:rPr lang="en-US" sz="2800" dirty="0" err="1"/>
              <a:t>xarajatlariga</a:t>
            </a:r>
            <a:r>
              <a:rPr lang="en-US" sz="2800" dirty="0"/>
              <a:t> </a:t>
            </a:r>
            <a:r>
              <a:rPr lang="en-US" sz="2800" dirty="0" err="1"/>
              <a:t>nisbati</a:t>
            </a:r>
            <a:r>
              <a:rPr lang="en-US" sz="2800" dirty="0"/>
              <a:t> </a:t>
            </a:r>
            <a:r>
              <a:rPr lang="en-US" sz="2800" dirty="0" err="1"/>
              <a:t>bo‘lib</a:t>
            </a:r>
            <a:r>
              <a:rPr lang="en-US" sz="2800" dirty="0"/>
              <a:t>, </a:t>
            </a:r>
            <a:r>
              <a:rPr lang="en-US" sz="2800" dirty="0" err="1"/>
              <a:t>foiz</a:t>
            </a:r>
            <a:r>
              <a:rPr lang="en-US" sz="2800" dirty="0"/>
              <a:t> </a:t>
            </a:r>
            <a:r>
              <a:rPr lang="en-US" sz="2800" dirty="0" err="1"/>
              <a:t>yoki</a:t>
            </a:r>
            <a:r>
              <a:rPr lang="en-US" sz="2800" dirty="0"/>
              <a:t> </a:t>
            </a:r>
            <a:r>
              <a:rPr lang="en-US" sz="2800" dirty="0" err="1"/>
              <a:t>koeffitsient</a:t>
            </a:r>
            <a:r>
              <a:rPr lang="en-US" sz="2800" dirty="0"/>
              <a:t> </a:t>
            </a:r>
            <a:r>
              <a:rPr lang="en-US" sz="2800" dirty="0" err="1"/>
              <a:t>sifatida</a:t>
            </a:r>
            <a:r>
              <a:rPr lang="en-US" sz="2800" dirty="0"/>
              <a:t> </a:t>
            </a:r>
            <a:r>
              <a:rPr lang="en-US" sz="2800" dirty="0" err="1"/>
              <a:t>ifodalanadi</a:t>
            </a:r>
            <a:r>
              <a:rPr lang="en-US" sz="2800" dirty="0"/>
              <a:t>. ROI </a:t>
            </a:r>
            <a:r>
              <a:rPr lang="en-US" sz="2800" dirty="0" err="1"/>
              <a:t>biznesdagi</a:t>
            </a:r>
            <a:r>
              <a:rPr lang="en-US" sz="2800" dirty="0"/>
              <a:t> </a:t>
            </a:r>
            <a:r>
              <a:rPr lang="en-US" sz="2800" dirty="0" err="1"/>
              <a:t>loyihalar</a:t>
            </a:r>
            <a:r>
              <a:rPr lang="en-US" sz="2800" dirty="0"/>
              <a:t>, marketing </a:t>
            </a:r>
            <a:r>
              <a:rPr lang="en-US" sz="2800" dirty="0" err="1"/>
              <a:t>kompaniyalari</a:t>
            </a:r>
            <a:r>
              <a:rPr lang="en-US" sz="2800" dirty="0"/>
              <a:t> </a:t>
            </a:r>
            <a:r>
              <a:rPr lang="en-US" sz="2800" dirty="0" err="1"/>
              <a:t>yoki</a:t>
            </a:r>
            <a:r>
              <a:rPr lang="en-US" sz="2800" dirty="0"/>
              <a:t> </a:t>
            </a:r>
            <a:r>
              <a:rPr lang="en-US" sz="2800" dirty="0" err="1"/>
              <a:t>boshqa</a:t>
            </a:r>
            <a:r>
              <a:rPr lang="en-US" sz="2800" dirty="0"/>
              <a:t> </a:t>
            </a:r>
            <a:r>
              <a:rPr lang="en-US" sz="2800" dirty="0" err="1"/>
              <a:t>investitsiyalarning</a:t>
            </a:r>
            <a:r>
              <a:rPr lang="en-US" sz="2800" dirty="0"/>
              <a:t> </a:t>
            </a:r>
            <a:r>
              <a:rPr lang="en-US" sz="2800" dirty="0" err="1"/>
              <a:t>samaradorligini</a:t>
            </a:r>
            <a:r>
              <a:rPr lang="en-US" sz="2800" dirty="0"/>
              <a:t> </a:t>
            </a:r>
            <a:r>
              <a:rPr lang="en-US" sz="2800" dirty="0" err="1"/>
              <a:t>baholash</a:t>
            </a:r>
            <a:r>
              <a:rPr lang="en-US" sz="2800" dirty="0"/>
              <a:t> </a:t>
            </a:r>
            <a:r>
              <a:rPr lang="en-US" sz="2800" dirty="0" err="1"/>
              <a:t>uchun</a:t>
            </a:r>
            <a:r>
              <a:rPr lang="en-US" sz="2800" dirty="0"/>
              <a:t> </a:t>
            </a:r>
            <a:r>
              <a:rPr lang="en-US" sz="2800" dirty="0" err="1"/>
              <a:t>ishlatiladi</a:t>
            </a:r>
            <a:r>
              <a:rPr lang="en-US" sz="2800" dirty="0"/>
              <a:t>.</a:t>
            </a:r>
            <a:br>
              <a:rPr lang="ru-RU" sz="2800" dirty="0"/>
            </a:br>
            <a:endParaRPr lang="ru-RU" sz="2800" dirty="0"/>
          </a:p>
        </p:txBody>
      </p:sp>
      <p:pic>
        <p:nvPicPr>
          <p:cNvPr id="3074" name="Picture 2" descr="What is ROI? | Salesbook">
            <a:extLst>
              <a:ext uri="{FF2B5EF4-FFF2-40B4-BE49-F238E27FC236}">
                <a16:creationId xmlns:a16="http://schemas.microsoft.com/office/drawing/2014/main" id="{3B176432-C16D-4F3F-9007-4414A7B573B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78404" y="2301875"/>
            <a:ext cx="6311289"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5510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E0D0A9B-5187-4310-B8E4-C2B12566F5C8}"/>
              </a:ext>
            </a:extLst>
          </p:cNvPr>
          <p:cNvSpPr>
            <a:spLocks noGrp="1"/>
          </p:cNvSpPr>
          <p:nvPr>
            <p:ph type="title"/>
          </p:nvPr>
        </p:nvSpPr>
        <p:spPr/>
        <p:txBody>
          <a:bodyPr/>
          <a:lstStyle/>
          <a:p>
            <a:pPr algn="ctr"/>
            <a:r>
              <a:rPr lang="en-US" dirty="0"/>
              <a:t>ROI </a:t>
            </a:r>
            <a:r>
              <a:rPr lang="en-US" dirty="0" err="1"/>
              <a:t>ni</a:t>
            </a:r>
            <a:r>
              <a:rPr lang="en-US" dirty="0"/>
              <a:t> </a:t>
            </a:r>
            <a:r>
              <a:rPr lang="en-US" dirty="0" err="1"/>
              <a:t>hisoblash</a:t>
            </a:r>
            <a:endParaRPr lang="ru-RU" dirty="0"/>
          </a:p>
        </p:txBody>
      </p:sp>
      <p:sp>
        <p:nvSpPr>
          <p:cNvPr id="3" name="Объект 2">
            <a:extLst>
              <a:ext uri="{FF2B5EF4-FFF2-40B4-BE49-F238E27FC236}">
                <a16:creationId xmlns:a16="http://schemas.microsoft.com/office/drawing/2014/main" id="{F19B8C9A-1767-40F0-B59F-E196356EF933}"/>
              </a:ext>
            </a:extLst>
          </p:cNvPr>
          <p:cNvSpPr>
            <a:spLocks noGrp="1"/>
          </p:cNvSpPr>
          <p:nvPr>
            <p:ph idx="1"/>
          </p:nvPr>
        </p:nvSpPr>
        <p:spPr/>
        <p:txBody>
          <a:bodyPr>
            <a:normAutofit fontScale="77500" lnSpcReduction="20000"/>
          </a:bodyPr>
          <a:lstStyle/>
          <a:p>
            <a:r>
              <a:rPr lang="en-US" b="1" i="1" dirty="0"/>
              <a:t>ROI</a:t>
            </a:r>
            <a:r>
              <a:rPr lang="en-US" dirty="0"/>
              <a:t> = [(</a:t>
            </a:r>
            <a:r>
              <a:rPr lang="en-US" dirty="0" err="1"/>
              <a:t>Foyda</a:t>
            </a:r>
            <a:r>
              <a:rPr lang="en-US" dirty="0"/>
              <a:t> - </a:t>
            </a:r>
            <a:r>
              <a:rPr lang="en-US" dirty="0" err="1"/>
              <a:t>Investitsiya</a:t>
            </a:r>
            <a:r>
              <a:rPr lang="en-US" dirty="0"/>
              <a:t> </a:t>
            </a:r>
            <a:r>
              <a:rPr lang="en-US" dirty="0" err="1"/>
              <a:t>xarajati</a:t>
            </a:r>
            <a:r>
              <a:rPr lang="en-US" dirty="0"/>
              <a:t>) / </a:t>
            </a:r>
            <a:r>
              <a:rPr lang="en-US" dirty="0" err="1"/>
              <a:t>Investitsiya</a:t>
            </a:r>
            <a:r>
              <a:rPr lang="en-US" dirty="0"/>
              <a:t> </a:t>
            </a:r>
            <a:r>
              <a:rPr lang="en-US" dirty="0" err="1"/>
              <a:t>xarajati</a:t>
            </a:r>
            <a:r>
              <a:rPr lang="en-US" dirty="0"/>
              <a:t>] × 100%</a:t>
            </a:r>
            <a:endParaRPr lang="ru-RU" dirty="0"/>
          </a:p>
          <a:p>
            <a:r>
              <a:rPr lang="en-US" b="1" i="1" dirty="0" err="1"/>
              <a:t>Foyda</a:t>
            </a:r>
            <a:r>
              <a:rPr lang="en-US" b="1" i="1" dirty="0"/>
              <a:t>: </a:t>
            </a:r>
            <a:r>
              <a:rPr lang="en-US" dirty="0" err="1"/>
              <a:t>Investitsiyadan</a:t>
            </a:r>
            <a:r>
              <a:rPr lang="en-US" dirty="0"/>
              <a:t> </a:t>
            </a:r>
            <a:r>
              <a:rPr lang="en-US" dirty="0" err="1"/>
              <a:t>olingan</a:t>
            </a:r>
            <a:r>
              <a:rPr lang="en-US" dirty="0"/>
              <a:t> </a:t>
            </a:r>
            <a:r>
              <a:rPr lang="en-US" dirty="0" err="1"/>
              <a:t>daromad</a:t>
            </a:r>
            <a:r>
              <a:rPr lang="en-US" dirty="0"/>
              <a:t>.</a:t>
            </a:r>
            <a:endParaRPr lang="ru-RU" dirty="0"/>
          </a:p>
          <a:p>
            <a:r>
              <a:rPr lang="en-US" b="1" i="1" dirty="0" err="1"/>
              <a:t>Investitsiya</a:t>
            </a:r>
            <a:r>
              <a:rPr lang="en-US" b="1" i="1" dirty="0"/>
              <a:t> </a:t>
            </a:r>
            <a:r>
              <a:rPr lang="en-US" b="1" i="1" dirty="0" err="1"/>
              <a:t>xarajati</a:t>
            </a:r>
            <a:r>
              <a:rPr lang="en-US" dirty="0"/>
              <a:t>: </a:t>
            </a:r>
            <a:r>
              <a:rPr lang="en-US" dirty="0" err="1"/>
              <a:t>Loyihaga</a:t>
            </a:r>
            <a:r>
              <a:rPr lang="en-US" dirty="0"/>
              <a:t> </a:t>
            </a:r>
            <a:r>
              <a:rPr lang="en-US" dirty="0" err="1"/>
              <a:t>sarflangan</a:t>
            </a:r>
            <a:r>
              <a:rPr lang="en-US" dirty="0"/>
              <a:t> </a:t>
            </a:r>
            <a:r>
              <a:rPr lang="en-US" dirty="0" err="1"/>
              <a:t>umumiy</a:t>
            </a:r>
            <a:r>
              <a:rPr lang="en-US" dirty="0"/>
              <a:t> </a:t>
            </a:r>
            <a:r>
              <a:rPr lang="en-US" dirty="0" err="1"/>
              <a:t>xarajatlar</a:t>
            </a:r>
            <a:r>
              <a:rPr lang="en-US" dirty="0"/>
              <a:t>.</a:t>
            </a:r>
            <a:endParaRPr lang="ru-RU" dirty="0"/>
          </a:p>
          <a:p>
            <a:pPr marL="0" indent="0">
              <a:buNone/>
            </a:pPr>
            <a:r>
              <a:rPr lang="en-US" dirty="0"/>
              <a:t> </a:t>
            </a:r>
            <a:endParaRPr lang="ru-RU" dirty="0"/>
          </a:p>
          <a:p>
            <a:pPr>
              <a:buFont typeface="Wingdings" panose="05000000000000000000" pitchFamily="2" charset="2"/>
              <a:buChar char="Ø"/>
            </a:pPr>
            <a:r>
              <a:rPr lang="en-US" sz="4600" i="1" dirty="0"/>
              <a:t>ROI </a:t>
            </a:r>
            <a:r>
              <a:rPr lang="en-US" sz="4600" i="1" dirty="0" err="1"/>
              <a:t>o‘lchashning</a:t>
            </a:r>
            <a:r>
              <a:rPr lang="en-US" sz="4600" i="1" dirty="0"/>
              <a:t> </a:t>
            </a:r>
            <a:r>
              <a:rPr lang="en-US" sz="4600" i="1" dirty="0" err="1"/>
              <a:t>asosiy</a:t>
            </a:r>
            <a:r>
              <a:rPr lang="en-US" sz="4600" i="1" dirty="0"/>
              <a:t> </a:t>
            </a:r>
            <a:r>
              <a:rPr lang="en-US" sz="4600" i="1" dirty="0" err="1"/>
              <a:t>qadamlari</a:t>
            </a:r>
            <a:endParaRPr lang="ru-RU" sz="4600" i="1" dirty="0"/>
          </a:p>
          <a:p>
            <a:pPr marL="0" indent="0">
              <a:buNone/>
            </a:pPr>
            <a:r>
              <a:rPr lang="en-US" dirty="0"/>
              <a:t>1. </a:t>
            </a:r>
            <a:r>
              <a:rPr lang="en-US" dirty="0" err="1"/>
              <a:t>Investitsiya</a:t>
            </a:r>
            <a:r>
              <a:rPr lang="en-US" dirty="0"/>
              <a:t> </a:t>
            </a:r>
            <a:r>
              <a:rPr lang="en-US" dirty="0" err="1"/>
              <a:t>xarajatlarini</a:t>
            </a:r>
            <a:r>
              <a:rPr lang="en-US" dirty="0"/>
              <a:t> </a:t>
            </a:r>
            <a:r>
              <a:rPr lang="en-US" dirty="0" err="1"/>
              <a:t>aniqlash</a:t>
            </a:r>
            <a:r>
              <a:rPr lang="en-US" dirty="0"/>
              <a:t>: </a:t>
            </a:r>
            <a:r>
              <a:rPr lang="en-US" dirty="0" err="1"/>
              <a:t>Bunga</a:t>
            </a:r>
            <a:r>
              <a:rPr lang="en-US" dirty="0"/>
              <a:t> </a:t>
            </a:r>
            <a:r>
              <a:rPr lang="en-US" dirty="0" err="1"/>
              <a:t>loyiha</a:t>
            </a:r>
            <a:r>
              <a:rPr lang="en-US" dirty="0"/>
              <a:t> </a:t>
            </a:r>
            <a:r>
              <a:rPr lang="en-US" dirty="0" err="1"/>
              <a:t>uchun</a:t>
            </a:r>
            <a:r>
              <a:rPr lang="en-US" dirty="0"/>
              <a:t> </a:t>
            </a:r>
            <a:r>
              <a:rPr lang="en-US" dirty="0" err="1"/>
              <a:t>sarflangan</a:t>
            </a:r>
            <a:r>
              <a:rPr lang="en-US" dirty="0"/>
              <a:t> </a:t>
            </a:r>
            <a:r>
              <a:rPr lang="en-US" dirty="0" err="1"/>
              <a:t>barcha</a:t>
            </a:r>
            <a:r>
              <a:rPr lang="en-US" dirty="0"/>
              <a:t> </a:t>
            </a:r>
            <a:r>
              <a:rPr lang="en-US" dirty="0" err="1"/>
              <a:t>resurslar</a:t>
            </a:r>
            <a:r>
              <a:rPr lang="en-US" dirty="0"/>
              <a:t> (</a:t>
            </a:r>
            <a:r>
              <a:rPr lang="en-US" dirty="0" err="1"/>
              <a:t>pul</a:t>
            </a:r>
            <a:r>
              <a:rPr lang="en-US" dirty="0"/>
              <a:t>, </a:t>
            </a:r>
            <a:r>
              <a:rPr lang="en-US" dirty="0" err="1"/>
              <a:t>vaqt</a:t>
            </a:r>
            <a:r>
              <a:rPr lang="en-US" dirty="0"/>
              <a:t>, </a:t>
            </a:r>
            <a:r>
              <a:rPr lang="en-US" dirty="0" err="1"/>
              <a:t>jihozlar</a:t>
            </a:r>
            <a:r>
              <a:rPr lang="en-US" dirty="0"/>
              <a:t>, </a:t>
            </a:r>
            <a:r>
              <a:rPr lang="en-US" dirty="0" err="1"/>
              <a:t>xodimlar</a:t>
            </a:r>
            <a:r>
              <a:rPr lang="en-US" dirty="0"/>
              <a:t>) </a:t>
            </a:r>
            <a:r>
              <a:rPr lang="en-US" dirty="0" err="1"/>
              <a:t>kiradi</a:t>
            </a:r>
            <a:r>
              <a:rPr lang="en-US" dirty="0"/>
              <a:t>.</a:t>
            </a:r>
            <a:endParaRPr lang="ru-RU" dirty="0"/>
          </a:p>
          <a:p>
            <a:pPr marL="0" indent="0">
              <a:buNone/>
            </a:pPr>
            <a:r>
              <a:rPr lang="en-US" dirty="0"/>
              <a:t>2. </a:t>
            </a:r>
            <a:r>
              <a:rPr lang="en-US" dirty="0" err="1"/>
              <a:t>Foydani</a:t>
            </a:r>
            <a:r>
              <a:rPr lang="en-US" dirty="0"/>
              <a:t> </a:t>
            </a:r>
            <a:r>
              <a:rPr lang="en-US" dirty="0" err="1"/>
              <a:t>hisoblash</a:t>
            </a:r>
            <a:r>
              <a:rPr lang="en-US" dirty="0"/>
              <a:t>: </a:t>
            </a:r>
            <a:r>
              <a:rPr lang="en-US" dirty="0" err="1"/>
              <a:t>Loyiha</a:t>
            </a:r>
            <a:r>
              <a:rPr lang="en-US" dirty="0"/>
              <a:t> </a:t>
            </a:r>
            <a:r>
              <a:rPr lang="en-US" dirty="0" err="1"/>
              <a:t>natijasida</a:t>
            </a:r>
            <a:r>
              <a:rPr lang="en-US" dirty="0"/>
              <a:t> </a:t>
            </a:r>
            <a:r>
              <a:rPr lang="en-US" dirty="0" err="1"/>
              <a:t>olingan</a:t>
            </a:r>
            <a:r>
              <a:rPr lang="en-US" dirty="0"/>
              <a:t> </a:t>
            </a:r>
            <a:r>
              <a:rPr lang="en-US" dirty="0" err="1"/>
              <a:t>daromad</a:t>
            </a:r>
            <a:r>
              <a:rPr lang="en-US" dirty="0"/>
              <a:t> </a:t>
            </a:r>
            <a:r>
              <a:rPr lang="en-US" dirty="0" err="1"/>
              <a:t>yoki</a:t>
            </a:r>
            <a:r>
              <a:rPr lang="en-US" dirty="0"/>
              <a:t> </a:t>
            </a:r>
            <a:r>
              <a:rPr lang="en-US" dirty="0" err="1"/>
              <a:t>tejam</a:t>
            </a:r>
            <a:r>
              <a:rPr lang="en-US" dirty="0"/>
              <a:t> (</a:t>
            </a:r>
            <a:r>
              <a:rPr lang="en-US" dirty="0" err="1"/>
              <a:t>masalan</a:t>
            </a:r>
            <a:r>
              <a:rPr lang="en-US" dirty="0"/>
              <a:t>, </a:t>
            </a:r>
            <a:r>
              <a:rPr lang="en-US" dirty="0" err="1"/>
              <a:t>sotuvdan</a:t>
            </a:r>
            <a:r>
              <a:rPr lang="en-US" dirty="0"/>
              <a:t> </a:t>
            </a:r>
            <a:r>
              <a:rPr lang="en-US" dirty="0" err="1"/>
              <a:t>tushgan</a:t>
            </a:r>
            <a:r>
              <a:rPr lang="en-US" dirty="0"/>
              <a:t> </a:t>
            </a:r>
            <a:r>
              <a:rPr lang="en-US" dirty="0" err="1"/>
              <a:t>pul</a:t>
            </a:r>
            <a:r>
              <a:rPr lang="en-US" dirty="0"/>
              <a:t> </a:t>
            </a:r>
            <a:r>
              <a:rPr lang="en-US" dirty="0" err="1"/>
              <a:t>yoki</a:t>
            </a:r>
            <a:r>
              <a:rPr lang="en-US" dirty="0"/>
              <a:t> </a:t>
            </a:r>
            <a:r>
              <a:rPr lang="en-US" dirty="0" err="1"/>
              <a:t>xarajatlarni</a:t>
            </a:r>
            <a:r>
              <a:rPr lang="en-US" dirty="0"/>
              <a:t> </a:t>
            </a:r>
            <a:r>
              <a:rPr lang="en-US" dirty="0" err="1"/>
              <a:t>kamaytirish</a:t>
            </a:r>
            <a:r>
              <a:rPr lang="en-US" dirty="0"/>
              <a:t>).</a:t>
            </a:r>
            <a:endParaRPr lang="ru-RU" dirty="0"/>
          </a:p>
          <a:p>
            <a:pPr marL="0" indent="0">
              <a:buNone/>
            </a:pPr>
            <a:r>
              <a:rPr lang="en-US" dirty="0"/>
              <a:t>3. </a:t>
            </a:r>
            <a:r>
              <a:rPr lang="en-US" dirty="0" err="1"/>
              <a:t>Formulani</a:t>
            </a:r>
            <a:r>
              <a:rPr lang="en-US" dirty="0"/>
              <a:t> </a:t>
            </a:r>
            <a:r>
              <a:rPr lang="en-US" dirty="0" err="1"/>
              <a:t>qo‘llash</a:t>
            </a:r>
            <a:r>
              <a:rPr lang="en-US" dirty="0"/>
              <a:t>: </a:t>
            </a:r>
            <a:r>
              <a:rPr lang="en-US" dirty="0" err="1"/>
              <a:t>Yuqoridagi</a:t>
            </a:r>
            <a:r>
              <a:rPr lang="en-US" dirty="0"/>
              <a:t> </a:t>
            </a:r>
            <a:r>
              <a:rPr lang="en-US" dirty="0" err="1"/>
              <a:t>formuladan</a:t>
            </a:r>
            <a:r>
              <a:rPr lang="en-US" dirty="0"/>
              <a:t> </a:t>
            </a:r>
            <a:r>
              <a:rPr lang="en-US" dirty="0" err="1"/>
              <a:t>foydalanib</a:t>
            </a:r>
            <a:r>
              <a:rPr lang="en-US" dirty="0"/>
              <a:t>, ROI </a:t>
            </a:r>
            <a:r>
              <a:rPr lang="en-US" dirty="0" err="1"/>
              <a:t>ni</a:t>
            </a:r>
            <a:r>
              <a:rPr lang="en-US" dirty="0"/>
              <a:t> </a:t>
            </a:r>
            <a:r>
              <a:rPr lang="en-US" dirty="0" err="1"/>
              <a:t>foiz</a:t>
            </a:r>
            <a:r>
              <a:rPr lang="en-US" dirty="0"/>
              <a:t> </a:t>
            </a:r>
            <a:r>
              <a:rPr lang="en-US" dirty="0" err="1"/>
              <a:t>sifatida</a:t>
            </a:r>
            <a:r>
              <a:rPr lang="en-US" dirty="0"/>
              <a:t> </a:t>
            </a:r>
            <a:r>
              <a:rPr lang="en-US" dirty="0" err="1"/>
              <a:t>hisoblang</a:t>
            </a:r>
            <a:r>
              <a:rPr lang="en-US" dirty="0"/>
              <a:t>.</a:t>
            </a:r>
            <a:endParaRPr lang="ru-RU" dirty="0"/>
          </a:p>
          <a:p>
            <a:pPr marL="0" indent="0">
              <a:buNone/>
            </a:pPr>
            <a:r>
              <a:rPr lang="en-US" dirty="0"/>
              <a:t>4. </a:t>
            </a:r>
            <a:r>
              <a:rPr lang="en-US" dirty="0" err="1"/>
              <a:t>Natijalarni</a:t>
            </a:r>
            <a:r>
              <a:rPr lang="en-US" dirty="0"/>
              <a:t> </a:t>
            </a:r>
            <a:r>
              <a:rPr lang="en-US" dirty="0" err="1"/>
              <a:t>tahlil</a:t>
            </a:r>
            <a:r>
              <a:rPr lang="en-US" dirty="0"/>
              <a:t> </a:t>
            </a:r>
            <a:r>
              <a:rPr lang="en-US" dirty="0" err="1"/>
              <a:t>qilish</a:t>
            </a:r>
            <a:r>
              <a:rPr lang="en-US" dirty="0"/>
              <a:t>: ROI </a:t>
            </a:r>
            <a:r>
              <a:rPr lang="en-US" dirty="0" err="1"/>
              <a:t>yuqori</a:t>
            </a:r>
            <a:r>
              <a:rPr lang="en-US" dirty="0"/>
              <a:t> </a:t>
            </a:r>
            <a:r>
              <a:rPr lang="en-US" dirty="0" err="1"/>
              <a:t>bo‘lsa</a:t>
            </a:r>
            <a:r>
              <a:rPr lang="en-US" dirty="0"/>
              <a:t>, </a:t>
            </a:r>
            <a:r>
              <a:rPr lang="en-US" dirty="0" err="1"/>
              <a:t>investitsiya</a:t>
            </a:r>
            <a:r>
              <a:rPr lang="en-US" dirty="0"/>
              <a:t> </a:t>
            </a:r>
            <a:r>
              <a:rPr lang="en-US" dirty="0" err="1"/>
              <a:t>samarali</a:t>
            </a:r>
            <a:r>
              <a:rPr lang="en-US" dirty="0"/>
              <a:t>; past </a:t>
            </a:r>
            <a:r>
              <a:rPr lang="en-US" dirty="0" err="1"/>
              <a:t>yoki</a:t>
            </a:r>
            <a:r>
              <a:rPr lang="en-US" dirty="0"/>
              <a:t> </a:t>
            </a:r>
            <a:r>
              <a:rPr lang="en-US" dirty="0" err="1"/>
              <a:t>manfiy</a:t>
            </a:r>
            <a:r>
              <a:rPr lang="en-US" dirty="0"/>
              <a:t> </a:t>
            </a:r>
            <a:r>
              <a:rPr lang="en-US" dirty="0" err="1"/>
              <a:t>bo‘lsa</a:t>
            </a:r>
            <a:r>
              <a:rPr lang="en-US" dirty="0"/>
              <a:t>, </a:t>
            </a:r>
            <a:r>
              <a:rPr lang="en-US" dirty="0" err="1"/>
              <a:t>loyiha</a:t>
            </a:r>
            <a:r>
              <a:rPr lang="en-US" dirty="0"/>
              <a:t> </a:t>
            </a:r>
            <a:r>
              <a:rPr lang="en-US" dirty="0" err="1"/>
              <a:t>muvaffaqiyatsiz</a:t>
            </a:r>
            <a:r>
              <a:rPr lang="en-US" dirty="0"/>
              <a:t> </a:t>
            </a:r>
            <a:r>
              <a:rPr lang="en-US" dirty="0" err="1"/>
              <a:t>hisoblanadi</a:t>
            </a:r>
            <a:r>
              <a:rPr lang="en-US" dirty="0"/>
              <a:t>.</a:t>
            </a:r>
            <a:endParaRPr lang="ru-RU" dirty="0"/>
          </a:p>
          <a:p>
            <a:endParaRPr lang="ru-RU" dirty="0"/>
          </a:p>
        </p:txBody>
      </p:sp>
    </p:spTree>
    <p:extLst>
      <p:ext uri="{BB962C8B-B14F-4D97-AF65-F5344CB8AC3E}">
        <p14:creationId xmlns:p14="http://schemas.microsoft.com/office/powerpoint/2010/main" val="4509009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FD0D0E0-AF84-4108-A12E-955DFB2DC1D7}"/>
              </a:ext>
            </a:extLst>
          </p:cNvPr>
          <p:cNvSpPr>
            <a:spLocks noGrp="1"/>
          </p:cNvSpPr>
          <p:nvPr>
            <p:ph type="title"/>
          </p:nvPr>
        </p:nvSpPr>
        <p:spPr/>
        <p:txBody>
          <a:bodyPr>
            <a:normAutofit fontScale="90000"/>
          </a:bodyPr>
          <a:lstStyle/>
          <a:p>
            <a:pPr algn="ctr"/>
            <a:r>
              <a:rPr lang="en-US" b="1" dirty="0" err="1"/>
              <a:t>Intellektual</a:t>
            </a:r>
            <a:r>
              <a:rPr lang="en-US" b="1" dirty="0"/>
              <a:t> </a:t>
            </a:r>
            <a:r>
              <a:rPr lang="en-US" b="1" dirty="0" err="1"/>
              <a:t>mulk</a:t>
            </a:r>
            <a:r>
              <a:rPr lang="en-US" b="1" dirty="0"/>
              <a:t> (IP) </a:t>
            </a:r>
            <a:r>
              <a:rPr lang="en-US" b="1" dirty="0" err="1"/>
              <a:t>nima</a:t>
            </a:r>
            <a:r>
              <a:rPr lang="en-US" b="1" dirty="0"/>
              <a:t>? </a:t>
            </a:r>
            <a:r>
              <a:rPr lang="en-US" b="1" dirty="0" err="1"/>
              <a:t>Va</a:t>
            </a:r>
            <a:r>
              <a:rPr lang="en-US" b="1" dirty="0"/>
              <a:t> </a:t>
            </a:r>
            <a:r>
              <a:rPr lang="en-US" b="1" dirty="0" err="1"/>
              <a:t>uni</a:t>
            </a:r>
            <a:r>
              <a:rPr lang="en-US" b="1" dirty="0"/>
              <a:t> </a:t>
            </a:r>
            <a:r>
              <a:rPr lang="en-US" b="1" dirty="0" err="1"/>
              <a:t>himoya</a:t>
            </a:r>
            <a:r>
              <a:rPr lang="en-US" b="1" dirty="0"/>
              <a:t> </a:t>
            </a:r>
            <a:r>
              <a:rPr lang="en-US" b="1" dirty="0" err="1"/>
              <a:t>qilish</a:t>
            </a:r>
            <a:br>
              <a:rPr lang="en-US" b="1" dirty="0"/>
            </a:br>
            <a:endParaRPr lang="ru-RU" dirty="0"/>
          </a:p>
        </p:txBody>
      </p:sp>
      <p:pic>
        <p:nvPicPr>
          <p:cNvPr id="5122" name="Picture 2" descr="Intellectual property banner web icon vector illustration concept for  trademark with icon of design, patents, invention, authorship, law,  copyright, protection, and brand 21638862 Vector Art at Vecteezy">
            <a:extLst>
              <a:ext uri="{FF2B5EF4-FFF2-40B4-BE49-F238E27FC236}">
                <a16:creationId xmlns:a16="http://schemas.microsoft.com/office/drawing/2014/main" id="{6135A31B-2039-4299-B5F3-224AFC51369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47837" y="1377950"/>
            <a:ext cx="8696325" cy="52574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3240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D07B23C-30A6-47B5-BC25-0D28A62B298F}"/>
              </a:ext>
            </a:extLst>
          </p:cNvPr>
          <p:cNvSpPr>
            <a:spLocks noGrp="1"/>
          </p:cNvSpPr>
          <p:nvPr>
            <p:ph type="title"/>
          </p:nvPr>
        </p:nvSpPr>
        <p:spPr/>
        <p:txBody>
          <a:bodyPr/>
          <a:lstStyle/>
          <a:p>
            <a:r>
              <a:rPr lang="en-US" b="1" dirty="0" err="1"/>
              <a:t>Intellektual</a:t>
            </a:r>
            <a:r>
              <a:rPr lang="en-US" b="1" dirty="0"/>
              <a:t> </a:t>
            </a:r>
            <a:r>
              <a:rPr lang="en-US" b="1" dirty="0" err="1"/>
              <a:t>mulk</a:t>
            </a:r>
            <a:r>
              <a:rPr lang="en-US" b="1" dirty="0"/>
              <a:t> (IP)</a:t>
            </a:r>
            <a:endParaRPr lang="ru-RU" b="1" dirty="0"/>
          </a:p>
        </p:txBody>
      </p:sp>
      <p:sp>
        <p:nvSpPr>
          <p:cNvPr id="3" name="Объект 2">
            <a:extLst>
              <a:ext uri="{FF2B5EF4-FFF2-40B4-BE49-F238E27FC236}">
                <a16:creationId xmlns:a16="http://schemas.microsoft.com/office/drawing/2014/main" id="{7976B1AC-D963-4AE3-B6B9-C3F2BC28ED4A}"/>
              </a:ext>
            </a:extLst>
          </p:cNvPr>
          <p:cNvSpPr>
            <a:spLocks noGrp="1"/>
          </p:cNvSpPr>
          <p:nvPr>
            <p:ph idx="1"/>
          </p:nvPr>
        </p:nvSpPr>
        <p:spPr>
          <a:xfrm>
            <a:off x="838200" y="1825625"/>
            <a:ext cx="5743575" cy="4351338"/>
          </a:xfrm>
        </p:spPr>
        <p:txBody>
          <a:bodyPr/>
          <a:lstStyle/>
          <a:p>
            <a:pPr marL="0" indent="0">
              <a:buNone/>
            </a:pPr>
            <a:r>
              <a:rPr lang="en-US" dirty="0"/>
              <a:t>        </a:t>
            </a:r>
            <a:r>
              <a:rPr lang="en-US" dirty="0" err="1"/>
              <a:t>Intellektual</a:t>
            </a:r>
            <a:r>
              <a:rPr lang="en-US" dirty="0"/>
              <a:t> </a:t>
            </a:r>
            <a:r>
              <a:rPr lang="en-US" dirty="0" err="1"/>
              <a:t>mulk</a:t>
            </a:r>
            <a:r>
              <a:rPr lang="en-US" dirty="0"/>
              <a:t> (IP) – </a:t>
            </a:r>
            <a:r>
              <a:rPr lang="en-US" dirty="0" err="1"/>
              <a:t>bu</a:t>
            </a:r>
            <a:r>
              <a:rPr lang="en-US" dirty="0"/>
              <a:t> </a:t>
            </a:r>
            <a:r>
              <a:rPr lang="en-US" dirty="0" err="1"/>
              <a:t>inson</a:t>
            </a:r>
            <a:r>
              <a:rPr lang="en-US" dirty="0"/>
              <a:t> </a:t>
            </a:r>
            <a:r>
              <a:rPr lang="en-US" dirty="0" err="1"/>
              <a:t>aqliy</a:t>
            </a:r>
            <a:r>
              <a:rPr lang="en-US" dirty="0"/>
              <a:t> </a:t>
            </a:r>
            <a:r>
              <a:rPr lang="en-US" dirty="0" err="1"/>
              <a:t>mehnati</a:t>
            </a:r>
            <a:r>
              <a:rPr lang="en-US" dirty="0"/>
              <a:t> </a:t>
            </a:r>
            <a:r>
              <a:rPr lang="en-US" dirty="0" err="1"/>
              <a:t>natijasida</a:t>
            </a:r>
            <a:r>
              <a:rPr lang="en-US" dirty="0"/>
              <a:t> </a:t>
            </a:r>
            <a:r>
              <a:rPr lang="en-US" dirty="0" err="1"/>
              <a:t>yaratilgan</a:t>
            </a:r>
            <a:r>
              <a:rPr lang="en-US" dirty="0"/>
              <a:t> </a:t>
            </a:r>
            <a:r>
              <a:rPr lang="en-US" dirty="0" err="1"/>
              <a:t>ixtirolar</a:t>
            </a:r>
            <a:r>
              <a:rPr lang="en-US" dirty="0"/>
              <a:t>, </a:t>
            </a:r>
            <a:r>
              <a:rPr lang="en-US" dirty="0" err="1"/>
              <a:t>dasturiy</a:t>
            </a:r>
            <a:r>
              <a:rPr lang="en-US" dirty="0"/>
              <a:t> </a:t>
            </a:r>
            <a:r>
              <a:rPr lang="en-US" dirty="0" err="1"/>
              <a:t>ta’minot</a:t>
            </a:r>
            <a:r>
              <a:rPr lang="en-US" dirty="0"/>
              <a:t>, </a:t>
            </a:r>
            <a:r>
              <a:rPr lang="en-US" dirty="0" err="1"/>
              <a:t>dizaynlar</a:t>
            </a:r>
            <a:r>
              <a:rPr lang="en-US" dirty="0"/>
              <a:t>, </a:t>
            </a:r>
            <a:r>
              <a:rPr lang="en-US" dirty="0" err="1"/>
              <a:t>brendlar</a:t>
            </a:r>
            <a:r>
              <a:rPr lang="en-US" dirty="0"/>
              <a:t>, </a:t>
            </a:r>
            <a:r>
              <a:rPr lang="en-US" dirty="0" err="1"/>
              <a:t>savdo</a:t>
            </a:r>
            <a:r>
              <a:rPr lang="en-US" dirty="0"/>
              <a:t> </a:t>
            </a:r>
            <a:r>
              <a:rPr lang="en-US" dirty="0" err="1"/>
              <a:t>belgilari</a:t>
            </a:r>
            <a:r>
              <a:rPr lang="en-US" dirty="0"/>
              <a:t> </a:t>
            </a:r>
            <a:r>
              <a:rPr lang="en-US" dirty="0" err="1"/>
              <a:t>va</a:t>
            </a:r>
            <a:r>
              <a:rPr lang="en-US" dirty="0"/>
              <a:t> </a:t>
            </a:r>
            <a:r>
              <a:rPr lang="en-US" dirty="0" err="1"/>
              <a:t>boshqa</a:t>
            </a:r>
            <a:r>
              <a:rPr lang="en-US" dirty="0"/>
              <a:t> </a:t>
            </a:r>
            <a:r>
              <a:rPr lang="en-US" dirty="0" err="1"/>
              <a:t>ijodiy</a:t>
            </a:r>
            <a:r>
              <a:rPr lang="en-US" dirty="0"/>
              <a:t> </a:t>
            </a:r>
            <a:r>
              <a:rPr lang="en-US" dirty="0" err="1"/>
              <a:t>mahsulotlardir</a:t>
            </a:r>
            <a:r>
              <a:rPr lang="en-US" dirty="0"/>
              <a:t>. </a:t>
            </a:r>
            <a:r>
              <a:rPr lang="en-US" dirty="0" err="1"/>
              <a:t>Raqamli</a:t>
            </a:r>
            <a:r>
              <a:rPr lang="en-US" dirty="0"/>
              <a:t> </a:t>
            </a:r>
            <a:r>
              <a:rPr lang="en-US" dirty="0" err="1"/>
              <a:t>innovatsiyalarni</a:t>
            </a:r>
            <a:r>
              <a:rPr lang="en-US" dirty="0"/>
              <a:t> </a:t>
            </a:r>
            <a:r>
              <a:rPr lang="en-US" dirty="0" err="1"/>
              <a:t>himoya</a:t>
            </a:r>
            <a:r>
              <a:rPr lang="en-US" dirty="0"/>
              <a:t> </a:t>
            </a:r>
            <a:r>
              <a:rPr lang="en-US" dirty="0" err="1"/>
              <a:t>qilish</a:t>
            </a:r>
            <a:r>
              <a:rPr lang="en-US" dirty="0"/>
              <a:t> IP </a:t>
            </a:r>
            <a:r>
              <a:rPr lang="en-US" dirty="0" err="1"/>
              <a:t>huquqlarini</a:t>
            </a:r>
            <a:r>
              <a:rPr lang="en-US" dirty="0"/>
              <a:t> </a:t>
            </a:r>
            <a:r>
              <a:rPr lang="en-US" dirty="0" err="1"/>
              <a:t>qonuniy</a:t>
            </a:r>
            <a:r>
              <a:rPr lang="en-US" dirty="0"/>
              <a:t> </a:t>
            </a:r>
            <a:r>
              <a:rPr lang="en-US" dirty="0" err="1"/>
              <a:t>ro‘yxatdan</a:t>
            </a:r>
            <a:r>
              <a:rPr lang="en-US" dirty="0"/>
              <a:t> </a:t>
            </a:r>
            <a:r>
              <a:rPr lang="en-US" dirty="0" err="1"/>
              <a:t>o‘tkazish</a:t>
            </a:r>
            <a:r>
              <a:rPr lang="en-US" dirty="0"/>
              <a:t> </a:t>
            </a:r>
            <a:r>
              <a:rPr lang="en-US" dirty="0" err="1"/>
              <a:t>va</a:t>
            </a:r>
            <a:r>
              <a:rPr lang="en-US" dirty="0"/>
              <a:t> </a:t>
            </a:r>
            <a:r>
              <a:rPr lang="en-US" dirty="0" err="1"/>
              <a:t>noqonuniy</a:t>
            </a:r>
            <a:r>
              <a:rPr lang="en-US" dirty="0"/>
              <a:t> </a:t>
            </a:r>
            <a:r>
              <a:rPr lang="en-US" dirty="0" err="1"/>
              <a:t>foydalanishning</a:t>
            </a:r>
            <a:r>
              <a:rPr lang="en-US" dirty="0"/>
              <a:t> </a:t>
            </a:r>
            <a:r>
              <a:rPr lang="en-US" dirty="0" err="1"/>
              <a:t>oldini</a:t>
            </a:r>
            <a:r>
              <a:rPr lang="en-US" dirty="0"/>
              <a:t> </a:t>
            </a:r>
            <a:r>
              <a:rPr lang="en-US" dirty="0" err="1"/>
              <a:t>olishni</a:t>
            </a:r>
            <a:r>
              <a:rPr lang="en-US" dirty="0"/>
              <a:t> </a:t>
            </a:r>
            <a:r>
              <a:rPr lang="en-US" dirty="0" err="1"/>
              <a:t>anglatadi</a:t>
            </a:r>
            <a:r>
              <a:rPr lang="en-US" dirty="0"/>
              <a:t>.</a:t>
            </a:r>
            <a:endParaRPr lang="ru-RU" dirty="0"/>
          </a:p>
          <a:p>
            <a:pPr marL="0" indent="0">
              <a:buNone/>
            </a:pPr>
            <a:endParaRPr lang="ru-RU" dirty="0"/>
          </a:p>
        </p:txBody>
      </p:sp>
      <p:sp>
        <p:nvSpPr>
          <p:cNvPr id="4" name="AutoShape 2" descr="The Role of Intellectual Property in Growing Your Business Brand">
            <a:extLst>
              <a:ext uri="{FF2B5EF4-FFF2-40B4-BE49-F238E27FC236}">
                <a16:creationId xmlns:a16="http://schemas.microsoft.com/office/drawing/2014/main" id="{E7BB7AA2-8B1D-4254-AA1F-CBEC22AE0FB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8196" name="Picture 4" descr="Different Types of Intellectual Property Rights and Why They Are Important  - InQuartik">
            <a:extLst>
              <a:ext uri="{FF2B5EF4-FFF2-40B4-BE49-F238E27FC236}">
                <a16:creationId xmlns:a16="http://schemas.microsoft.com/office/drawing/2014/main" id="{D8BB149B-A3AA-4B0B-93B6-49E080531E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25" y="1758156"/>
            <a:ext cx="5819775" cy="4486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76685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EC5DFC3-B8C5-425C-8B96-CA8E5F565007}"/>
              </a:ext>
            </a:extLst>
          </p:cNvPr>
          <p:cNvSpPr>
            <a:spLocks noGrp="1"/>
          </p:cNvSpPr>
          <p:nvPr>
            <p:ph type="title"/>
          </p:nvPr>
        </p:nvSpPr>
        <p:spPr/>
        <p:txBody>
          <a:bodyPr>
            <a:normAutofit/>
          </a:bodyPr>
          <a:lstStyle/>
          <a:p>
            <a:r>
              <a:rPr lang="en-US" sz="4800" b="1" dirty="0"/>
              <a:t>IP </a:t>
            </a:r>
            <a:r>
              <a:rPr lang="en-US" sz="4800" b="1" dirty="0" err="1"/>
              <a:t>ning</a:t>
            </a:r>
            <a:r>
              <a:rPr lang="en-US" sz="4800" b="1" dirty="0"/>
              <a:t> </a:t>
            </a:r>
            <a:r>
              <a:rPr lang="en-US" sz="4800" b="1" dirty="0" err="1"/>
              <a:t>asosiy</a:t>
            </a:r>
            <a:r>
              <a:rPr lang="en-US" sz="4800" b="1" dirty="0"/>
              <a:t> </a:t>
            </a:r>
            <a:r>
              <a:rPr lang="en-US" sz="4800" b="1" dirty="0" err="1"/>
              <a:t>turlari</a:t>
            </a:r>
            <a:endParaRPr lang="ru-RU" sz="4800" b="1" dirty="0"/>
          </a:p>
        </p:txBody>
      </p:sp>
      <p:sp>
        <p:nvSpPr>
          <p:cNvPr id="4" name="Rectangle 1">
            <a:extLst>
              <a:ext uri="{FF2B5EF4-FFF2-40B4-BE49-F238E27FC236}">
                <a16:creationId xmlns:a16="http://schemas.microsoft.com/office/drawing/2014/main" id="{9DC0C2F4-F9D1-45AC-BC2A-4C764B5C92EE}"/>
              </a:ext>
            </a:extLst>
          </p:cNvPr>
          <p:cNvSpPr>
            <a:spLocks noGrp="1" noChangeArrowheads="1"/>
          </p:cNvSpPr>
          <p:nvPr>
            <p:ph idx="1"/>
          </p:nvPr>
        </p:nvSpPr>
        <p:spPr bwMode="auto">
          <a:xfrm>
            <a:off x="838200" y="1802122"/>
            <a:ext cx="8669593"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ru-RU" altLang="ru-RU" sz="2400" b="1" i="0" u="none" strike="noStrike" cap="none" normalizeH="0" baseline="0" dirty="0" err="1">
                <a:ln>
                  <a:noFill/>
                </a:ln>
                <a:solidFill>
                  <a:schemeClr val="tx1"/>
                </a:solidFill>
                <a:effectLst/>
                <a:latin typeface="+mj-lt"/>
              </a:rPr>
              <a:t>Patentlar</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Yangi</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ixtirolarni</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himoya</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qiladi</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masalan</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yangi</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texnologiya</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yoki</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mashina</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Patent</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odatda</a:t>
            </a:r>
            <a:r>
              <a:rPr kumimoji="0" lang="ru-RU" altLang="ru-RU" sz="2400" b="0" i="0" u="none" strike="noStrike" cap="none" normalizeH="0" baseline="0" dirty="0">
                <a:ln>
                  <a:noFill/>
                </a:ln>
                <a:solidFill>
                  <a:schemeClr val="tx1"/>
                </a:solidFill>
                <a:effectLst/>
                <a:latin typeface="+mj-lt"/>
              </a:rPr>
              <a:t> 20 </a:t>
            </a:r>
            <a:r>
              <a:rPr kumimoji="0" lang="ru-RU" altLang="ru-RU" sz="2400" b="0" i="0" u="none" strike="noStrike" cap="none" normalizeH="0" baseline="0" dirty="0" err="1">
                <a:ln>
                  <a:noFill/>
                </a:ln>
                <a:solidFill>
                  <a:schemeClr val="tx1"/>
                </a:solidFill>
                <a:effectLst/>
                <a:latin typeface="+mj-lt"/>
              </a:rPr>
              <a:t>yilga</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beriladi</a:t>
            </a:r>
            <a:r>
              <a:rPr kumimoji="0" lang="ru-RU" altLang="ru-RU" sz="2400" b="0" i="0" u="none" strike="noStrike" cap="none" normalizeH="0" baseline="0" dirty="0">
                <a:ln>
                  <a:noFill/>
                </a:ln>
                <a:solidFill>
                  <a:schemeClr val="tx1"/>
                </a:solidFill>
                <a:effectLst/>
                <a:latin typeface="+mj-lt"/>
              </a:rPr>
              <a:t>.</a:t>
            </a:r>
          </a:p>
          <a:p>
            <a:pPr marL="0" indent="0" eaLnBrk="0" fontAlgn="base" hangingPunct="0">
              <a:lnSpc>
                <a:spcPct val="150000"/>
              </a:lnSpc>
              <a:spcBef>
                <a:spcPct val="0"/>
              </a:spcBef>
              <a:spcAft>
                <a:spcPct val="0"/>
              </a:spcAft>
              <a:buFontTx/>
              <a:buChar char="•"/>
            </a:pPr>
            <a:r>
              <a:rPr kumimoji="0" lang="ru-RU" altLang="ru-RU" sz="2400" b="1" i="0" u="none" strike="noStrike" cap="none" normalizeH="0" baseline="0" dirty="0" err="1">
                <a:ln>
                  <a:noFill/>
                </a:ln>
                <a:solidFill>
                  <a:schemeClr val="tx1"/>
                </a:solidFill>
                <a:effectLst/>
                <a:latin typeface="+mj-lt"/>
              </a:rPr>
              <a:t>Mualliflik</a:t>
            </a:r>
            <a:r>
              <a:rPr kumimoji="0" lang="ru-RU" altLang="ru-RU" sz="2400" b="1" i="0" u="none" strike="noStrike" cap="none" normalizeH="0" baseline="0" dirty="0">
                <a:ln>
                  <a:noFill/>
                </a:ln>
                <a:solidFill>
                  <a:schemeClr val="tx1"/>
                </a:solidFill>
                <a:effectLst/>
                <a:latin typeface="+mj-lt"/>
              </a:rPr>
              <a:t> </a:t>
            </a:r>
            <a:r>
              <a:rPr kumimoji="0" lang="ru-RU" altLang="ru-RU" sz="2400" b="1" i="0" u="none" strike="noStrike" cap="none" normalizeH="0" baseline="0" dirty="0" err="1">
                <a:ln>
                  <a:noFill/>
                </a:ln>
                <a:solidFill>
                  <a:schemeClr val="tx1"/>
                </a:solidFill>
                <a:effectLst/>
                <a:latin typeface="+mj-lt"/>
              </a:rPr>
              <a:t>huquqlari</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Kitoblar</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filmlar</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musiqalar</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kabi</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ijodiy</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ishlarni</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himoya</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qiladi</a:t>
            </a:r>
            <a:r>
              <a:rPr kumimoji="0" lang="ru-RU" altLang="ru-RU" sz="2400" b="0" i="0" u="none" strike="noStrike" cap="none" normalizeH="0" baseline="0" dirty="0">
                <a:ln>
                  <a:noFill/>
                </a:ln>
                <a:solidFill>
                  <a:schemeClr val="tx1"/>
                </a:solidFill>
                <a:effectLst/>
                <a:latin typeface="+mj-lt"/>
              </a:rPr>
              <a:t>.</a:t>
            </a:r>
            <a:r>
              <a:rPr kumimoji="0" lang="en-US" altLang="ru-RU" sz="2400" b="0" i="0" u="none" strike="noStrike" cap="none" normalizeH="0" baseline="0" dirty="0">
                <a:ln>
                  <a:noFill/>
                </a:ln>
                <a:solidFill>
                  <a:schemeClr val="tx1"/>
                </a:solidFill>
                <a:effectLst/>
                <a:latin typeface="+mj-lt"/>
              </a:rPr>
              <a:t> </a:t>
            </a:r>
            <a:r>
              <a:rPr lang="en-US" sz="2400" dirty="0" err="1">
                <a:latin typeface="+mj-lt"/>
              </a:rPr>
              <a:t>Muddat</a:t>
            </a:r>
            <a:r>
              <a:rPr lang="en-US" sz="2400" dirty="0">
                <a:latin typeface="+mj-lt"/>
              </a:rPr>
              <a:t>: </a:t>
            </a:r>
            <a:r>
              <a:rPr lang="en-US" sz="2400" dirty="0" err="1">
                <a:latin typeface="+mj-lt"/>
              </a:rPr>
              <a:t>muallif</a:t>
            </a:r>
            <a:r>
              <a:rPr lang="en-US" sz="2400" dirty="0">
                <a:latin typeface="+mj-lt"/>
              </a:rPr>
              <a:t> </a:t>
            </a:r>
            <a:r>
              <a:rPr lang="en-US" sz="2400" dirty="0" err="1">
                <a:latin typeface="+mj-lt"/>
              </a:rPr>
              <a:t>hayoti</a:t>
            </a:r>
            <a:r>
              <a:rPr lang="en-US" sz="2400" dirty="0">
                <a:latin typeface="+mj-lt"/>
              </a:rPr>
              <a:t> + 50-70 </a:t>
            </a:r>
            <a:r>
              <a:rPr lang="en-US" sz="2400" dirty="0" err="1">
                <a:latin typeface="+mj-lt"/>
              </a:rPr>
              <a:t>yil</a:t>
            </a:r>
            <a:r>
              <a:rPr lang="en-US" sz="2400" dirty="0">
                <a:latin typeface="+mj-lt"/>
              </a:rPr>
              <a:t> (</a:t>
            </a:r>
            <a:r>
              <a:rPr lang="en-US" sz="2400" dirty="0" err="1">
                <a:latin typeface="+mj-lt"/>
              </a:rPr>
              <a:t>mamlakatga</a:t>
            </a:r>
            <a:r>
              <a:rPr lang="en-US" sz="2400" dirty="0">
                <a:latin typeface="+mj-lt"/>
              </a:rPr>
              <a:t> </a:t>
            </a:r>
            <a:r>
              <a:rPr lang="en-US" sz="2400" dirty="0" err="1">
                <a:latin typeface="+mj-lt"/>
              </a:rPr>
              <a:t>qarab</a:t>
            </a:r>
            <a:r>
              <a:rPr lang="en-US" sz="2400" dirty="0">
                <a:latin typeface="+mj-lt"/>
              </a:rPr>
              <a:t>).</a:t>
            </a:r>
            <a:endParaRPr kumimoji="0" lang="ru-RU" altLang="ru-RU" sz="24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ru-RU" altLang="ru-RU" sz="2400" b="1" i="0" u="none" strike="noStrike" cap="none" normalizeH="0" baseline="0" dirty="0" err="1">
                <a:ln>
                  <a:noFill/>
                </a:ln>
                <a:solidFill>
                  <a:schemeClr val="tx1"/>
                </a:solidFill>
                <a:effectLst/>
                <a:latin typeface="+mj-lt"/>
              </a:rPr>
              <a:t>Savdo</a:t>
            </a:r>
            <a:r>
              <a:rPr kumimoji="0" lang="ru-RU" altLang="ru-RU" sz="2400" b="1" i="0" u="none" strike="noStrike" cap="none" normalizeH="0" baseline="0" dirty="0">
                <a:ln>
                  <a:noFill/>
                </a:ln>
                <a:solidFill>
                  <a:schemeClr val="tx1"/>
                </a:solidFill>
                <a:effectLst/>
                <a:latin typeface="+mj-lt"/>
              </a:rPr>
              <a:t> </a:t>
            </a:r>
            <a:r>
              <a:rPr kumimoji="0" lang="ru-RU" altLang="ru-RU" sz="2400" b="1" i="0" u="none" strike="noStrike" cap="none" normalizeH="0" baseline="0" dirty="0" err="1">
                <a:ln>
                  <a:noFill/>
                </a:ln>
                <a:solidFill>
                  <a:schemeClr val="tx1"/>
                </a:solidFill>
                <a:effectLst/>
                <a:latin typeface="+mj-lt"/>
              </a:rPr>
              <a:t>belgilari</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Brend</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nomlari</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logotiplar</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yoki</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shiorlarni</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himoya</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qiladi</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Masalan</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Coca-Cola</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logotipi</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savdo</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belgisi</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sifatida</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ro‘yxatdan</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o‘tgan</a:t>
            </a:r>
            <a:r>
              <a:rPr kumimoji="0" lang="ru-RU" altLang="ru-RU" sz="2400" b="0" i="0" u="none" strike="noStrike" cap="none" normalizeH="0" baseline="0" dirty="0">
                <a:ln>
                  <a:noFill/>
                </a:ln>
                <a:solidFill>
                  <a:schemeClr val="tx1"/>
                </a:solidFill>
                <a:effectLst/>
                <a:latin typeface="+mj-lt"/>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ru-RU" altLang="ru-RU" sz="2400" b="1" i="0" u="none" strike="noStrike" cap="none" normalizeH="0" baseline="0" dirty="0" err="1">
                <a:ln>
                  <a:noFill/>
                </a:ln>
                <a:solidFill>
                  <a:schemeClr val="tx1"/>
                </a:solidFill>
                <a:effectLst/>
                <a:latin typeface="+mj-lt"/>
              </a:rPr>
              <a:t>Tijorat</a:t>
            </a:r>
            <a:r>
              <a:rPr kumimoji="0" lang="ru-RU" altLang="ru-RU" sz="2400" b="1" i="0" u="none" strike="noStrike" cap="none" normalizeH="0" baseline="0" dirty="0">
                <a:ln>
                  <a:noFill/>
                </a:ln>
                <a:solidFill>
                  <a:schemeClr val="tx1"/>
                </a:solidFill>
                <a:effectLst/>
                <a:latin typeface="+mj-lt"/>
              </a:rPr>
              <a:t> </a:t>
            </a:r>
            <a:r>
              <a:rPr kumimoji="0" lang="ru-RU" altLang="ru-RU" sz="2400" b="1" i="0" u="none" strike="noStrike" cap="none" normalizeH="0" baseline="0" dirty="0" err="1">
                <a:ln>
                  <a:noFill/>
                </a:ln>
                <a:solidFill>
                  <a:schemeClr val="tx1"/>
                </a:solidFill>
                <a:effectLst/>
                <a:latin typeface="+mj-lt"/>
              </a:rPr>
              <a:t>sirlari</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Maxfiy</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biznes</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ma’lumotlari</a:t>
            </a:r>
            <a:r>
              <a:rPr kumimoji="0" lang="ru-RU" altLang="ru-RU" sz="2400" b="0" i="0" u="none" strike="noStrike" cap="none" normalizeH="0" baseline="0" dirty="0">
                <a:ln>
                  <a:noFill/>
                </a:ln>
                <a:solidFill>
                  <a:schemeClr val="tx1"/>
                </a:solidFill>
                <a:effectLst/>
                <a:latin typeface="+mj-lt"/>
              </a:rPr>
              <a:t>, </a:t>
            </a:r>
            <a:r>
              <a:rPr kumimoji="0" lang="ru-RU" altLang="ru-RU" sz="2400" b="0" i="0" u="none" strike="noStrike" cap="none" normalizeH="0" baseline="0" dirty="0" err="1">
                <a:ln>
                  <a:noFill/>
                </a:ln>
                <a:solidFill>
                  <a:schemeClr val="tx1"/>
                </a:solidFill>
                <a:effectLst/>
                <a:latin typeface="+mj-lt"/>
              </a:rPr>
              <a:t>masalan</a:t>
            </a:r>
            <a:r>
              <a:rPr kumimoji="0" lang="ru-RU" altLang="ru-RU" sz="2400" b="0" i="0" u="none" strike="noStrike" cap="none" normalizeH="0" baseline="0" dirty="0">
                <a:ln>
                  <a:noFill/>
                </a:ln>
                <a:solidFill>
                  <a:schemeClr val="tx1"/>
                </a:solidFill>
                <a:effectLst/>
                <a:latin typeface="+mj-lt"/>
              </a:rPr>
              <a:t>, KFC </a:t>
            </a:r>
            <a:r>
              <a:rPr kumimoji="0" lang="ru-RU" altLang="ru-RU" sz="2400" b="0" i="0" u="none" strike="noStrike" cap="none" normalizeH="0" baseline="0" dirty="0" err="1">
                <a:ln>
                  <a:noFill/>
                </a:ln>
                <a:solidFill>
                  <a:schemeClr val="tx1"/>
                </a:solidFill>
                <a:effectLst/>
                <a:latin typeface="+mj-lt"/>
              </a:rPr>
              <a:t>retsepti</a:t>
            </a:r>
            <a:r>
              <a:rPr kumimoji="0" lang="ru-RU" altLang="ru-RU" sz="2400" b="0" i="0" u="none" strike="noStrike" cap="none" normalizeH="0" baseline="0" dirty="0">
                <a:ln>
                  <a:noFill/>
                </a:ln>
                <a:solidFill>
                  <a:schemeClr val="tx1"/>
                </a:solidFill>
                <a:effectLst/>
                <a:latin typeface="+mj-l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400" b="0" i="0" u="none" strike="noStrike" cap="none" normalizeH="0" baseline="0" dirty="0">
              <a:ln>
                <a:noFill/>
              </a:ln>
              <a:solidFill>
                <a:schemeClr val="tx1"/>
              </a:solidFill>
              <a:effectLst/>
              <a:latin typeface="+mj-lt"/>
            </a:endParaRPr>
          </a:p>
        </p:txBody>
      </p:sp>
      <p:pic>
        <p:nvPicPr>
          <p:cNvPr id="6147" name="Picture 3" descr="The 4 Main Types of Intellectual Property and Related Costs">
            <a:extLst>
              <a:ext uri="{FF2B5EF4-FFF2-40B4-BE49-F238E27FC236}">
                <a16:creationId xmlns:a16="http://schemas.microsoft.com/office/drawing/2014/main" id="{DEEA08C3-C96B-435C-9458-2A8F6E4841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6580" y="36947"/>
            <a:ext cx="4657626" cy="19819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45030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94C32E-7E94-4FDC-8E53-0703FE540A7F}"/>
              </a:ext>
            </a:extLst>
          </p:cNvPr>
          <p:cNvSpPr>
            <a:spLocks noGrp="1"/>
          </p:cNvSpPr>
          <p:nvPr>
            <p:ph type="title"/>
          </p:nvPr>
        </p:nvSpPr>
        <p:spPr/>
        <p:txBody>
          <a:bodyPr/>
          <a:lstStyle/>
          <a:p>
            <a:pPr algn="ctr"/>
            <a:r>
              <a:rPr lang="en-US" b="1" dirty="0"/>
              <a:t>Real </a:t>
            </a:r>
            <a:r>
              <a:rPr lang="en-US" b="1" dirty="0" err="1"/>
              <a:t>misol</a:t>
            </a:r>
            <a:endParaRPr lang="ru-RU" b="1" dirty="0"/>
          </a:p>
        </p:txBody>
      </p:sp>
      <p:pic>
        <p:nvPicPr>
          <p:cNvPr id="7170" name="Picture 2" descr="Apple иска друг да произвежда части за iPhone, вместо Samsung">
            <a:extLst>
              <a:ext uri="{FF2B5EF4-FFF2-40B4-BE49-F238E27FC236}">
                <a16:creationId xmlns:a16="http://schemas.microsoft.com/office/drawing/2014/main" id="{B9942171-485D-4C7C-8340-0A6B17B6B47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44032" y="1510992"/>
            <a:ext cx="7303936" cy="51007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5511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2" name="Picture 6" descr="The Complete Guide to Branding in Tourism Marketing | Rezdy">
            <a:extLst>
              <a:ext uri="{FF2B5EF4-FFF2-40B4-BE49-F238E27FC236}">
                <a16:creationId xmlns:a16="http://schemas.microsoft.com/office/drawing/2014/main" id="{22A0D683-ABF5-41BB-9915-7C88B00693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4185" y="738187"/>
            <a:ext cx="10568215" cy="5548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46557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0D978BE-66EE-44A8-BDD2-B263885F149E}"/>
              </a:ext>
            </a:extLst>
          </p:cNvPr>
          <p:cNvSpPr>
            <a:spLocks noGrp="1"/>
          </p:cNvSpPr>
          <p:nvPr>
            <p:ph type="title"/>
          </p:nvPr>
        </p:nvSpPr>
        <p:spPr/>
        <p:txBody>
          <a:bodyPr/>
          <a:lstStyle/>
          <a:p>
            <a:pPr algn="ctr"/>
            <a:r>
              <a:rPr lang="en-US" b="1" dirty="0" err="1"/>
              <a:t>Brending</a:t>
            </a:r>
            <a:endParaRPr lang="ru-RU" b="1" dirty="0"/>
          </a:p>
        </p:txBody>
      </p:sp>
      <p:sp>
        <p:nvSpPr>
          <p:cNvPr id="3" name="Объект 2">
            <a:extLst>
              <a:ext uri="{FF2B5EF4-FFF2-40B4-BE49-F238E27FC236}">
                <a16:creationId xmlns:a16="http://schemas.microsoft.com/office/drawing/2014/main" id="{0B562ED4-7891-40B3-BD70-5C6B81B9EA50}"/>
              </a:ext>
            </a:extLst>
          </p:cNvPr>
          <p:cNvSpPr>
            <a:spLocks noGrp="1"/>
          </p:cNvSpPr>
          <p:nvPr>
            <p:ph idx="1"/>
          </p:nvPr>
        </p:nvSpPr>
        <p:spPr>
          <a:xfrm>
            <a:off x="838200" y="1549400"/>
            <a:ext cx="10515600" cy="4351338"/>
          </a:xfrm>
        </p:spPr>
        <p:txBody>
          <a:bodyPr/>
          <a:lstStyle/>
          <a:p>
            <a:r>
              <a:rPr lang="en-US" dirty="0" err="1"/>
              <a:t>Brending</a:t>
            </a:r>
            <a:r>
              <a:rPr lang="en-US" dirty="0"/>
              <a:t> – </a:t>
            </a:r>
            <a:r>
              <a:rPr lang="en-US" dirty="0" err="1"/>
              <a:t>bu</a:t>
            </a:r>
            <a:r>
              <a:rPr lang="en-US" dirty="0"/>
              <a:t> </a:t>
            </a:r>
            <a:r>
              <a:rPr lang="en-US" dirty="0" err="1"/>
              <a:t>sizning</a:t>
            </a:r>
            <a:r>
              <a:rPr lang="en-US" dirty="0"/>
              <a:t> </a:t>
            </a:r>
            <a:r>
              <a:rPr lang="en-US" dirty="0" err="1"/>
              <a:t>kompaniyangiz</a:t>
            </a:r>
            <a:r>
              <a:rPr lang="en-US" dirty="0"/>
              <a:t> </a:t>
            </a:r>
            <a:r>
              <a:rPr lang="en-US" dirty="0" err="1"/>
              <a:t>yoki</a:t>
            </a:r>
            <a:r>
              <a:rPr lang="en-US" dirty="0"/>
              <a:t> </a:t>
            </a:r>
            <a:r>
              <a:rPr lang="en-US" dirty="0" err="1"/>
              <a:t>mahsulotingizni</a:t>
            </a:r>
            <a:r>
              <a:rPr lang="en-US" dirty="0"/>
              <a:t> </a:t>
            </a:r>
            <a:r>
              <a:rPr lang="en-US" dirty="0" err="1"/>
              <a:t>mijozlar</a:t>
            </a:r>
            <a:r>
              <a:rPr lang="en-US" dirty="0"/>
              <a:t> </a:t>
            </a:r>
            <a:r>
              <a:rPr lang="en-US" dirty="0" err="1"/>
              <a:t>ongida</a:t>
            </a:r>
            <a:r>
              <a:rPr lang="en-US" dirty="0"/>
              <a:t> </a:t>
            </a:r>
            <a:r>
              <a:rPr lang="en-US" dirty="0" err="1"/>
              <a:t>muayyan</a:t>
            </a:r>
            <a:r>
              <a:rPr lang="en-US" dirty="0"/>
              <a:t> </a:t>
            </a:r>
            <a:r>
              <a:rPr lang="en-US" dirty="0" err="1"/>
              <a:t>imidj</a:t>
            </a:r>
            <a:r>
              <a:rPr lang="en-US" dirty="0"/>
              <a:t> </a:t>
            </a:r>
            <a:r>
              <a:rPr lang="en-US" dirty="0" err="1"/>
              <a:t>bilan</a:t>
            </a:r>
            <a:r>
              <a:rPr lang="en-US" dirty="0"/>
              <a:t> </a:t>
            </a:r>
            <a:r>
              <a:rPr lang="en-US" dirty="0" err="1"/>
              <a:t>bog‘lash</a:t>
            </a:r>
            <a:r>
              <a:rPr lang="en-US" dirty="0"/>
              <a:t> </a:t>
            </a:r>
            <a:r>
              <a:rPr lang="en-US" dirty="0" err="1"/>
              <a:t>jarayoni</a:t>
            </a:r>
            <a:r>
              <a:rPr lang="en-US" dirty="0"/>
              <a:t>. </a:t>
            </a:r>
            <a:r>
              <a:rPr lang="en-US" dirty="0" err="1"/>
              <a:t>Yaxshi</a:t>
            </a:r>
            <a:r>
              <a:rPr lang="en-US" dirty="0"/>
              <a:t> </a:t>
            </a:r>
            <a:r>
              <a:rPr lang="en-US" dirty="0" err="1"/>
              <a:t>brend</a:t>
            </a:r>
            <a:r>
              <a:rPr lang="en-US" dirty="0"/>
              <a:t> </a:t>
            </a:r>
            <a:r>
              <a:rPr lang="en-US" dirty="0" err="1"/>
              <a:t>mijozlar</a:t>
            </a:r>
            <a:r>
              <a:rPr lang="en-US" dirty="0"/>
              <a:t> </a:t>
            </a:r>
            <a:r>
              <a:rPr lang="en-US" dirty="0" err="1"/>
              <a:t>sadoqatini</a:t>
            </a:r>
            <a:r>
              <a:rPr lang="en-US" dirty="0"/>
              <a:t> </a:t>
            </a:r>
            <a:r>
              <a:rPr lang="en-US" dirty="0" err="1"/>
              <a:t>oshiradi</a:t>
            </a:r>
            <a:r>
              <a:rPr lang="en-US" dirty="0"/>
              <a:t> </a:t>
            </a:r>
            <a:r>
              <a:rPr lang="en-US" dirty="0" err="1"/>
              <a:t>va</a:t>
            </a:r>
            <a:r>
              <a:rPr lang="en-US" dirty="0"/>
              <a:t> </a:t>
            </a:r>
            <a:r>
              <a:rPr lang="en-US" dirty="0" err="1"/>
              <a:t>raqobatchilardan</a:t>
            </a:r>
            <a:r>
              <a:rPr lang="en-US" dirty="0"/>
              <a:t> </a:t>
            </a:r>
            <a:r>
              <a:rPr lang="en-US" dirty="0" err="1"/>
              <a:t>ajralib</a:t>
            </a:r>
            <a:r>
              <a:rPr lang="en-US" dirty="0"/>
              <a:t> </a:t>
            </a:r>
            <a:r>
              <a:rPr lang="en-US" dirty="0" err="1"/>
              <a:t>turishga</a:t>
            </a:r>
            <a:r>
              <a:rPr lang="en-US" dirty="0"/>
              <a:t> </a:t>
            </a:r>
            <a:r>
              <a:rPr lang="en-US" dirty="0" err="1"/>
              <a:t>yordam</a:t>
            </a:r>
            <a:r>
              <a:rPr lang="en-US" dirty="0"/>
              <a:t> </a:t>
            </a:r>
            <a:r>
              <a:rPr lang="en-US" dirty="0" err="1"/>
              <a:t>beradi</a:t>
            </a:r>
            <a:r>
              <a:rPr lang="en-US" dirty="0"/>
              <a:t>.”</a:t>
            </a:r>
          </a:p>
          <a:p>
            <a:pPr marL="0" indent="0">
              <a:buNone/>
            </a:pPr>
            <a:endParaRPr lang="ru-RU" dirty="0"/>
          </a:p>
        </p:txBody>
      </p:sp>
      <p:pic>
        <p:nvPicPr>
          <p:cNvPr id="10244" name="Picture 4" descr="Most Valuable Brands in the World 1999 - 2024 - YouTube">
            <a:extLst>
              <a:ext uri="{FF2B5EF4-FFF2-40B4-BE49-F238E27FC236}">
                <a16:creationId xmlns:a16="http://schemas.microsoft.com/office/drawing/2014/main" id="{885D76B2-0708-4E90-AFF7-7D84060972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9900" y="3000375"/>
            <a:ext cx="6534150" cy="3676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9300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7F5D6E2-C686-49F3-B25C-95281549EDAD}"/>
              </a:ext>
            </a:extLst>
          </p:cNvPr>
          <p:cNvSpPr>
            <a:spLocks noGrp="1"/>
          </p:cNvSpPr>
          <p:nvPr>
            <p:ph type="title"/>
          </p:nvPr>
        </p:nvSpPr>
        <p:spPr/>
        <p:txBody>
          <a:bodyPr/>
          <a:lstStyle/>
          <a:p>
            <a:r>
              <a:rPr lang="en-US" b="1" dirty="0" err="1"/>
              <a:t>Brendning</a:t>
            </a:r>
            <a:r>
              <a:rPr lang="en-US" b="1" dirty="0"/>
              <a:t> </a:t>
            </a:r>
            <a:r>
              <a:rPr lang="en-US" b="1" dirty="0" err="1"/>
              <a:t>asosiy</a:t>
            </a:r>
            <a:r>
              <a:rPr lang="en-US" b="1" dirty="0"/>
              <a:t> </a:t>
            </a:r>
            <a:r>
              <a:rPr lang="en-US" b="1" dirty="0" err="1"/>
              <a:t>elementlari</a:t>
            </a:r>
            <a:endParaRPr lang="ru-RU" b="1" dirty="0"/>
          </a:p>
        </p:txBody>
      </p:sp>
      <p:sp>
        <p:nvSpPr>
          <p:cNvPr id="4" name="Rectangle 1">
            <a:extLst>
              <a:ext uri="{FF2B5EF4-FFF2-40B4-BE49-F238E27FC236}">
                <a16:creationId xmlns:a16="http://schemas.microsoft.com/office/drawing/2014/main" id="{A516443C-8336-4013-BFDA-7708844C0964}"/>
              </a:ext>
            </a:extLst>
          </p:cNvPr>
          <p:cNvSpPr>
            <a:spLocks noGrp="1" noChangeArrowheads="1"/>
          </p:cNvSpPr>
          <p:nvPr>
            <p:ph idx="1"/>
          </p:nvPr>
        </p:nvSpPr>
        <p:spPr bwMode="auto">
          <a:xfrm>
            <a:off x="838200" y="1800691"/>
            <a:ext cx="11039475"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ru-RU" altLang="ru-RU" b="1" i="0" u="none" strike="noStrike" cap="none" normalizeH="0" baseline="0" dirty="0" err="1">
                <a:ln>
                  <a:noFill/>
                </a:ln>
                <a:solidFill>
                  <a:schemeClr val="tx1"/>
                </a:solidFill>
                <a:effectLst/>
                <a:latin typeface="Arial" panose="020B0604020202020204" pitchFamily="34" charset="0"/>
              </a:rPr>
              <a:t>Logotip</a:t>
            </a:r>
            <a:r>
              <a:rPr kumimoji="0" lang="ru-RU" altLang="ru-RU" b="0" i="0" u="none" strike="noStrike" cap="none" normalizeH="0" baseline="0" dirty="0">
                <a:ln>
                  <a:noFill/>
                </a:ln>
                <a:solidFill>
                  <a:schemeClr val="tx1"/>
                </a:solidFill>
                <a:effectLst/>
                <a:latin typeface="Arial" panose="020B0604020202020204" pitchFamily="34" charset="0"/>
              </a:rPr>
              <a:t>: </a:t>
            </a:r>
            <a:r>
              <a:rPr kumimoji="0" lang="ru-RU" altLang="ru-RU" b="0" i="0" u="none" strike="noStrike" cap="none" normalizeH="0" baseline="0" dirty="0" err="1">
                <a:ln>
                  <a:noFill/>
                </a:ln>
                <a:solidFill>
                  <a:schemeClr val="tx1"/>
                </a:solidFill>
                <a:effectLst/>
                <a:latin typeface="Arial" panose="020B0604020202020204" pitchFamily="34" charset="0"/>
              </a:rPr>
              <a:t>Oddiy</a:t>
            </a:r>
            <a:r>
              <a:rPr kumimoji="0" lang="ru-RU" altLang="ru-RU" b="0" i="0" u="none" strike="noStrike" cap="none" normalizeH="0" baseline="0" dirty="0">
                <a:ln>
                  <a:noFill/>
                </a:ln>
                <a:solidFill>
                  <a:schemeClr val="tx1"/>
                </a:solidFill>
                <a:effectLst/>
                <a:latin typeface="Arial" panose="020B0604020202020204" pitchFamily="34" charset="0"/>
              </a:rPr>
              <a:t>, </a:t>
            </a:r>
            <a:r>
              <a:rPr kumimoji="0" lang="ru-RU" altLang="ru-RU" b="0" i="0" u="none" strike="noStrike" cap="none" normalizeH="0" baseline="0" dirty="0" err="1">
                <a:ln>
                  <a:noFill/>
                </a:ln>
                <a:solidFill>
                  <a:schemeClr val="tx1"/>
                </a:solidFill>
                <a:effectLst/>
                <a:latin typeface="Arial" panose="020B0604020202020204" pitchFamily="34" charset="0"/>
              </a:rPr>
              <a:t>esda</a:t>
            </a:r>
            <a:r>
              <a:rPr kumimoji="0" lang="ru-RU" altLang="ru-RU" b="0" i="0" u="none" strike="noStrike" cap="none" normalizeH="0" baseline="0" dirty="0">
                <a:ln>
                  <a:noFill/>
                </a:ln>
                <a:solidFill>
                  <a:schemeClr val="tx1"/>
                </a:solidFill>
                <a:effectLst/>
                <a:latin typeface="Arial" panose="020B0604020202020204" pitchFamily="34" charset="0"/>
              </a:rPr>
              <a:t> </a:t>
            </a:r>
            <a:r>
              <a:rPr kumimoji="0" lang="ru-RU" altLang="ru-RU" b="0" i="0" u="none" strike="noStrike" cap="none" normalizeH="0" baseline="0" dirty="0" err="1">
                <a:ln>
                  <a:noFill/>
                </a:ln>
                <a:solidFill>
                  <a:schemeClr val="tx1"/>
                </a:solidFill>
                <a:effectLst/>
                <a:latin typeface="Arial" panose="020B0604020202020204" pitchFamily="34" charset="0"/>
              </a:rPr>
              <a:t>qolarli</a:t>
            </a:r>
            <a:r>
              <a:rPr kumimoji="0" lang="ru-RU" altLang="ru-RU" b="0" i="0" u="none" strike="noStrike" cap="none" normalizeH="0" baseline="0" dirty="0">
                <a:ln>
                  <a:noFill/>
                </a:ln>
                <a:solidFill>
                  <a:schemeClr val="tx1"/>
                </a:solidFill>
                <a:effectLst/>
                <a:latin typeface="Arial" panose="020B0604020202020204" pitchFamily="34" charset="0"/>
              </a:rPr>
              <a:t> </a:t>
            </a:r>
            <a:r>
              <a:rPr kumimoji="0" lang="ru-RU" altLang="ru-RU" b="0" i="0" u="none" strike="noStrike" cap="none" normalizeH="0" baseline="0" dirty="0" err="1">
                <a:ln>
                  <a:noFill/>
                </a:ln>
                <a:solidFill>
                  <a:schemeClr val="tx1"/>
                </a:solidFill>
                <a:effectLst/>
                <a:latin typeface="Arial" panose="020B0604020202020204" pitchFamily="34" charset="0"/>
              </a:rPr>
              <a:t>va</a:t>
            </a:r>
            <a:r>
              <a:rPr kumimoji="0" lang="ru-RU" altLang="ru-RU" b="0" i="0" u="none" strike="noStrike" cap="none" normalizeH="0" baseline="0" dirty="0">
                <a:ln>
                  <a:noFill/>
                </a:ln>
                <a:solidFill>
                  <a:schemeClr val="tx1"/>
                </a:solidFill>
                <a:effectLst/>
                <a:latin typeface="Arial" panose="020B0604020202020204" pitchFamily="34" charset="0"/>
              </a:rPr>
              <a:t> </a:t>
            </a:r>
            <a:r>
              <a:rPr kumimoji="0" lang="ru-RU" altLang="ru-RU" b="0" i="0" u="none" strike="noStrike" cap="none" normalizeH="0" baseline="0" dirty="0" err="1">
                <a:ln>
                  <a:noFill/>
                </a:ln>
                <a:solidFill>
                  <a:schemeClr val="tx1"/>
                </a:solidFill>
                <a:effectLst/>
                <a:latin typeface="Arial" panose="020B0604020202020204" pitchFamily="34" charset="0"/>
              </a:rPr>
              <a:t>brendni</a:t>
            </a:r>
            <a:r>
              <a:rPr kumimoji="0" lang="ru-RU" altLang="ru-RU" b="0" i="0" u="none" strike="noStrike" cap="none" normalizeH="0" baseline="0" dirty="0">
                <a:ln>
                  <a:noFill/>
                </a:ln>
                <a:solidFill>
                  <a:schemeClr val="tx1"/>
                </a:solidFill>
                <a:effectLst/>
                <a:latin typeface="Arial" panose="020B0604020202020204" pitchFamily="34" charset="0"/>
              </a:rPr>
              <a:t> </a:t>
            </a:r>
            <a:r>
              <a:rPr kumimoji="0" lang="ru-RU" altLang="ru-RU" b="0" i="0" u="none" strike="noStrike" cap="none" normalizeH="0" baseline="0" dirty="0" err="1">
                <a:ln>
                  <a:noFill/>
                </a:ln>
                <a:solidFill>
                  <a:schemeClr val="tx1"/>
                </a:solidFill>
                <a:effectLst/>
                <a:latin typeface="Arial" panose="020B0604020202020204" pitchFamily="34" charset="0"/>
              </a:rPr>
              <a:t>ifodalovchi</a:t>
            </a:r>
            <a:r>
              <a:rPr kumimoji="0" lang="ru-RU" altLang="ru-RU" b="0" i="0" u="none" strike="noStrike" cap="none" normalizeH="0" baseline="0" dirty="0">
                <a:ln>
                  <a:noFill/>
                </a:ln>
                <a:solidFill>
                  <a:schemeClr val="tx1"/>
                </a:solidFill>
                <a:effectLst/>
                <a:latin typeface="Arial" panose="020B0604020202020204" pitchFamily="34" charset="0"/>
              </a:rPr>
              <a:t> </a:t>
            </a:r>
            <a:r>
              <a:rPr kumimoji="0" lang="ru-RU" altLang="ru-RU" b="0" i="0" u="none" strike="noStrike" cap="none" normalizeH="0" baseline="0" dirty="0" err="1">
                <a:ln>
                  <a:noFill/>
                </a:ln>
                <a:solidFill>
                  <a:schemeClr val="tx1"/>
                </a:solidFill>
                <a:effectLst/>
                <a:latin typeface="Arial" panose="020B0604020202020204" pitchFamily="34" charset="0"/>
              </a:rPr>
              <a:t>bo‘lishi</a:t>
            </a:r>
            <a:r>
              <a:rPr kumimoji="0" lang="ru-RU" altLang="ru-RU" b="0" i="0" u="none" strike="noStrike" cap="none" normalizeH="0" baseline="0" dirty="0">
                <a:ln>
                  <a:noFill/>
                </a:ln>
                <a:solidFill>
                  <a:schemeClr val="tx1"/>
                </a:solidFill>
                <a:effectLst/>
                <a:latin typeface="Arial" panose="020B0604020202020204" pitchFamily="34" charset="0"/>
              </a:rPr>
              <a:t> </a:t>
            </a:r>
            <a:r>
              <a:rPr kumimoji="0" lang="ru-RU" altLang="ru-RU" b="0" i="0" u="none" strike="noStrike" cap="none" normalizeH="0" baseline="0" dirty="0" err="1">
                <a:ln>
                  <a:noFill/>
                </a:ln>
                <a:solidFill>
                  <a:schemeClr val="tx1"/>
                </a:solidFill>
                <a:effectLst/>
                <a:latin typeface="Arial" panose="020B0604020202020204" pitchFamily="34" charset="0"/>
              </a:rPr>
              <a:t>kerak</a:t>
            </a:r>
            <a:r>
              <a:rPr kumimoji="0" lang="ru-RU" altLang="ru-RU"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ru-RU" altLang="ru-RU" b="1" i="0" u="none" strike="noStrike" cap="none" normalizeH="0" baseline="0" dirty="0" err="1">
                <a:ln>
                  <a:noFill/>
                </a:ln>
                <a:solidFill>
                  <a:schemeClr val="tx1"/>
                </a:solidFill>
                <a:effectLst/>
                <a:latin typeface="Arial" panose="020B0604020202020204" pitchFamily="34" charset="0"/>
              </a:rPr>
              <a:t>Shior</a:t>
            </a:r>
            <a:r>
              <a:rPr kumimoji="0" lang="ru-RU" altLang="ru-RU" b="0" i="0" u="none" strike="noStrike" cap="none" normalizeH="0" baseline="0" dirty="0">
                <a:ln>
                  <a:noFill/>
                </a:ln>
                <a:solidFill>
                  <a:schemeClr val="tx1"/>
                </a:solidFill>
                <a:effectLst/>
                <a:latin typeface="Arial" panose="020B0604020202020204" pitchFamily="34" charset="0"/>
              </a:rPr>
              <a:t>: </a:t>
            </a:r>
            <a:r>
              <a:rPr kumimoji="0" lang="ru-RU" altLang="ru-RU" b="0" i="0" u="none" strike="noStrike" cap="none" normalizeH="0" baseline="0" dirty="0" err="1">
                <a:ln>
                  <a:noFill/>
                </a:ln>
                <a:solidFill>
                  <a:schemeClr val="tx1"/>
                </a:solidFill>
                <a:effectLst/>
                <a:latin typeface="Arial" panose="020B0604020202020204" pitchFamily="34" charset="0"/>
              </a:rPr>
              <a:t>Qisqa</a:t>
            </a:r>
            <a:r>
              <a:rPr kumimoji="0" lang="ru-RU" altLang="ru-RU" b="0" i="0" u="none" strike="noStrike" cap="none" normalizeH="0" baseline="0" dirty="0">
                <a:ln>
                  <a:noFill/>
                </a:ln>
                <a:solidFill>
                  <a:schemeClr val="tx1"/>
                </a:solidFill>
                <a:effectLst/>
                <a:latin typeface="Arial" panose="020B0604020202020204" pitchFamily="34" charset="0"/>
              </a:rPr>
              <a:t>, </a:t>
            </a:r>
            <a:r>
              <a:rPr kumimoji="0" lang="ru-RU" altLang="ru-RU" b="0" i="0" u="none" strike="noStrike" cap="none" normalizeH="0" baseline="0" dirty="0" err="1">
                <a:ln>
                  <a:noFill/>
                </a:ln>
                <a:solidFill>
                  <a:schemeClr val="tx1"/>
                </a:solidFill>
                <a:effectLst/>
                <a:latin typeface="Arial" panose="020B0604020202020204" pitchFamily="34" charset="0"/>
              </a:rPr>
              <a:t>ta’sirli</a:t>
            </a:r>
            <a:r>
              <a:rPr kumimoji="0" lang="ru-RU" altLang="ru-RU" b="0" i="0" u="none" strike="noStrike" cap="none" normalizeH="0" baseline="0" dirty="0">
                <a:ln>
                  <a:noFill/>
                </a:ln>
                <a:solidFill>
                  <a:schemeClr val="tx1"/>
                </a:solidFill>
                <a:effectLst/>
                <a:latin typeface="Arial" panose="020B0604020202020204" pitchFamily="34" charset="0"/>
              </a:rPr>
              <a:t> </a:t>
            </a:r>
            <a:r>
              <a:rPr kumimoji="0" lang="ru-RU" altLang="ru-RU" b="0" i="0" u="none" strike="noStrike" cap="none" normalizeH="0" baseline="0" dirty="0" err="1">
                <a:ln>
                  <a:noFill/>
                </a:ln>
                <a:solidFill>
                  <a:schemeClr val="tx1"/>
                </a:solidFill>
                <a:effectLst/>
                <a:latin typeface="Arial" panose="020B0604020202020204" pitchFamily="34" charset="0"/>
              </a:rPr>
              <a:t>va</a:t>
            </a:r>
            <a:r>
              <a:rPr kumimoji="0" lang="ru-RU" altLang="ru-RU" b="0" i="0" u="none" strike="noStrike" cap="none" normalizeH="0" baseline="0" dirty="0">
                <a:ln>
                  <a:noFill/>
                </a:ln>
                <a:solidFill>
                  <a:schemeClr val="tx1"/>
                </a:solidFill>
                <a:effectLst/>
                <a:latin typeface="Arial" panose="020B0604020202020204" pitchFamily="34" charset="0"/>
              </a:rPr>
              <a:t> </a:t>
            </a:r>
            <a:r>
              <a:rPr kumimoji="0" lang="ru-RU" altLang="ru-RU" b="0" i="0" u="none" strike="noStrike" cap="none" normalizeH="0" baseline="0" dirty="0" err="1">
                <a:ln>
                  <a:noFill/>
                </a:ln>
                <a:solidFill>
                  <a:schemeClr val="tx1"/>
                </a:solidFill>
                <a:effectLst/>
                <a:latin typeface="Arial" panose="020B0604020202020204" pitchFamily="34" charset="0"/>
              </a:rPr>
              <a:t>brendning</a:t>
            </a:r>
            <a:r>
              <a:rPr kumimoji="0" lang="ru-RU" altLang="ru-RU" b="0" i="0" u="none" strike="noStrike" cap="none" normalizeH="0" baseline="0" dirty="0">
                <a:ln>
                  <a:noFill/>
                </a:ln>
                <a:solidFill>
                  <a:schemeClr val="tx1"/>
                </a:solidFill>
                <a:effectLst/>
                <a:latin typeface="Arial" panose="020B0604020202020204" pitchFamily="34" charset="0"/>
              </a:rPr>
              <a:t> </a:t>
            </a:r>
            <a:r>
              <a:rPr kumimoji="0" lang="ru-RU" altLang="ru-RU" b="0" i="0" u="none" strike="noStrike" cap="none" normalizeH="0" baseline="0" dirty="0" err="1">
                <a:ln>
                  <a:noFill/>
                </a:ln>
                <a:solidFill>
                  <a:schemeClr val="tx1"/>
                </a:solidFill>
                <a:effectLst/>
                <a:latin typeface="Arial" panose="020B0604020202020204" pitchFamily="34" charset="0"/>
              </a:rPr>
              <a:t>mohiyatini</a:t>
            </a:r>
            <a:r>
              <a:rPr kumimoji="0" lang="ru-RU" altLang="ru-RU" b="0" i="0" u="none" strike="noStrike" cap="none" normalizeH="0" baseline="0" dirty="0">
                <a:ln>
                  <a:noFill/>
                </a:ln>
                <a:solidFill>
                  <a:schemeClr val="tx1"/>
                </a:solidFill>
                <a:effectLst/>
                <a:latin typeface="Arial" panose="020B0604020202020204" pitchFamily="34" charset="0"/>
              </a:rPr>
              <a:t> </a:t>
            </a:r>
            <a:r>
              <a:rPr kumimoji="0" lang="ru-RU" altLang="ru-RU" b="0" i="0" u="none" strike="noStrike" cap="none" normalizeH="0" baseline="0" dirty="0" err="1">
                <a:ln>
                  <a:noFill/>
                </a:ln>
                <a:solidFill>
                  <a:schemeClr val="tx1"/>
                </a:solidFill>
                <a:effectLst/>
                <a:latin typeface="Arial" panose="020B0604020202020204" pitchFamily="34" charset="0"/>
              </a:rPr>
              <a:t>aks</a:t>
            </a:r>
            <a:r>
              <a:rPr kumimoji="0" lang="ru-RU" altLang="ru-RU" b="0" i="0" u="none" strike="noStrike" cap="none" normalizeH="0" baseline="0" dirty="0">
                <a:ln>
                  <a:noFill/>
                </a:ln>
                <a:solidFill>
                  <a:schemeClr val="tx1"/>
                </a:solidFill>
                <a:effectLst/>
                <a:latin typeface="Arial" panose="020B0604020202020204" pitchFamily="34" charset="0"/>
              </a:rPr>
              <a:t> </a:t>
            </a:r>
            <a:r>
              <a:rPr kumimoji="0" lang="ru-RU" altLang="ru-RU" b="0" i="0" u="none" strike="noStrike" cap="none" normalizeH="0" baseline="0" dirty="0" err="1">
                <a:ln>
                  <a:noFill/>
                </a:ln>
                <a:solidFill>
                  <a:schemeClr val="tx1"/>
                </a:solidFill>
                <a:effectLst/>
                <a:latin typeface="Arial" panose="020B0604020202020204" pitchFamily="34" charset="0"/>
              </a:rPr>
              <a:t>ettiradi</a:t>
            </a:r>
            <a:r>
              <a:rPr kumimoji="0" lang="ru-RU" altLang="ru-RU"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ru-RU" altLang="ru-RU" b="1" i="0" u="none" strike="noStrike" cap="none" normalizeH="0" baseline="0" dirty="0" err="1">
                <a:ln>
                  <a:noFill/>
                </a:ln>
                <a:solidFill>
                  <a:schemeClr val="tx1"/>
                </a:solidFill>
                <a:effectLst/>
                <a:latin typeface="Arial" panose="020B0604020202020204" pitchFamily="34" charset="0"/>
              </a:rPr>
              <a:t>Hikoya</a:t>
            </a:r>
            <a:r>
              <a:rPr kumimoji="0" lang="ru-RU" altLang="ru-RU" b="1" i="0" u="none" strike="noStrike" cap="none" normalizeH="0" baseline="0" dirty="0">
                <a:ln>
                  <a:noFill/>
                </a:ln>
                <a:solidFill>
                  <a:schemeClr val="tx1"/>
                </a:solidFill>
                <a:effectLst/>
                <a:latin typeface="Arial" panose="020B0604020202020204" pitchFamily="34" charset="0"/>
              </a:rPr>
              <a:t> (</a:t>
            </a:r>
            <a:r>
              <a:rPr kumimoji="0" lang="ru-RU" altLang="ru-RU" b="1" i="0" u="none" strike="noStrike" cap="none" normalizeH="0" baseline="0" dirty="0" err="1">
                <a:ln>
                  <a:noFill/>
                </a:ln>
                <a:solidFill>
                  <a:schemeClr val="tx1"/>
                </a:solidFill>
                <a:effectLst/>
                <a:latin typeface="Arial" panose="020B0604020202020204" pitchFamily="34" charset="0"/>
              </a:rPr>
              <a:t>storytelling</a:t>
            </a:r>
            <a:r>
              <a:rPr kumimoji="0" lang="ru-RU" altLang="ru-RU" b="1" i="0" u="none" strike="noStrike" cap="none" normalizeH="0" baseline="0" dirty="0">
                <a:ln>
                  <a:noFill/>
                </a:ln>
                <a:solidFill>
                  <a:schemeClr val="tx1"/>
                </a:solidFill>
                <a:effectLst/>
                <a:latin typeface="Arial" panose="020B0604020202020204" pitchFamily="34" charset="0"/>
              </a:rPr>
              <a:t>)</a:t>
            </a:r>
            <a:r>
              <a:rPr kumimoji="0" lang="ru-RU" altLang="ru-RU" b="0" i="0" u="none" strike="noStrike" cap="none" normalizeH="0" baseline="0" dirty="0">
                <a:ln>
                  <a:noFill/>
                </a:ln>
                <a:solidFill>
                  <a:schemeClr val="tx1"/>
                </a:solidFill>
                <a:effectLst/>
                <a:latin typeface="Arial" panose="020B0604020202020204" pitchFamily="34" charset="0"/>
              </a:rPr>
              <a:t>: </a:t>
            </a:r>
            <a:r>
              <a:rPr kumimoji="0" lang="ru-RU" altLang="ru-RU" b="0" i="0" u="none" strike="noStrike" cap="none" normalizeH="0" baseline="0" dirty="0" err="1">
                <a:ln>
                  <a:noFill/>
                </a:ln>
                <a:solidFill>
                  <a:schemeClr val="tx1"/>
                </a:solidFill>
                <a:effectLst/>
                <a:latin typeface="Arial" panose="020B0604020202020204" pitchFamily="34" charset="0"/>
              </a:rPr>
              <a:t>Brendning</a:t>
            </a:r>
            <a:r>
              <a:rPr kumimoji="0" lang="ru-RU" altLang="ru-RU" b="0" i="0" u="none" strike="noStrike" cap="none" normalizeH="0" baseline="0" dirty="0">
                <a:ln>
                  <a:noFill/>
                </a:ln>
                <a:solidFill>
                  <a:schemeClr val="tx1"/>
                </a:solidFill>
                <a:effectLst/>
                <a:latin typeface="Arial" panose="020B0604020202020204" pitchFamily="34" charset="0"/>
              </a:rPr>
              <a:t> </a:t>
            </a:r>
            <a:r>
              <a:rPr kumimoji="0" lang="ru-RU" altLang="ru-RU" b="0" i="0" u="none" strike="noStrike" cap="none" normalizeH="0" baseline="0" dirty="0" err="1">
                <a:ln>
                  <a:noFill/>
                </a:ln>
                <a:solidFill>
                  <a:schemeClr val="tx1"/>
                </a:solidFill>
                <a:effectLst/>
                <a:latin typeface="Arial" panose="020B0604020202020204" pitchFamily="34" charset="0"/>
              </a:rPr>
              <a:t>orqasida</a:t>
            </a:r>
            <a:r>
              <a:rPr kumimoji="0" lang="ru-RU" altLang="ru-RU" b="0" i="0" u="none" strike="noStrike" cap="none" normalizeH="0" baseline="0" dirty="0">
                <a:ln>
                  <a:noFill/>
                </a:ln>
                <a:solidFill>
                  <a:schemeClr val="tx1"/>
                </a:solidFill>
                <a:effectLst/>
                <a:latin typeface="Arial" panose="020B0604020202020204" pitchFamily="34" charset="0"/>
              </a:rPr>
              <a:t> </a:t>
            </a:r>
            <a:r>
              <a:rPr kumimoji="0" lang="ru-RU" altLang="ru-RU" b="0" i="0" u="none" strike="noStrike" cap="none" normalizeH="0" baseline="0" dirty="0" err="1">
                <a:ln>
                  <a:noFill/>
                </a:ln>
                <a:solidFill>
                  <a:schemeClr val="tx1"/>
                </a:solidFill>
                <a:effectLst/>
                <a:latin typeface="Arial" panose="020B0604020202020204" pitchFamily="34" charset="0"/>
              </a:rPr>
              <a:t>turgan</a:t>
            </a:r>
            <a:r>
              <a:rPr kumimoji="0" lang="ru-RU" altLang="ru-RU" b="0" i="0" u="none" strike="noStrike" cap="none" normalizeH="0" baseline="0" dirty="0">
                <a:ln>
                  <a:noFill/>
                </a:ln>
                <a:solidFill>
                  <a:schemeClr val="tx1"/>
                </a:solidFill>
                <a:effectLst/>
                <a:latin typeface="Arial" panose="020B0604020202020204" pitchFamily="34" charset="0"/>
              </a:rPr>
              <a:t> </a:t>
            </a:r>
            <a:r>
              <a:rPr kumimoji="0" lang="ru-RU" altLang="ru-RU" b="0" i="0" u="none" strike="noStrike" cap="none" normalizeH="0" baseline="0" dirty="0" err="1">
                <a:ln>
                  <a:noFill/>
                </a:ln>
                <a:solidFill>
                  <a:schemeClr val="tx1"/>
                </a:solidFill>
                <a:effectLst/>
                <a:latin typeface="Arial" panose="020B0604020202020204" pitchFamily="34" charset="0"/>
              </a:rPr>
              <a:t>hikoya</a:t>
            </a:r>
            <a:r>
              <a:rPr kumimoji="0" lang="ru-RU" altLang="ru-RU" b="0" i="0" u="none" strike="noStrike" cap="none" normalizeH="0" baseline="0" dirty="0">
                <a:ln>
                  <a:noFill/>
                </a:ln>
                <a:solidFill>
                  <a:schemeClr val="tx1"/>
                </a:solidFill>
                <a:effectLst/>
                <a:latin typeface="Arial" panose="020B0604020202020204" pitchFamily="34" charset="0"/>
              </a:rPr>
              <a:t> </a:t>
            </a:r>
            <a:r>
              <a:rPr kumimoji="0" lang="ru-RU" altLang="ru-RU" b="0" i="0" u="none" strike="noStrike" cap="none" normalizeH="0" baseline="0" dirty="0" err="1">
                <a:ln>
                  <a:noFill/>
                </a:ln>
                <a:solidFill>
                  <a:schemeClr val="tx1"/>
                </a:solidFill>
                <a:effectLst/>
                <a:latin typeface="Arial" panose="020B0604020202020204" pitchFamily="34" charset="0"/>
              </a:rPr>
              <a:t>mijozlarni</a:t>
            </a:r>
            <a:r>
              <a:rPr kumimoji="0" lang="ru-RU" altLang="ru-RU" b="0" i="0" u="none" strike="noStrike" cap="none" normalizeH="0" baseline="0" dirty="0">
                <a:ln>
                  <a:noFill/>
                </a:ln>
                <a:solidFill>
                  <a:schemeClr val="tx1"/>
                </a:solidFill>
                <a:effectLst/>
                <a:latin typeface="Arial" panose="020B0604020202020204" pitchFamily="34" charset="0"/>
              </a:rPr>
              <a:t> </a:t>
            </a:r>
            <a:r>
              <a:rPr kumimoji="0" lang="ru-RU" altLang="ru-RU" b="0" i="0" u="none" strike="noStrike" cap="none" normalizeH="0" baseline="0" dirty="0" err="1">
                <a:ln>
                  <a:noFill/>
                </a:ln>
                <a:solidFill>
                  <a:schemeClr val="tx1"/>
                </a:solidFill>
                <a:effectLst/>
                <a:latin typeface="Arial" panose="020B0604020202020204" pitchFamily="34" charset="0"/>
              </a:rPr>
              <a:t>jalb</a:t>
            </a:r>
            <a:r>
              <a:rPr kumimoji="0" lang="ru-RU" altLang="ru-RU" b="0" i="0" u="none" strike="noStrike" cap="none" normalizeH="0" baseline="0" dirty="0">
                <a:ln>
                  <a:noFill/>
                </a:ln>
                <a:solidFill>
                  <a:schemeClr val="tx1"/>
                </a:solidFill>
                <a:effectLst/>
                <a:latin typeface="Arial" panose="020B0604020202020204" pitchFamily="34" charset="0"/>
              </a:rPr>
              <a:t> </a:t>
            </a:r>
            <a:r>
              <a:rPr kumimoji="0" lang="ru-RU" altLang="ru-RU" b="0" i="0" u="none" strike="noStrike" cap="none" normalizeH="0" baseline="0" dirty="0" err="1">
                <a:ln>
                  <a:noFill/>
                </a:ln>
                <a:solidFill>
                  <a:schemeClr val="tx1"/>
                </a:solidFill>
                <a:effectLst/>
                <a:latin typeface="Arial" panose="020B0604020202020204" pitchFamily="34" charset="0"/>
              </a:rPr>
              <a:t>qiladi</a:t>
            </a:r>
            <a:r>
              <a:rPr kumimoji="0" lang="ru-RU" altLang="ru-RU"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ru-RU" altLang="ru-RU" b="1" i="0" u="none" strike="noStrike" cap="none" normalizeH="0" baseline="0" dirty="0" err="1">
                <a:ln>
                  <a:noFill/>
                </a:ln>
                <a:solidFill>
                  <a:schemeClr val="tx1"/>
                </a:solidFill>
                <a:effectLst/>
                <a:latin typeface="Arial" panose="020B0604020202020204" pitchFamily="34" charset="0"/>
              </a:rPr>
              <a:t>Ranglar</a:t>
            </a:r>
            <a:r>
              <a:rPr kumimoji="0" lang="ru-RU" altLang="ru-RU" b="1" i="0" u="none" strike="noStrike" cap="none" normalizeH="0" baseline="0" dirty="0">
                <a:ln>
                  <a:noFill/>
                </a:ln>
                <a:solidFill>
                  <a:schemeClr val="tx1"/>
                </a:solidFill>
                <a:effectLst/>
                <a:latin typeface="Arial" panose="020B0604020202020204" pitchFamily="34" charset="0"/>
              </a:rPr>
              <a:t> </a:t>
            </a:r>
            <a:r>
              <a:rPr kumimoji="0" lang="ru-RU" altLang="ru-RU" b="1" i="0" u="none" strike="noStrike" cap="none" normalizeH="0" baseline="0" dirty="0" err="1">
                <a:ln>
                  <a:noFill/>
                </a:ln>
                <a:solidFill>
                  <a:schemeClr val="tx1"/>
                </a:solidFill>
                <a:effectLst/>
                <a:latin typeface="Arial" panose="020B0604020202020204" pitchFamily="34" charset="0"/>
              </a:rPr>
              <a:t>va</a:t>
            </a:r>
            <a:r>
              <a:rPr kumimoji="0" lang="ru-RU" altLang="ru-RU" b="1" i="0" u="none" strike="noStrike" cap="none" normalizeH="0" baseline="0" dirty="0">
                <a:ln>
                  <a:noFill/>
                </a:ln>
                <a:solidFill>
                  <a:schemeClr val="tx1"/>
                </a:solidFill>
                <a:effectLst/>
                <a:latin typeface="Arial" panose="020B0604020202020204" pitchFamily="34" charset="0"/>
              </a:rPr>
              <a:t> </a:t>
            </a:r>
            <a:r>
              <a:rPr kumimoji="0" lang="ru-RU" altLang="ru-RU" b="1" i="0" u="none" strike="noStrike" cap="none" normalizeH="0" baseline="0" dirty="0" err="1">
                <a:ln>
                  <a:noFill/>
                </a:ln>
                <a:solidFill>
                  <a:schemeClr val="tx1"/>
                </a:solidFill>
                <a:effectLst/>
                <a:latin typeface="Arial" panose="020B0604020202020204" pitchFamily="34" charset="0"/>
              </a:rPr>
              <a:t>dizayn</a:t>
            </a:r>
            <a:r>
              <a:rPr kumimoji="0" lang="ru-RU" altLang="ru-RU" b="0" i="0" u="none" strike="noStrike" cap="none" normalizeH="0" baseline="0" dirty="0">
                <a:ln>
                  <a:noFill/>
                </a:ln>
                <a:solidFill>
                  <a:schemeClr val="tx1"/>
                </a:solidFill>
                <a:effectLst/>
                <a:latin typeface="Arial" panose="020B0604020202020204" pitchFamily="34" charset="0"/>
              </a:rPr>
              <a:t>: </a:t>
            </a:r>
            <a:r>
              <a:rPr kumimoji="0" lang="ru-RU" altLang="ru-RU" b="0" i="0" u="none" strike="noStrike" cap="none" normalizeH="0" baseline="0" dirty="0" err="1">
                <a:ln>
                  <a:noFill/>
                </a:ln>
                <a:solidFill>
                  <a:schemeClr val="tx1"/>
                </a:solidFill>
                <a:effectLst/>
                <a:latin typeface="Arial" panose="020B0604020202020204" pitchFamily="34" charset="0"/>
              </a:rPr>
              <a:t>Masalan</a:t>
            </a:r>
            <a:r>
              <a:rPr kumimoji="0" lang="ru-RU" altLang="ru-RU" b="0" i="0" u="none" strike="noStrike" cap="none" normalizeH="0" baseline="0" dirty="0">
                <a:ln>
                  <a:noFill/>
                </a:ln>
                <a:solidFill>
                  <a:schemeClr val="tx1"/>
                </a:solidFill>
                <a:effectLst/>
                <a:latin typeface="Arial" panose="020B0604020202020204" pitchFamily="34" charset="0"/>
              </a:rPr>
              <a:t>, </a:t>
            </a:r>
            <a:r>
              <a:rPr kumimoji="0" lang="ru-RU" altLang="ru-RU" b="0" i="0" u="none" strike="noStrike" cap="none" normalizeH="0" baseline="0" dirty="0" err="1">
                <a:ln>
                  <a:noFill/>
                </a:ln>
                <a:solidFill>
                  <a:schemeClr val="tx1"/>
                </a:solidFill>
                <a:effectLst/>
                <a:latin typeface="Arial" panose="020B0604020202020204" pitchFamily="34" charset="0"/>
              </a:rPr>
              <a:t>qizil</a:t>
            </a:r>
            <a:r>
              <a:rPr kumimoji="0" lang="ru-RU" altLang="ru-RU" b="0" i="0" u="none" strike="noStrike" cap="none" normalizeH="0" baseline="0" dirty="0">
                <a:ln>
                  <a:noFill/>
                </a:ln>
                <a:solidFill>
                  <a:schemeClr val="tx1"/>
                </a:solidFill>
                <a:effectLst/>
                <a:latin typeface="Arial" panose="020B0604020202020204" pitchFamily="34" charset="0"/>
              </a:rPr>
              <a:t> </a:t>
            </a:r>
            <a:r>
              <a:rPr kumimoji="0" lang="ru-RU" altLang="ru-RU" b="0" i="0" u="none" strike="noStrike" cap="none" normalizeH="0" baseline="0" dirty="0" err="1">
                <a:ln>
                  <a:noFill/>
                </a:ln>
                <a:solidFill>
                  <a:schemeClr val="tx1"/>
                </a:solidFill>
                <a:effectLst/>
                <a:latin typeface="Arial" panose="020B0604020202020204" pitchFamily="34" charset="0"/>
              </a:rPr>
              <a:t>rang</a:t>
            </a:r>
            <a:r>
              <a:rPr kumimoji="0" lang="ru-RU" altLang="ru-RU" b="0" i="0" u="none" strike="noStrike" cap="none" normalizeH="0" baseline="0" dirty="0">
                <a:ln>
                  <a:noFill/>
                </a:ln>
                <a:solidFill>
                  <a:schemeClr val="tx1"/>
                </a:solidFill>
                <a:effectLst/>
                <a:latin typeface="Arial" panose="020B0604020202020204" pitchFamily="34" charset="0"/>
              </a:rPr>
              <a:t> </a:t>
            </a:r>
            <a:r>
              <a:rPr kumimoji="0" lang="ru-RU" altLang="ru-RU" b="0" i="0" u="none" strike="noStrike" cap="none" normalizeH="0" baseline="0" dirty="0" err="1">
                <a:ln>
                  <a:noFill/>
                </a:ln>
                <a:solidFill>
                  <a:schemeClr val="tx1"/>
                </a:solidFill>
                <a:effectLst/>
                <a:latin typeface="Arial" panose="020B0604020202020204" pitchFamily="34" charset="0"/>
              </a:rPr>
              <a:t>Coca-Cola</a:t>
            </a:r>
            <a:r>
              <a:rPr kumimoji="0" lang="ru-RU" altLang="ru-RU" b="0" i="0" u="none" strike="noStrike" cap="none" normalizeH="0" baseline="0" dirty="0">
                <a:ln>
                  <a:noFill/>
                </a:ln>
                <a:solidFill>
                  <a:schemeClr val="tx1"/>
                </a:solidFill>
                <a:effectLst/>
                <a:latin typeface="Arial" panose="020B0604020202020204" pitchFamily="34" charset="0"/>
              </a:rPr>
              <a:t> </a:t>
            </a:r>
            <a:r>
              <a:rPr kumimoji="0" lang="ru-RU" altLang="ru-RU" b="0" i="0" u="none" strike="noStrike" cap="none" normalizeH="0" baseline="0" dirty="0" err="1">
                <a:ln>
                  <a:noFill/>
                </a:ln>
                <a:solidFill>
                  <a:schemeClr val="tx1"/>
                </a:solidFill>
                <a:effectLst/>
                <a:latin typeface="Arial" panose="020B0604020202020204" pitchFamily="34" charset="0"/>
              </a:rPr>
              <a:t>bilan</a:t>
            </a:r>
            <a:r>
              <a:rPr kumimoji="0" lang="ru-RU" altLang="ru-RU" b="0" i="0" u="none" strike="noStrike" cap="none" normalizeH="0" baseline="0" dirty="0">
                <a:ln>
                  <a:noFill/>
                </a:ln>
                <a:solidFill>
                  <a:schemeClr val="tx1"/>
                </a:solidFill>
                <a:effectLst/>
                <a:latin typeface="Arial" panose="020B0604020202020204" pitchFamily="34" charset="0"/>
              </a:rPr>
              <a:t> </a:t>
            </a:r>
            <a:r>
              <a:rPr kumimoji="0" lang="ru-RU" altLang="ru-RU" b="0" i="0" u="none" strike="noStrike" cap="none" normalizeH="0" baseline="0" dirty="0" err="1">
                <a:ln>
                  <a:noFill/>
                </a:ln>
                <a:solidFill>
                  <a:schemeClr val="tx1"/>
                </a:solidFill>
                <a:effectLst/>
                <a:latin typeface="Arial" panose="020B0604020202020204" pitchFamily="34" charset="0"/>
              </a:rPr>
              <a:t>assotsiatsiya</a:t>
            </a:r>
            <a:r>
              <a:rPr kumimoji="0" lang="ru-RU" altLang="ru-RU" b="0" i="0" u="none" strike="noStrike" cap="none" normalizeH="0" baseline="0" dirty="0">
                <a:ln>
                  <a:noFill/>
                </a:ln>
                <a:solidFill>
                  <a:schemeClr val="tx1"/>
                </a:solidFill>
                <a:effectLst/>
                <a:latin typeface="Arial" panose="020B0604020202020204" pitchFamily="34" charset="0"/>
              </a:rPr>
              <a:t> </a:t>
            </a:r>
            <a:r>
              <a:rPr kumimoji="0" lang="ru-RU" altLang="ru-RU" b="0" i="0" u="none" strike="noStrike" cap="none" normalizeH="0" baseline="0" dirty="0" err="1">
                <a:ln>
                  <a:noFill/>
                </a:ln>
                <a:solidFill>
                  <a:schemeClr val="tx1"/>
                </a:solidFill>
                <a:effectLst/>
                <a:latin typeface="Arial" panose="020B0604020202020204" pitchFamily="34" charset="0"/>
              </a:rPr>
              <a:t>hosil</a:t>
            </a:r>
            <a:r>
              <a:rPr kumimoji="0" lang="ru-RU" altLang="ru-RU" b="0" i="0" u="none" strike="noStrike" cap="none" normalizeH="0" baseline="0" dirty="0">
                <a:ln>
                  <a:noFill/>
                </a:ln>
                <a:solidFill>
                  <a:schemeClr val="tx1"/>
                </a:solidFill>
                <a:effectLst/>
                <a:latin typeface="Arial" panose="020B0604020202020204" pitchFamily="34" charset="0"/>
              </a:rPr>
              <a:t> </a:t>
            </a:r>
            <a:r>
              <a:rPr kumimoji="0" lang="ru-RU" altLang="ru-RU" b="0" i="0" u="none" strike="noStrike" cap="none" normalizeH="0" baseline="0" dirty="0" err="1">
                <a:ln>
                  <a:noFill/>
                </a:ln>
                <a:solidFill>
                  <a:schemeClr val="tx1"/>
                </a:solidFill>
                <a:effectLst/>
                <a:latin typeface="Arial" panose="020B0604020202020204" pitchFamily="34" charset="0"/>
              </a:rPr>
              <a:t>qiladi</a:t>
            </a:r>
            <a:r>
              <a:rPr kumimoji="0" lang="ru-RU" altLang="ru-RU"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035787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70F539E-F0E4-4DCA-ABD2-F7AA210C3618}"/>
              </a:ext>
            </a:extLst>
          </p:cNvPr>
          <p:cNvSpPr>
            <a:spLocks noGrp="1"/>
          </p:cNvSpPr>
          <p:nvPr>
            <p:ph type="title"/>
          </p:nvPr>
        </p:nvSpPr>
        <p:spPr/>
        <p:txBody>
          <a:bodyPr/>
          <a:lstStyle/>
          <a:p>
            <a:pPr algn="ctr"/>
            <a:r>
              <a:rPr lang="en-US" b="1" dirty="0"/>
              <a:t>Real </a:t>
            </a:r>
            <a:r>
              <a:rPr lang="en-US" b="1" dirty="0" err="1"/>
              <a:t>misol</a:t>
            </a:r>
            <a:endParaRPr lang="ru-RU" b="1" dirty="0"/>
          </a:p>
        </p:txBody>
      </p:sp>
      <p:sp>
        <p:nvSpPr>
          <p:cNvPr id="3" name="Объект 2">
            <a:extLst>
              <a:ext uri="{FF2B5EF4-FFF2-40B4-BE49-F238E27FC236}">
                <a16:creationId xmlns:a16="http://schemas.microsoft.com/office/drawing/2014/main" id="{FE64B31A-1B3B-4B06-AB0F-69C138A68D7E}"/>
              </a:ext>
            </a:extLst>
          </p:cNvPr>
          <p:cNvSpPr>
            <a:spLocks noGrp="1"/>
          </p:cNvSpPr>
          <p:nvPr>
            <p:ph idx="1"/>
          </p:nvPr>
        </p:nvSpPr>
        <p:spPr>
          <a:xfrm>
            <a:off x="685800" y="1619427"/>
            <a:ext cx="10096500" cy="4310063"/>
          </a:xfrm>
        </p:spPr>
        <p:txBody>
          <a:bodyPr/>
          <a:lstStyle/>
          <a:p>
            <a:pPr marL="0" indent="0">
              <a:buNone/>
            </a:pPr>
            <a:r>
              <a:rPr lang="en-US" dirty="0"/>
              <a:t>        “</a:t>
            </a:r>
            <a:r>
              <a:rPr lang="en-US" dirty="0" err="1"/>
              <a:t>Nike’ni</a:t>
            </a:r>
            <a:r>
              <a:rPr lang="en-US" dirty="0"/>
              <a:t> </a:t>
            </a:r>
            <a:r>
              <a:rPr lang="en-US" dirty="0" err="1"/>
              <a:t>olaylik</a:t>
            </a:r>
            <a:r>
              <a:rPr lang="en-US" dirty="0"/>
              <a:t>. </a:t>
            </a:r>
            <a:r>
              <a:rPr lang="en-US" dirty="0" err="1"/>
              <a:t>Ularning</a:t>
            </a:r>
            <a:r>
              <a:rPr lang="en-US" dirty="0"/>
              <a:t> ‘Just Do It’ </a:t>
            </a:r>
            <a:r>
              <a:rPr lang="en-US" dirty="0" err="1"/>
              <a:t>shiori</a:t>
            </a:r>
            <a:r>
              <a:rPr lang="en-US" dirty="0"/>
              <a:t> </a:t>
            </a:r>
            <a:r>
              <a:rPr lang="en-US" dirty="0" err="1"/>
              <a:t>va</a:t>
            </a:r>
            <a:r>
              <a:rPr lang="en-US" dirty="0"/>
              <a:t> Swoosh </a:t>
            </a:r>
            <a:r>
              <a:rPr lang="en-US" dirty="0" err="1"/>
              <a:t>logotipi</a:t>
            </a:r>
            <a:r>
              <a:rPr lang="en-US" dirty="0"/>
              <a:t> </a:t>
            </a:r>
            <a:r>
              <a:rPr lang="en-US" dirty="0" err="1"/>
              <a:t>dunyodagi</a:t>
            </a:r>
            <a:r>
              <a:rPr lang="en-US" dirty="0"/>
              <a:t> </a:t>
            </a:r>
            <a:r>
              <a:rPr lang="en-US" dirty="0" err="1"/>
              <a:t>eng</a:t>
            </a:r>
            <a:r>
              <a:rPr lang="en-US" dirty="0"/>
              <a:t> </a:t>
            </a:r>
            <a:r>
              <a:rPr lang="en-US" dirty="0" err="1"/>
              <a:t>taniqli</a:t>
            </a:r>
            <a:r>
              <a:rPr lang="en-US" dirty="0"/>
              <a:t> </a:t>
            </a:r>
            <a:r>
              <a:rPr lang="en-US" dirty="0" err="1"/>
              <a:t>brend</a:t>
            </a:r>
            <a:r>
              <a:rPr lang="en-US" dirty="0"/>
              <a:t> </a:t>
            </a:r>
            <a:r>
              <a:rPr lang="en-US" dirty="0" err="1"/>
              <a:t>elementlaridan</a:t>
            </a:r>
            <a:r>
              <a:rPr lang="en-US" dirty="0"/>
              <a:t> </a:t>
            </a:r>
            <a:r>
              <a:rPr lang="en-US" dirty="0" err="1"/>
              <a:t>biridir</a:t>
            </a:r>
            <a:r>
              <a:rPr lang="en-US" dirty="0"/>
              <a:t>. Nike </a:t>
            </a:r>
            <a:r>
              <a:rPr lang="en-US" dirty="0" err="1"/>
              <a:t>o‘zini</a:t>
            </a:r>
            <a:r>
              <a:rPr lang="en-US" dirty="0"/>
              <a:t> sport, </a:t>
            </a:r>
            <a:r>
              <a:rPr lang="en-US" dirty="0" err="1"/>
              <a:t>motivatsiya</a:t>
            </a:r>
            <a:r>
              <a:rPr lang="en-US" dirty="0"/>
              <a:t> </a:t>
            </a:r>
            <a:r>
              <a:rPr lang="en-US" dirty="0" err="1"/>
              <a:t>va</a:t>
            </a:r>
            <a:r>
              <a:rPr lang="en-US" dirty="0"/>
              <a:t> </a:t>
            </a:r>
            <a:r>
              <a:rPr lang="en-US" dirty="0" err="1"/>
              <a:t>sifat</a:t>
            </a:r>
            <a:r>
              <a:rPr lang="en-US" dirty="0"/>
              <a:t> </a:t>
            </a:r>
            <a:r>
              <a:rPr lang="en-US" dirty="0" err="1"/>
              <a:t>bilan</a:t>
            </a:r>
            <a:r>
              <a:rPr lang="en-US" dirty="0"/>
              <a:t> </a:t>
            </a:r>
            <a:r>
              <a:rPr lang="en-US" dirty="0" err="1"/>
              <a:t>bog‘laydi</a:t>
            </a:r>
            <a:r>
              <a:rPr lang="en-US" dirty="0"/>
              <a:t>. 2024-yilda Nike </a:t>
            </a:r>
            <a:r>
              <a:rPr lang="en-US" dirty="0" err="1"/>
              <a:t>brendining</a:t>
            </a:r>
            <a:r>
              <a:rPr lang="en-US" dirty="0"/>
              <a:t> </a:t>
            </a:r>
            <a:r>
              <a:rPr lang="en-US" dirty="0" err="1"/>
              <a:t>qiymati</a:t>
            </a:r>
            <a:r>
              <a:rPr lang="en-US" dirty="0"/>
              <a:t> 33 milliard </a:t>
            </a:r>
            <a:r>
              <a:rPr lang="en-US" dirty="0" err="1"/>
              <a:t>dollarga</a:t>
            </a:r>
            <a:r>
              <a:rPr lang="en-US" dirty="0"/>
              <a:t> </a:t>
            </a:r>
            <a:r>
              <a:rPr lang="en-US" dirty="0" err="1"/>
              <a:t>baholandi</a:t>
            </a:r>
            <a:r>
              <a:rPr lang="en-US" dirty="0"/>
              <a:t>. Bu </a:t>
            </a:r>
            <a:r>
              <a:rPr lang="en-US" dirty="0" err="1"/>
              <a:t>shuni</a:t>
            </a:r>
            <a:r>
              <a:rPr lang="en-US" dirty="0"/>
              <a:t> </a:t>
            </a:r>
            <a:r>
              <a:rPr lang="en-US" dirty="0" err="1"/>
              <a:t>ko‘rsatadiki</a:t>
            </a:r>
            <a:r>
              <a:rPr lang="en-US" dirty="0"/>
              <a:t>, </a:t>
            </a:r>
            <a:r>
              <a:rPr lang="en-US" dirty="0" err="1"/>
              <a:t>yaxshi</a:t>
            </a:r>
            <a:r>
              <a:rPr lang="en-US" dirty="0"/>
              <a:t> </a:t>
            </a:r>
            <a:r>
              <a:rPr lang="en-US" dirty="0" err="1"/>
              <a:t>brend</a:t>
            </a:r>
            <a:r>
              <a:rPr lang="en-US" dirty="0"/>
              <a:t> </a:t>
            </a:r>
            <a:r>
              <a:rPr lang="en-US" dirty="0" err="1"/>
              <a:t>nafaqat</a:t>
            </a:r>
            <a:r>
              <a:rPr lang="en-US" dirty="0"/>
              <a:t> </a:t>
            </a:r>
            <a:r>
              <a:rPr lang="en-US" dirty="0" err="1"/>
              <a:t>mahsulot</a:t>
            </a:r>
            <a:r>
              <a:rPr lang="en-US" dirty="0"/>
              <a:t> </a:t>
            </a:r>
            <a:r>
              <a:rPr lang="en-US" dirty="0" err="1"/>
              <a:t>sotyapti</a:t>
            </a:r>
            <a:r>
              <a:rPr lang="en-US" dirty="0"/>
              <a:t>, </a:t>
            </a:r>
            <a:r>
              <a:rPr lang="en-US" dirty="0" err="1"/>
              <a:t>balki</a:t>
            </a:r>
            <a:r>
              <a:rPr lang="en-US" dirty="0"/>
              <a:t> </a:t>
            </a:r>
            <a:r>
              <a:rPr lang="en-US" dirty="0" err="1"/>
              <a:t>hayot</a:t>
            </a:r>
            <a:r>
              <a:rPr lang="en-US" dirty="0"/>
              <a:t> </a:t>
            </a:r>
            <a:r>
              <a:rPr lang="en-US" dirty="0" err="1"/>
              <a:t>tarzi</a:t>
            </a:r>
            <a:r>
              <a:rPr lang="en-US" dirty="0"/>
              <a:t> </a:t>
            </a:r>
            <a:r>
              <a:rPr lang="en-US" dirty="0" err="1"/>
              <a:t>sotyapti</a:t>
            </a:r>
            <a:r>
              <a:rPr lang="en-US" dirty="0"/>
              <a:t>.”</a:t>
            </a:r>
          </a:p>
          <a:p>
            <a:pPr marL="0" indent="0">
              <a:buNone/>
            </a:pPr>
            <a:endParaRPr lang="ru-RU" dirty="0"/>
          </a:p>
        </p:txBody>
      </p:sp>
      <p:pic>
        <p:nvPicPr>
          <p:cNvPr id="12290" name="Picture 2" descr="NIKE">
            <a:extLst>
              <a:ext uri="{FF2B5EF4-FFF2-40B4-BE49-F238E27FC236}">
                <a16:creationId xmlns:a16="http://schemas.microsoft.com/office/drawing/2014/main" id="{09C12CDB-72EA-449F-B764-1E561138A8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8100" y="3774459"/>
            <a:ext cx="5356225" cy="30835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0600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882320D-68ED-4D14-B463-1F66C901E3B0}"/>
              </a:ext>
            </a:extLst>
          </p:cNvPr>
          <p:cNvSpPr>
            <a:spLocks noGrp="1"/>
          </p:cNvSpPr>
          <p:nvPr>
            <p:ph type="title"/>
          </p:nvPr>
        </p:nvSpPr>
        <p:spPr/>
        <p:txBody>
          <a:bodyPr>
            <a:normAutofit/>
          </a:bodyPr>
          <a:lstStyle/>
          <a:p>
            <a:pPr algn="ctr"/>
            <a:r>
              <a:rPr lang="en-US" sz="5400" b="1" dirty="0" err="1"/>
              <a:t>Brend</a:t>
            </a:r>
            <a:r>
              <a:rPr lang="en-US" sz="5400" b="1" dirty="0"/>
              <a:t>  </a:t>
            </a:r>
            <a:r>
              <a:rPr lang="en-US" sz="5400" b="1" dirty="0" err="1"/>
              <a:t>turi</a:t>
            </a:r>
            <a:endParaRPr lang="ru-RU" sz="5400" b="1" dirty="0"/>
          </a:p>
        </p:txBody>
      </p:sp>
      <p:graphicFrame>
        <p:nvGraphicFramePr>
          <p:cNvPr id="4" name="Объект 3">
            <a:extLst>
              <a:ext uri="{FF2B5EF4-FFF2-40B4-BE49-F238E27FC236}">
                <a16:creationId xmlns:a16="http://schemas.microsoft.com/office/drawing/2014/main" id="{3B259300-930C-4D72-85D3-5654DDB76773}"/>
              </a:ext>
            </a:extLst>
          </p:cNvPr>
          <p:cNvGraphicFramePr>
            <a:graphicFrameLocks noGrp="1"/>
          </p:cNvGraphicFramePr>
          <p:nvPr>
            <p:ph idx="1"/>
            <p:extLst>
              <p:ext uri="{D42A27DB-BD31-4B8C-83A1-F6EECF244321}">
                <p14:modId xmlns:p14="http://schemas.microsoft.com/office/powerpoint/2010/main" val="2853165094"/>
              </p:ext>
            </p:extLst>
          </p:nvPr>
        </p:nvGraphicFramePr>
        <p:xfrm>
          <a:off x="857249" y="1828800"/>
          <a:ext cx="10496552" cy="4591052"/>
        </p:xfrm>
        <a:graphic>
          <a:graphicData uri="http://schemas.openxmlformats.org/drawingml/2006/table">
            <a:tbl>
              <a:tblPr firstRow="1" firstCol="1" bandRow="1">
                <a:tableStyleId>{5C22544A-7EE6-4342-B048-85BDC9FD1C3A}</a:tableStyleId>
              </a:tblPr>
              <a:tblGrid>
                <a:gridCol w="5248276">
                  <a:extLst>
                    <a:ext uri="{9D8B030D-6E8A-4147-A177-3AD203B41FA5}">
                      <a16:colId xmlns:a16="http://schemas.microsoft.com/office/drawing/2014/main" val="3918840225"/>
                    </a:ext>
                  </a:extLst>
                </a:gridCol>
                <a:gridCol w="5248276">
                  <a:extLst>
                    <a:ext uri="{9D8B030D-6E8A-4147-A177-3AD203B41FA5}">
                      <a16:colId xmlns:a16="http://schemas.microsoft.com/office/drawing/2014/main" val="1847070515"/>
                    </a:ext>
                  </a:extLst>
                </a:gridCol>
              </a:tblGrid>
              <a:tr h="1147763">
                <a:tc>
                  <a:txBody>
                    <a:bodyPr/>
                    <a:lstStyle/>
                    <a:p>
                      <a:pPr algn="ctr">
                        <a:lnSpc>
                          <a:spcPct val="107000"/>
                        </a:lnSpc>
                        <a:spcAft>
                          <a:spcPts val="0"/>
                        </a:spcAft>
                      </a:pPr>
                      <a:r>
                        <a:rPr lang="ru-RU" sz="2400" dirty="0" err="1">
                          <a:effectLst/>
                        </a:rPr>
                        <a:t>Turi</a:t>
                      </a:r>
                      <a:endParaRPr lang="ru-RU"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ru-RU" sz="2400">
                          <a:effectLst/>
                        </a:rPr>
                        <a:t>Misol</a:t>
                      </a:r>
                      <a:endParaRPr lang="ru-RU"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66616681"/>
                  </a:ext>
                </a:extLst>
              </a:tr>
              <a:tr h="1147763">
                <a:tc>
                  <a:txBody>
                    <a:bodyPr/>
                    <a:lstStyle/>
                    <a:p>
                      <a:pPr>
                        <a:lnSpc>
                          <a:spcPct val="107000"/>
                        </a:lnSpc>
                        <a:spcAft>
                          <a:spcPts val="0"/>
                        </a:spcAft>
                      </a:pPr>
                      <a:r>
                        <a:rPr lang="ru-RU" sz="2400">
                          <a:effectLst/>
                        </a:rPr>
                        <a:t>Mahsulot brendi</a:t>
                      </a:r>
                      <a:endParaRPr lang="ru-RU"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ru-RU" sz="2400">
                          <a:effectLst/>
                        </a:rPr>
                        <a:t>Pepsi, Samsung</a:t>
                      </a:r>
                      <a:endParaRPr lang="ru-RU"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908041645"/>
                  </a:ext>
                </a:extLst>
              </a:tr>
              <a:tr h="1147763">
                <a:tc>
                  <a:txBody>
                    <a:bodyPr/>
                    <a:lstStyle/>
                    <a:p>
                      <a:pPr>
                        <a:lnSpc>
                          <a:spcPct val="107000"/>
                        </a:lnSpc>
                        <a:spcAft>
                          <a:spcPts val="0"/>
                        </a:spcAft>
                      </a:pPr>
                      <a:r>
                        <a:rPr lang="ru-RU" sz="2400">
                          <a:effectLst/>
                        </a:rPr>
                        <a:t>Shaxsiy brend</a:t>
                      </a:r>
                      <a:endParaRPr lang="ru-RU"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ru-RU" sz="2400">
                          <a:effectLst/>
                        </a:rPr>
                        <a:t>Elon Musk, Cristiano Ronaldo</a:t>
                      </a:r>
                      <a:endParaRPr lang="ru-RU"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40989558"/>
                  </a:ext>
                </a:extLst>
              </a:tr>
              <a:tr h="1147763">
                <a:tc>
                  <a:txBody>
                    <a:bodyPr/>
                    <a:lstStyle/>
                    <a:p>
                      <a:pPr>
                        <a:lnSpc>
                          <a:spcPct val="107000"/>
                        </a:lnSpc>
                        <a:spcAft>
                          <a:spcPts val="0"/>
                        </a:spcAft>
                      </a:pPr>
                      <a:r>
                        <a:rPr lang="ru-RU" sz="2400">
                          <a:effectLst/>
                        </a:rPr>
                        <a:t>Korporativ brend</a:t>
                      </a:r>
                      <a:endParaRPr lang="ru-RU"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ru-RU" sz="2400" dirty="0" err="1">
                          <a:effectLst/>
                        </a:rPr>
                        <a:t>Google</a:t>
                      </a:r>
                      <a:r>
                        <a:rPr lang="ru-RU" sz="2400" dirty="0">
                          <a:effectLst/>
                        </a:rPr>
                        <a:t>, </a:t>
                      </a:r>
                      <a:r>
                        <a:rPr lang="ru-RU" sz="2400" dirty="0" err="1">
                          <a:effectLst/>
                        </a:rPr>
                        <a:t>Amazon</a:t>
                      </a:r>
                      <a:endParaRPr lang="ru-RU"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152825971"/>
                  </a:ext>
                </a:extLst>
              </a:tr>
            </a:tbl>
          </a:graphicData>
        </a:graphic>
      </p:graphicFrame>
    </p:spTree>
    <p:extLst>
      <p:ext uri="{BB962C8B-B14F-4D97-AF65-F5344CB8AC3E}">
        <p14:creationId xmlns:p14="http://schemas.microsoft.com/office/powerpoint/2010/main" val="18792394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D91E9CF-201F-474A-9FE1-F000BB43F7EB}"/>
              </a:ext>
            </a:extLst>
          </p:cNvPr>
          <p:cNvSpPr>
            <a:spLocks noGrp="1"/>
          </p:cNvSpPr>
          <p:nvPr>
            <p:ph type="title"/>
          </p:nvPr>
        </p:nvSpPr>
        <p:spPr>
          <a:xfrm>
            <a:off x="838200" y="374674"/>
            <a:ext cx="6067425" cy="1325563"/>
          </a:xfrm>
        </p:spPr>
        <p:txBody>
          <a:bodyPr>
            <a:normAutofit/>
          </a:bodyPr>
          <a:lstStyle/>
          <a:p>
            <a:r>
              <a:rPr lang="ru-RU" sz="5400" b="1" dirty="0" err="1">
                <a:solidFill>
                  <a:schemeClr val="accent1">
                    <a:lumMod val="50000"/>
                  </a:schemeClr>
                </a:solidFill>
              </a:rPr>
              <a:t>Brendingning</a:t>
            </a:r>
            <a:r>
              <a:rPr lang="ru-RU" sz="5400" b="1" dirty="0">
                <a:solidFill>
                  <a:schemeClr val="accent1">
                    <a:lumMod val="50000"/>
                  </a:schemeClr>
                </a:solidFill>
              </a:rPr>
              <a:t> </a:t>
            </a:r>
            <a:r>
              <a:rPr lang="ru-RU" sz="5400" b="1" dirty="0" err="1">
                <a:solidFill>
                  <a:schemeClr val="accent1">
                    <a:lumMod val="50000"/>
                  </a:schemeClr>
                </a:solidFill>
              </a:rPr>
              <a:t>foydasi</a:t>
            </a:r>
            <a:r>
              <a:rPr lang="ru-RU" sz="5400" b="1" dirty="0">
                <a:solidFill>
                  <a:schemeClr val="accent1">
                    <a:lumMod val="50000"/>
                  </a:schemeClr>
                </a:solidFill>
              </a:rPr>
              <a:t>:</a:t>
            </a:r>
            <a:endParaRPr lang="ru-RU" sz="5400" dirty="0">
              <a:solidFill>
                <a:schemeClr val="accent1">
                  <a:lumMod val="50000"/>
                </a:schemeClr>
              </a:solidFill>
            </a:endParaRPr>
          </a:p>
        </p:txBody>
      </p:sp>
      <p:sp>
        <p:nvSpPr>
          <p:cNvPr id="3" name="Объект 2">
            <a:extLst>
              <a:ext uri="{FF2B5EF4-FFF2-40B4-BE49-F238E27FC236}">
                <a16:creationId xmlns:a16="http://schemas.microsoft.com/office/drawing/2014/main" id="{CD34DCA4-F6DB-422B-AD32-2EC664161D86}"/>
              </a:ext>
            </a:extLst>
          </p:cNvPr>
          <p:cNvSpPr>
            <a:spLocks noGrp="1"/>
          </p:cNvSpPr>
          <p:nvPr>
            <p:ph idx="1"/>
          </p:nvPr>
        </p:nvSpPr>
        <p:spPr>
          <a:xfrm>
            <a:off x="838200" y="4059506"/>
            <a:ext cx="5600700" cy="1638211"/>
          </a:xfrm>
        </p:spPr>
        <p:txBody>
          <a:bodyPr>
            <a:normAutofit/>
          </a:bodyPr>
          <a:lstStyle/>
          <a:p>
            <a:pPr lvl="0">
              <a:buFont typeface="Wingdings" panose="05000000000000000000" pitchFamily="2" charset="2"/>
              <a:buChar char="Ø"/>
            </a:pPr>
            <a:r>
              <a:rPr lang="ru-RU" sz="3200" dirty="0" err="1"/>
              <a:t>Mijoz</a:t>
            </a:r>
            <a:r>
              <a:rPr lang="ru-RU" sz="3200" dirty="0"/>
              <a:t> </a:t>
            </a:r>
            <a:r>
              <a:rPr lang="ru-RU" sz="3200" dirty="0" err="1"/>
              <a:t>sodiqligini</a:t>
            </a:r>
            <a:r>
              <a:rPr lang="ru-RU" sz="3200" dirty="0"/>
              <a:t> </a:t>
            </a:r>
            <a:r>
              <a:rPr lang="ru-RU" sz="3200" dirty="0" err="1"/>
              <a:t>oshiradi</a:t>
            </a:r>
            <a:r>
              <a:rPr lang="ru-RU" sz="3200" dirty="0"/>
              <a:t>.</a:t>
            </a:r>
          </a:p>
          <a:p>
            <a:pPr lvl="0">
              <a:buFont typeface="Wingdings" panose="05000000000000000000" pitchFamily="2" charset="2"/>
              <a:buChar char="Ø"/>
            </a:pPr>
            <a:r>
              <a:rPr lang="en-US" sz="3200" dirty="0" err="1"/>
              <a:t>Narxni</a:t>
            </a:r>
            <a:r>
              <a:rPr lang="en-US" sz="3200" dirty="0"/>
              <a:t> </a:t>
            </a:r>
            <a:r>
              <a:rPr lang="en-US" sz="3200" dirty="0" err="1"/>
              <a:t>yuqori</a:t>
            </a:r>
            <a:r>
              <a:rPr lang="en-US" sz="3200" dirty="0"/>
              <a:t> </a:t>
            </a:r>
            <a:r>
              <a:rPr lang="en-US" sz="3200" dirty="0" err="1"/>
              <a:t>qo‘yish</a:t>
            </a:r>
            <a:r>
              <a:rPr lang="en-US" sz="3200" dirty="0"/>
              <a:t> </a:t>
            </a:r>
            <a:r>
              <a:rPr lang="en-US" sz="3200" dirty="0" err="1"/>
              <a:t>imkonini</a:t>
            </a:r>
            <a:r>
              <a:rPr lang="en-US" sz="3200" dirty="0"/>
              <a:t> </a:t>
            </a:r>
            <a:r>
              <a:rPr lang="en-US" sz="3200" dirty="0" err="1"/>
              <a:t>beradi</a:t>
            </a:r>
            <a:r>
              <a:rPr lang="en-US" sz="3200" dirty="0"/>
              <a:t>.</a:t>
            </a:r>
            <a:endParaRPr lang="ru-RU" sz="3200" dirty="0"/>
          </a:p>
          <a:p>
            <a:pPr>
              <a:buFont typeface="Wingdings" panose="05000000000000000000" pitchFamily="2" charset="2"/>
              <a:buChar char="Ø"/>
            </a:pPr>
            <a:endParaRPr lang="ru-RU" sz="3200" dirty="0"/>
          </a:p>
        </p:txBody>
      </p:sp>
      <p:sp>
        <p:nvSpPr>
          <p:cNvPr id="4" name="TextBox 3">
            <a:extLst>
              <a:ext uri="{FF2B5EF4-FFF2-40B4-BE49-F238E27FC236}">
                <a16:creationId xmlns:a16="http://schemas.microsoft.com/office/drawing/2014/main" id="{2BBF67A0-1075-4A7E-BA1B-3242FF3A9498}"/>
              </a:ext>
            </a:extLst>
          </p:cNvPr>
          <p:cNvSpPr txBox="1"/>
          <p:nvPr/>
        </p:nvSpPr>
        <p:spPr>
          <a:xfrm>
            <a:off x="6838949" y="1690688"/>
            <a:ext cx="4810125" cy="2554545"/>
          </a:xfrm>
          <a:prstGeom prst="rect">
            <a:avLst/>
          </a:prstGeom>
          <a:noFill/>
        </p:spPr>
        <p:txBody>
          <a:bodyPr wrap="square" rtlCol="0">
            <a:spAutoFit/>
          </a:bodyPr>
          <a:lstStyle/>
          <a:p>
            <a:pPr marL="285750" lvl="0" indent="-285750">
              <a:buFont typeface="Wingdings" panose="05000000000000000000" pitchFamily="2" charset="2"/>
              <a:buChar char="Ø"/>
            </a:pPr>
            <a:r>
              <a:rPr lang="ru-RU" sz="3200" dirty="0" err="1"/>
              <a:t>Raqobatchilardan</a:t>
            </a:r>
            <a:r>
              <a:rPr lang="ru-RU" sz="3200" dirty="0"/>
              <a:t> </a:t>
            </a:r>
            <a:r>
              <a:rPr lang="ru-RU" sz="3200" dirty="0" err="1"/>
              <a:t>ajralib</a:t>
            </a:r>
            <a:r>
              <a:rPr lang="ru-RU" sz="3200" dirty="0"/>
              <a:t> </a:t>
            </a:r>
            <a:r>
              <a:rPr lang="ru-RU" sz="3200" dirty="0" err="1"/>
              <a:t>turadi</a:t>
            </a:r>
            <a:r>
              <a:rPr lang="ru-RU" sz="3200" dirty="0"/>
              <a:t>.</a:t>
            </a:r>
          </a:p>
          <a:p>
            <a:pPr marL="285750" lvl="0" indent="-285750">
              <a:buFont typeface="Wingdings" panose="05000000000000000000" pitchFamily="2" charset="2"/>
              <a:buChar char="Ø"/>
            </a:pPr>
            <a:r>
              <a:rPr lang="en-US" sz="3200" dirty="0" err="1"/>
              <a:t>Kompaniyani</a:t>
            </a:r>
            <a:r>
              <a:rPr lang="en-US" sz="3200" dirty="0"/>
              <a:t> </a:t>
            </a:r>
            <a:r>
              <a:rPr lang="en-US" sz="3200" dirty="0" err="1"/>
              <a:t>xalqaro</a:t>
            </a:r>
            <a:r>
              <a:rPr lang="en-US" sz="3200" dirty="0"/>
              <a:t> </a:t>
            </a:r>
            <a:r>
              <a:rPr lang="en-US" sz="3200" dirty="0" err="1"/>
              <a:t>bozorlarga</a:t>
            </a:r>
            <a:r>
              <a:rPr lang="en-US" sz="3200" dirty="0"/>
              <a:t> </a:t>
            </a:r>
            <a:r>
              <a:rPr lang="en-US" sz="3200" dirty="0" err="1"/>
              <a:t>olib</a:t>
            </a:r>
            <a:r>
              <a:rPr lang="en-US" sz="3200" dirty="0"/>
              <a:t> </a:t>
            </a:r>
            <a:r>
              <a:rPr lang="en-US" sz="3200" dirty="0" err="1"/>
              <a:t>chiqadi</a:t>
            </a:r>
            <a:r>
              <a:rPr lang="en-US" sz="3200" dirty="0"/>
              <a:t>.</a:t>
            </a:r>
            <a:endParaRPr lang="ru-RU" sz="3200" dirty="0"/>
          </a:p>
          <a:p>
            <a:pPr marL="285750" indent="-285750">
              <a:buFont typeface="Wingdings" panose="05000000000000000000" pitchFamily="2" charset="2"/>
              <a:buChar char="Ø"/>
            </a:pPr>
            <a:endParaRPr lang="ru-RU" sz="3200" dirty="0"/>
          </a:p>
        </p:txBody>
      </p:sp>
      <p:sp>
        <p:nvSpPr>
          <p:cNvPr id="5" name="Стрелка: влево-вверх 4">
            <a:extLst>
              <a:ext uri="{FF2B5EF4-FFF2-40B4-BE49-F238E27FC236}">
                <a16:creationId xmlns:a16="http://schemas.microsoft.com/office/drawing/2014/main" id="{86588200-6563-44E6-A1AB-D0CDD2493721}"/>
              </a:ext>
            </a:extLst>
          </p:cNvPr>
          <p:cNvSpPr/>
          <p:nvPr/>
        </p:nvSpPr>
        <p:spPr>
          <a:xfrm rot="10800000">
            <a:off x="2990849" y="1862992"/>
            <a:ext cx="3019425" cy="1871003"/>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p>
        </p:txBody>
      </p:sp>
    </p:spTree>
    <p:extLst>
      <p:ext uri="{BB962C8B-B14F-4D97-AF65-F5344CB8AC3E}">
        <p14:creationId xmlns:p14="http://schemas.microsoft.com/office/powerpoint/2010/main" val="3583720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EB95F6-6DC8-4EAD-985A-EF369D1E2EEC}"/>
              </a:ext>
            </a:extLst>
          </p:cNvPr>
          <p:cNvSpPr>
            <a:spLocks noGrp="1"/>
          </p:cNvSpPr>
          <p:nvPr>
            <p:ph type="title"/>
          </p:nvPr>
        </p:nvSpPr>
        <p:spPr/>
        <p:txBody>
          <a:bodyPr>
            <a:normAutofit/>
          </a:bodyPr>
          <a:lstStyle/>
          <a:p>
            <a:pPr algn="ctr"/>
            <a:r>
              <a:rPr lang="en-US" sz="4800" b="1" dirty="0" err="1"/>
              <a:t>Ochiq</a:t>
            </a:r>
            <a:r>
              <a:rPr lang="en-US" sz="4800" b="1" dirty="0"/>
              <a:t> </a:t>
            </a:r>
            <a:r>
              <a:rPr lang="en-US" sz="4800" b="1" dirty="0" err="1"/>
              <a:t>innovatsiya</a:t>
            </a:r>
            <a:endParaRPr lang="ru-RU" sz="4800" b="1" dirty="0"/>
          </a:p>
        </p:txBody>
      </p:sp>
      <p:sp>
        <p:nvSpPr>
          <p:cNvPr id="3" name="Объект 2">
            <a:extLst>
              <a:ext uri="{FF2B5EF4-FFF2-40B4-BE49-F238E27FC236}">
                <a16:creationId xmlns:a16="http://schemas.microsoft.com/office/drawing/2014/main" id="{76C6CBD1-8E31-4BE9-BFFD-5CF3C27BFDCA}"/>
              </a:ext>
            </a:extLst>
          </p:cNvPr>
          <p:cNvSpPr>
            <a:spLocks noGrp="1"/>
          </p:cNvSpPr>
          <p:nvPr>
            <p:ph idx="1"/>
          </p:nvPr>
        </p:nvSpPr>
        <p:spPr/>
        <p:txBody>
          <a:bodyPr/>
          <a:lstStyle/>
          <a:p>
            <a:pPr>
              <a:buFont typeface="Wingdings" panose="05000000000000000000" pitchFamily="2" charset="2"/>
              <a:buChar char="ü"/>
            </a:pPr>
            <a:r>
              <a:rPr lang="en-US" dirty="0"/>
              <a:t>  </a:t>
            </a:r>
            <a:r>
              <a:rPr lang="en-US" b="1" dirty="0" err="1"/>
              <a:t>Ochiq</a:t>
            </a:r>
            <a:r>
              <a:rPr lang="en-US" b="1" dirty="0"/>
              <a:t> </a:t>
            </a:r>
            <a:r>
              <a:rPr lang="en-US" b="1" dirty="0" err="1"/>
              <a:t>innovatsiya</a:t>
            </a:r>
            <a:r>
              <a:rPr lang="en-US" b="1" dirty="0"/>
              <a:t> </a:t>
            </a:r>
            <a:r>
              <a:rPr lang="en-US" dirty="0"/>
              <a:t>– </a:t>
            </a:r>
            <a:r>
              <a:rPr lang="en-US" dirty="0" err="1"/>
              <a:t>bu</a:t>
            </a:r>
            <a:r>
              <a:rPr lang="en-US" dirty="0"/>
              <a:t> </a:t>
            </a:r>
            <a:r>
              <a:rPr lang="en-US" dirty="0" err="1"/>
              <a:t>yangi</a:t>
            </a:r>
            <a:r>
              <a:rPr lang="en-US" dirty="0"/>
              <a:t> </a:t>
            </a:r>
            <a:r>
              <a:rPr lang="en-US" dirty="0" err="1"/>
              <a:t>g‘oyalarni</a:t>
            </a:r>
            <a:r>
              <a:rPr lang="en-US" dirty="0"/>
              <a:t> </a:t>
            </a:r>
            <a:r>
              <a:rPr lang="en-US" dirty="0" err="1"/>
              <a:t>faqat</a:t>
            </a:r>
            <a:r>
              <a:rPr lang="en-US" dirty="0"/>
              <a:t> </a:t>
            </a:r>
            <a:r>
              <a:rPr lang="en-US" dirty="0" err="1"/>
              <a:t>kompaniya</a:t>
            </a:r>
            <a:r>
              <a:rPr lang="en-US" dirty="0"/>
              <a:t> </a:t>
            </a:r>
            <a:r>
              <a:rPr lang="en-US" dirty="0" err="1"/>
              <a:t>ichida</a:t>
            </a:r>
            <a:r>
              <a:rPr lang="en-US" dirty="0"/>
              <a:t> </a:t>
            </a:r>
            <a:r>
              <a:rPr lang="en-US" dirty="0" err="1"/>
              <a:t>emas</a:t>
            </a:r>
            <a:r>
              <a:rPr lang="en-US" dirty="0"/>
              <a:t>, </a:t>
            </a:r>
            <a:r>
              <a:rPr lang="en-US" dirty="0" err="1"/>
              <a:t>balki</a:t>
            </a:r>
            <a:r>
              <a:rPr lang="en-US" dirty="0"/>
              <a:t> </a:t>
            </a:r>
            <a:r>
              <a:rPr lang="en-US" dirty="0" err="1"/>
              <a:t>tashqi</a:t>
            </a:r>
            <a:r>
              <a:rPr lang="en-US" dirty="0"/>
              <a:t> </a:t>
            </a:r>
            <a:r>
              <a:rPr lang="en-US" dirty="0" err="1"/>
              <a:t>manbalar</a:t>
            </a:r>
            <a:r>
              <a:rPr lang="en-US" dirty="0"/>
              <a:t> – </a:t>
            </a:r>
            <a:r>
              <a:rPr lang="en-US" dirty="0" err="1"/>
              <a:t>startaplar</a:t>
            </a:r>
            <a:r>
              <a:rPr lang="en-US" dirty="0"/>
              <a:t>, </a:t>
            </a:r>
            <a:r>
              <a:rPr lang="en-US" dirty="0" err="1"/>
              <a:t>universitetlar</a:t>
            </a:r>
            <a:r>
              <a:rPr lang="en-US" dirty="0"/>
              <a:t>, </a:t>
            </a:r>
            <a:r>
              <a:rPr lang="en-US" dirty="0" err="1"/>
              <a:t>hatto</a:t>
            </a:r>
            <a:r>
              <a:rPr lang="en-US" dirty="0"/>
              <a:t> </a:t>
            </a:r>
            <a:r>
              <a:rPr lang="en-US" dirty="0" err="1"/>
              <a:t>mijozlar</a:t>
            </a:r>
            <a:r>
              <a:rPr lang="en-US" dirty="0"/>
              <a:t> </a:t>
            </a:r>
            <a:r>
              <a:rPr lang="en-US" dirty="0" err="1"/>
              <a:t>bilan</a:t>
            </a:r>
            <a:r>
              <a:rPr lang="en-US" dirty="0"/>
              <a:t> </a:t>
            </a:r>
            <a:r>
              <a:rPr lang="en-US" dirty="0" err="1"/>
              <a:t>hamkorlikda</a:t>
            </a:r>
            <a:r>
              <a:rPr lang="en-US" dirty="0"/>
              <a:t> </a:t>
            </a:r>
            <a:r>
              <a:rPr lang="en-US" dirty="0" err="1"/>
              <a:t>ishlab</a:t>
            </a:r>
            <a:r>
              <a:rPr lang="en-US" dirty="0"/>
              <a:t> </a:t>
            </a:r>
            <a:r>
              <a:rPr lang="en-US" dirty="0" err="1"/>
              <a:t>chiqish</a:t>
            </a:r>
            <a:r>
              <a:rPr lang="en-US" dirty="0"/>
              <a:t>. Bu </a:t>
            </a:r>
            <a:r>
              <a:rPr lang="en-US" dirty="0" err="1"/>
              <a:t>yopiq</a:t>
            </a:r>
            <a:r>
              <a:rPr lang="en-US" dirty="0"/>
              <a:t> </a:t>
            </a:r>
            <a:r>
              <a:rPr lang="en-US" dirty="0" err="1"/>
              <a:t>innovatsiyadan</a:t>
            </a:r>
            <a:r>
              <a:rPr lang="en-US" dirty="0"/>
              <a:t> </a:t>
            </a:r>
            <a:r>
              <a:rPr lang="en-US" dirty="0" err="1"/>
              <a:t>farqli</a:t>
            </a:r>
            <a:r>
              <a:rPr lang="en-US" dirty="0"/>
              <a:t>, </a:t>
            </a:r>
            <a:r>
              <a:rPr lang="en-US" dirty="0" err="1"/>
              <a:t>chunki</a:t>
            </a:r>
            <a:r>
              <a:rPr lang="en-US" dirty="0"/>
              <a:t> u </a:t>
            </a:r>
            <a:r>
              <a:rPr lang="en-US" dirty="0" err="1"/>
              <a:t>tashqi</a:t>
            </a:r>
            <a:r>
              <a:rPr lang="en-US" dirty="0"/>
              <a:t> </a:t>
            </a:r>
            <a:r>
              <a:rPr lang="en-US" dirty="0" err="1"/>
              <a:t>tajriba</a:t>
            </a:r>
            <a:r>
              <a:rPr lang="en-US" dirty="0"/>
              <a:t> </a:t>
            </a:r>
            <a:r>
              <a:rPr lang="en-US" dirty="0" err="1"/>
              <a:t>va</a:t>
            </a:r>
            <a:r>
              <a:rPr lang="en-US" dirty="0"/>
              <a:t> </a:t>
            </a:r>
            <a:r>
              <a:rPr lang="en-US" dirty="0" err="1"/>
              <a:t>resurslardan</a:t>
            </a:r>
            <a:r>
              <a:rPr lang="en-US" dirty="0"/>
              <a:t> </a:t>
            </a:r>
            <a:r>
              <a:rPr lang="en-US" dirty="0" err="1"/>
              <a:t>foydalanadi</a:t>
            </a:r>
            <a:r>
              <a:rPr lang="en-US" dirty="0"/>
              <a:t>.</a:t>
            </a:r>
          </a:p>
          <a:p>
            <a:pPr marL="0" indent="0">
              <a:buNone/>
            </a:pPr>
            <a:endParaRPr lang="en-US" dirty="0"/>
          </a:p>
          <a:p>
            <a:pPr>
              <a:buFont typeface="Wingdings" panose="05000000000000000000" pitchFamily="2" charset="2"/>
              <a:buChar char="ü"/>
            </a:pPr>
            <a:r>
              <a:rPr lang="en-US" dirty="0"/>
              <a:t> </a:t>
            </a:r>
            <a:r>
              <a:rPr lang="en-US" dirty="0" err="1"/>
              <a:t>Ochiq</a:t>
            </a:r>
            <a:r>
              <a:rPr lang="en-US" dirty="0"/>
              <a:t> </a:t>
            </a:r>
            <a:r>
              <a:rPr lang="en-US" dirty="0" err="1"/>
              <a:t>innovatsiya</a:t>
            </a:r>
            <a:r>
              <a:rPr lang="en-US" dirty="0"/>
              <a:t> </a:t>
            </a:r>
            <a:r>
              <a:rPr lang="en-US" dirty="0" err="1"/>
              <a:t>kompaniyalarga</a:t>
            </a:r>
            <a:r>
              <a:rPr lang="en-US" dirty="0"/>
              <a:t> </a:t>
            </a:r>
            <a:r>
              <a:rPr lang="en-US" dirty="0" err="1"/>
              <a:t>yangi</a:t>
            </a:r>
            <a:r>
              <a:rPr lang="en-US" dirty="0"/>
              <a:t> </a:t>
            </a:r>
            <a:r>
              <a:rPr lang="en-US" dirty="0" err="1"/>
              <a:t>bozorlarga</a:t>
            </a:r>
            <a:r>
              <a:rPr lang="en-US" dirty="0"/>
              <a:t> </a:t>
            </a:r>
            <a:r>
              <a:rPr lang="en-US" dirty="0" err="1"/>
              <a:t>kirish</a:t>
            </a:r>
            <a:r>
              <a:rPr lang="en-US" dirty="0"/>
              <a:t>, </a:t>
            </a:r>
            <a:r>
              <a:rPr lang="en-US" dirty="0" err="1"/>
              <a:t>xarajatlarni</a:t>
            </a:r>
            <a:r>
              <a:rPr lang="en-US" dirty="0"/>
              <a:t> </a:t>
            </a:r>
            <a:r>
              <a:rPr lang="en-US" dirty="0" err="1"/>
              <a:t>kamaytirish</a:t>
            </a:r>
            <a:r>
              <a:rPr lang="en-US" dirty="0"/>
              <a:t> </a:t>
            </a:r>
            <a:r>
              <a:rPr lang="en-US" dirty="0" err="1"/>
              <a:t>va</a:t>
            </a:r>
            <a:r>
              <a:rPr lang="en-US" dirty="0"/>
              <a:t> </a:t>
            </a:r>
            <a:r>
              <a:rPr lang="en-US" dirty="0" err="1"/>
              <a:t>innovatsiyalarni</a:t>
            </a:r>
            <a:r>
              <a:rPr lang="en-US" dirty="0"/>
              <a:t> </a:t>
            </a:r>
            <a:r>
              <a:rPr lang="en-US" dirty="0" err="1"/>
              <a:t>tezlashtirish</a:t>
            </a:r>
            <a:r>
              <a:rPr lang="en-US" dirty="0"/>
              <a:t> </a:t>
            </a:r>
            <a:r>
              <a:rPr lang="en-US" dirty="0" err="1"/>
              <a:t>imkonini</a:t>
            </a:r>
            <a:r>
              <a:rPr lang="en-US" dirty="0"/>
              <a:t> </a:t>
            </a:r>
            <a:r>
              <a:rPr lang="en-US" dirty="0" err="1"/>
              <a:t>beradi</a:t>
            </a:r>
            <a:r>
              <a:rPr lang="en-US" dirty="0"/>
              <a:t>.</a:t>
            </a:r>
          </a:p>
          <a:p>
            <a:pPr marL="0" indent="0">
              <a:buNone/>
            </a:pPr>
            <a:endParaRPr lang="ru-RU" dirty="0"/>
          </a:p>
        </p:txBody>
      </p:sp>
    </p:spTree>
    <p:extLst>
      <p:ext uri="{BB962C8B-B14F-4D97-AF65-F5344CB8AC3E}">
        <p14:creationId xmlns:p14="http://schemas.microsoft.com/office/powerpoint/2010/main" val="38295665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7FAA0AE-7851-4331-9221-50808DFF73E6}"/>
              </a:ext>
            </a:extLst>
          </p:cNvPr>
          <p:cNvSpPr>
            <a:spLocks noGrp="1"/>
          </p:cNvSpPr>
          <p:nvPr>
            <p:ph type="title"/>
          </p:nvPr>
        </p:nvSpPr>
        <p:spPr>
          <a:xfrm>
            <a:off x="838200" y="1203325"/>
            <a:ext cx="10515600" cy="1325563"/>
          </a:xfrm>
        </p:spPr>
        <p:txBody>
          <a:bodyPr>
            <a:noAutofit/>
          </a:bodyPr>
          <a:lstStyle/>
          <a:p>
            <a:r>
              <a:rPr lang="en-US" sz="2800" dirty="0"/>
              <a:t>Tesla 2014-yilda </a:t>
            </a:r>
            <a:r>
              <a:rPr lang="en-US" sz="2800" dirty="0" err="1"/>
              <a:t>o‘zining</a:t>
            </a:r>
            <a:r>
              <a:rPr lang="en-US" sz="2800" dirty="0"/>
              <a:t> </a:t>
            </a:r>
            <a:r>
              <a:rPr lang="en-US" sz="2800" dirty="0" err="1"/>
              <a:t>elektromobil</a:t>
            </a:r>
            <a:r>
              <a:rPr lang="en-US" sz="2800" dirty="0"/>
              <a:t> </a:t>
            </a:r>
            <a:r>
              <a:rPr lang="en-US" sz="2800" dirty="0" err="1"/>
              <a:t>patentlarini</a:t>
            </a:r>
            <a:r>
              <a:rPr lang="en-US" sz="2800" dirty="0"/>
              <a:t> </a:t>
            </a:r>
            <a:r>
              <a:rPr lang="en-US" sz="2800" dirty="0" err="1"/>
              <a:t>ochiq</a:t>
            </a:r>
            <a:r>
              <a:rPr lang="en-US" sz="2800" dirty="0"/>
              <a:t> </a:t>
            </a:r>
            <a:r>
              <a:rPr lang="en-US" sz="2800" dirty="0" err="1"/>
              <a:t>qildi</a:t>
            </a:r>
            <a:r>
              <a:rPr lang="en-US" sz="2800" dirty="0"/>
              <a:t>. Bu </a:t>
            </a:r>
            <a:r>
              <a:rPr lang="en-US" sz="2800" dirty="0" err="1"/>
              <a:t>g‘alati</a:t>
            </a:r>
            <a:r>
              <a:rPr lang="en-US" sz="2800" dirty="0"/>
              <a:t> </a:t>
            </a:r>
            <a:r>
              <a:rPr lang="en-US" sz="2800" dirty="0" err="1"/>
              <a:t>tuyulishi</a:t>
            </a:r>
            <a:r>
              <a:rPr lang="en-US" sz="2800" dirty="0"/>
              <a:t> </a:t>
            </a:r>
            <a:r>
              <a:rPr lang="en-US" sz="2800" dirty="0" err="1"/>
              <a:t>mumkin</a:t>
            </a:r>
            <a:r>
              <a:rPr lang="en-US" sz="2800" dirty="0"/>
              <a:t>, </a:t>
            </a:r>
            <a:r>
              <a:rPr lang="en-US" sz="2800" dirty="0" err="1"/>
              <a:t>lekin</a:t>
            </a:r>
            <a:r>
              <a:rPr lang="en-US" sz="2800" dirty="0"/>
              <a:t> </a:t>
            </a:r>
            <a:r>
              <a:rPr lang="en-US" sz="2800" dirty="0" err="1"/>
              <a:t>ular</a:t>
            </a:r>
            <a:r>
              <a:rPr lang="en-US" sz="2800" dirty="0"/>
              <a:t> </a:t>
            </a:r>
            <a:r>
              <a:rPr lang="en-US" sz="2800" dirty="0" err="1"/>
              <a:t>buni</a:t>
            </a:r>
            <a:r>
              <a:rPr lang="en-US" sz="2800" dirty="0"/>
              <a:t> </a:t>
            </a:r>
            <a:r>
              <a:rPr lang="en-US" sz="2800" dirty="0" err="1"/>
              <a:t>ataylab</a:t>
            </a:r>
            <a:r>
              <a:rPr lang="en-US" sz="2800" dirty="0"/>
              <a:t> </a:t>
            </a:r>
            <a:r>
              <a:rPr lang="en-US" sz="2800" dirty="0" err="1"/>
              <a:t>qildilar</a:t>
            </a:r>
            <a:r>
              <a:rPr lang="en-US" sz="2800" dirty="0"/>
              <a:t>. </a:t>
            </a:r>
            <a:r>
              <a:rPr lang="en-US" sz="2800" dirty="0" err="1"/>
              <a:t>Nima</a:t>
            </a:r>
            <a:r>
              <a:rPr lang="en-US" sz="2800" dirty="0"/>
              <a:t> </a:t>
            </a:r>
            <a:r>
              <a:rPr lang="en-US" sz="2800" dirty="0" err="1"/>
              <a:t>uchun</a:t>
            </a:r>
            <a:r>
              <a:rPr lang="en-US" sz="2800" dirty="0"/>
              <a:t>? </a:t>
            </a:r>
            <a:r>
              <a:rPr lang="en-US" sz="2800" dirty="0" err="1"/>
              <a:t>Chunki</a:t>
            </a:r>
            <a:r>
              <a:rPr lang="en-US" sz="2800" dirty="0"/>
              <a:t> </a:t>
            </a:r>
            <a:r>
              <a:rPr lang="en-US" sz="2800" dirty="0" err="1"/>
              <a:t>bu</a:t>
            </a:r>
            <a:r>
              <a:rPr lang="en-US" sz="2800" dirty="0"/>
              <a:t> </a:t>
            </a:r>
            <a:r>
              <a:rPr lang="en-US" sz="2800" dirty="0" err="1"/>
              <a:t>elektromobil</a:t>
            </a:r>
            <a:r>
              <a:rPr lang="en-US" sz="2800" dirty="0"/>
              <a:t> </a:t>
            </a:r>
            <a:r>
              <a:rPr lang="en-US" sz="2800" dirty="0" err="1"/>
              <a:t>bozorini</a:t>
            </a:r>
            <a:r>
              <a:rPr lang="en-US" sz="2800" dirty="0"/>
              <a:t> </a:t>
            </a:r>
            <a:r>
              <a:rPr lang="en-US" sz="2800" dirty="0" err="1"/>
              <a:t>kengaytirdi</a:t>
            </a:r>
            <a:r>
              <a:rPr lang="en-US" sz="2800" dirty="0"/>
              <a:t>, </a:t>
            </a:r>
            <a:r>
              <a:rPr lang="en-US" sz="2800" dirty="0" err="1"/>
              <a:t>infratuzilmani</a:t>
            </a:r>
            <a:r>
              <a:rPr lang="en-US" sz="2800" dirty="0"/>
              <a:t> </a:t>
            </a:r>
            <a:r>
              <a:rPr lang="en-US" sz="2800" dirty="0" err="1"/>
              <a:t>rivojlantirdi</a:t>
            </a:r>
            <a:r>
              <a:rPr lang="en-US" sz="2800" dirty="0"/>
              <a:t> </a:t>
            </a:r>
            <a:r>
              <a:rPr lang="en-US" sz="2800" dirty="0" err="1"/>
              <a:t>va</a:t>
            </a:r>
            <a:r>
              <a:rPr lang="en-US" sz="2800" dirty="0"/>
              <a:t> </a:t>
            </a:r>
            <a:r>
              <a:rPr lang="en-US" sz="2800" dirty="0" err="1"/>
              <a:t>Tesla’ni</a:t>
            </a:r>
            <a:r>
              <a:rPr lang="en-US" sz="2800" dirty="0"/>
              <a:t> </a:t>
            </a:r>
            <a:r>
              <a:rPr lang="en-US" sz="2800" dirty="0" err="1"/>
              <a:t>sanoat</a:t>
            </a:r>
            <a:r>
              <a:rPr lang="en-US" sz="2800" dirty="0"/>
              <a:t> </a:t>
            </a:r>
            <a:r>
              <a:rPr lang="en-US" sz="2800" dirty="0" err="1"/>
              <a:t>yetakchisiga</a:t>
            </a:r>
            <a:r>
              <a:rPr lang="en-US" sz="2800" dirty="0"/>
              <a:t> </a:t>
            </a:r>
            <a:r>
              <a:rPr lang="en-US" sz="2800" dirty="0" err="1"/>
              <a:t>aylantirdi</a:t>
            </a:r>
            <a:r>
              <a:rPr lang="en-US" sz="2800" dirty="0"/>
              <a:t>. Bu </a:t>
            </a:r>
            <a:r>
              <a:rPr lang="en-US" sz="2800" dirty="0" err="1"/>
              <a:t>ochiq</a:t>
            </a:r>
            <a:r>
              <a:rPr lang="en-US" sz="2800" dirty="0"/>
              <a:t> </a:t>
            </a:r>
            <a:r>
              <a:rPr lang="en-US" sz="2800" dirty="0" err="1"/>
              <a:t>innovatsiyaning</a:t>
            </a:r>
            <a:r>
              <a:rPr lang="en-US" sz="2800" dirty="0"/>
              <a:t> </a:t>
            </a:r>
            <a:r>
              <a:rPr lang="en-US" sz="2800" dirty="0" err="1"/>
              <a:t>ajoyib</a:t>
            </a:r>
            <a:r>
              <a:rPr lang="en-US" sz="2800" dirty="0"/>
              <a:t> </a:t>
            </a:r>
            <a:r>
              <a:rPr lang="en-US" sz="2800" dirty="0" err="1"/>
              <a:t>misol</a:t>
            </a:r>
            <a:r>
              <a:rPr lang="en-US" sz="2800" dirty="0"/>
              <a:t>.</a:t>
            </a:r>
            <a:br>
              <a:rPr lang="en-US" sz="2800" dirty="0"/>
            </a:br>
            <a:endParaRPr lang="ru-RU" sz="2800" dirty="0"/>
          </a:p>
        </p:txBody>
      </p:sp>
      <p:pic>
        <p:nvPicPr>
          <p:cNvPr id="14338" name="Picture 2" descr="Tesla за день потеряла $30 млрд рыночной стоимости: упали продажи в первом  квартале - Anhor.uz">
            <a:extLst>
              <a:ext uri="{FF2B5EF4-FFF2-40B4-BE49-F238E27FC236}">
                <a16:creationId xmlns:a16="http://schemas.microsoft.com/office/drawing/2014/main" id="{C31C0D98-59E8-432F-9DD0-54BF5BE73F9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103814" y="2800350"/>
            <a:ext cx="6088186" cy="4057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95831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32F20A4-9A7A-4C78-A051-20A45F083F21}"/>
              </a:ext>
            </a:extLst>
          </p:cNvPr>
          <p:cNvSpPr>
            <a:spLocks noGrp="1"/>
          </p:cNvSpPr>
          <p:nvPr>
            <p:ph type="title"/>
          </p:nvPr>
        </p:nvSpPr>
        <p:spPr/>
        <p:txBody>
          <a:bodyPr>
            <a:normAutofit/>
          </a:bodyPr>
          <a:lstStyle/>
          <a:p>
            <a:pPr algn="ctr"/>
            <a:r>
              <a:rPr lang="en-US" sz="5400" b="1" dirty="0">
                <a:effectLst>
                  <a:outerShdw blurRad="38100" dist="38100" dir="2700000" algn="tl">
                    <a:srgbClr val="000000">
                      <a:alpha val="43137"/>
                    </a:srgbClr>
                  </a:outerShdw>
                </a:effectLst>
              </a:rPr>
              <a:t>Group discussion</a:t>
            </a:r>
            <a:endParaRPr lang="ru-RU" sz="5400" b="1" dirty="0">
              <a:effectLst>
                <a:outerShdw blurRad="38100" dist="38100" dir="2700000" algn="tl">
                  <a:srgbClr val="000000">
                    <a:alpha val="43137"/>
                  </a:srgbClr>
                </a:outerShdw>
              </a:effectLst>
            </a:endParaRPr>
          </a:p>
        </p:txBody>
      </p:sp>
      <p:sp>
        <p:nvSpPr>
          <p:cNvPr id="3" name="Объект 2">
            <a:extLst>
              <a:ext uri="{FF2B5EF4-FFF2-40B4-BE49-F238E27FC236}">
                <a16:creationId xmlns:a16="http://schemas.microsoft.com/office/drawing/2014/main" id="{77402C21-7602-4B92-9CFB-65B43FCC913F}"/>
              </a:ext>
            </a:extLst>
          </p:cNvPr>
          <p:cNvSpPr>
            <a:spLocks noGrp="1"/>
          </p:cNvSpPr>
          <p:nvPr>
            <p:ph idx="1"/>
          </p:nvPr>
        </p:nvSpPr>
        <p:spPr/>
        <p:txBody>
          <a:bodyPr/>
          <a:lstStyle/>
          <a:p>
            <a:r>
              <a:rPr lang="en-US" dirty="0" err="1"/>
              <a:t>O‘zbekistonda</a:t>
            </a:r>
            <a:r>
              <a:rPr lang="en-US" dirty="0"/>
              <a:t> </a:t>
            </a:r>
            <a:r>
              <a:rPr lang="en-US" dirty="0" err="1"/>
              <a:t>intellektual</a:t>
            </a:r>
            <a:r>
              <a:rPr lang="en-US" dirty="0"/>
              <a:t> </a:t>
            </a:r>
            <a:r>
              <a:rPr lang="en-US" dirty="0" err="1"/>
              <a:t>mulkni</a:t>
            </a:r>
            <a:r>
              <a:rPr lang="en-US" dirty="0"/>
              <a:t> </a:t>
            </a:r>
            <a:r>
              <a:rPr lang="en-US" dirty="0" err="1"/>
              <a:t>himoya</a:t>
            </a:r>
            <a:r>
              <a:rPr lang="en-US" dirty="0"/>
              <a:t> </a:t>
            </a:r>
            <a:r>
              <a:rPr lang="en-US" dirty="0" err="1"/>
              <a:t>qilishda</a:t>
            </a:r>
            <a:r>
              <a:rPr lang="en-US" dirty="0"/>
              <a:t> </a:t>
            </a:r>
            <a:r>
              <a:rPr lang="en-US" dirty="0" err="1"/>
              <a:t>qanday</a:t>
            </a:r>
            <a:r>
              <a:rPr lang="en-US" dirty="0"/>
              <a:t> </a:t>
            </a:r>
            <a:r>
              <a:rPr lang="en-US" dirty="0" err="1"/>
              <a:t>muammolar</a:t>
            </a:r>
            <a:r>
              <a:rPr lang="en-US" dirty="0"/>
              <a:t> </a:t>
            </a:r>
            <a:r>
              <a:rPr lang="en-US" dirty="0" err="1"/>
              <a:t>bor</a:t>
            </a:r>
            <a:r>
              <a:rPr lang="en-US" dirty="0"/>
              <a:t>?</a:t>
            </a:r>
          </a:p>
          <a:p>
            <a:r>
              <a:rPr lang="en-US" dirty="0" err="1"/>
              <a:t>Mahalliy</a:t>
            </a:r>
            <a:r>
              <a:rPr lang="en-US" dirty="0"/>
              <a:t> </a:t>
            </a:r>
            <a:r>
              <a:rPr lang="en-US" dirty="0" err="1"/>
              <a:t>kompaniyalar</a:t>
            </a:r>
            <a:r>
              <a:rPr lang="en-US" dirty="0"/>
              <a:t> </a:t>
            </a:r>
            <a:r>
              <a:rPr lang="en-US" dirty="0" err="1"/>
              <a:t>ochiq</a:t>
            </a:r>
            <a:r>
              <a:rPr lang="en-US" dirty="0"/>
              <a:t> </a:t>
            </a:r>
            <a:r>
              <a:rPr lang="en-US" dirty="0" err="1"/>
              <a:t>innovatsiyadan</a:t>
            </a:r>
            <a:r>
              <a:rPr lang="en-US" dirty="0"/>
              <a:t> </a:t>
            </a:r>
            <a:r>
              <a:rPr lang="en-US" dirty="0" err="1"/>
              <a:t>foydalanishsa</a:t>
            </a:r>
            <a:r>
              <a:rPr lang="en-US" dirty="0"/>
              <a:t>, </a:t>
            </a:r>
            <a:r>
              <a:rPr lang="en-US" dirty="0" err="1"/>
              <a:t>qaysi</a:t>
            </a:r>
            <a:r>
              <a:rPr lang="en-US" dirty="0"/>
              <a:t> </a:t>
            </a:r>
            <a:r>
              <a:rPr lang="en-US" dirty="0" err="1"/>
              <a:t>sohalarda</a:t>
            </a:r>
            <a:r>
              <a:rPr lang="en-US" dirty="0"/>
              <a:t> </a:t>
            </a:r>
            <a:r>
              <a:rPr lang="en-US" dirty="0" err="1"/>
              <a:t>eng</a:t>
            </a:r>
            <a:r>
              <a:rPr lang="en-US" dirty="0"/>
              <a:t> </a:t>
            </a:r>
            <a:r>
              <a:rPr lang="en-US" dirty="0" err="1"/>
              <a:t>katta</a:t>
            </a:r>
            <a:r>
              <a:rPr lang="en-US" dirty="0"/>
              <a:t> </a:t>
            </a:r>
            <a:r>
              <a:rPr lang="en-US" dirty="0" err="1"/>
              <a:t>foyda</a:t>
            </a:r>
            <a:r>
              <a:rPr lang="en-US" dirty="0"/>
              <a:t> </a:t>
            </a:r>
            <a:r>
              <a:rPr lang="en-US" dirty="0" err="1"/>
              <a:t>ko‘rishlari</a:t>
            </a:r>
            <a:r>
              <a:rPr lang="en-US" dirty="0"/>
              <a:t> </a:t>
            </a:r>
            <a:r>
              <a:rPr lang="en-US" dirty="0" err="1"/>
              <a:t>mumkin</a:t>
            </a:r>
            <a:r>
              <a:rPr lang="en-US" dirty="0"/>
              <a:t>?</a:t>
            </a:r>
          </a:p>
          <a:p>
            <a:r>
              <a:rPr lang="en-US" dirty="0" err="1"/>
              <a:t>O‘zbekiston</a:t>
            </a:r>
            <a:r>
              <a:rPr lang="en-US" dirty="0"/>
              <a:t> </a:t>
            </a:r>
            <a:r>
              <a:rPr lang="en-US" dirty="0" err="1"/>
              <a:t>brendlari</a:t>
            </a:r>
            <a:r>
              <a:rPr lang="en-US" dirty="0"/>
              <a:t> global </a:t>
            </a:r>
            <a:r>
              <a:rPr lang="en-US" dirty="0" err="1"/>
              <a:t>bozorda</a:t>
            </a:r>
            <a:r>
              <a:rPr lang="en-US" dirty="0"/>
              <a:t> </a:t>
            </a:r>
            <a:r>
              <a:rPr lang="en-US" dirty="0" err="1"/>
              <a:t>raqobatlasha</a:t>
            </a:r>
            <a:r>
              <a:rPr lang="en-US" dirty="0"/>
              <a:t> </a:t>
            </a:r>
            <a:r>
              <a:rPr lang="en-US" dirty="0" err="1"/>
              <a:t>olishi</a:t>
            </a:r>
            <a:r>
              <a:rPr lang="en-US" dirty="0"/>
              <a:t> </a:t>
            </a:r>
            <a:r>
              <a:rPr lang="en-US" dirty="0" err="1"/>
              <a:t>uchun</a:t>
            </a:r>
            <a:r>
              <a:rPr lang="en-US" dirty="0"/>
              <a:t> </a:t>
            </a:r>
            <a:r>
              <a:rPr lang="en-US" dirty="0" err="1"/>
              <a:t>qanday</a:t>
            </a:r>
            <a:r>
              <a:rPr lang="en-US" dirty="0"/>
              <a:t> </a:t>
            </a:r>
            <a:r>
              <a:rPr lang="en-US" dirty="0" err="1"/>
              <a:t>strategiyalardan</a:t>
            </a:r>
            <a:r>
              <a:rPr lang="en-US" dirty="0"/>
              <a:t> </a:t>
            </a:r>
            <a:r>
              <a:rPr lang="en-US" dirty="0" err="1"/>
              <a:t>foydalanishi</a:t>
            </a:r>
            <a:r>
              <a:rPr lang="en-US" dirty="0"/>
              <a:t> </a:t>
            </a:r>
            <a:r>
              <a:rPr lang="en-US" dirty="0" err="1"/>
              <a:t>kerak</a:t>
            </a:r>
            <a:r>
              <a:rPr lang="en-US" dirty="0"/>
              <a:t>?</a:t>
            </a:r>
          </a:p>
          <a:p>
            <a:pPr marL="0" indent="0">
              <a:buNone/>
            </a:pPr>
            <a:endParaRPr lang="ru-RU" dirty="0"/>
          </a:p>
        </p:txBody>
      </p:sp>
    </p:spTree>
    <p:extLst>
      <p:ext uri="{BB962C8B-B14F-4D97-AF65-F5344CB8AC3E}">
        <p14:creationId xmlns:p14="http://schemas.microsoft.com/office/powerpoint/2010/main" val="3251266050"/>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634</TotalTime>
  <Words>706</Words>
  <Application>Microsoft Office PowerPoint</Application>
  <PresentationFormat>Широкоэкранный</PresentationFormat>
  <Paragraphs>58</Paragraphs>
  <Slides>17</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17</vt:i4>
      </vt:variant>
    </vt:vector>
  </HeadingPairs>
  <TitlesOfParts>
    <vt:vector size="22" baseType="lpstr">
      <vt:lpstr>Arial</vt:lpstr>
      <vt:lpstr>Calibri</vt:lpstr>
      <vt:lpstr>Calibri Light</vt:lpstr>
      <vt:lpstr>Wingdings</vt:lpstr>
      <vt:lpstr>Тема Office</vt:lpstr>
      <vt:lpstr>Презентация PowerPoint</vt:lpstr>
      <vt:lpstr>Reja:</vt:lpstr>
      <vt:lpstr>ROI (Return on Investment) – bu investitsiyadan olingan foydaning investitsiya xarajatlariga nisbati bo‘lib, foiz yoki koeffitsient sifatida ifodalanadi. ROI biznesdagi loyihalar, marketing kompaniyalari yoki boshqa investitsiyalarning samaradorligini baholash uchun ishlatiladi. </vt:lpstr>
      <vt:lpstr>ROI ni hisoblash</vt:lpstr>
      <vt:lpstr>Intellektual mulk (IP) nima? Va uni himoya qilish </vt:lpstr>
      <vt:lpstr>Intellektual mulk (IP)</vt:lpstr>
      <vt:lpstr>IP ning asosiy turlari</vt:lpstr>
      <vt:lpstr>Real misol</vt:lpstr>
      <vt:lpstr>Презентация PowerPoint</vt:lpstr>
      <vt:lpstr>Brending</vt:lpstr>
      <vt:lpstr>Brendning asosiy elementlari</vt:lpstr>
      <vt:lpstr>Real misol</vt:lpstr>
      <vt:lpstr>Brend  turi</vt:lpstr>
      <vt:lpstr>Brendingning foydasi:</vt:lpstr>
      <vt:lpstr>Ochiq innovatsiya</vt:lpstr>
      <vt:lpstr>Tesla 2014-yilda o‘zining elektromobil patentlarini ochiq qildi. Bu g‘alati tuyulishi mumkin, lekin ular buni ataylab qildilar. Nima uchun? Chunki bu elektromobil bozorini kengaytirdi, infratuzilmani rivojlantirdi va Tesla’ni sanoat yetakchisiga aylantirdi. Bu ochiq innovatsiyaning ajoyib misol. </vt:lpstr>
      <vt:lpstr>Group discussion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LENOVO</dc:creator>
  <cp:lastModifiedBy>LENOVO</cp:lastModifiedBy>
  <cp:revision>15</cp:revision>
  <dcterms:created xsi:type="dcterms:W3CDTF">2025-05-18T08:49:39Z</dcterms:created>
  <dcterms:modified xsi:type="dcterms:W3CDTF">2025-05-19T06:00:05Z</dcterms:modified>
</cp:coreProperties>
</file>